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9" r:id="rId7"/>
    <p:sldId id="270" r:id="rId8"/>
    <p:sldId id="265" r:id="rId9"/>
    <p:sldId id="266" r:id="rId10"/>
    <p:sldId id="271" r:id="rId19"/>
    <p:sldId id="272" r:id="rId20"/>
    <p:sldId id="267" r:id="rId12"/>
    <p:sldId id="273" r:id="rId21"/>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53"/>
    <p:restoredTop sz="94624"/>
  </p:normalViewPr>
  <p:slideViewPr>
    <p:cSldViewPr snapToGrid="0" snapToObjects="1">
      <p:cViewPr varScale="1">
        <p:scale>
          <a:sx n="103" d="100"/>
          <a:sy n="103" d="100"/>
        </p:scale>
        <p:origin x="176" y="2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79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[0:00-0:15]</a:t>
            </a:r>
          </a:p>
          <a:p>
            <a:r>
              <a:t>This is Blockmediary, from Team Transakt: a programmable documentary escrow for SME cross-border trade. In the next five minutes we'll show you the product working for real - settling an actual trade, with real money, on a public blockchain.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[1:25-3:25 - VOICEOVER FOR THE DEMO FOOTAGE]</a:t>
            </a:r>
          </a:p>
          <a:p>
            <a:r>
              <a:t>This is the live product. Two companies have agreed a trade - the terms are on screen: goods, amount, shipping deadline, ports.</a:t>
            </a:r>
          </a:p>
          <a:p>
            <a:r>
              <a:t>The buyer funds the deal from their own wallet. Watch the state change: the USDC is now locked in the escrow contract on Base - you can see the transaction hash the moment it lands.</a:t>
            </a:r>
          </a:p>
          <a:p>
            <a:r>
              <a:t>Now the seller's side: they submit the document pack - commercial invoice, packing list, bill of lading, certificate of origin, and the customs declarations for the corridor.</a:t>
            </a:r>
          </a:p>
          <a:p>
            <a:r>
              <a:t>The rules engine grades the pack instantly. Every check is listed - what passed, what it was checked against. A discrepant document fails loudly and names itself; a compliant pack opens the release.</a:t>
            </a:r>
          </a:p>
          <a:p>
            <a:r>
              <a:t>And here is the moment that matters: the verdict is recorded on-chain, and the escrow releases the funds to the seller. Every stage of this deal - agreement, funding, verdict, release - now links to its own transaction on BaseScan. This is an audit trail a regulator, or an investor, can check without trusting 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[3:25-3:50]</a:t>
            </a:r>
          </a:p>
          <a:p>
            <a:r>
              <a:t>Everything you just watched settled for real. The deal ended in state Released: the seller was paid because the documents proved performance - not because anyone pressed an approve button. Agreement, funding, verdict and release each carry their own transaction hash, and that release transaction is on screen. Pause the video, type it into BaseScan, and check us. The brief said a hosted prototype wasn't expected - we went further: the rail already settles real value.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effectLst/>
              </a:rPr>
              <a:t>Every funded competitor here releases on buyer approval, not document proof. Contour, the best-funded attempt, still failed structurally. That gap is still open.</a:t>
            </a: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28407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effectLst/>
              </a:rPr>
              <a:t>Our compliance register grew from fifteen items in June to thirty-one. Five changes actually shift the plan, not just the paperwork.</a:t>
            </a:r>
          </a:p>
          <a:p>
            <a:r>
              <a:rPr lang="en-US" sz="1200" b="0" i="0" kern="1200" dirty="0">
                <a:effectLst/>
              </a:rPr>
              <a:t>Biggest one: our UAE route reversed. We considered and dropped ADGM. We've confirmed a DIFC partner-led pilot targeting month twelve, alongside an independent VARA licence targeting month eighteen.</a:t>
            </a:r>
          </a:p>
          <a:p>
            <a:r>
              <a:rPr lang="en-US" sz="1200" b="0" i="0" kern="1200" dirty="0">
                <a:effectLst/>
              </a:rPr>
              <a:t>We also caught a live risk ourselves: our on-chain spec hash could still count as personal data under GDPR — a design decision we're closing before </a:t>
            </a:r>
            <a:r>
              <a:rPr lang="en-US" sz="1200" b="0" i="0" kern="1200" dirty="0" err="1">
                <a:effectLst/>
              </a:rPr>
              <a:t>mainnet</a:t>
            </a:r>
            <a:r>
              <a:rPr lang="en-US" sz="1200" b="0" i="0" kern="1200" dirty="0">
                <a:effectLst/>
              </a:rPr>
              <a:t>.</a:t>
            </a:r>
          </a:p>
          <a:p>
            <a:r>
              <a:rPr lang="en-US" sz="1200" b="0" i="0" kern="1200" dirty="0">
                <a:effectLst/>
              </a:rPr>
              <a:t>Our top security risk, a compromised releaser key, isn't just technical: it triggers real breach-notification and criminal-liability obligations.</a:t>
            </a:r>
          </a:p>
          <a:p>
            <a:r>
              <a:rPr lang="en-US" sz="1200" b="0" i="0" kern="1200" dirty="0">
                <a:effectLst/>
              </a:rPr>
              <a:t>Under FCA rules, most of our SME users are retail customers, so Consumer Duty applies in full.</a:t>
            </a:r>
          </a:p>
          <a:p>
            <a:r>
              <a:rPr lang="en-US" sz="1200" b="0" i="0" kern="1200" dirty="0">
                <a:effectLst/>
              </a:rPr>
              <a:t>And "UCP 600-inspired" is now an article-by-article, Incoterm-by-Incoterm document checklist feeding the engine.</a:t>
            </a:r>
          </a:p>
          <a:p>
            <a:r>
              <a:rPr lang="en-US" sz="1200" b="0" i="0" kern="1200" dirty="0">
                <a:effectLst/>
              </a:rPr>
              <a:t>The other twenty-six items, full sourcing and mitigation, are in the supplementary PDF. </a:t>
            </a:r>
            <a:r>
              <a:rPr lang="en-US" sz="1200" b="0" i="0" kern="1200">
                <a:effectLst/>
              </a:rPr>
              <a:t>This slide is the headline, the register is the evidence.</a:t>
            </a:r>
          </a:p>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0929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a:p>
            <a:r>
              <a:rPr lang="en-GB" dirty="0"/>
              <a:t>The revenue engine is deliberately transaction-led: no lending spread, FX trading or use of client funds. [Sources] - financial-projections/Blockmediary_Financial_Model_Submission_Ready_2026-08-13.xlsx: Assumptions!F63:F74; Tier Economics; P&amp;amp;L 5yr!E7:E31 - financial-projections/financial-model-key-figures-2026-08-12.md: revenue model and Year 3 bridge - proposal/business-model-canvas.md: Revenue and Costs blocks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Presenter note: This is an illustrative forecast, not current trading performance. The base case starts with a paid partner-led pilot in Month 12, receipts in Month 13 and a full VARA licence target in Month 18. Year 3 assumes 333 active customers completing approximately six deals each: 2,000 deals at a £38,015 average trade value produce £76.031m of trade value processed. Tiered escrow and ancillary fees produce £1.371m revenue at 77.1% gross margin. Low/base/high Year 3 revenue is £1.037m/£1.371m/£1.912m, with monthly cash-flow break-even beyond Month 60 / Year 4 Month 8 / Year 4 Month 4. Scale depends on partner-led distribution and remains unvalidated. Buyer escrow balances are assumed to be held for 14 days on average and contribute no operating cash. This is a preliminary presentation model rather than an audited, loan or investment-grade forecast.</a:t>
            </a:r>
          </a:p>
          <a:p>
            <a:endParaRPr/>
          </a:p>
          <a:p>
            <a:r>
              <a:t>[Sources]</a:t>
            </a:r>
          </a:p>
          <a:p>
            <a:r>
              <a:t>- financial-projections/Blockmediary_Financial_Model_Submission_Ready_2026-08-13.xlsx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[4:52-5:00]</a:t>
            </a:r>
          </a:p>
          <a:p>
            <a:r>
              <a:t>Blockmediary. The trust layer for global trade - already settling. Try the prototype, read the code, verify the transaction. Thank you.</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a:p>
            <a:r>
              <a:rPr lang="en-GB" dirty="0"/>
              <a:t>[4:15-4:40] So where are we, honestly? Today: a working prototype that has settled real value - ahead of where a hackathon build needs to be. The plan from here is deliberately conservative: a paid, partner-led pilot in the DIFC at month twelve, first receipts the month after, and a full VARA licence targeted at month eighteen. The base case reaches one-point-three-seven million pounds of Year-3 revenue on two thousand deals - and monthly break-even in year four.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a:p>
            <a:r>
              <a:rPr lang="en-GB" dirty="0"/>
              <a:t>[4:40-4:52] The ask is three-point-one million pounds of operating funding, staged. Seventy percent goes to people and permission - the compliance, licensing and team that turn a working rail into a regulated business - because the hard engineering risk is already retired: you watched it settle.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338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417320"/>
            <a:ext cx="502920" cy="3175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54480"/>
            <a:ext cx="10545775" cy="365760"/>
          </a:xfrm>
          <a:prstGeom prst="rect">
            <a:avLst/>
          </a:prstGeom>
          <a:noFill/>
        </p:spPr>
        <p:txBody>
          <a:bodyPr wrap="square">
            <a:spAutoFit/>
          </a:bodyPr>
          <a:lstStyle/>
          <a:p>
            <a:pPr algn="l"/>
            <a:r>
              <a:rPr sz="1300" b="1" spc="300">
                <a:solidFill>
                  <a:srgbClr val="C77D18"/>
                </a:solidFill>
                <a:latin typeface="Aptos"/>
              </a:rPr>
              <a:t>TEAM TRANSAKT — BEEM063 FINTECH HACKATHON</a:t>
            </a:r>
          </a:p>
        </p:txBody>
      </p:sp>
      <p:sp>
        <p:nvSpPr>
          <p:cNvPr id="5" name="TextBox 4"/>
          <p:cNvSpPr txBox="1"/>
          <p:nvPr/>
        </p:nvSpPr>
        <p:spPr>
          <a:xfrm>
            <a:off x="822960" y="2057400"/>
            <a:ext cx="10545775" cy="1371600"/>
          </a:xfrm>
          <a:prstGeom prst="rect">
            <a:avLst/>
          </a:prstGeom>
          <a:noFill/>
        </p:spPr>
        <p:txBody>
          <a:bodyPr wrap="square">
            <a:spAutoFit/>
          </a:bodyPr>
          <a:lstStyle/>
          <a:p>
            <a:pPr algn="l"/>
            <a:r>
              <a:rPr sz="6600" b="1">
                <a:solidFill>
                  <a:srgbClr val="FFFFFF"/>
                </a:solidFill>
                <a:latin typeface="Aptos Display"/>
              </a:rPr>
              <a:t>Blockmediary</a:t>
            </a:r>
          </a:p>
        </p:txBody>
      </p:sp>
      <p:sp>
        <p:nvSpPr>
          <p:cNvPr id="6" name="TextBox 5"/>
          <p:cNvSpPr txBox="1"/>
          <p:nvPr/>
        </p:nvSpPr>
        <p:spPr>
          <a:xfrm>
            <a:off x="822960" y="3246120"/>
            <a:ext cx="9997135" cy="822960"/>
          </a:xfrm>
          <a:prstGeom prst="rect">
            <a:avLst/>
          </a:prstGeom>
          <a:noFill/>
        </p:spPr>
        <p:txBody>
          <a:bodyPr wrap="square">
            <a:spAutoFit/>
          </a:bodyPr>
          <a:lstStyle/>
          <a:p>
            <a:pPr algn="l"/>
            <a:r>
              <a:rPr sz="2200" b="0">
                <a:solidFill>
                  <a:srgbClr val="F5E2C5"/>
                </a:solidFill>
                <a:latin typeface="Aptos"/>
              </a:rPr>
              <a:t>Programmable documentary escrow for SME cross-border trade.</a:t>
            </a:r>
          </a:p>
        </p:txBody>
      </p:sp>
      <p:sp>
        <p:nvSpPr>
          <p:cNvPr id="7" name="TextBox 6"/>
          <p:cNvSpPr txBox="1"/>
          <p:nvPr/>
        </p:nvSpPr>
        <p:spPr>
          <a:xfrm>
            <a:off x="822960" y="3886200"/>
            <a:ext cx="9997135" cy="548640"/>
          </a:xfrm>
          <a:prstGeom prst="rect">
            <a:avLst/>
          </a:prstGeom>
          <a:noFill/>
        </p:spPr>
        <p:txBody>
          <a:bodyPr wrap="square">
            <a:spAutoFit/>
          </a:bodyPr>
          <a:lstStyle/>
          <a:p>
            <a:pPr algn="l"/>
            <a:r>
              <a:rPr sz="1500" b="0">
                <a:solidFill>
                  <a:srgbClr val="9CA6B8"/>
                </a:solidFill>
                <a:latin typeface="Aptos"/>
              </a:rPr>
              <a:t>Build the trust layer for global trade.</a:t>
            </a:r>
          </a:p>
        </p:txBody>
      </p:sp>
      <p:sp>
        <p:nvSpPr>
          <p:cNvPr id="8" name="TextBox 7"/>
          <p:cNvSpPr txBox="1"/>
          <p:nvPr/>
        </p:nvSpPr>
        <p:spPr>
          <a:xfrm>
            <a:off x="822960" y="5943600"/>
            <a:ext cx="5029200" cy="457200"/>
          </a:xfrm>
          <a:prstGeom prst="rect">
            <a:avLst/>
          </a:prstGeom>
          <a:noFill/>
        </p:spPr>
        <p:txBody>
          <a:bodyPr wrap="square">
            <a:spAutoFit/>
          </a:bodyPr>
          <a:lstStyle/>
          <a:p>
            <a:pPr algn="l"/>
            <a:r>
              <a:rPr sz="1200" b="0">
                <a:solidFill>
                  <a:srgbClr val="9CA6B8"/>
                </a:solidFill>
                <a:latin typeface="Aptos"/>
              </a:rPr>
              <a:t>University of Exeter  ·  MSc FinTech  ·  August 2026</a:t>
            </a:r>
          </a:p>
        </p:txBody>
      </p:sp>
      <p:sp>
        <p:nvSpPr>
          <p:cNvPr id="9" name="TextBox 8"/>
          <p:cNvSpPr txBox="1"/>
          <p:nvPr/>
        </p:nvSpPr>
        <p:spPr>
          <a:xfrm>
            <a:off x="7253935" y="5943600"/>
            <a:ext cx="4114800" cy="457200"/>
          </a:xfrm>
          <a:prstGeom prst="rect">
            <a:avLst/>
          </a:prstGeom>
          <a:noFill/>
        </p:spPr>
        <p:txBody>
          <a:bodyPr wrap="square">
            <a:spAutoFit/>
          </a:bodyPr>
          <a:lstStyle/>
          <a:p>
            <a:pPr algn="r"/>
            <a:r>
              <a:rPr sz="1200" b="1">
                <a:solidFill>
                  <a:srgbClr val="C77D18"/>
                </a:solidFill>
                <a:latin typeface="Aptos"/>
              </a:rPr>
              <a:t>Live on Base  ·  settled in USDC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EEF4816-F554-440A-B816-D75345B6812E}"/>
              </a:ext>
            </a:extLst>
          </p:cNvPr>
          <p:cNvSpPr>
            <a:spLocks noGrp="1"/>
          </p:cNvSpPr>
          <p:nvPr/>
        </p:nvSpPr>
        <p:spPr>
          <a:xfrm>
            <a:off x="0" y="0"/>
            <a:ext cx="12192000" cy="6858000"/>
          </a:xfrm>
          <a:prstGeom prst="rect">
            <a:avLst/>
          </a:prstGeom>
          <a:solidFill>
            <a:srgbClr val="F7F4EF"/>
          </a:solidFill>
          <a:ln w="0">
            <a:solidFill>
              <a:srgbClr val="000000">
                <a:alpha val="0"/>
              </a:srgbClr>
            </a:solidFill>
            <a:prstDash val="solid"/>
          </a:ln>
        </p:spPr>
        <p:txBody>
          <a:bodyPr/>
          <a:lstStyle/>
          <a:p>
            <a:pPr marL="0" indent="0" algn="l" defTabSz="914400" rtl="0"/>
            <a:endParaRPr/>
          </a:p>
        </p:txBody>
      </p:sp>
      <p:sp>
        <p:nvSpPr>
          <p:cNvPr id="2" name="kicker-02-marker">
            <a:extLst>
              <a:ext uri="{FF2B5EF4-FFF2-40B4-BE49-F238E27FC236}">
                <a16:creationId xmlns:a16="http://schemas.microsoft.com/office/drawing/2014/main" id="{85561F03-945A-4B55-9A1C-B9DFA5EB5F66}"/>
              </a:ext>
            </a:extLst>
          </p:cNvPr>
          <p:cNvSpPr>
            <a:spLocks noGrp="1"/>
          </p:cNvSpPr>
          <p:nvPr/>
        </p:nvSpPr>
        <p:spPr>
          <a:xfrm>
            <a:off x="533400" y="438150"/>
            <a:ext cx="76200" cy="76200"/>
          </a:xfrm>
          <a:prstGeom prst="rect">
            <a:avLst/>
          </a:prstGeom>
          <a:solidFill>
            <a:srgbClr val="0B1B3A"/>
          </a:solidFill>
          <a:ln w="0">
            <a:solidFill>
              <a:srgbClr val="000000">
                <a:alpha val="0"/>
              </a:srgbClr>
            </a:solidFill>
            <a:prstDash val="solid"/>
          </a:ln>
        </p:spPr>
        <p:txBody>
          <a:bodyPr/>
          <a:lstStyle/>
          <a:p>
            <a:endParaRPr/>
          </a:p>
        </p:txBody>
      </p:sp>
      <p:sp>
        <p:nvSpPr>
          <p:cNvPr id="3" name="kicker-02-label">
            <a:extLst>
              <a:ext uri="{FF2B5EF4-FFF2-40B4-BE49-F238E27FC236}">
                <a16:creationId xmlns:a16="http://schemas.microsoft.com/office/drawing/2014/main" id="{8A464077-A52E-4439-8A74-66928730F100}"/>
              </a:ext>
            </a:extLst>
          </p:cNvPr>
          <p:cNvSpPr>
            <a:spLocks noGrp="1"/>
          </p:cNvSpPr>
          <p:nvPr/>
        </p:nvSpPr>
        <p:spPr>
          <a:xfrm>
            <a:off x="723900" y="361950"/>
            <a:ext cx="53340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6B7280"/>
                </a:solidFill>
                <a:latin typeface="Aptos"/>
                <a:ea typeface="Aptos"/>
                <a:cs typeface="Aptos"/>
              </a:defRPr>
            </a:pPr>
            <a:r>
              <a:rPr sz="900" b="1">
                <a:solidFill>
                  <a:srgbClr val="6B7280"/>
                </a:solidFill>
                <a:latin typeface="Aptos"/>
                <a:ea typeface="Aptos"/>
                <a:cs typeface="Aptos"/>
              </a:rPr>
              <a:t>PROBLEM</a:t>
            </a:r>
          </a:p>
        </p:txBody>
      </p:sp>
      <p:sp>
        <p:nvSpPr>
          <p:cNvPr id="4" name="Rectangle 3">
            <a:extLst>
              <a:ext uri="{FF2B5EF4-FFF2-40B4-BE49-F238E27FC236}">
                <a16:creationId xmlns:a16="http://schemas.microsoft.com/office/drawing/2014/main" id="{7449565B-A766-4B12-AB15-96ED5E293E92}"/>
              </a:ext>
            </a:extLst>
          </p:cNvPr>
          <p:cNvSpPr>
            <a:spLocks noGrp="1"/>
          </p:cNvSpPr>
          <p:nvPr/>
        </p:nvSpPr>
        <p:spPr>
          <a:xfrm>
            <a:off x="533400" y="685800"/>
            <a:ext cx="8191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0B1B3A"/>
                </a:solidFill>
                <a:latin typeface="Aptos Display"/>
                <a:ea typeface="Aptos Display"/>
                <a:cs typeface="Aptos Display"/>
              </a:defRPr>
            </a:pPr>
            <a:r>
              <a:rPr sz="3000" b="1">
                <a:solidFill>
                  <a:srgbClr val="0B1B3A"/>
                </a:solidFill>
                <a:latin typeface="Aptos Display"/>
                <a:ea typeface="Aptos Display"/>
                <a:cs typeface="Aptos Display"/>
              </a:rPr>
              <a:t>SMEs are priced out of the instrument that made global trade work.</a:t>
            </a:r>
          </a:p>
        </p:txBody>
      </p:sp>
      <p:sp>
        <p:nvSpPr>
          <p:cNvPr id="5" name="Rectangle 4">
            <a:extLst>
              <a:ext uri="{FF2B5EF4-FFF2-40B4-BE49-F238E27FC236}">
                <a16:creationId xmlns:a16="http://schemas.microsoft.com/office/drawing/2014/main" id="{9A84A6DD-D7B8-451D-A7D5-33AF8CF34C00}"/>
              </a:ext>
            </a:extLst>
          </p:cNvPr>
          <p:cNvSpPr>
            <a:spLocks noGrp="1"/>
          </p:cNvSpPr>
          <p:nvPr/>
        </p:nvSpPr>
        <p:spPr>
          <a:xfrm>
            <a:off x="571500" y="180975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1B2430"/>
                </a:solidFill>
                <a:latin typeface="Aptos"/>
                <a:ea typeface="Aptos"/>
                <a:cs typeface="Aptos"/>
              </a:defRPr>
            </a:pPr>
            <a:r>
              <a:rPr sz="1725" b="0">
                <a:solidFill>
                  <a:srgbClr val="1B2430"/>
                </a:solidFill>
                <a:latin typeface="Aptos"/>
                <a:ea typeface="Aptos"/>
                <a:cs typeface="Aptos"/>
              </a:rPr>
              <a:t>Documentary credit solved trust in trade. But the same KYB, sanctions, document examination, and capital work sits behind a $10K shipment and a $5M shipment. Banks choose the economics.</a:t>
            </a:r>
          </a:p>
        </p:txBody>
      </p:sp>
      <p:sp>
        <p:nvSpPr>
          <p:cNvPr id="6" name="Rectangle 5">
            <a:extLst>
              <a:ext uri="{FF2B5EF4-FFF2-40B4-BE49-F238E27FC236}">
                <a16:creationId xmlns:a16="http://schemas.microsoft.com/office/drawing/2014/main" id="{1EE178FA-9E39-4667-95B6-3958E9FA8241}"/>
              </a:ext>
            </a:extLst>
          </p:cNvPr>
          <p:cNvSpPr>
            <a:spLocks noGrp="1"/>
          </p:cNvSpPr>
          <p:nvPr/>
        </p:nvSpPr>
        <p:spPr>
          <a:xfrm>
            <a:off x="571500" y="3105150"/>
            <a:ext cx="5143500" cy="19050"/>
          </a:xfrm>
          <a:prstGeom prst="rect">
            <a:avLst/>
          </a:prstGeom>
          <a:solidFill>
            <a:srgbClr val="D8D2C7"/>
          </a:solidFill>
          <a:ln w="0">
            <a:solidFill>
              <a:srgbClr val="000000">
                <a:alpha val="0"/>
              </a:srgbClr>
            </a:solidFill>
            <a:prstDash val="solid"/>
          </a:ln>
        </p:spPr>
        <p:txBody>
          <a:bodyPr/>
          <a:lstStyle/>
          <a:p>
            <a:endParaRPr/>
          </a:p>
        </p:txBody>
      </p:sp>
      <p:sp>
        <p:nvSpPr>
          <p:cNvPr id="7" name="Rectangle 6">
            <a:extLst>
              <a:ext uri="{FF2B5EF4-FFF2-40B4-BE49-F238E27FC236}">
                <a16:creationId xmlns:a16="http://schemas.microsoft.com/office/drawing/2014/main" id="{B7A2F30B-9D0B-4175-9D49-241802DA174F}"/>
              </a:ext>
            </a:extLst>
          </p:cNvPr>
          <p:cNvSpPr>
            <a:spLocks noGrp="1"/>
          </p:cNvSpPr>
          <p:nvPr/>
        </p:nvSpPr>
        <p:spPr>
          <a:xfrm>
            <a:off x="571500" y="3333750"/>
            <a:ext cx="4953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B1B3A"/>
                </a:solidFill>
                <a:latin typeface="Aptos"/>
                <a:ea typeface="Aptos"/>
                <a:cs typeface="Aptos"/>
              </a:defRPr>
            </a:pPr>
            <a:r>
              <a:rPr sz="1650" b="1">
                <a:solidFill>
                  <a:srgbClr val="0B1B3A"/>
                </a:solidFill>
                <a:latin typeface="Aptos"/>
                <a:ea typeface="Aptos"/>
                <a:cs typeface="Aptos"/>
              </a:rPr>
              <a:t>Result: low-value cross-border trade still depends on cash in advance, informal trust, or deals that never happen.</a:t>
            </a:r>
          </a:p>
        </p:txBody>
      </p:sp>
      <p:sp>
        <p:nvSpPr>
          <p:cNvPr id="8" name="Rectangle 7">
            <a:extLst>
              <a:ext uri="{FF2B5EF4-FFF2-40B4-BE49-F238E27FC236}">
                <a16:creationId xmlns:a16="http://schemas.microsoft.com/office/drawing/2014/main" id="{3DD7CFD0-1F22-4DB6-A413-46DDFC13887C}"/>
              </a:ext>
            </a:extLst>
          </p:cNvPr>
          <p:cNvSpPr>
            <a:spLocks noGrp="1"/>
          </p:cNvSpPr>
          <p:nvPr/>
        </p:nvSpPr>
        <p:spPr>
          <a:xfrm>
            <a:off x="6762750" y="1638300"/>
            <a:ext cx="3429000" cy="1085850"/>
          </a:xfrm>
          <a:prstGeom prst="rect">
            <a:avLst/>
          </a:prstGeom>
          <a:solidFill>
            <a:srgbClr val="FFFFFF"/>
          </a:solidFill>
          <a:ln w="9525">
            <a:solidFill>
              <a:srgbClr val="D8D2C7"/>
            </a:solidFill>
            <a:prstDash val="solid"/>
          </a:ln>
        </p:spPr>
        <p:txBody>
          <a:bodyPr/>
          <a:lstStyle/>
          <a:p>
            <a:endParaRPr/>
          </a:p>
        </p:txBody>
      </p:sp>
      <p:sp>
        <p:nvSpPr>
          <p:cNvPr id="9" name="Rectangle 8">
            <a:extLst>
              <a:ext uri="{FF2B5EF4-FFF2-40B4-BE49-F238E27FC236}">
                <a16:creationId xmlns:a16="http://schemas.microsoft.com/office/drawing/2014/main" id="{7ABD3602-C59E-4C2C-B3A3-392443948C5B}"/>
              </a:ext>
            </a:extLst>
          </p:cNvPr>
          <p:cNvSpPr>
            <a:spLocks noGrp="1"/>
          </p:cNvSpPr>
          <p:nvPr/>
        </p:nvSpPr>
        <p:spPr>
          <a:xfrm>
            <a:off x="6762750" y="1638300"/>
            <a:ext cx="47625" cy="1085850"/>
          </a:xfrm>
          <a:prstGeom prst="rect">
            <a:avLst/>
          </a:prstGeom>
          <a:solidFill>
            <a:srgbClr val="0E8C7F"/>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292C8472-A69D-4A15-B8E8-EF899E6B2E9E}"/>
              </a:ext>
            </a:extLst>
          </p:cNvPr>
          <p:cNvSpPr>
            <a:spLocks noGrp="1"/>
          </p:cNvSpPr>
          <p:nvPr/>
        </p:nvSpPr>
        <p:spPr>
          <a:xfrm>
            <a:off x="6972300" y="1781175"/>
            <a:ext cx="30099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B1B3A"/>
                </a:solidFill>
                <a:latin typeface="Aptos"/>
                <a:ea typeface="Aptos"/>
                <a:cs typeface="Aptos"/>
              </a:defRPr>
            </a:pPr>
            <a:r>
              <a:rPr sz="2250" b="1">
                <a:solidFill>
                  <a:srgbClr val="0B1B3A"/>
                </a:solidFill>
                <a:latin typeface="Aptos"/>
                <a:ea typeface="Aptos"/>
                <a:cs typeface="Aptos"/>
              </a:rPr>
              <a:t>$2.5T</a:t>
            </a:r>
          </a:p>
        </p:txBody>
      </p:sp>
      <p:sp>
        <p:nvSpPr>
          <p:cNvPr id="11" name="Rectangle 10">
            <a:extLst>
              <a:ext uri="{FF2B5EF4-FFF2-40B4-BE49-F238E27FC236}">
                <a16:creationId xmlns:a16="http://schemas.microsoft.com/office/drawing/2014/main" id="{F72C4673-E562-437A-A793-7DCA18DEB1A9}"/>
              </a:ext>
            </a:extLst>
          </p:cNvPr>
          <p:cNvSpPr>
            <a:spLocks noGrp="1"/>
          </p:cNvSpPr>
          <p:nvPr/>
        </p:nvSpPr>
        <p:spPr>
          <a:xfrm>
            <a:off x="6972300" y="2152650"/>
            <a:ext cx="3009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B2430"/>
                </a:solidFill>
                <a:latin typeface="Aptos"/>
                <a:ea typeface="Aptos"/>
                <a:cs typeface="Aptos"/>
              </a:defRPr>
            </a:pPr>
            <a:r>
              <a:rPr sz="1125" b="1">
                <a:solidFill>
                  <a:srgbClr val="1B2430"/>
                </a:solidFill>
                <a:latin typeface="Aptos"/>
                <a:ea typeface="Aptos"/>
                <a:cs typeface="Aptos"/>
              </a:rPr>
              <a:t>global SME trade finance gap</a:t>
            </a:r>
          </a:p>
        </p:txBody>
      </p:sp>
      <p:sp>
        <p:nvSpPr>
          <p:cNvPr id="12" name="Rectangle 11">
            <a:extLst>
              <a:ext uri="{FF2B5EF4-FFF2-40B4-BE49-F238E27FC236}">
                <a16:creationId xmlns:a16="http://schemas.microsoft.com/office/drawing/2014/main" id="{686EEC02-B591-4C69-BED3-5823119BF745}"/>
              </a:ext>
            </a:extLst>
          </p:cNvPr>
          <p:cNvSpPr>
            <a:spLocks noGrp="1"/>
          </p:cNvSpPr>
          <p:nvPr/>
        </p:nvSpPr>
        <p:spPr>
          <a:xfrm>
            <a:off x="6972300" y="2400300"/>
            <a:ext cx="3009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7280"/>
                </a:solidFill>
                <a:latin typeface="Aptos"/>
                <a:ea typeface="Aptos"/>
                <a:cs typeface="Aptos"/>
              </a:defRPr>
            </a:pPr>
            <a:r>
              <a:rPr sz="900" b="0">
                <a:solidFill>
                  <a:srgbClr val="6B7280"/>
                </a:solidFill>
                <a:latin typeface="Aptos"/>
                <a:ea typeface="Aptos"/>
                <a:cs typeface="Aptos"/>
              </a:rPr>
              <a:t>ADB 2025</a:t>
            </a:r>
          </a:p>
        </p:txBody>
      </p:sp>
      <p:sp>
        <p:nvSpPr>
          <p:cNvPr id="13" name="Rectangle 12">
            <a:extLst>
              <a:ext uri="{FF2B5EF4-FFF2-40B4-BE49-F238E27FC236}">
                <a16:creationId xmlns:a16="http://schemas.microsoft.com/office/drawing/2014/main" id="{0E04B0DA-E3E9-4B78-BC31-7237EC8E9AE4}"/>
              </a:ext>
            </a:extLst>
          </p:cNvPr>
          <p:cNvSpPr>
            <a:spLocks noGrp="1"/>
          </p:cNvSpPr>
          <p:nvPr/>
        </p:nvSpPr>
        <p:spPr>
          <a:xfrm>
            <a:off x="6762750" y="2933700"/>
            <a:ext cx="3429000" cy="1085850"/>
          </a:xfrm>
          <a:prstGeom prst="rect">
            <a:avLst/>
          </a:prstGeom>
          <a:solidFill>
            <a:srgbClr val="FFFFFF"/>
          </a:solidFill>
          <a:ln w="9525">
            <a:solidFill>
              <a:srgbClr val="D8D2C7"/>
            </a:solidFill>
            <a:prstDash val="solid"/>
          </a:ln>
        </p:spPr>
        <p:txBody>
          <a:bodyPr/>
          <a:lstStyle/>
          <a:p>
            <a:endParaRPr/>
          </a:p>
        </p:txBody>
      </p:sp>
      <p:sp>
        <p:nvSpPr>
          <p:cNvPr id="14" name="Rectangle 13">
            <a:extLst>
              <a:ext uri="{FF2B5EF4-FFF2-40B4-BE49-F238E27FC236}">
                <a16:creationId xmlns:a16="http://schemas.microsoft.com/office/drawing/2014/main" id="{83571E21-9F83-4F6A-8654-896EC3310A5E}"/>
              </a:ext>
            </a:extLst>
          </p:cNvPr>
          <p:cNvSpPr>
            <a:spLocks noGrp="1"/>
          </p:cNvSpPr>
          <p:nvPr/>
        </p:nvSpPr>
        <p:spPr>
          <a:xfrm>
            <a:off x="6762750" y="2933700"/>
            <a:ext cx="47625" cy="1085850"/>
          </a:xfrm>
          <a:prstGeom prst="rect">
            <a:avLst/>
          </a:prstGeom>
          <a:solidFill>
            <a:srgbClr val="5A4FBF"/>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501D83D6-DFFF-416E-9FD4-8F677CEF3653}"/>
              </a:ext>
            </a:extLst>
          </p:cNvPr>
          <p:cNvSpPr>
            <a:spLocks noGrp="1"/>
          </p:cNvSpPr>
          <p:nvPr/>
        </p:nvSpPr>
        <p:spPr>
          <a:xfrm>
            <a:off x="6972300" y="3076575"/>
            <a:ext cx="30099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B1B3A"/>
                </a:solidFill>
                <a:latin typeface="Aptos"/>
                <a:ea typeface="Aptos"/>
                <a:cs typeface="Aptos"/>
              </a:defRPr>
            </a:pPr>
            <a:r>
              <a:rPr sz="2250" b="1">
                <a:solidFill>
                  <a:srgbClr val="0B1B3A"/>
                </a:solidFill>
                <a:latin typeface="Aptos"/>
                <a:ea typeface="Aptos"/>
                <a:cs typeface="Aptos"/>
              </a:rPr>
              <a:t>~45%</a:t>
            </a:r>
          </a:p>
        </p:txBody>
      </p:sp>
      <p:sp>
        <p:nvSpPr>
          <p:cNvPr id="16" name="Rectangle 15">
            <a:extLst>
              <a:ext uri="{FF2B5EF4-FFF2-40B4-BE49-F238E27FC236}">
                <a16:creationId xmlns:a16="http://schemas.microsoft.com/office/drawing/2014/main" id="{1AB93100-17B9-4DFF-AD18-CBD12EE4DBBE}"/>
              </a:ext>
            </a:extLst>
          </p:cNvPr>
          <p:cNvSpPr>
            <a:spLocks noGrp="1"/>
          </p:cNvSpPr>
          <p:nvPr/>
        </p:nvSpPr>
        <p:spPr>
          <a:xfrm>
            <a:off x="6972300" y="3448050"/>
            <a:ext cx="3009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B2430"/>
                </a:solidFill>
                <a:latin typeface="Aptos"/>
                <a:ea typeface="Aptos"/>
                <a:cs typeface="Aptos"/>
              </a:defRPr>
            </a:pPr>
            <a:r>
              <a:rPr sz="1125" b="1">
                <a:solidFill>
                  <a:srgbClr val="1B2430"/>
                </a:solidFill>
                <a:latin typeface="Aptos"/>
                <a:ea typeface="Aptos"/>
                <a:cs typeface="Aptos"/>
              </a:rPr>
              <a:t>SME rejection rate</a:t>
            </a:r>
          </a:p>
        </p:txBody>
      </p:sp>
      <p:sp>
        <p:nvSpPr>
          <p:cNvPr id="17" name="Rectangle 16">
            <a:extLst>
              <a:ext uri="{FF2B5EF4-FFF2-40B4-BE49-F238E27FC236}">
                <a16:creationId xmlns:a16="http://schemas.microsoft.com/office/drawing/2014/main" id="{5FF79197-1D24-457D-9CC6-58BE64A68982}"/>
              </a:ext>
            </a:extLst>
          </p:cNvPr>
          <p:cNvSpPr>
            <a:spLocks noGrp="1"/>
          </p:cNvSpPr>
          <p:nvPr/>
        </p:nvSpPr>
        <p:spPr>
          <a:xfrm>
            <a:off x="6972300" y="3695700"/>
            <a:ext cx="3009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7280"/>
                </a:solidFill>
                <a:latin typeface="Aptos"/>
                <a:ea typeface="Aptos"/>
                <a:cs typeface="Aptos"/>
              </a:defRPr>
            </a:pPr>
            <a:r>
              <a:rPr sz="900" b="0">
                <a:solidFill>
                  <a:srgbClr val="6B7280"/>
                </a:solidFill>
                <a:latin typeface="Aptos"/>
                <a:ea typeface="Aptos"/>
                <a:cs typeface="Aptos"/>
              </a:rPr>
              <a:t>trade finance access pain</a:t>
            </a:r>
          </a:p>
        </p:txBody>
      </p:sp>
      <p:sp>
        <p:nvSpPr>
          <p:cNvPr id="18" name="Rectangle 17">
            <a:extLst>
              <a:ext uri="{FF2B5EF4-FFF2-40B4-BE49-F238E27FC236}">
                <a16:creationId xmlns:a16="http://schemas.microsoft.com/office/drawing/2014/main" id="{59B544E5-5526-4D82-874D-96D74C828031}"/>
              </a:ext>
            </a:extLst>
          </p:cNvPr>
          <p:cNvSpPr>
            <a:spLocks noGrp="1"/>
          </p:cNvSpPr>
          <p:nvPr/>
        </p:nvSpPr>
        <p:spPr>
          <a:xfrm>
            <a:off x="6762750" y="4229100"/>
            <a:ext cx="3429000" cy="1085850"/>
          </a:xfrm>
          <a:prstGeom prst="rect">
            <a:avLst/>
          </a:prstGeom>
          <a:solidFill>
            <a:srgbClr val="FFFFFF"/>
          </a:solidFill>
          <a:ln w="9525">
            <a:solidFill>
              <a:srgbClr val="D8D2C7"/>
            </a:solidFill>
            <a:prstDash val="solid"/>
          </a:ln>
        </p:spPr>
        <p:txBody>
          <a:bodyPr/>
          <a:lstStyle/>
          <a:p>
            <a:endParaRPr/>
          </a:p>
        </p:txBody>
      </p:sp>
      <p:sp>
        <p:nvSpPr>
          <p:cNvPr id="19" name="Rectangle 18">
            <a:extLst>
              <a:ext uri="{FF2B5EF4-FFF2-40B4-BE49-F238E27FC236}">
                <a16:creationId xmlns:a16="http://schemas.microsoft.com/office/drawing/2014/main" id="{4E312E7D-4283-444A-8D37-8AD0557AEC4D}"/>
              </a:ext>
            </a:extLst>
          </p:cNvPr>
          <p:cNvSpPr>
            <a:spLocks noGrp="1"/>
          </p:cNvSpPr>
          <p:nvPr/>
        </p:nvSpPr>
        <p:spPr>
          <a:xfrm>
            <a:off x="6762750" y="4229100"/>
            <a:ext cx="47625" cy="1085850"/>
          </a:xfrm>
          <a:prstGeom prst="rect">
            <a:avLst/>
          </a:prstGeom>
          <a:solidFill>
            <a:srgbClr val="C77D18"/>
          </a:solidFill>
          <a:ln w="0">
            <a:solidFill>
              <a:srgbClr val="000000">
                <a:alpha val="0"/>
              </a:srgbClr>
            </a:solidFill>
            <a:prstDash val="solid"/>
          </a:ln>
        </p:spPr>
        <p:txBody>
          <a:bodyPr/>
          <a:lstStyle/>
          <a:p>
            <a:endParaRPr/>
          </a:p>
        </p:txBody>
      </p:sp>
      <p:sp>
        <p:nvSpPr>
          <p:cNvPr id="20" name="Rectangle 19">
            <a:extLst>
              <a:ext uri="{FF2B5EF4-FFF2-40B4-BE49-F238E27FC236}">
                <a16:creationId xmlns:a16="http://schemas.microsoft.com/office/drawing/2014/main" id="{9B3E7D5A-1251-40FD-A690-27E85C587554}"/>
              </a:ext>
            </a:extLst>
          </p:cNvPr>
          <p:cNvSpPr>
            <a:spLocks noGrp="1"/>
          </p:cNvSpPr>
          <p:nvPr/>
        </p:nvSpPr>
        <p:spPr>
          <a:xfrm>
            <a:off x="6972300" y="4371975"/>
            <a:ext cx="30099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B1B3A"/>
                </a:solidFill>
                <a:latin typeface="Aptos"/>
                <a:ea typeface="Aptos"/>
                <a:cs typeface="Aptos"/>
              </a:defRPr>
            </a:pPr>
            <a:r>
              <a:rPr sz="2250" b="1">
                <a:solidFill>
                  <a:srgbClr val="0B1B3A"/>
                </a:solidFill>
                <a:latin typeface="Aptos"/>
                <a:ea typeface="Aptos"/>
                <a:cs typeface="Aptos"/>
              </a:rPr>
              <a:t>$10K-$50K</a:t>
            </a:r>
          </a:p>
        </p:txBody>
      </p:sp>
      <p:sp>
        <p:nvSpPr>
          <p:cNvPr id="21" name="Rectangle 20">
            <a:extLst>
              <a:ext uri="{FF2B5EF4-FFF2-40B4-BE49-F238E27FC236}">
                <a16:creationId xmlns:a16="http://schemas.microsoft.com/office/drawing/2014/main" id="{D2126CC8-DD2B-48CC-9644-51572166B6EF}"/>
              </a:ext>
            </a:extLst>
          </p:cNvPr>
          <p:cNvSpPr>
            <a:spLocks noGrp="1"/>
          </p:cNvSpPr>
          <p:nvPr/>
        </p:nvSpPr>
        <p:spPr>
          <a:xfrm>
            <a:off x="6972300" y="4743450"/>
            <a:ext cx="3009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B2430"/>
                </a:solidFill>
                <a:latin typeface="Aptos"/>
                <a:ea typeface="Aptos"/>
                <a:cs typeface="Aptos"/>
              </a:defRPr>
            </a:pPr>
            <a:r>
              <a:rPr sz="1125" b="1">
                <a:solidFill>
                  <a:srgbClr val="1B2430"/>
                </a:solidFill>
                <a:latin typeface="Aptos"/>
                <a:ea typeface="Aptos"/>
                <a:cs typeface="Aptos"/>
              </a:rPr>
              <a:t>LC dead zone</a:t>
            </a:r>
          </a:p>
        </p:txBody>
      </p:sp>
      <p:sp>
        <p:nvSpPr>
          <p:cNvPr id="22" name="Rectangle 21">
            <a:extLst>
              <a:ext uri="{FF2B5EF4-FFF2-40B4-BE49-F238E27FC236}">
                <a16:creationId xmlns:a16="http://schemas.microsoft.com/office/drawing/2014/main" id="{96D85144-044A-4D7B-8173-47CA7883409F}"/>
              </a:ext>
            </a:extLst>
          </p:cNvPr>
          <p:cNvSpPr>
            <a:spLocks noGrp="1"/>
          </p:cNvSpPr>
          <p:nvPr/>
        </p:nvSpPr>
        <p:spPr>
          <a:xfrm>
            <a:off x="6972300" y="4991100"/>
            <a:ext cx="3009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7280"/>
                </a:solidFill>
                <a:latin typeface="Aptos"/>
                <a:ea typeface="Aptos"/>
                <a:cs typeface="Aptos"/>
              </a:defRPr>
            </a:pPr>
            <a:r>
              <a:rPr sz="900" b="0">
                <a:solidFill>
                  <a:srgbClr val="6B7280"/>
                </a:solidFill>
                <a:latin typeface="Aptos"/>
                <a:ea typeface="Aptos"/>
                <a:cs typeface="Aptos"/>
              </a:rPr>
              <a:t>too large for trust, too small for banks</a:t>
            </a:r>
          </a:p>
        </p:txBody>
      </p:sp>
      <p:sp>
        <p:nvSpPr>
          <p:cNvPr id="23" name="Rectangle 22">
            <a:extLst>
              <a:ext uri="{FF2B5EF4-FFF2-40B4-BE49-F238E27FC236}">
                <a16:creationId xmlns:a16="http://schemas.microsoft.com/office/drawing/2014/main" id="{69433A89-89B6-450C-BE1E-D41BF959CEE3}"/>
              </a:ext>
            </a:extLst>
          </p:cNvPr>
          <p:cNvSpPr>
            <a:spLocks noGrp="1"/>
          </p:cNvSpPr>
          <p:nvPr/>
        </p:nvSpPr>
        <p:spPr>
          <a:xfrm>
            <a:off x="571500" y="4887625"/>
            <a:ext cx="5334000" cy="781050"/>
          </a:xfrm>
          <a:prstGeom prst="rect">
            <a:avLst/>
          </a:prstGeom>
          <a:solidFill>
            <a:srgbClr val="FFFFFF"/>
          </a:solidFill>
          <a:ln w="9525">
            <a:solidFill>
              <a:srgbClr val="D8D2C7"/>
            </a:solidFill>
            <a:prstDash val="solid"/>
          </a:ln>
        </p:spPr>
        <p:txBody>
          <a:bodyPr/>
          <a:lstStyle/>
          <a:p>
            <a:pPr marL="0" indent="0" algn="l" defTabSz="914400" rtl="0"/>
            <a:endParaRPr/>
          </a:p>
        </p:txBody>
      </p:sp>
      <p:sp>
        <p:nvSpPr>
          <p:cNvPr id="24" name="Rectangle 23">
            <a:extLst>
              <a:ext uri="{FF2B5EF4-FFF2-40B4-BE49-F238E27FC236}">
                <a16:creationId xmlns:a16="http://schemas.microsoft.com/office/drawing/2014/main" id="{D012C5B5-2CD8-46D2-BA8D-518C1683B0F9}"/>
              </a:ext>
            </a:extLst>
          </p:cNvPr>
          <p:cNvSpPr>
            <a:spLocks noGrp="1"/>
          </p:cNvSpPr>
          <p:nvPr/>
        </p:nvSpPr>
        <p:spPr>
          <a:xfrm>
            <a:off x="781050" y="4933950"/>
            <a:ext cx="1524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E8C7F"/>
                </a:solidFill>
                <a:latin typeface="Aptos"/>
                <a:ea typeface="Aptos"/>
                <a:cs typeface="Aptos"/>
              </a:defRPr>
            </a:pPr>
            <a:r>
              <a:rPr sz="975" b="1">
                <a:solidFill>
                  <a:srgbClr val="0E8C7F"/>
                </a:solidFill>
                <a:latin typeface="Aptos"/>
                <a:ea typeface="Aptos"/>
                <a:cs typeface="Aptos"/>
              </a:rPr>
              <a:t>Investor question</a:t>
            </a:r>
          </a:p>
        </p:txBody>
      </p:sp>
      <p:sp>
        <p:nvSpPr>
          <p:cNvPr id="25" name="Rectangle 24">
            <a:extLst>
              <a:ext uri="{FF2B5EF4-FFF2-40B4-BE49-F238E27FC236}">
                <a16:creationId xmlns:a16="http://schemas.microsoft.com/office/drawing/2014/main" id="{15249D5D-0844-4129-ABEF-6290C94DD070}"/>
              </a:ext>
            </a:extLst>
          </p:cNvPr>
          <p:cNvSpPr>
            <a:spLocks noGrp="1"/>
          </p:cNvSpPr>
          <p:nvPr/>
        </p:nvSpPr>
        <p:spPr>
          <a:xfrm>
            <a:off x="781050" y="5162550"/>
            <a:ext cx="4762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0B1B3A"/>
                </a:solidFill>
                <a:latin typeface="Aptos"/>
                <a:ea typeface="Aptos"/>
                <a:cs typeface="Aptos"/>
              </a:defRPr>
            </a:pPr>
            <a:r>
              <a:rPr sz="1500" b="1">
                <a:solidFill>
                  <a:srgbClr val="0B1B3A"/>
                </a:solidFill>
                <a:latin typeface="Aptos"/>
                <a:ea typeface="Aptos"/>
                <a:cs typeface="Aptos"/>
              </a:rPr>
              <a:t>Who can make seller certainty and buyer control economical at SME deal sizes?</a:t>
            </a:r>
          </a:p>
        </p:txBody>
      </p:sp>
      <p:sp>
        <p:nvSpPr>
          <p:cNvPr id="27" name="Rectangle 26">
            <a:extLst>
              <a:ext uri="{FF2B5EF4-FFF2-40B4-BE49-F238E27FC236}">
                <a16:creationId xmlns:a16="http://schemas.microsoft.com/office/drawing/2014/main" id="{340A1264-C9E6-4341-82B8-44833A7AC560}"/>
              </a:ext>
            </a:extLst>
          </p:cNvPr>
          <p:cNvSpPr>
            <a:spLocks noGrp="1"/>
          </p:cNvSpPr>
          <p:nvPr/>
        </p:nvSpPr>
        <p:spPr>
          <a:xfrm>
            <a:off x="11106150" y="6438900"/>
            <a:ext cx="552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B7280"/>
                </a:solidFill>
                <a:latin typeface="Aptos"/>
                <a:ea typeface="Aptos"/>
                <a:cs typeface="Aptos"/>
              </a:defRPr>
            </a:pPr>
            <a:r>
              <a:rPr sz="900" b="1">
                <a:solidFill>
                  <a:srgbClr val="6B7280"/>
                </a:solidFill>
                <a:latin typeface="Aptos"/>
                <a:ea typeface="Aptos"/>
                <a:cs typeface="Aptos"/>
              </a:rPr>
              <a:t>02</a:t>
            </a:r>
          </a:p>
        </p:txBody>
      </p:sp>
    </p:spTree>
    <p:extLst>
      <p:ext uri="{BB962C8B-B14F-4D97-AF65-F5344CB8AC3E}">
        <p14:creationId xmlns:p14="http://schemas.microsoft.com/office/powerpoint/2010/main" val="92997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D521EB4B-85DF-49F2-8107-3036D578E479}"/>
              </a:ext>
            </a:extLst>
          </p:cNvPr>
          <p:cNvSpPr>
            <a:spLocks noGrp="1"/>
          </p:cNvSpPr>
          <p:nvPr/>
        </p:nvSpPr>
        <p:spPr>
          <a:xfrm>
            <a:off x="0" y="0"/>
            <a:ext cx="12192000" cy="6858000"/>
          </a:xfrm>
          <a:prstGeom prst="rect">
            <a:avLst/>
          </a:prstGeom>
          <a:solidFill>
            <a:srgbClr val="F7F4EF"/>
          </a:solidFill>
          <a:ln w="0">
            <a:solidFill>
              <a:srgbClr val="000000">
                <a:alpha val="0"/>
              </a:srgbClr>
            </a:solidFill>
            <a:prstDash val="solid"/>
          </a:ln>
        </p:spPr>
        <p:txBody>
          <a:bodyPr/>
          <a:lstStyle/>
          <a:p>
            <a:endParaRPr/>
          </a:p>
        </p:txBody>
      </p:sp>
      <p:sp>
        <p:nvSpPr>
          <p:cNvPr id="2" name="kicker-03-marker">
            <a:extLst>
              <a:ext uri="{FF2B5EF4-FFF2-40B4-BE49-F238E27FC236}">
                <a16:creationId xmlns:a16="http://schemas.microsoft.com/office/drawing/2014/main" id="{9C2C98F4-0761-4F59-91CB-45C1DA9BA235}"/>
              </a:ext>
            </a:extLst>
          </p:cNvPr>
          <p:cNvSpPr>
            <a:spLocks noGrp="1"/>
          </p:cNvSpPr>
          <p:nvPr/>
        </p:nvSpPr>
        <p:spPr>
          <a:xfrm>
            <a:off x="533400" y="438150"/>
            <a:ext cx="76200" cy="76200"/>
          </a:xfrm>
          <a:prstGeom prst="rect">
            <a:avLst/>
          </a:prstGeom>
          <a:solidFill>
            <a:srgbClr val="0B1B3A"/>
          </a:solidFill>
          <a:ln w="0">
            <a:solidFill>
              <a:srgbClr val="000000">
                <a:alpha val="0"/>
              </a:srgbClr>
            </a:solidFill>
            <a:prstDash val="solid"/>
          </a:ln>
        </p:spPr>
        <p:txBody>
          <a:bodyPr/>
          <a:lstStyle/>
          <a:p>
            <a:endParaRPr/>
          </a:p>
        </p:txBody>
      </p:sp>
      <p:sp>
        <p:nvSpPr>
          <p:cNvPr id="3" name="kicker-03-label">
            <a:extLst>
              <a:ext uri="{FF2B5EF4-FFF2-40B4-BE49-F238E27FC236}">
                <a16:creationId xmlns:a16="http://schemas.microsoft.com/office/drawing/2014/main" id="{15C181B9-C90D-460F-BF9A-7BE1FC2ACA5D}"/>
              </a:ext>
            </a:extLst>
          </p:cNvPr>
          <p:cNvSpPr>
            <a:spLocks noGrp="1"/>
          </p:cNvSpPr>
          <p:nvPr/>
        </p:nvSpPr>
        <p:spPr>
          <a:xfrm>
            <a:off x="723900" y="361950"/>
            <a:ext cx="53340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6B7280"/>
                </a:solidFill>
                <a:latin typeface="Aptos"/>
                <a:ea typeface="Aptos"/>
                <a:cs typeface="Aptos"/>
              </a:defRPr>
            </a:pPr>
            <a:r>
              <a:rPr sz="900" b="1">
                <a:solidFill>
                  <a:srgbClr val="6B7280"/>
                </a:solidFill>
                <a:latin typeface="Aptos"/>
                <a:ea typeface="Aptos"/>
                <a:cs typeface="Aptos"/>
              </a:rPr>
              <a:t>SOLUTION</a:t>
            </a:r>
          </a:p>
        </p:txBody>
      </p:sp>
      <p:sp>
        <p:nvSpPr>
          <p:cNvPr id="4" name="Rectangle 3">
            <a:extLst>
              <a:ext uri="{FF2B5EF4-FFF2-40B4-BE49-F238E27FC236}">
                <a16:creationId xmlns:a16="http://schemas.microsoft.com/office/drawing/2014/main" id="{2EAAB53E-F0F5-4DDB-9FF1-D7301434A957}"/>
              </a:ext>
            </a:extLst>
          </p:cNvPr>
          <p:cNvSpPr>
            <a:spLocks noGrp="1"/>
          </p:cNvSpPr>
          <p:nvPr/>
        </p:nvSpPr>
        <p:spPr>
          <a:xfrm>
            <a:off x="533400" y="685800"/>
            <a:ext cx="8191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0B1B3A"/>
                </a:solidFill>
                <a:latin typeface="Aptos Display"/>
                <a:ea typeface="Aptos Display"/>
                <a:cs typeface="Aptos Display"/>
              </a:defRPr>
            </a:pPr>
            <a:r>
              <a:rPr sz="3000" b="1">
                <a:solidFill>
                  <a:srgbClr val="0B1B3A"/>
                </a:solidFill>
                <a:latin typeface="Aptos Display"/>
                <a:ea typeface="Aptos Display"/>
                <a:cs typeface="Aptos Display"/>
              </a:rPr>
              <a:t>Blockmediary turns documentary credit into a programmable escrow workflow.</a:t>
            </a:r>
          </a:p>
        </p:txBody>
      </p:sp>
      <p:sp>
        <p:nvSpPr>
          <p:cNvPr id="5" name="Rectangle 4">
            <a:extLst>
              <a:ext uri="{FF2B5EF4-FFF2-40B4-BE49-F238E27FC236}">
                <a16:creationId xmlns:a16="http://schemas.microsoft.com/office/drawing/2014/main" id="{6F5704DD-A436-4BED-8ABA-4E0A8C6153EB}"/>
              </a:ext>
            </a:extLst>
          </p:cNvPr>
          <p:cNvSpPr>
            <a:spLocks noGrp="1"/>
          </p:cNvSpPr>
          <p:nvPr/>
        </p:nvSpPr>
        <p:spPr>
          <a:xfrm>
            <a:off x="571500" y="1695450"/>
            <a:ext cx="9334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B2430"/>
                </a:solidFill>
                <a:latin typeface="Aptos"/>
                <a:ea typeface="Aptos"/>
                <a:cs typeface="Aptos"/>
              </a:defRPr>
            </a:pPr>
            <a:r>
              <a:rPr sz="1500" b="0">
                <a:solidFill>
                  <a:srgbClr val="1B2430"/>
                </a:solidFill>
                <a:latin typeface="Aptos"/>
                <a:ea typeface="Aptos"/>
                <a:cs typeface="Aptos"/>
              </a:rPr>
              <a:t>The product does not replace trade law. It converts agreed, payment-relevant terms into a signed escrow specification, then releases funds when submitted documents are apparently compliant.</a:t>
            </a:r>
          </a:p>
        </p:txBody>
      </p:sp>
      <p:sp>
        <p:nvSpPr>
          <p:cNvPr id="6" name="Rectangle 5">
            <a:extLst>
              <a:ext uri="{FF2B5EF4-FFF2-40B4-BE49-F238E27FC236}">
                <a16:creationId xmlns:a16="http://schemas.microsoft.com/office/drawing/2014/main" id="{5F8C4D81-DCBC-4B95-BDC1-EA46A7C10DE9}"/>
              </a:ext>
            </a:extLst>
          </p:cNvPr>
          <p:cNvSpPr>
            <a:spLocks noGrp="1"/>
          </p:cNvSpPr>
          <p:nvPr/>
        </p:nvSpPr>
        <p:spPr>
          <a:xfrm>
            <a:off x="571500" y="2933700"/>
            <a:ext cx="1790700" cy="1219200"/>
          </a:xfrm>
          <a:prstGeom prst="rect">
            <a:avLst/>
          </a:prstGeom>
          <a:solidFill>
            <a:srgbClr val="FFFFFF"/>
          </a:solidFill>
          <a:ln w="9525">
            <a:solidFill>
              <a:srgbClr val="D8D2C7"/>
            </a:solidFill>
            <a:prstDash val="solid"/>
          </a:ln>
        </p:spPr>
        <p:txBody>
          <a:bodyPr/>
          <a:lstStyle/>
          <a:p>
            <a:endParaRPr/>
          </a:p>
        </p:txBody>
      </p:sp>
      <p:sp>
        <p:nvSpPr>
          <p:cNvPr id="7" name="Rectangle 6">
            <a:extLst>
              <a:ext uri="{FF2B5EF4-FFF2-40B4-BE49-F238E27FC236}">
                <a16:creationId xmlns:a16="http://schemas.microsoft.com/office/drawing/2014/main" id="{DB2BFC3E-B13F-49A8-90FA-539D0394E171}"/>
              </a:ext>
            </a:extLst>
          </p:cNvPr>
          <p:cNvSpPr>
            <a:spLocks noGrp="1"/>
          </p:cNvSpPr>
          <p:nvPr/>
        </p:nvSpPr>
        <p:spPr>
          <a:xfrm>
            <a:off x="571500" y="2933700"/>
            <a:ext cx="1790700" cy="57150"/>
          </a:xfrm>
          <a:prstGeom prst="rect">
            <a:avLst/>
          </a:prstGeom>
          <a:solidFill>
            <a:srgbClr val="5A4FBF"/>
          </a:solidFill>
          <a:ln w="0">
            <a:solidFill>
              <a:srgbClr val="000000">
                <a:alpha val="0"/>
              </a:srgbClr>
            </a:solidFill>
            <a:prstDash val="solid"/>
          </a:ln>
        </p:spPr>
        <p:txBody>
          <a:bodyPr/>
          <a:lstStyle/>
          <a:p>
            <a:endParaRPr/>
          </a:p>
        </p:txBody>
      </p:sp>
      <p:sp>
        <p:nvSpPr>
          <p:cNvPr id="8" name="Rectangle 7">
            <a:extLst>
              <a:ext uri="{FF2B5EF4-FFF2-40B4-BE49-F238E27FC236}">
                <a16:creationId xmlns:a16="http://schemas.microsoft.com/office/drawing/2014/main" id="{7AFBED5D-DFD7-4063-81C1-066E369E1C62}"/>
              </a:ext>
            </a:extLst>
          </p:cNvPr>
          <p:cNvSpPr>
            <a:spLocks noGrp="1"/>
          </p:cNvSpPr>
          <p:nvPr/>
        </p:nvSpPr>
        <p:spPr>
          <a:xfrm>
            <a:off x="742950" y="3105150"/>
            <a:ext cx="4000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5A4FBF"/>
                </a:solidFill>
                <a:latin typeface="Aptos"/>
                <a:ea typeface="Aptos"/>
                <a:cs typeface="Aptos"/>
              </a:defRPr>
            </a:pPr>
            <a:r>
              <a:rPr sz="1650" b="1">
                <a:solidFill>
                  <a:srgbClr val="5A4FBF"/>
                </a:solidFill>
                <a:latin typeface="Aptos"/>
                <a:ea typeface="Aptos"/>
                <a:cs typeface="Aptos"/>
              </a:rPr>
              <a:t>01</a:t>
            </a:r>
          </a:p>
        </p:txBody>
      </p:sp>
      <p:sp>
        <p:nvSpPr>
          <p:cNvPr id="9" name="Rectangle 8">
            <a:extLst>
              <a:ext uri="{FF2B5EF4-FFF2-40B4-BE49-F238E27FC236}">
                <a16:creationId xmlns:a16="http://schemas.microsoft.com/office/drawing/2014/main" id="{03F85FE9-CD43-4A34-AB98-05B2EC041576}"/>
              </a:ext>
            </a:extLst>
          </p:cNvPr>
          <p:cNvSpPr>
            <a:spLocks noGrp="1"/>
          </p:cNvSpPr>
          <p:nvPr/>
        </p:nvSpPr>
        <p:spPr>
          <a:xfrm>
            <a:off x="1162050" y="312420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B1B3A"/>
                </a:solidFill>
                <a:latin typeface="Aptos"/>
                <a:ea typeface="Aptos"/>
                <a:cs typeface="Aptos"/>
              </a:defRPr>
            </a:pPr>
            <a:r>
              <a:rPr sz="1275" b="1">
                <a:solidFill>
                  <a:srgbClr val="0B1B3A"/>
                </a:solidFill>
                <a:latin typeface="Aptos"/>
                <a:ea typeface="Aptos"/>
                <a:cs typeface="Aptos"/>
              </a:rPr>
              <a:t>Agree</a:t>
            </a:r>
          </a:p>
        </p:txBody>
      </p:sp>
      <p:sp>
        <p:nvSpPr>
          <p:cNvPr id="10" name="Rectangle 9">
            <a:extLst>
              <a:ext uri="{FF2B5EF4-FFF2-40B4-BE49-F238E27FC236}">
                <a16:creationId xmlns:a16="http://schemas.microsoft.com/office/drawing/2014/main" id="{E3BA37AA-F330-459C-AAC0-9AEC2016A38D}"/>
              </a:ext>
            </a:extLst>
          </p:cNvPr>
          <p:cNvSpPr>
            <a:spLocks noGrp="1"/>
          </p:cNvSpPr>
          <p:nvPr/>
        </p:nvSpPr>
        <p:spPr>
          <a:xfrm>
            <a:off x="742950" y="3486150"/>
            <a:ext cx="1409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7280"/>
                </a:solidFill>
                <a:latin typeface="Aptos"/>
                <a:ea typeface="Aptos"/>
                <a:cs typeface="Aptos"/>
              </a:defRPr>
            </a:pPr>
            <a:r>
              <a:rPr sz="975" b="0">
                <a:solidFill>
                  <a:srgbClr val="6B7280"/>
                </a:solidFill>
                <a:latin typeface="Aptos"/>
                <a:ea typeface="Aptos"/>
                <a:cs typeface="Aptos"/>
              </a:rPr>
              <a:t>Buyer and seller approve a structured Escrow Specification.</a:t>
            </a:r>
          </a:p>
        </p:txBody>
      </p:sp>
      <p:sp>
        <p:nvSpPr>
          <p:cNvPr id="11" name="Rectangle 10">
            <a:extLst>
              <a:ext uri="{FF2B5EF4-FFF2-40B4-BE49-F238E27FC236}">
                <a16:creationId xmlns:a16="http://schemas.microsoft.com/office/drawing/2014/main" id="{31FE53D0-2AB3-42D2-AAEB-87AC6D4E6A84}"/>
              </a:ext>
            </a:extLst>
          </p:cNvPr>
          <p:cNvSpPr>
            <a:spLocks noGrp="1"/>
          </p:cNvSpPr>
          <p:nvPr/>
        </p:nvSpPr>
        <p:spPr>
          <a:xfrm>
            <a:off x="2781300" y="2933700"/>
            <a:ext cx="1790700" cy="1219200"/>
          </a:xfrm>
          <a:prstGeom prst="rect">
            <a:avLst/>
          </a:prstGeom>
          <a:solidFill>
            <a:srgbClr val="FFFFFF"/>
          </a:solidFill>
          <a:ln w="9525">
            <a:solidFill>
              <a:srgbClr val="D8D2C7"/>
            </a:solidFill>
            <a:prstDash val="solid"/>
          </a:ln>
        </p:spPr>
        <p:txBody>
          <a:bodyPr/>
          <a:lstStyle/>
          <a:p>
            <a:endParaRPr/>
          </a:p>
        </p:txBody>
      </p:sp>
      <p:sp>
        <p:nvSpPr>
          <p:cNvPr id="12" name="Rectangle 11">
            <a:extLst>
              <a:ext uri="{FF2B5EF4-FFF2-40B4-BE49-F238E27FC236}">
                <a16:creationId xmlns:a16="http://schemas.microsoft.com/office/drawing/2014/main" id="{2815C935-7E7D-4E24-82A3-BE665FEBEA50}"/>
              </a:ext>
            </a:extLst>
          </p:cNvPr>
          <p:cNvSpPr>
            <a:spLocks noGrp="1"/>
          </p:cNvSpPr>
          <p:nvPr/>
        </p:nvSpPr>
        <p:spPr>
          <a:xfrm>
            <a:off x="2781300" y="2933700"/>
            <a:ext cx="1790700" cy="57150"/>
          </a:xfrm>
          <a:prstGeom prst="rect">
            <a:avLst/>
          </a:prstGeom>
          <a:solidFill>
            <a:srgbClr val="0E8C7F"/>
          </a:solidFill>
          <a:ln w="0">
            <a:solidFill>
              <a:srgbClr val="000000">
                <a:alpha val="0"/>
              </a:srgbClr>
            </a:solidFill>
            <a:prstDash val="solid"/>
          </a:ln>
        </p:spPr>
        <p:txBody>
          <a:bodyPr/>
          <a:lstStyle/>
          <a:p>
            <a:endParaRPr/>
          </a:p>
        </p:txBody>
      </p:sp>
      <p:sp>
        <p:nvSpPr>
          <p:cNvPr id="13" name="Rectangle 12">
            <a:extLst>
              <a:ext uri="{FF2B5EF4-FFF2-40B4-BE49-F238E27FC236}">
                <a16:creationId xmlns:a16="http://schemas.microsoft.com/office/drawing/2014/main" id="{DF4F894A-5476-4383-A8A4-0CD79EA38843}"/>
              </a:ext>
            </a:extLst>
          </p:cNvPr>
          <p:cNvSpPr>
            <a:spLocks noGrp="1"/>
          </p:cNvSpPr>
          <p:nvPr/>
        </p:nvSpPr>
        <p:spPr>
          <a:xfrm>
            <a:off x="2952750" y="3105150"/>
            <a:ext cx="4000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E8C7F"/>
                </a:solidFill>
                <a:latin typeface="Aptos"/>
                <a:ea typeface="Aptos"/>
                <a:cs typeface="Aptos"/>
              </a:defRPr>
            </a:pPr>
            <a:r>
              <a:rPr sz="1650" b="1">
                <a:solidFill>
                  <a:srgbClr val="0E8C7F"/>
                </a:solidFill>
                <a:latin typeface="Aptos"/>
                <a:ea typeface="Aptos"/>
                <a:cs typeface="Aptos"/>
              </a:rPr>
              <a:t>02</a:t>
            </a:r>
          </a:p>
        </p:txBody>
      </p:sp>
      <p:sp>
        <p:nvSpPr>
          <p:cNvPr id="14" name="Rectangle 13">
            <a:extLst>
              <a:ext uri="{FF2B5EF4-FFF2-40B4-BE49-F238E27FC236}">
                <a16:creationId xmlns:a16="http://schemas.microsoft.com/office/drawing/2014/main" id="{B64F3C52-DFB3-47AC-BB75-64126E24E0B7}"/>
              </a:ext>
            </a:extLst>
          </p:cNvPr>
          <p:cNvSpPr>
            <a:spLocks noGrp="1"/>
          </p:cNvSpPr>
          <p:nvPr/>
        </p:nvSpPr>
        <p:spPr>
          <a:xfrm>
            <a:off x="3371850" y="312420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B1B3A"/>
                </a:solidFill>
                <a:latin typeface="Aptos"/>
                <a:ea typeface="Aptos"/>
                <a:cs typeface="Aptos"/>
              </a:defRPr>
            </a:pPr>
            <a:r>
              <a:rPr sz="1275" b="1">
                <a:solidFill>
                  <a:srgbClr val="0B1B3A"/>
                </a:solidFill>
                <a:latin typeface="Aptos"/>
                <a:ea typeface="Aptos"/>
                <a:cs typeface="Aptos"/>
              </a:rPr>
              <a:t>Fund</a:t>
            </a:r>
          </a:p>
        </p:txBody>
      </p:sp>
      <p:sp>
        <p:nvSpPr>
          <p:cNvPr id="15" name="Rectangle 14">
            <a:extLst>
              <a:ext uri="{FF2B5EF4-FFF2-40B4-BE49-F238E27FC236}">
                <a16:creationId xmlns:a16="http://schemas.microsoft.com/office/drawing/2014/main" id="{AC454CA3-0BA8-4A45-B9F0-362BF14593A1}"/>
              </a:ext>
            </a:extLst>
          </p:cNvPr>
          <p:cNvSpPr>
            <a:spLocks noGrp="1"/>
          </p:cNvSpPr>
          <p:nvPr/>
        </p:nvSpPr>
        <p:spPr>
          <a:xfrm>
            <a:off x="2952750" y="3486150"/>
            <a:ext cx="1409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7280"/>
                </a:solidFill>
                <a:latin typeface="Aptos"/>
                <a:ea typeface="Aptos"/>
                <a:cs typeface="Aptos"/>
              </a:defRPr>
            </a:pPr>
            <a:r>
              <a:rPr sz="975" b="0">
                <a:solidFill>
                  <a:srgbClr val="6B7280"/>
                </a:solidFill>
                <a:latin typeface="Aptos"/>
                <a:ea typeface="Aptos"/>
                <a:cs typeface="Aptos"/>
              </a:rPr>
              <a:t>Buyer locks USDC in smart-contract escrow or partner custody.</a:t>
            </a:r>
          </a:p>
        </p:txBody>
      </p:sp>
      <p:sp>
        <p:nvSpPr>
          <p:cNvPr id="16" name="Rectangle 15">
            <a:extLst>
              <a:ext uri="{FF2B5EF4-FFF2-40B4-BE49-F238E27FC236}">
                <a16:creationId xmlns:a16="http://schemas.microsoft.com/office/drawing/2014/main" id="{0C29325F-0CB9-47E5-8187-7CF073C1DDDD}"/>
              </a:ext>
            </a:extLst>
          </p:cNvPr>
          <p:cNvSpPr>
            <a:spLocks noGrp="1"/>
          </p:cNvSpPr>
          <p:nvPr/>
        </p:nvSpPr>
        <p:spPr>
          <a:xfrm>
            <a:off x="4991100" y="2933700"/>
            <a:ext cx="1790700" cy="1219200"/>
          </a:xfrm>
          <a:prstGeom prst="rect">
            <a:avLst/>
          </a:prstGeom>
          <a:solidFill>
            <a:srgbClr val="FFFFFF"/>
          </a:solidFill>
          <a:ln w="9525">
            <a:solidFill>
              <a:srgbClr val="D8D2C7"/>
            </a:solidFill>
            <a:prstDash val="solid"/>
          </a:ln>
        </p:spPr>
        <p:txBody>
          <a:bodyPr/>
          <a:lstStyle/>
          <a:p>
            <a:endParaRPr/>
          </a:p>
        </p:txBody>
      </p:sp>
      <p:sp>
        <p:nvSpPr>
          <p:cNvPr id="17" name="Rectangle 16">
            <a:extLst>
              <a:ext uri="{FF2B5EF4-FFF2-40B4-BE49-F238E27FC236}">
                <a16:creationId xmlns:a16="http://schemas.microsoft.com/office/drawing/2014/main" id="{0382AF10-1DDE-4370-BBFF-C3028528A5FF}"/>
              </a:ext>
            </a:extLst>
          </p:cNvPr>
          <p:cNvSpPr>
            <a:spLocks noGrp="1"/>
          </p:cNvSpPr>
          <p:nvPr/>
        </p:nvSpPr>
        <p:spPr>
          <a:xfrm>
            <a:off x="4991100" y="2933700"/>
            <a:ext cx="1790700" cy="57150"/>
          </a:xfrm>
          <a:prstGeom prst="rect">
            <a:avLst/>
          </a:prstGeom>
          <a:solidFill>
            <a:srgbClr val="1F6FB2"/>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0E405DAF-95D2-49B1-828A-BE282993DBA2}"/>
              </a:ext>
            </a:extLst>
          </p:cNvPr>
          <p:cNvSpPr>
            <a:spLocks noGrp="1"/>
          </p:cNvSpPr>
          <p:nvPr/>
        </p:nvSpPr>
        <p:spPr>
          <a:xfrm>
            <a:off x="5162550" y="3105150"/>
            <a:ext cx="4000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6FB2"/>
                </a:solidFill>
                <a:latin typeface="Aptos"/>
                <a:ea typeface="Aptos"/>
                <a:cs typeface="Aptos"/>
              </a:defRPr>
            </a:pPr>
            <a:r>
              <a:rPr sz="1650" b="1">
                <a:solidFill>
                  <a:srgbClr val="1F6FB2"/>
                </a:solidFill>
                <a:latin typeface="Aptos"/>
                <a:ea typeface="Aptos"/>
                <a:cs typeface="Aptos"/>
              </a:rPr>
              <a:t>03</a:t>
            </a:r>
          </a:p>
        </p:txBody>
      </p:sp>
      <p:sp>
        <p:nvSpPr>
          <p:cNvPr id="19" name="Rectangle 18">
            <a:extLst>
              <a:ext uri="{FF2B5EF4-FFF2-40B4-BE49-F238E27FC236}">
                <a16:creationId xmlns:a16="http://schemas.microsoft.com/office/drawing/2014/main" id="{A8A2672B-E744-4949-940E-37C66ED67471}"/>
              </a:ext>
            </a:extLst>
          </p:cNvPr>
          <p:cNvSpPr>
            <a:spLocks noGrp="1"/>
          </p:cNvSpPr>
          <p:nvPr/>
        </p:nvSpPr>
        <p:spPr>
          <a:xfrm>
            <a:off x="5581650" y="312420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B1B3A"/>
                </a:solidFill>
                <a:latin typeface="Aptos"/>
                <a:ea typeface="Aptos"/>
                <a:cs typeface="Aptos"/>
              </a:defRPr>
            </a:pPr>
            <a:r>
              <a:rPr sz="1275" b="1">
                <a:solidFill>
                  <a:srgbClr val="0B1B3A"/>
                </a:solidFill>
                <a:latin typeface="Aptos"/>
                <a:ea typeface="Aptos"/>
                <a:cs typeface="Aptos"/>
              </a:rPr>
              <a:t>Ship</a:t>
            </a:r>
          </a:p>
        </p:txBody>
      </p:sp>
      <p:sp>
        <p:nvSpPr>
          <p:cNvPr id="20" name="Rectangle 19">
            <a:extLst>
              <a:ext uri="{FF2B5EF4-FFF2-40B4-BE49-F238E27FC236}">
                <a16:creationId xmlns:a16="http://schemas.microsoft.com/office/drawing/2014/main" id="{C1A39883-694C-4091-BA53-6CEE07009D52}"/>
              </a:ext>
            </a:extLst>
          </p:cNvPr>
          <p:cNvSpPr>
            <a:spLocks noGrp="1"/>
          </p:cNvSpPr>
          <p:nvPr/>
        </p:nvSpPr>
        <p:spPr>
          <a:xfrm>
            <a:off x="5162550" y="3486150"/>
            <a:ext cx="1409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7280"/>
                </a:solidFill>
                <a:latin typeface="Aptos"/>
                <a:ea typeface="Aptos"/>
                <a:cs typeface="Aptos"/>
              </a:defRPr>
            </a:pPr>
            <a:r>
              <a:rPr sz="975" b="0">
                <a:solidFill>
                  <a:srgbClr val="6B7280"/>
                </a:solidFill>
                <a:latin typeface="Aptos"/>
                <a:ea typeface="Aptos"/>
                <a:cs typeface="Aptos"/>
              </a:rPr>
              <a:t>Seller ships goods and submits the agreed documents.</a:t>
            </a:r>
          </a:p>
        </p:txBody>
      </p:sp>
      <p:sp>
        <p:nvSpPr>
          <p:cNvPr id="21" name="Rectangle 20">
            <a:extLst>
              <a:ext uri="{FF2B5EF4-FFF2-40B4-BE49-F238E27FC236}">
                <a16:creationId xmlns:a16="http://schemas.microsoft.com/office/drawing/2014/main" id="{06747589-7D7B-462B-9F32-48AA2ADFB757}"/>
              </a:ext>
            </a:extLst>
          </p:cNvPr>
          <p:cNvSpPr>
            <a:spLocks noGrp="1"/>
          </p:cNvSpPr>
          <p:nvPr/>
        </p:nvSpPr>
        <p:spPr>
          <a:xfrm>
            <a:off x="7200900" y="2933700"/>
            <a:ext cx="1790700" cy="1219200"/>
          </a:xfrm>
          <a:prstGeom prst="rect">
            <a:avLst/>
          </a:prstGeom>
          <a:solidFill>
            <a:srgbClr val="FFFFFF"/>
          </a:solidFill>
          <a:ln w="9525">
            <a:solidFill>
              <a:srgbClr val="D8D2C7"/>
            </a:solidFill>
            <a:prstDash val="solid"/>
          </a:ln>
        </p:spPr>
        <p:txBody>
          <a:bodyPr/>
          <a:lstStyle/>
          <a:p>
            <a:endParaRPr/>
          </a:p>
        </p:txBody>
      </p:sp>
      <p:sp>
        <p:nvSpPr>
          <p:cNvPr id="22" name="Rectangle 21">
            <a:extLst>
              <a:ext uri="{FF2B5EF4-FFF2-40B4-BE49-F238E27FC236}">
                <a16:creationId xmlns:a16="http://schemas.microsoft.com/office/drawing/2014/main" id="{D91F3288-3914-440B-BADF-996E098B0701}"/>
              </a:ext>
            </a:extLst>
          </p:cNvPr>
          <p:cNvSpPr>
            <a:spLocks noGrp="1"/>
          </p:cNvSpPr>
          <p:nvPr/>
        </p:nvSpPr>
        <p:spPr>
          <a:xfrm>
            <a:off x="7200900" y="2933700"/>
            <a:ext cx="1790700" cy="57150"/>
          </a:xfrm>
          <a:prstGeom prst="rect">
            <a:avLst/>
          </a:prstGeom>
          <a:solidFill>
            <a:srgbClr val="C77D18"/>
          </a:solidFill>
          <a:ln w="0">
            <a:solidFill>
              <a:srgbClr val="000000">
                <a:alpha val="0"/>
              </a:srgbClr>
            </a:solidFill>
            <a:prstDash val="solid"/>
          </a:ln>
        </p:spPr>
        <p:txBody>
          <a:bodyPr/>
          <a:lstStyle/>
          <a:p>
            <a:endParaRPr/>
          </a:p>
        </p:txBody>
      </p:sp>
      <p:sp>
        <p:nvSpPr>
          <p:cNvPr id="23" name="Rectangle 22">
            <a:extLst>
              <a:ext uri="{FF2B5EF4-FFF2-40B4-BE49-F238E27FC236}">
                <a16:creationId xmlns:a16="http://schemas.microsoft.com/office/drawing/2014/main" id="{CA6B292D-BCBA-433C-9668-6EA89A629550}"/>
              </a:ext>
            </a:extLst>
          </p:cNvPr>
          <p:cNvSpPr>
            <a:spLocks noGrp="1"/>
          </p:cNvSpPr>
          <p:nvPr/>
        </p:nvSpPr>
        <p:spPr>
          <a:xfrm>
            <a:off x="7372350" y="3105150"/>
            <a:ext cx="4000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C77D18"/>
                </a:solidFill>
                <a:latin typeface="Aptos"/>
                <a:ea typeface="Aptos"/>
                <a:cs typeface="Aptos"/>
              </a:defRPr>
            </a:pPr>
            <a:r>
              <a:rPr sz="1650" b="1">
                <a:solidFill>
                  <a:srgbClr val="C77D18"/>
                </a:solidFill>
                <a:latin typeface="Aptos"/>
                <a:ea typeface="Aptos"/>
                <a:cs typeface="Aptos"/>
              </a:rPr>
              <a:t>04</a:t>
            </a:r>
          </a:p>
        </p:txBody>
      </p:sp>
      <p:sp>
        <p:nvSpPr>
          <p:cNvPr id="24" name="Rectangle 23">
            <a:extLst>
              <a:ext uri="{FF2B5EF4-FFF2-40B4-BE49-F238E27FC236}">
                <a16:creationId xmlns:a16="http://schemas.microsoft.com/office/drawing/2014/main" id="{F1EEFD16-DDC3-481D-8296-4A379FAC6FB6}"/>
              </a:ext>
            </a:extLst>
          </p:cNvPr>
          <p:cNvSpPr>
            <a:spLocks noGrp="1"/>
          </p:cNvSpPr>
          <p:nvPr/>
        </p:nvSpPr>
        <p:spPr>
          <a:xfrm>
            <a:off x="7791450" y="312420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B1B3A"/>
                </a:solidFill>
                <a:latin typeface="Aptos"/>
                <a:ea typeface="Aptos"/>
                <a:cs typeface="Aptos"/>
              </a:defRPr>
            </a:pPr>
            <a:r>
              <a:rPr sz="1275" b="1">
                <a:solidFill>
                  <a:srgbClr val="0B1B3A"/>
                </a:solidFill>
                <a:latin typeface="Aptos"/>
                <a:ea typeface="Aptos"/>
                <a:cs typeface="Aptos"/>
              </a:rPr>
              <a:t>Review</a:t>
            </a:r>
          </a:p>
        </p:txBody>
      </p:sp>
      <p:sp>
        <p:nvSpPr>
          <p:cNvPr id="25" name="Rectangle 24">
            <a:extLst>
              <a:ext uri="{FF2B5EF4-FFF2-40B4-BE49-F238E27FC236}">
                <a16:creationId xmlns:a16="http://schemas.microsoft.com/office/drawing/2014/main" id="{59D76419-D17B-4541-9135-D7E267DE978A}"/>
              </a:ext>
            </a:extLst>
          </p:cNvPr>
          <p:cNvSpPr>
            <a:spLocks noGrp="1"/>
          </p:cNvSpPr>
          <p:nvPr/>
        </p:nvSpPr>
        <p:spPr>
          <a:xfrm>
            <a:off x="7372350" y="3486150"/>
            <a:ext cx="1409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7280"/>
                </a:solidFill>
                <a:latin typeface="Aptos"/>
                <a:ea typeface="Aptos"/>
                <a:cs typeface="Aptos"/>
              </a:defRPr>
            </a:pPr>
            <a:r>
              <a:rPr sz="975" b="0">
                <a:solidFill>
                  <a:srgbClr val="6B7280"/>
                </a:solidFill>
                <a:latin typeface="Aptos"/>
                <a:ea typeface="Aptos"/>
                <a:cs typeface="Aptos"/>
              </a:rPr>
              <a:t>Rules engine and examiner check document compliance.</a:t>
            </a:r>
          </a:p>
        </p:txBody>
      </p:sp>
      <p:sp>
        <p:nvSpPr>
          <p:cNvPr id="26" name="Rectangle 25">
            <a:extLst>
              <a:ext uri="{FF2B5EF4-FFF2-40B4-BE49-F238E27FC236}">
                <a16:creationId xmlns:a16="http://schemas.microsoft.com/office/drawing/2014/main" id="{20B17DD8-57D1-4647-AE61-B0363D6A6BCA}"/>
              </a:ext>
            </a:extLst>
          </p:cNvPr>
          <p:cNvSpPr>
            <a:spLocks noGrp="1"/>
          </p:cNvSpPr>
          <p:nvPr/>
        </p:nvSpPr>
        <p:spPr>
          <a:xfrm>
            <a:off x="9410700" y="2933700"/>
            <a:ext cx="1790700" cy="1219200"/>
          </a:xfrm>
          <a:prstGeom prst="rect">
            <a:avLst/>
          </a:prstGeom>
          <a:solidFill>
            <a:srgbClr val="FFFFFF"/>
          </a:solidFill>
          <a:ln w="9525">
            <a:solidFill>
              <a:srgbClr val="D8D2C7"/>
            </a:solidFill>
            <a:prstDash val="solid"/>
          </a:ln>
        </p:spPr>
        <p:txBody>
          <a:bodyPr/>
          <a:lstStyle/>
          <a:p>
            <a:endParaRPr/>
          </a:p>
        </p:txBody>
      </p:sp>
      <p:sp>
        <p:nvSpPr>
          <p:cNvPr id="27" name="Rectangle 26">
            <a:extLst>
              <a:ext uri="{FF2B5EF4-FFF2-40B4-BE49-F238E27FC236}">
                <a16:creationId xmlns:a16="http://schemas.microsoft.com/office/drawing/2014/main" id="{634E668F-AB33-4BC4-A7EC-6352175D6C38}"/>
              </a:ext>
            </a:extLst>
          </p:cNvPr>
          <p:cNvSpPr>
            <a:spLocks noGrp="1"/>
          </p:cNvSpPr>
          <p:nvPr/>
        </p:nvSpPr>
        <p:spPr>
          <a:xfrm>
            <a:off x="9410700" y="2933700"/>
            <a:ext cx="1790700" cy="57150"/>
          </a:xfrm>
          <a:prstGeom prst="rect">
            <a:avLst/>
          </a:prstGeom>
          <a:solidFill>
            <a:srgbClr val="2C7A33"/>
          </a:solidFill>
          <a:ln w="0">
            <a:solidFill>
              <a:srgbClr val="000000">
                <a:alpha val="0"/>
              </a:srgbClr>
            </a:solidFill>
            <a:prstDash val="solid"/>
          </a:ln>
        </p:spPr>
        <p:txBody>
          <a:bodyPr/>
          <a:lstStyle/>
          <a:p>
            <a:endParaRPr/>
          </a:p>
        </p:txBody>
      </p:sp>
      <p:sp>
        <p:nvSpPr>
          <p:cNvPr id="28" name="Rectangle 27">
            <a:extLst>
              <a:ext uri="{FF2B5EF4-FFF2-40B4-BE49-F238E27FC236}">
                <a16:creationId xmlns:a16="http://schemas.microsoft.com/office/drawing/2014/main" id="{B93AA5A2-6296-4850-9603-45337F4DCF33}"/>
              </a:ext>
            </a:extLst>
          </p:cNvPr>
          <p:cNvSpPr>
            <a:spLocks noGrp="1"/>
          </p:cNvSpPr>
          <p:nvPr/>
        </p:nvSpPr>
        <p:spPr>
          <a:xfrm>
            <a:off x="9582150" y="3105150"/>
            <a:ext cx="4000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2C7A33"/>
                </a:solidFill>
                <a:latin typeface="Aptos"/>
                <a:ea typeface="Aptos"/>
                <a:cs typeface="Aptos"/>
              </a:defRPr>
            </a:pPr>
            <a:r>
              <a:rPr sz="1650" b="1">
                <a:solidFill>
                  <a:srgbClr val="2C7A33"/>
                </a:solidFill>
                <a:latin typeface="Aptos"/>
                <a:ea typeface="Aptos"/>
                <a:cs typeface="Aptos"/>
              </a:rPr>
              <a:t>05</a:t>
            </a:r>
          </a:p>
        </p:txBody>
      </p:sp>
      <p:sp>
        <p:nvSpPr>
          <p:cNvPr id="29" name="Rectangle 28">
            <a:extLst>
              <a:ext uri="{FF2B5EF4-FFF2-40B4-BE49-F238E27FC236}">
                <a16:creationId xmlns:a16="http://schemas.microsoft.com/office/drawing/2014/main" id="{0CF727E9-75FE-4191-AE1D-4DF0C1EE4627}"/>
              </a:ext>
            </a:extLst>
          </p:cNvPr>
          <p:cNvSpPr>
            <a:spLocks noGrp="1"/>
          </p:cNvSpPr>
          <p:nvPr/>
        </p:nvSpPr>
        <p:spPr>
          <a:xfrm>
            <a:off x="10001250" y="3124200"/>
            <a:ext cx="99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B1B3A"/>
                </a:solidFill>
                <a:latin typeface="Aptos"/>
                <a:ea typeface="Aptos"/>
                <a:cs typeface="Aptos"/>
              </a:defRPr>
            </a:pPr>
            <a:r>
              <a:rPr sz="1275" b="1">
                <a:solidFill>
                  <a:srgbClr val="0B1B3A"/>
                </a:solidFill>
                <a:latin typeface="Aptos"/>
                <a:ea typeface="Aptos"/>
                <a:cs typeface="Aptos"/>
              </a:rPr>
              <a:t>Release</a:t>
            </a:r>
          </a:p>
        </p:txBody>
      </p:sp>
      <p:sp>
        <p:nvSpPr>
          <p:cNvPr id="30" name="Rectangle 29">
            <a:extLst>
              <a:ext uri="{FF2B5EF4-FFF2-40B4-BE49-F238E27FC236}">
                <a16:creationId xmlns:a16="http://schemas.microsoft.com/office/drawing/2014/main" id="{4B8E6228-2F60-4B83-8BC5-E9AA07EE8FD6}"/>
              </a:ext>
            </a:extLst>
          </p:cNvPr>
          <p:cNvSpPr>
            <a:spLocks noGrp="1"/>
          </p:cNvSpPr>
          <p:nvPr/>
        </p:nvSpPr>
        <p:spPr>
          <a:xfrm>
            <a:off x="9582150" y="3486150"/>
            <a:ext cx="1409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7280"/>
                </a:solidFill>
                <a:latin typeface="Aptos"/>
                <a:ea typeface="Aptos"/>
                <a:cs typeface="Aptos"/>
              </a:defRPr>
            </a:pPr>
            <a:r>
              <a:rPr sz="975" b="0">
                <a:solidFill>
                  <a:srgbClr val="6B7280"/>
                </a:solidFill>
                <a:latin typeface="Aptos"/>
                <a:ea typeface="Aptos"/>
                <a:cs typeface="Aptos"/>
              </a:rPr>
              <a:t>Funds release, refund, or move to dispute path.</a:t>
            </a:r>
          </a:p>
        </p:txBody>
      </p:sp>
      <p:sp>
        <p:nvSpPr>
          <p:cNvPr id="31" name="Rectangle 30">
            <a:extLst>
              <a:ext uri="{FF2B5EF4-FFF2-40B4-BE49-F238E27FC236}">
                <a16:creationId xmlns:a16="http://schemas.microsoft.com/office/drawing/2014/main" id="{DDE542BE-C526-4E3F-A507-92B88CCD444F}"/>
              </a:ext>
            </a:extLst>
          </p:cNvPr>
          <p:cNvSpPr>
            <a:spLocks noGrp="1"/>
          </p:cNvSpPr>
          <p:nvPr/>
        </p:nvSpPr>
        <p:spPr>
          <a:xfrm>
            <a:off x="2362200" y="3543300"/>
            <a:ext cx="419100" cy="19050"/>
          </a:xfrm>
          <a:prstGeom prst="rect">
            <a:avLst/>
          </a:prstGeom>
          <a:solidFill>
            <a:srgbClr val="6B7280"/>
          </a:solidFill>
          <a:ln w="0">
            <a:solidFill>
              <a:srgbClr val="000000">
                <a:alpha val="0"/>
              </a:srgbClr>
            </a:solidFill>
            <a:prstDash val="solid"/>
          </a:ln>
        </p:spPr>
        <p:txBody>
          <a:bodyPr/>
          <a:lstStyle/>
          <a:p>
            <a:endParaRPr/>
          </a:p>
        </p:txBody>
      </p:sp>
      <p:sp>
        <p:nvSpPr>
          <p:cNvPr id="32" name="Triangle 31">
            <a:extLst>
              <a:ext uri="{FF2B5EF4-FFF2-40B4-BE49-F238E27FC236}">
                <a16:creationId xmlns:a16="http://schemas.microsoft.com/office/drawing/2014/main" id="{FFD9C2E9-EFE3-4A7D-9D74-E07DBD40EDAC}"/>
              </a:ext>
            </a:extLst>
          </p:cNvPr>
          <p:cNvSpPr>
            <a:spLocks noGrp="1"/>
          </p:cNvSpPr>
          <p:nvPr/>
        </p:nvSpPr>
        <p:spPr>
          <a:xfrm>
            <a:off x="2724150" y="3495675"/>
            <a:ext cx="95250" cy="95250"/>
          </a:xfrm>
          <a:prstGeom prst="triangle">
            <a:avLst/>
          </a:prstGeom>
          <a:solidFill>
            <a:srgbClr val="6B7280"/>
          </a:solidFill>
          <a:ln w="0">
            <a:solidFill>
              <a:srgbClr val="000000">
                <a:alpha val="0"/>
              </a:srgbClr>
            </a:solidFill>
            <a:prstDash val="solid"/>
          </a:ln>
        </p:spPr>
        <p:txBody>
          <a:bodyPr/>
          <a:lstStyle/>
          <a:p>
            <a:endParaRPr/>
          </a:p>
        </p:txBody>
      </p:sp>
      <p:sp>
        <p:nvSpPr>
          <p:cNvPr id="33" name="Rectangle 32">
            <a:extLst>
              <a:ext uri="{FF2B5EF4-FFF2-40B4-BE49-F238E27FC236}">
                <a16:creationId xmlns:a16="http://schemas.microsoft.com/office/drawing/2014/main" id="{9D5C9F73-2272-4D3B-A9B9-24516D116BD0}"/>
              </a:ext>
            </a:extLst>
          </p:cNvPr>
          <p:cNvSpPr>
            <a:spLocks noGrp="1"/>
          </p:cNvSpPr>
          <p:nvPr/>
        </p:nvSpPr>
        <p:spPr>
          <a:xfrm>
            <a:off x="4572000" y="3543300"/>
            <a:ext cx="419100" cy="19050"/>
          </a:xfrm>
          <a:prstGeom prst="rect">
            <a:avLst/>
          </a:prstGeom>
          <a:solidFill>
            <a:srgbClr val="6B7280"/>
          </a:solidFill>
          <a:ln w="0">
            <a:solidFill>
              <a:srgbClr val="000000">
                <a:alpha val="0"/>
              </a:srgbClr>
            </a:solidFill>
            <a:prstDash val="solid"/>
          </a:ln>
        </p:spPr>
        <p:txBody>
          <a:bodyPr/>
          <a:lstStyle/>
          <a:p>
            <a:endParaRPr/>
          </a:p>
        </p:txBody>
      </p:sp>
      <p:sp>
        <p:nvSpPr>
          <p:cNvPr id="34" name="Triangle 33">
            <a:extLst>
              <a:ext uri="{FF2B5EF4-FFF2-40B4-BE49-F238E27FC236}">
                <a16:creationId xmlns:a16="http://schemas.microsoft.com/office/drawing/2014/main" id="{9ACE5066-C9AA-40E0-A97C-9E15A9F7602F}"/>
              </a:ext>
            </a:extLst>
          </p:cNvPr>
          <p:cNvSpPr>
            <a:spLocks noGrp="1"/>
          </p:cNvSpPr>
          <p:nvPr/>
        </p:nvSpPr>
        <p:spPr>
          <a:xfrm>
            <a:off x="4933950" y="3495675"/>
            <a:ext cx="95250" cy="95250"/>
          </a:xfrm>
          <a:prstGeom prst="triangle">
            <a:avLst/>
          </a:prstGeom>
          <a:solidFill>
            <a:srgbClr val="6B7280"/>
          </a:solidFill>
          <a:ln w="0">
            <a:solidFill>
              <a:srgbClr val="000000">
                <a:alpha val="0"/>
              </a:srgbClr>
            </a:solidFill>
            <a:prstDash val="solid"/>
          </a:ln>
        </p:spPr>
        <p:txBody>
          <a:bodyPr/>
          <a:lstStyle/>
          <a:p>
            <a:endParaRPr/>
          </a:p>
        </p:txBody>
      </p:sp>
      <p:sp>
        <p:nvSpPr>
          <p:cNvPr id="35" name="Rectangle 34">
            <a:extLst>
              <a:ext uri="{FF2B5EF4-FFF2-40B4-BE49-F238E27FC236}">
                <a16:creationId xmlns:a16="http://schemas.microsoft.com/office/drawing/2014/main" id="{A9C39DDD-0A35-4F5F-9879-1C08385FD7E7}"/>
              </a:ext>
            </a:extLst>
          </p:cNvPr>
          <p:cNvSpPr>
            <a:spLocks noGrp="1"/>
          </p:cNvSpPr>
          <p:nvPr/>
        </p:nvSpPr>
        <p:spPr>
          <a:xfrm>
            <a:off x="6781800" y="3543300"/>
            <a:ext cx="419100" cy="19050"/>
          </a:xfrm>
          <a:prstGeom prst="rect">
            <a:avLst/>
          </a:prstGeom>
          <a:solidFill>
            <a:srgbClr val="6B7280"/>
          </a:solidFill>
          <a:ln w="0">
            <a:solidFill>
              <a:srgbClr val="000000">
                <a:alpha val="0"/>
              </a:srgbClr>
            </a:solidFill>
            <a:prstDash val="solid"/>
          </a:ln>
        </p:spPr>
        <p:txBody>
          <a:bodyPr/>
          <a:lstStyle/>
          <a:p>
            <a:endParaRPr/>
          </a:p>
        </p:txBody>
      </p:sp>
      <p:sp>
        <p:nvSpPr>
          <p:cNvPr id="36" name="Triangle 35">
            <a:extLst>
              <a:ext uri="{FF2B5EF4-FFF2-40B4-BE49-F238E27FC236}">
                <a16:creationId xmlns:a16="http://schemas.microsoft.com/office/drawing/2014/main" id="{15162A05-22B8-4B55-916F-58A3311F1E96}"/>
              </a:ext>
            </a:extLst>
          </p:cNvPr>
          <p:cNvSpPr>
            <a:spLocks noGrp="1"/>
          </p:cNvSpPr>
          <p:nvPr/>
        </p:nvSpPr>
        <p:spPr>
          <a:xfrm>
            <a:off x="7143750" y="3495675"/>
            <a:ext cx="95250" cy="95250"/>
          </a:xfrm>
          <a:prstGeom prst="triangle">
            <a:avLst/>
          </a:prstGeom>
          <a:solidFill>
            <a:srgbClr val="6B7280"/>
          </a:solidFill>
          <a:ln w="0">
            <a:solidFill>
              <a:srgbClr val="000000">
                <a:alpha val="0"/>
              </a:srgbClr>
            </a:solidFill>
            <a:prstDash val="solid"/>
          </a:ln>
        </p:spPr>
        <p:txBody>
          <a:bodyPr/>
          <a:lstStyle/>
          <a:p>
            <a:endParaRPr/>
          </a:p>
        </p:txBody>
      </p:sp>
      <p:sp>
        <p:nvSpPr>
          <p:cNvPr id="37" name="Rectangle 36">
            <a:extLst>
              <a:ext uri="{FF2B5EF4-FFF2-40B4-BE49-F238E27FC236}">
                <a16:creationId xmlns:a16="http://schemas.microsoft.com/office/drawing/2014/main" id="{419AA44D-25F1-4FAB-AA49-29C11D227F4E}"/>
              </a:ext>
            </a:extLst>
          </p:cNvPr>
          <p:cNvSpPr>
            <a:spLocks noGrp="1"/>
          </p:cNvSpPr>
          <p:nvPr/>
        </p:nvSpPr>
        <p:spPr>
          <a:xfrm>
            <a:off x="8991600" y="3543300"/>
            <a:ext cx="419100" cy="19050"/>
          </a:xfrm>
          <a:prstGeom prst="rect">
            <a:avLst/>
          </a:prstGeom>
          <a:solidFill>
            <a:srgbClr val="6B7280"/>
          </a:solidFill>
          <a:ln w="0">
            <a:solidFill>
              <a:srgbClr val="000000">
                <a:alpha val="0"/>
              </a:srgbClr>
            </a:solidFill>
            <a:prstDash val="solid"/>
          </a:ln>
        </p:spPr>
        <p:txBody>
          <a:bodyPr/>
          <a:lstStyle/>
          <a:p>
            <a:endParaRPr/>
          </a:p>
        </p:txBody>
      </p:sp>
      <p:sp>
        <p:nvSpPr>
          <p:cNvPr id="38" name="Triangle 37">
            <a:extLst>
              <a:ext uri="{FF2B5EF4-FFF2-40B4-BE49-F238E27FC236}">
                <a16:creationId xmlns:a16="http://schemas.microsoft.com/office/drawing/2014/main" id="{B33658CF-13AF-4927-BA83-9C15578F8F6C}"/>
              </a:ext>
            </a:extLst>
          </p:cNvPr>
          <p:cNvSpPr>
            <a:spLocks noGrp="1"/>
          </p:cNvSpPr>
          <p:nvPr/>
        </p:nvSpPr>
        <p:spPr>
          <a:xfrm>
            <a:off x="9353550" y="3495675"/>
            <a:ext cx="95250" cy="95250"/>
          </a:xfrm>
          <a:prstGeom prst="triangle">
            <a:avLst/>
          </a:prstGeom>
          <a:solidFill>
            <a:srgbClr val="6B7280"/>
          </a:solidFill>
          <a:ln w="0">
            <a:solidFill>
              <a:srgbClr val="000000">
                <a:alpha val="0"/>
              </a:srgbClr>
            </a:solidFill>
            <a:prstDash val="solid"/>
          </a:ln>
        </p:spPr>
        <p:txBody>
          <a:bodyPr/>
          <a:lstStyle/>
          <a:p>
            <a:endParaRPr/>
          </a:p>
        </p:txBody>
      </p:sp>
      <p:sp>
        <p:nvSpPr>
          <p:cNvPr id="39" name="Rectangle 38">
            <a:extLst>
              <a:ext uri="{FF2B5EF4-FFF2-40B4-BE49-F238E27FC236}">
                <a16:creationId xmlns:a16="http://schemas.microsoft.com/office/drawing/2014/main" id="{02713A5F-046B-48D6-9487-8C0D61CBE7C0}"/>
              </a:ext>
            </a:extLst>
          </p:cNvPr>
          <p:cNvSpPr>
            <a:spLocks noGrp="1"/>
          </p:cNvSpPr>
          <p:nvPr/>
        </p:nvSpPr>
        <p:spPr>
          <a:xfrm>
            <a:off x="1143000" y="4705350"/>
            <a:ext cx="3695700" cy="323850"/>
          </a:xfrm>
          <a:prstGeom prst="rect">
            <a:avLst/>
          </a:prstGeom>
          <a:solidFill>
            <a:srgbClr val="FFFFFF"/>
          </a:solidFill>
          <a:ln w="9525">
            <a:solidFill>
              <a:srgbClr val="0E8C7F"/>
            </a:solidFill>
            <a:prstDash val="solid"/>
          </a:ln>
        </p:spPr>
        <p:txBody>
          <a:bodyPr/>
          <a:lstStyle/>
          <a:p>
            <a:endParaRPr/>
          </a:p>
        </p:txBody>
      </p:sp>
      <p:sp>
        <p:nvSpPr>
          <p:cNvPr id="40" name="Rectangle 39">
            <a:extLst>
              <a:ext uri="{FF2B5EF4-FFF2-40B4-BE49-F238E27FC236}">
                <a16:creationId xmlns:a16="http://schemas.microsoft.com/office/drawing/2014/main" id="{708FF858-BF37-4AE8-A683-95BE34A2A42E}"/>
              </a:ext>
            </a:extLst>
          </p:cNvPr>
          <p:cNvSpPr>
            <a:spLocks noGrp="1"/>
          </p:cNvSpPr>
          <p:nvPr/>
        </p:nvSpPr>
        <p:spPr>
          <a:xfrm>
            <a:off x="1143000" y="4705350"/>
            <a:ext cx="57150" cy="323850"/>
          </a:xfrm>
          <a:prstGeom prst="rect">
            <a:avLst/>
          </a:prstGeom>
          <a:solidFill>
            <a:srgbClr val="0E8C7F"/>
          </a:solidFill>
          <a:ln w="0">
            <a:solidFill>
              <a:srgbClr val="000000">
                <a:alpha val="0"/>
              </a:srgbClr>
            </a:solidFill>
            <a:prstDash val="solid"/>
          </a:ln>
        </p:spPr>
        <p:txBody>
          <a:bodyPr/>
          <a:lstStyle/>
          <a:p>
            <a:endParaRPr/>
          </a:p>
        </p:txBody>
      </p:sp>
      <p:sp>
        <p:nvSpPr>
          <p:cNvPr id="41" name="Rectangle 40">
            <a:extLst>
              <a:ext uri="{FF2B5EF4-FFF2-40B4-BE49-F238E27FC236}">
                <a16:creationId xmlns:a16="http://schemas.microsoft.com/office/drawing/2014/main" id="{9B891BA2-0134-436F-8B3B-7AC8121EA16C}"/>
              </a:ext>
            </a:extLst>
          </p:cNvPr>
          <p:cNvSpPr>
            <a:spLocks noGrp="1"/>
          </p:cNvSpPr>
          <p:nvPr/>
        </p:nvSpPr>
        <p:spPr>
          <a:xfrm>
            <a:off x="1295400" y="4772025"/>
            <a:ext cx="34671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0B1B3A"/>
                </a:solidFill>
                <a:latin typeface="Aptos"/>
                <a:ea typeface="Aptos"/>
                <a:cs typeface="Aptos"/>
              </a:defRPr>
            </a:pPr>
            <a:r>
              <a:rPr sz="975" b="1">
                <a:solidFill>
                  <a:srgbClr val="0B1B3A"/>
                </a:solidFill>
                <a:latin typeface="Aptos"/>
                <a:ea typeface="Aptos"/>
                <a:cs typeface="Aptos"/>
              </a:rPr>
              <a:t>Seller certainty: funds are visibly locked before shipment</a:t>
            </a:r>
          </a:p>
        </p:txBody>
      </p:sp>
      <p:sp>
        <p:nvSpPr>
          <p:cNvPr id="42" name="Rectangle 41">
            <a:extLst>
              <a:ext uri="{FF2B5EF4-FFF2-40B4-BE49-F238E27FC236}">
                <a16:creationId xmlns:a16="http://schemas.microsoft.com/office/drawing/2014/main" id="{CE8619BD-5D9F-45A9-89AA-058DFD0DA365}"/>
              </a:ext>
            </a:extLst>
          </p:cNvPr>
          <p:cNvSpPr>
            <a:spLocks noGrp="1"/>
          </p:cNvSpPr>
          <p:nvPr/>
        </p:nvSpPr>
        <p:spPr>
          <a:xfrm>
            <a:off x="5086350" y="4705350"/>
            <a:ext cx="3333750" cy="323850"/>
          </a:xfrm>
          <a:prstGeom prst="rect">
            <a:avLst/>
          </a:prstGeom>
          <a:solidFill>
            <a:srgbClr val="FFFFFF"/>
          </a:solidFill>
          <a:ln w="9525">
            <a:solidFill>
              <a:srgbClr val="5A4FBF"/>
            </a:solidFill>
            <a:prstDash val="solid"/>
          </a:ln>
        </p:spPr>
        <p:txBody>
          <a:bodyPr/>
          <a:lstStyle/>
          <a:p>
            <a:endParaRPr/>
          </a:p>
        </p:txBody>
      </p:sp>
      <p:sp>
        <p:nvSpPr>
          <p:cNvPr id="43" name="Rectangle 42">
            <a:extLst>
              <a:ext uri="{FF2B5EF4-FFF2-40B4-BE49-F238E27FC236}">
                <a16:creationId xmlns:a16="http://schemas.microsoft.com/office/drawing/2014/main" id="{166A6C55-BAD9-4C51-9AB7-975A38924057}"/>
              </a:ext>
            </a:extLst>
          </p:cNvPr>
          <p:cNvSpPr>
            <a:spLocks noGrp="1"/>
          </p:cNvSpPr>
          <p:nvPr/>
        </p:nvSpPr>
        <p:spPr>
          <a:xfrm>
            <a:off x="5086350" y="4705350"/>
            <a:ext cx="57150" cy="323850"/>
          </a:xfrm>
          <a:prstGeom prst="rect">
            <a:avLst/>
          </a:prstGeom>
          <a:solidFill>
            <a:srgbClr val="5A4FBF"/>
          </a:solidFill>
          <a:ln w="0">
            <a:solidFill>
              <a:srgbClr val="000000">
                <a:alpha val="0"/>
              </a:srgbClr>
            </a:solidFill>
            <a:prstDash val="solid"/>
          </a:ln>
        </p:spPr>
        <p:txBody>
          <a:bodyPr/>
          <a:lstStyle/>
          <a:p>
            <a:endParaRPr/>
          </a:p>
        </p:txBody>
      </p:sp>
      <p:sp>
        <p:nvSpPr>
          <p:cNvPr id="44" name="Rectangle 43">
            <a:extLst>
              <a:ext uri="{FF2B5EF4-FFF2-40B4-BE49-F238E27FC236}">
                <a16:creationId xmlns:a16="http://schemas.microsoft.com/office/drawing/2014/main" id="{007BEFB3-4888-49D9-BD2B-8140D822FABD}"/>
              </a:ext>
            </a:extLst>
          </p:cNvPr>
          <p:cNvSpPr>
            <a:spLocks noGrp="1"/>
          </p:cNvSpPr>
          <p:nvPr/>
        </p:nvSpPr>
        <p:spPr>
          <a:xfrm>
            <a:off x="5238750" y="4772025"/>
            <a:ext cx="310515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0B1B3A"/>
                </a:solidFill>
                <a:latin typeface="Aptos"/>
                <a:ea typeface="Aptos"/>
                <a:cs typeface="Aptos"/>
              </a:defRPr>
            </a:pPr>
            <a:r>
              <a:rPr sz="975" b="1">
                <a:solidFill>
                  <a:srgbClr val="0B1B3A"/>
                </a:solidFill>
                <a:latin typeface="Aptos"/>
                <a:ea typeface="Aptos"/>
                <a:cs typeface="Aptos"/>
              </a:rPr>
              <a:t>Buyer control: release is bound to agreed documents</a:t>
            </a:r>
          </a:p>
        </p:txBody>
      </p:sp>
      <p:sp>
        <p:nvSpPr>
          <p:cNvPr id="45" name="Rectangle 44">
            <a:extLst>
              <a:ext uri="{FF2B5EF4-FFF2-40B4-BE49-F238E27FC236}">
                <a16:creationId xmlns:a16="http://schemas.microsoft.com/office/drawing/2014/main" id="{1E1331AC-64E9-49FF-B905-17A6ECA78864}"/>
              </a:ext>
            </a:extLst>
          </p:cNvPr>
          <p:cNvSpPr>
            <a:spLocks noGrp="1"/>
          </p:cNvSpPr>
          <p:nvPr/>
        </p:nvSpPr>
        <p:spPr>
          <a:xfrm>
            <a:off x="8667750" y="4705350"/>
            <a:ext cx="2571750" cy="323850"/>
          </a:xfrm>
          <a:prstGeom prst="rect">
            <a:avLst/>
          </a:prstGeom>
          <a:solidFill>
            <a:srgbClr val="FFFFFF"/>
          </a:solidFill>
          <a:ln w="9525">
            <a:solidFill>
              <a:srgbClr val="C77D18"/>
            </a:solidFill>
            <a:prstDash val="solid"/>
          </a:ln>
        </p:spPr>
        <p:txBody>
          <a:bodyPr/>
          <a:lstStyle/>
          <a:p>
            <a:endParaRPr/>
          </a:p>
        </p:txBody>
      </p:sp>
      <p:sp>
        <p:nvSpPr>
          <p:cNvPr id="46" name="Rectangle 45">
            <a:extLst>
              <a:ext uri="{FF2B5EF4-FFF2-40B4-BE49-F238E27FC236}">
                <a16:creationId xmlns:a16="http://schemas.microsoft.com/office/drawing/2014/main" id="{6C791212-A9C8-4F8A-B317-6088A226CEC6}"/>
              </a:ext>
            </a:extLst>
          </p:cNvPr>
          <p:cNvSpPr>
            <a:spLocks noGrp="1"/>
          </p:cNvSpPr>
          <p:nvPr/>
        </p:nvSpPr>
        <p:spPr>
          <a:xfrm>
            <a:off x="8667750" y="4705350"/>
            <a:ext cx="57150" cy="323850"/>
          </a:xfrm>
          <a:prstGeom prst="rect">
            <a:avLst/>
          </a:prstGeom>
          <a:solidFill>
            <a:srgbClr val="C77D18"/>
          </a:solidFill>
          <a:ln w="0">
            <a:solidFill>
              <a:srgbClr val="000000">
                <a:alpha val="0"/>
              </a:srgbClr>
            </a:solidFill>
            <a:prstDash val="solid"/>
          </a:ln>
        </p:spPr>
        <p:txBody>
          <a:bodyPr/>
          <a:lstStyle/>
          <a:p>
            <a:endParaRPr/>
          </a:p>
        </p:txBody>
      </p:sp>
      <p:sp>
        <p:nvSpPr>
          <p:cNvPr id="47" name="Rectangle 46">
            <a:extLst>
              <a:ext uri="{FF2B5EF4-FFF2-40B4-BE49-F238E27FC236}">
                <a16:creationId xmlns:a16="http://schemas.microsoft.com/office/drawing/2014/main" id="{EB5E2C8B-1ED4-4DCB-B8B9-F0152408F402}"/>
              </a:ext>
            </a:extLst>
          </p:cNvPr>
          <p:cNvSpPr>
            <a:spLocks noGrp="1"/>
          </p:cNvSpPr>
          <p:nvPr/>
        </p:nvSpPr>
        <p:spPr>
          <a:xfrm>
            <a:off x="8820150" y="4772025"/>
            <a:ext cx="234315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0B1B3A"/>
                </a:solidFill>
                <a:latin typeface="Aptos"/>
                <a:ea typeface="Aptos"/>
                <a:cs typeface="Aptos"/>
              </a:defRPr>
            </a:pPr>
            <a:r>
              <a:rPr sz="975" b="1">
                <a:solidFill>
                  <a:srgbClr val="0B1B3A"/>
                </a:solidFill>
                <a:latin typeface="Aptos"/>
                <a:ea typeface="Aptos"/>
                <a:cs typeface="Aptos"/>
              </a:rPr>
              <a:t>Blockmediary boundary: document review, not goods quality guarantee</a:t>
            </a:r>
          </a:p>
        </p:txBody>
      </p:sp>
      <p:sp>
        <p:nvSpPr>
          <p:cNvPr id="49" name="Rectangle 48">
            <a:extLst>
              <a:ext uri="{FF2B5EF4-FFF2-40B4-BE49-F238E27FC236}">
                <a16:creationId xmlns:a16="http://schemas.microsoft.com/office/drawing/2014/main" id="{60632BF3-210E-4E95-8E57-671F97F9CBDE}"/>
              </a:ext>
            </a:extLst>
          </p:cNvPr>
          <p:cNvSpPr>
            <a:spLocks noGrp="1"/>
          </p:cNvSpPr>
          <p:nvPr/>
        </p:nvSpPr>
        <p:spPr>
          <a:xfrm>
            <a:off x="11106150" y="6438900"/>
            <a:ext cx="552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B7280"/>
                </a:solidFill>
                <a:latin typeface="Aptos"/>
                <a:ea typeface="Aptos"/>
                <a:cs typeface="Aptos"/>
              </a:defRPr>
            </a:pPr>
            <a:r>
              <a:rPr sz="900" b="1">
                <a:solidFill>
                  <a:srgbClr val="6B7280"/>
                </a:solidFill>
                <a:latin typeface="Aptos"/>
                <a:ea typeface="Aptos"/>
                <a:cs typeface="Aptos"/>
              </a:rPr>
              <a:t>03</a:t>
            </a:r>
          </a:p>
        </p:txBody>
      </p:sp>
    </p:spTree>
    <p:extLst>
      <p:ext uri="{BB962C8B-B14F-4D97-AF65-F5344CB8AC3E}">
        <p14:creationId xmlns:p14="http://schemas.microsoft.com/office/powerpoint/2010/main" val="1281748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10545775" cy="914400"/>
          </a:xfrm>
          <a:prstGeom prst="rect">
            <a:avLst/>
          </a:prstGeom>
          <a:noFill/>
        </p:spPr>
        <p:txBody>
          <a:bodyPr wrap="square">
            <a:spAutoFit/>
          </a:bodyPr>
          <a:lstStyle/>
          <a:p>
            <a:pPr algn="l"/>
            <a:r>
              <a:rPr sz="5400" b="1">
                <a:solidFill>
                  <a:srgbClr val="FFFFFF"/>
                </a:solidFill>
                <a:latin typeface="Aptos Display"/>
              </a:rPr>
              <a:t>LIVE DEMO</a:t>
            </a:r>
          </a:p>
        </p:txBody>
      </p:sp>
      <p:sp>
        <p:nvSpPr>
          <p:cNvPr id="4" name="TextBox 3"/>
          <p:cNvSpPr txBox="1"/>
          <p:nvPr/>
        </p:nvSpPr>
        <p:spPr>
          <a:xfrm>
            <a:off x="822960" y="3200400"/>
            <a:ext cx="10545775" cy="548640"/>
          </a:xfrm>
          <a:prstGeom prst="rect">
            <a:avLst/>
          </a:prstGeom>
          <a:noFill/>
        </p:spPr>
        <p:txBody>
          <a:bodyPr wrap="square">
            <a:spAutoFit/>
          </a:bodyPr>
          <a:lstStyle/>
          <a:p>
            <a:pPr algn="l"/>
            <a:r>
              <a:rPr sz="1800" b="1">
                <a:solidFill>
                  <a:srgbClr val="C77D18"/>
                </a:solidFill>
                <a:latin typeface="Aptos"/>
              </a:rPr>
              <a:t>Recorded on Base Mainnet - real USDC, no simulation.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PROOF</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That was real money, on a public chain.</a:t>
            </a:r>
          </a:p>
        </p:txBody>
      </p:sp>
      <p:sp>
        <p:nvSpPr>
          <p:cNvPr id="6" name="TextBox 5"/>
          <p:cNvSpPr txBox="1"/>
          <p:nvPr/>
        </p:nvSpPr>
        <p:spPr>
          <a:xfrm>
            <a:off x="502920" y="1554480"/>
            <a:ext cx="10728655" cy="457200"/>
          </a:xfrm>
          <a:prstGeom prst="rect">
            <a:avLst/>
          </a:prstGeom>
          <a:noFill/>
        </p:spPr>
        <p:txBody>
          <a:bodyPr wrap="square">
            <a:spAutoFit/>
          </a:bodyPr>
          <a:lstStyle/>
          <a:p>
            <a:pPr algn="l"/>
            <a:r>
              <a:rPr sz="1400" b="0">
                <a:solidFill>
                  <a:srgbClr val="6B7280"/>
                </a:solidFill>
                <a:latin typeface="Aptos"/>
              </a:rPr>
              <a:t>Not a testnet run and not a simulation: an end-to-end documentary settlement executed on Base Mainnet, August 2026.</a:t>
            </a:r>
          </a:p>
        </p:txBody>
      </p:sp>
      <p:sp>
        <p:nvSpPr>
          <p:cNvPr id="7" name="Rectangle 6"/>
          <p:cNvSpPr/>
          <p:nvPr/>
        </p:nvSpPr>
        <p:spPr>
          <a:xfrm>
            <a:off x="502920" y="237744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2377440"/>
            <a:ext cx="44450" cy="13716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505456"/>
            <a:ext cx="3246120" cy="1143000"/>
          </a:xfrm>
          <a:prstGeom prst="rect">
            <a:avLst/>
          </a:prstGeom>
          <a:noFill/>
        </p:spPr>
        <p:txBody>
          <a:bodyPr wrap="square">
            <a:spAutoFit/>
          </a:bodyPr>
          <a:lstStyle/>
          <a:p>
            <a:pPr algn="l"/>
            <a:r>
              <a:rPr sz="2100" b="1">
                <a:solidFill>
                  <a:srgbClr val="0B1B3A"/>
                </a:solidFill>
                <a:latin typeface="Aptos"/>
              </a:rPr>
              <a:t>Released</a:t>
            </a:r>
          </a:p>
          <a:p>
            <a:pPr algn="l"/>
            <a:r>
              <a:rPr sz="1150" b="1">
                <a:solidFill>
                  <a:srgbClr val="0B1B3A"/>
                </a:solidFill>
                <a:latin typeface="Aptos"/>
              </a:rPr>
              <a:t>final state of the deal</a:t>
            </a:r>
          </a:p>
          <a:p>
            <a:pPr algn="l"/>
            <a:r>
              <a:rPr sz="950" b="0">
                <a:solidFill>
                  <a:srgbClr val="6B7280"/>
                </a:solidFill>
                <a:latin typeface="Aptos"/>
              </a:rPr>
              <a:t>funds paid to the seller on document proof</a:t>
            </a:r>
          </a:p>
        </p:txBody>
      </p:sp>
      <p:sp>
        <p:nvSpPr>
          <p:cNvPr id="10" name="Rectangle 9"/>
          <p:cNvSpPr/>
          <p:nvPr/>
        </p:nvSpPr>
        <p:spPr>
          <a:xfrm>
            <a:off x="4297680" y="237744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377440"/>
            <a:ext cx="44450" cy="137160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2272" y="2505456"/>
            <a:ext cx="3246120" cy="1143000"/>
          </a:xfrm>
          <a:prstGeom prst="rect">
            <a:avLst/>
          </a:prstGeom>
          <a:noFill/>
        </p:spPr>
        <p:txBody>
          <a:bodyPr wrap="square">
            <a:spAutoFit/>
          </a:bodyPr>
          <a:lstStyle/>
          <a:p>
            <a:pPr algn="l"/>
            <a:r>
              <a:rPr sz="2100" b="1">
                <a:solidFill>
                  <a:srgbClr val="0B1B3A"/>
                </a:solidFill>
                <a:latin typeface="Aptos"/>
              </a:rPr>
              <a:t>4 transactions</a:t>
            </a:r>
          </a:p>
          <a:p>
            <a:pPr algn="l"/>
            <a:r>
              <a:rPr sz="1150" b="1">
                <a:solidFill>
                  <a:srgbClr val="0B1B3A"/>
                </a:solidFill>
                <a:latin typeface="Aptos"/>
              </a:rPr>
              <a:t>agreement, funding, verdict, release</a:t>
            </a:r>
          </a:p>
          <a:p>
            <a:pPr algn="l"/>
            <a:r>
              <a:rPr sz="950" b="0">
                <a:solidFill>
                  <a:srgbClr val="6B7280"/>
                </a:solidFill>
                <a:latin typeface="Aptos"/>
              </a:rPr>
              <a:t>every stage carries its own hash</a:t>
            </a:r>
          </a:p>
        </p:txBody>
      </p:sp>
      <p:sp>
        <p:nvSpPr>
          <p:cNvPr id="13" name="Rectangle 12"/>
          <p:cNvSpPr/>
          <p:nvPr/>
        </p:nvSpPr>
        <p:spPr>
          <a:xfrm>
            <a:off x="8092440" y="237744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2440" y="2377440"/>
            <a:ext cx="44450" cy="1371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2505456"/>
            <a:ext cx="3246120" cy="1143000"/>
          </a:xfrm>
          <a:prstGeom prst="rect">
            <a:avLst/>
          </a:prstGeom>
          <a:noFill/>
        </p:spPr>
        <p:txBody>
          <a:bodyPr wrap="square">
            <a:spAutoFit/>
          </a:bodyPr>
          <a:lstStyle/>
          <a:p>
            <a:pPr algn="l"/>
            <a:r>
              <a:rPr sz="2100" b="1">
                <a:solidFill>
                  <a:srgbClr val="0B1B3A"/>
                </a:solidFill>
                <a:latin typeface="Aptos"/>
              </a:rPr>
              <a:t>Non-custodial</a:t>
            </a:r>
          </a:p>
          <a:p>
            <a:pPr algn="l"/>
            <a:r>
              <a:rPr sz="1150" b="1">
                <a:solidFill>
                  <a:srgbClr val="0B1B3A"/>
                </a:solidFill>
                <a:latin typeface="Aptos"/>
              </a:rPr>
              <a:t>the contract held the funds</a:t>
            </a:r>
          </a:p>
          <a:p>
            <a:pPr algn="l"/>
            <a:r>
              <a:rPr sz="950" b="0">
                <a:solidFill>
                  <a:srgbClr val="6B7280"/>
                </a:solidFill>
                <a:latin typeface="Aptos"/>
              </a:rPr>
              <a:t>at no point could the company spend them</a:t>
            </a:r>
          </a:p>
        </p:txBody>
      </p:sp>
      <p:sp>
        <p:nvSpPr>
          <p:cNvPr id="16" name="TextBox 15"/>
          <p:cNvSpPr txBox="1"/>
          <p:nvPr/>
        </p:nvSpPr>
        <p:spPr>
          <a:xfrm>
            <a:off x="502920" y="4206240"/>
            <a:ext cx="10728655" cy="457200"/>
          </a:xfrm>
          <a:prstGeom prst="rect">
            <a:avLst/>
          </a:prstGeom>
          <a:noFill/>
        </p:spPr>
        <p:txBody>
          <a:bodyPr wrap="square">
            <a:spAutoFit/>
          </a:bodyPr>
          <a:lstStyle/>
          <a:p>
            <a:pPr algn="l"/>
            <a:r>
              <a:rPr sz="1200" b="0">
                <a:solidFill>
                  <a:srgbClr val="6B7280"/>
                </a:solidFill>
                <a:latin typeface="Aptos"/>
              </a:rPr>
              <a:t>Verify the release yourself:</a:t>
            </a:r>
          </a:p>
        </p:txBody>
      </p:sp>
      <p:sp>
        <p:nvSpPr>
          <p:cNvPr id="17" name="TextBox 16"/>
          <p:cNvSpPr txBox="1"/>
          <p:nvPr/>
        </p:nvSpPr>
        <p:spPr>
          <a:xfrm>
            <a:off x="502920" y="4572000"/>
            <a:ext cx="10728655" cy="292388"/>
          </a:xfrm>
          <a:prstGeom prst="rect">
            <a:avLst/>
          </a:prstGeom>
          <a:noFill/>
        </p:spPr>
        <p:txBody>
          <a:bodyPr wrap="square">
            <a:spAutoFit/>
          </a:bodyPr>
          <a:lstStyle/>
          <a:p>
            <a:r>
              <a:rPr lang="en-GB" sz="1300" b="1" dirty="0">
                <a:solidFill>
                  <a:srgbClr val="156082"/>
                </a:solidFill>
                <a:latin typeface="Consolas"/>
              </a:rPr>
              <a:t>https://basescan.org/tx/0xd688a6cb7e4a2a13d5b939115c056a44fb486eac08837403b5d161fe60d7ec1e</a:t>
            </a:r>
            <a:endParaRPr sz="1300" b="1" dirty="0">
              <a:solidFill>
                <a:srgbClr val="156082"/>
              </a:solidFill>
              <a:latin typeface="Consolas"/>
            </a:endParaRPr>
          </a:p>
        </p:txBody>
      </p:sp>
      <p:sp>
        <p:nvSpPr>
          <p:cNvPr id="18" name="TextBox 17"/>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kicker-marker"/>
          <p:cNvSpPr/>
          <p:nvPr/>
        </p:nvSpPr>
        <p:spPr>
          <a:xfrm>
            <a:off x="530352" y="438912"/>
            <a:ext cx="73152" cy="73152"/>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label"/>
          <p:cNvSpPr/>
          <p:nvPr/>
        </p:nvSpPr>
        <p:spPr>
          <a:xfrm>
            <a:off x="722376" y="425196"/>
            <a:ext cx="68580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900" b="1" dirty="0">
                <a:solidFill>
                  <a:srgbClr val="6B7280"/>
                </a:solidFill>
                <a:latin typeface="Aptos"/>
              </a:rPr>
              <a:t>COMPETITION</a:t>
            </a:r>
          </a:p>
        </p:txBody>
      </p:sp>
      <p:sp>
        <p:nvSpPr>
          <p:cNvPr id="5" name="headline"/>
          <p:cNvSpPr/>
          <p:nvPr/>
        </p:nvSpPr>
        <p:spPr>
          <a:xfrm>
            <a:off x="530352" y="658368"/>
            <a:ext cx="1078992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3000" b="1">
                <a:solidFill>
                  <a:srgbClr val="0B1B3A"/>
                </a:solidFill>
                <a:latin typeface="Aptos Display"/>
              </a:rPr>
              <a:t>Every funded competitor releases on buyer approval, not document proof.</a:t>
            </a:r>
          </a:p>
        </p:txBody>
      </p:sp>
      <p:sp>
        <p:nvSpPr>
          <p:cNvPr id="6" name="subtitle"/>
          <p:cNvSpPr/>
          <p:nvPr/>
        </p:nvSpPr>
        <p:spPr>
          <a:xfrm>
            <a:off x="566928" y="1572768"/>
            <a:ext cx="106070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1500" b="0">
                <a:solidFill>
                  <a:srgbClr val="1B2430"/>
                </a:solidFill>
                <a:latin typeface="Aptos"/>
              </a:rPr>
              <a:t>Tazapay, Truzo, XREX and Komgo all wait for a human signal to pay. Contour tried full automation and folded.</a:t>
            </a:r>
          </a:p>
        </p:txBody>
      </p:sp>
      <p:sp>
        <p:nvSpPr>
          <p:cNvPr id="7" name="chip-Tazapay"/>
          <p:cNvSpPr/>
          <p:nvPr/>
        </p:nvSpPr>
        <p:spPr>
          <a:xfrm>
            <a:off x="594360" y="2489454"/>
            <a:ext cx="128016" cy="128016"/>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name-Tazapay"/>
          <p:cNvSpPr/>
          <p:nvPr/>
        </p:nvSpPr>
        <p:spPr>
          <a:xfrm>
            <a:off x="868680" y="2331720"/>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rgbClr val="0E8C7F"/>
                </a:solidFill>
                <a:latin typeface="Aptos"/>
              </a:rPr>
              <a:t>Tazapay</a:t>
            </a:r>
          </a:p>
        </p:txBody>
      </p:sp>
      <p:sp>
        <p:nvSpPr>
          <p:cNvPr id="9" name="detail-Tazapay"/>
          <p:cNvSpPr/>
          <p:nvPr/>
        </p:nvSpPr>
        <p:spPr>
          <a:xfrm>
            <a:off x="2788920" y="2331720"/>
            <a:ext cx="5989320"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dirty="0">
                <a:solidFill>
                  <a:srgbClr val="1B2430"/>
                </a:solidFill>
                <a:latin typeface="Aptos"/>
              </a:rPr>
              <a:t>Releases on buyer approval  ·  0.8%</a:t>
            </a:r>
            <a:r>
              <a:rPr lang="en-US" sz="1300" b="0" dirty="0">
                <a:solidFill>
                  <a:srgbClr val="1B2430"/>
                </a:solidFill>
                <a:latin typeface="Aptos"/>
              </a:rPr>
              <a:t> - </a:t>
            </a:r>
            <a:r>
              <a:rPr sz="1300" b="0" dirty="0">
                <a:solidFill>
                  <a:srgbClr val="1B2430"/>
                </a:solidFill>
                <a:latin typeface="Aptos"/>
              </a:rPr>
              <a:t>3.8%</a:t>
            </a:r>
          </a:p>
        </p:txBody>
      </p:sp>
      <p:sp>
        <p:nvSpPr>
          <p:cNvPr id="10" name="status-Tazapay"/>
          <p:cNvSpPr/>
          <p:nvPr/>
        </p:nvSpPr>
        <p:spPr>
          <a:xfrm>
            <a:off x="8823960" y="2331720"/>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r"/>
            <a:r>
              <a:rPr sz="1200" b="0">
                <a:solidFill>
                  <a:srgbClr val="6B7280"/>
                </a:solidFill>
                <a:latin typeface="Aptos"/>
              </a:rPr>
              <a:t>Active</a:t>
            </a:r>
          </a:p>
        </p:txBody>
      </p:sp>
      <p:sp>
        <p:nvSpPr>
          <p:cNvPr id="11" name="chip-Truzo"/>
          <p:cNvSpPr/>
          <p:nvPr/>
        </p:nvSpPr>
        <p:spPr>
          <a:xfrm>
            <a:off x="594360" y="2932938"/>
            <a:ext cx="128016" cy="12801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ame-Truzo"/>
          <p:cNvSpPr/>
          <p:nvPr/>
        </p:nvSpPr>
        <p:spPr>
          <a:xfrm>
            <a:off x="868680" y="2775203"/>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rgbClr val="1F6FB2"/>
                </a:solidFill>
                <a:latin typeface="Aptos"/>
              </a:rPr>
              <a:t>Truzo</a:t>
            </a:r>
          </a:p>
        </p:txBody>
      </p:sp>
      <p:sp>
        <p:nvSpPr>
          <p:cNvPr id="13" name="detail-Truzo"/>
          <p:cNvSpPr/>
          <p:nvPr/>
        </p:nvSpPr>
        <p:spPr>
          <a:xfrm>
            <a:off x="2788920" y="2775203"/>
            <a:ext cx="5989320"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dirty="0">
                <a:solidFill>
                  <a:srgbClr val="1B2430"/>
                </a:solidFill>
                <a:latin typeface="Aptos"/>
              </a:rPr>
              <a:t>Releases on delivery confirmation  ·  0.22%</a:t>
            </a:r>
            <a:r>
              <a:rPr lang="en-US" sz="1300" b="0" dirty="0">
                <a:solidFill>
                  <a:srgbClr val="1B2430"/>
                </a:solidFill>
                <a:latin typeface="Aptos"/>
              </a:rPr>
              <a:t> - </a:t>
            </a:r>
            <a:r>
              <a:rPr sz="1300" b="0" dirty="0">
                <a:solidFill>
                  <a:srgbClr val="1B2430"/>
                </a:solidFill>
                <a:latin typeface="Aptos"/>
              </a:rPr>
              <a:t>3.1% + £25 surcharge</a:t>
            </a:r>
          </a:p>
        </p:txBody>
      </p:sp>
      <p:sp>
        <p:nvSpPr>
          <p:cNvPr id="14" name="status-Truzo"/>
          <p:cNvSpPr/>
          <p:nvPr/>
        </p:nvSpPr>
        <p:spPr>
          <a:xfrm>
            <a:off x="8823960" y="2775203"/>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r"/>
            <a:r>
              <a:rPr sz="1200" b="0">
                <a:solidFill>
                  <a:srgbClr val="6B7280"/>
                </a:solidFill>
                <a:latin typeface="Aptos"/>
              </a:rPr>
              <a:t>Active, narrow corridor</a:t>
            </a:r>
          </a:p>
        </p:txBody>
      </p:sp>
      <p:sp>
        <p:nvSpPr>
          <p:cNvPr id="15" name="chip-XREX"/>
          <p:cNvSpPr/>
          <p:nvPr/>
        </p:nvSpPr>
        <p:spPr>
          <a:xfrm>
            <a:off x="594360" y="3376422"/>
            <a:ext cx="128016" cy="128016"/>
          </a:xfrm>
          <a:prstGeom prst="rect">
            <a:avLst/>
          </a:prstGeom>
          <a:solidFill>
            <a:srgbClr val="5A4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ame-XREX"/>
          <p:cNvSpPr/>
          <p:nvPr/>
        </p:nvSpPr>
        <p:spPr>
          <a:xfrm>
            <a:off x="868680" y="3218687"/>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rgbClr val="5A4FBF"/>
                </a:solidFill>
                <a:latin typeface="Aptos"/>
              </a:rPr>
              <a:t>XREX</a:t>
            </a:r>
          </a:p>
        </p:txBody>
      </p:sp>
      <p:sp>
        <p:nvSpPr>
          <p:cNvPr id="17" name="detail-XREX"/>
          <p:cNvSpPr/>
          <p:nvPr/>
        </p:nvSpPr>
        <p:spPr>
          <a:xfrm>
            <a:off x="2788920" y="3218687"/>
            <a:ext cx="5989320"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a:solidFill>
                  <a:srgbClr val="1B2430"/>
                </a:solidFill>
                <a:latin typeface="Aptos"/>
              </a:rPr>
              <a:t>Releases on buyer approval  ·  &lt;1% + 10 USDT/escrow</a:t>
            </a:r>
          </a:p>
        </p:txBody>
      </p:sp>
      <p:sp>
        <p:nvSpPr>
          <p:cNvPr id="18" name="status-XREX"/>
          <p:cNvSpPr/>
          <p:nvPr/>
        </p:nvSpPr>
        <p:spPr>
          <a:xfrm>
            <a:off x="8823960" y="3218687"/>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r"/>
            <a:r>
              <a:rPr sz="1200" b="0">
                <a:solidFill>
                  <a:srgbClr val="6B7280"/>
                </a:solidFill>
                <a:latin typeface="Aptos"/>
              </a:rPr>
              <a:t>Active</a:t>
            </a:r>
          </a:p>
        </p:txBody>
      </p:sp>
      <p:sp>
        <p:nvSpPr>
          <p:cNvPr id="19" name="chip-Komgo"/>
          <p:cNvSpPr/>
          <p:nvPr/>
        </p:nvSpPr>
        <p:spPr>
          <a:xfrm>
            <a:off x="594360" y="3819905"/>
            <a:ext cx="128016" cy="128016"/>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ame-Komgo"/>
          <p:cNvSpPr/>
          <p:nvPr/>
        </p:nvSpPr>
        <p:spPr>
          <a:xfrm>
            <a:off x="868680" y="3662172"/>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rgbClr val="C77D18"/>
                </a:solidFill>
                <a:latin typeface="Aptos"/>
              </a:rPr>
              <a:t>Komgo</a:t>
            </a:r>
          </a:p>
        </p:txBody>
      </p:sp>
      <p:sp>
        <p:nvSpPr>
          <p:cNvPr id="21" name="detail-Komgo"/>
          <p:cNvSpPr/>
          <p:nvPr/>
        </p:nvSpPr>
        <p:spPr>
          <a:xfrm>
            <a:off x="2788920" y="3662172"/>
            <a:ext cx="5989320"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a:solidFill>
                  <a:srgbClr val="1B2430"/>
                </a:solidFill>
                <a:latin typeface="Aptos"/>
              </a:rPr>
              <a:t>Follows the LC process  ·  fee not disclosed</a:t>
            </a:r>
          </a:p>
        </p:txBody>
      </p:sp>
      <p:sp>
        <p:nvSpPr>
          <p:cNvPr id="22" name="status-Komgo"/>
          <p:cNvSpPr/>
          <p:nvPr/>
        </p:nvSpPr>
        <p:spPr>
          <a:xfrm>
            <a:off x="8823960" y="3662172"/>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r"/>
            <a:r>
              <a:rPr sz="1200" b="0">
                <a:solidFill>
                  <a:srgbClr val="6B7280"/>
                </a:solidFill>
                <a:latin typeface="Aptos"/>
              </a:rPr>
              <a:t>Active, banks only</a:t>
            </a:r>
          </a:p>
        </p:txBody>
      </p:sp>
      <p:sp>
        <p:nvSpPr>
          <p:cNvPr id="23" name="chip-Contour"/>
          <p:cNvSpPr/>
          <p:nvPr/>
        </p:nvSpPr>
        <p:spPr>
          <a:xfrm>
            <a:off x="594360" y="4263390"/>
            <a:ext cx="128016" cy="12801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name-Contour"/>
          <p:cNvSpPr/>
          <p:nvPr/>
        </p:nvSpPr>
        <p:spPr>
          <a:xfrm>
            <a:off x="868680" y="4105656"/>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rgbClr val="6B7280"/>
                </a:solidFill>
                <a:latin typeface="Aptos"/>
              </a:rPr>
              <a:t>Contour</a:t>
            </a:r>
          </a:p>
        </p:txBody>
      </p:sp>
      <p:sp>
        <p:nvSpPr>
          <p:cNvPr id="25" name="detail-Contour"/>
          <p:cNvSpPr/>
          <p:nvPr/>
        </p:nvSpPr>
        <p:spPr>
          <a:xfrm>
            <a:off x="2788920" y="4105656"/>
            <a:ext cx="5989320"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a:solidFill>
                  <a:srgbClr val="1B2430"/>
                </a:solidFill>
                <a:latin typeface="Aptos"/>
              </a:rPr>
              <a:t>Backed by HSBC / StanChart / Citi, $18.3m raised</a:t>
            </a:r>
          </a:p>
        </p:txBody>
      </p:sp>
      <p:sp>
        <p:nvSpPr>
          <p:cNvPr id="26" name="status-Contour"/>
          <p:cNvSpPr/>
          <p:nvPr/>
        </p:nvSpPr>
        <p:spPr>
          <a:xfrm>
            <a:off x="8823960" y="4105656"/>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r"/>
            <a:r>
              <a:rPr sz="1200" b="0">
                <a:solidFill>
                  <a:srgbClr val="6B7280"/>
                </a:solidFill>
                <a:latin typeface="Aptos"/>
              </a:rPr>
              <a:t>Shut down Nov 2023</a:t>
            </a:r>
          </a:p>
        </p:txBody>
      </p:sp>
      <p:sp>
        <p:nvSpPr>
          <p:cNvPr id="27" name="chip-Blockmediary"/>
          <p:cNvSpPr/>
          <p:nvPr/>
        </p:nvSpPr>
        <p:spPr>
          <a:xfrm>
            <a:off x="594360" y="4706874"/>
            <a:ext cx="128016" cy="128016"/>
          </a:xfrm>
          <a:prstGeom prst="rect">
            <a:avLst/>
          </a:prstGeom>
          <a:solidFill>
            <a:srgbClr val="2C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ame-Blockmediary"/>
          <p:cNvSpPr/>
          <p:nvPr/>
        </p:nvSpPr>
        <p:spPr>
          <a:xfrm>
            <a:off x="868680" y="4549140"/>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rgbClr val="2C7A33"/>
                </a:solidFill>
                <a:latin typeface="Aptos"/>
              </a:rPr>
              <a:t>Blockmediary</a:t>
            </a:r>
          </a:p>
        </p:txBody>
      </p:sp>
      <p:sp>
        <p:nvSpPr>
          <p:cNvPr id="29" name="detail-Blockmediary"/>
          <p:cNvSpPr/>
          <p:nvPr/>
        </p:nvSpPr>
        <p:spPr>
          <a:xfrm>
            <a:off x="2788920" y="4549140"/>
            <a:ext cx="5989320"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1">
                <a:solidFill>
                  <a:srgbClr val="1B2430"/>
                </a:solidFill>
                <a:latin typeface="Aptos"/>
              </a:rPr>
              <a:t>Releases on document compliance  ·  0.8% / 1.5% / 3.0%, tiered</a:t>
            </a:r>
          </a:p>
        </p:txBody>
      </p:sp>
      <p:sp>
        <p:nvSpPr>
          <p:cNvPr id="30" name="status-Blockmediary"/>
          <p:cNvSpPr/>
          <p:nvPr/>
        </p:nvSpPr>
        <p:spPr>
          <a:xfrm>
            <a:off x="8823960" y="4549140"/>
            <a:ext cx="1874519" cy="4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r"/>
            <a:r>
              <a:rPr sz="1200" b="1">
                <a:solidFill>
                  <a:srgbClr val="2C7A33"/>
                </a:solidFill>
                <a:latin typeface="Aptos"/>
              </a:rPr>
              <a:t>Building</a:t>
            </a:r>
          </a:p>
        </p:txBody>
      </p:sp>
      <p:sp>
        <p:nvSpPr>
          <p:cNvPr id="31" name="footer-band"/>
          <p:cNvSpPr/>
          <p:nvPr/>
        </p:nvSpPr>
        <p:spPr>
          <a:xfrm>
            <a:off x="594360" y="5394960"/>
            <a:ext cx="10707624" cy="640080"/>
          </a:xfrm>
          <a:prstGeom prst="rect">
            <a:avLst/>
          </a:prstGeom>
          <a:solidFill>
            <a:srgbClr val="1028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ooter-left"/>
          <p:cNvSpPr/>
          <p:nvPr/>
        </p:nvSpPr>
        <p:spPr>
          <a:xfrm>
            <a:off x="868680" y="5513832"/>
            <a:ext cx="672084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200" b="0" dirty="0">
                <a:solidFill>
                  <a:srgbClr val="BFEAE5"/>
                </a:solidFill>
                <a:latin typeface="Aptos"/>
              </a:rPr>
              <a:t>Contour was the most-funded LC-replacement </a:t>
            </a:r>
            <a:r>
              <a:rPr lang="en-US" sz="1200" b="0" dirty="0">
                <a:solidFill>
                  <a:srgbClr val="BFEAE5"/>
                </a:solidFill>
                <a:latin typeface="Aptos"/>
              </a:rPr>
              <a:t>attempt,</a:t>
            </a:r>
            <a:r>
              <a:rPr sz="1200" b="0" dirty="0">
                <a:solidFill>
                  <a:srgbClr val="BFEAE5"/>
                </a:solidFill>
                <a:latin typeface="Aptos"/>
              </a:rPr>
              <a:t> </a:t>
            </a:r>
            <a:r>
              <a:rPr lang="en-US" sz="1200" dirty="0">
                <a:solidFill>
                  <a:srgbClr val="BFEAE5"/>
                </a:solidFill>
                <a:latin typeface="Aptos"/>
              </a:rPr>
              <a:t>and</a:t>
            </a:r>
            <a:r>
              <a:rPr sz="1200" b="0" dirty="0">
                <a:solidFill>
                  <a:srgbClr val="BFEAE5"/>
                </a:solidFill>
                <a:latin typeface="Aptos"/>
              </a:rPr>
              <a:t> it still failed structurally.</a:t>
            </a:r>
          </a:p>
        </p:txBody>
      </p:sp>
      <p:sp>
        <p:nvSpPr>
          <p:cNvPr id="33" name="footer-right"/>
          <p:cNvSpPr/>
          <p:nvPr/>
        </p:nvSpPr>
        <p:spPr>
          <a:xfrm>
            <a:off x="7763256" y="5486400"/>
            <a:ext cx="32461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500" b="0">
                <a:solidFill>
                  <a:srgbClr val="FFFFFF"/>
                </a:solidFill>
                <a:latin typeface="Aptos Display"/>
              </a:rPr>
              <a:t>The gap stayed open.</a:t>
            </a:r>
          </a:p>
        </p:txBody>
      </p:sp>
      <p:sp>
        <p:nvSpPr>
          <p:cNvPr id="34" name="caption"/>
          <p:cNvSpPr/>
          <p:nvPr/>
        </p:nvSpPr>
        <p:spPr>
          <a:xfrm>
            <a:off x="594360" y="6108192"/>
            <a:ext cx="990295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1000" b="0">
                <a:solidFill>
                  <a:srgbClr val="6B7280"/>
                </a:solidFill>
                <a:latin typeface="Aptos"/>
              </a:rPr>
              <a:t>Full company-by-company sourcing: Competitor Analysis PDF (docs/Competitor-analysis.md)</a:t>
            </a:r>
          </a:p>
        </p:txBody>
      </p:sp>
      <p:sp>
        <p:nvSpPr>
          <p:cNvPr id="35" name="page-number"/>
          <p:cNvSpPr/>
          <p:nvPr/>
        </p:nvSpPr>
        <p:spPr>
          <a:xfrm>
            <a:off x="11109960" y="6437376"/>
            <a:ext cx="5486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900" b="1">
                <a:solidFill>
                  <a:srgbClr val="6B7280"/>
                </a:solidFill>
                <a:latin typeface="Aptos"/>
              </a:rPr>
              <a:t>9</a:t>
            </a:r>
          </a:p>
        </p:txBody>
      </p:sp>
    </p:spTree>
    <p:extLst>
      <p:ext uri="{BB962C8B-B14F-4D97-AF65-F5344CB8AC3E}">
        <p14:creationId xmlns:p14="http://schemas.microsoft.com/office/powerpoint/2010/main" val="1384234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kicker-marker"/>
          <p:cNvSpPr/>
          <p:nvPr/>
        </p:nvSpPr>
        <p:spPr>
          <a:xfrm>
            <a:off x="530352" y="438912"/>
            <a:ext cx="73152" cy="73152"/>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label"/>
          <p:cNvSpPr/>
          <p:nvPr/>
        </p:nvSpPr>
        <p:spPr>
          <a:xfrm>
            <a:off x="722376" y="365760"/>
            <a:ext cx="68580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900" b="1">
                <a:solidFill>
                  <a:srgbClr val="6B7280"/>
                </a:solidFill>
                <a:latin typeface="Aptos"/>
              </a:rPr>
              <a:t>LEGAL &amp; COMPLIANCE</a:t>
            </a:r>
          </a:p>
        </p:txBody>
      </p:sp>
      <p:sp>
        <p:nvSpPr>
          <p:cNvPr id="5" name="headline"/>
          <p:cNvSpPr/>
          <p:nvPr/>
        </p:nvSpPr>
        <p:spPr>
          <a:xfrm>
            <a:off x="530352" y="658368"/>
            <a:ext cx="1078992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3000" b="1" dirty="0">
                <a:solidFill>
                  <a:srgbClr val="0B1B3A"/>
                </a:solidFill>
                <a:latin typeface="Aptos Display"/>
              </a:rPr>
              <a:t>The register grew from 15 items to 31 and reversed our UAE route.</a:t>
            </a:r>
          </a:p>
        </p:txBody>
      </p:sp>
      <p:sp>
        <p:nvSpPr>
          <p:cNvPr id="6" name="subtitle"/>
          <p:cNvSpPr/>
          <p:nvPr/>
        </p:nvSpPr>
        <p:spPr>
          <a:xfrm>
            <a:off x="566928" y="1572768"/>
            <a:ext cx="106070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1500" b="0">
                <a:solidFill>
                  <a:srgbClr val="1B2430"/>
                </a:solidFill>
                <a:latin typeface="Aptos"/>
              </a:rPr>
              <a:t>June 8 named ADGM/DIFC as a pair. Since then: five risks that changed the plan, not just the paperwork.</a:t>
            </a:r>
          </a:p>
        </p:txBody>
      </p:sp>
      <p:sp>
        <p:nvSpPr>
          <p:cNvPr id="7" name="chip-UAE ROUTE"/>
          <p:cNvSpPr/>
          <p:nvPr/>
        </p:nvSpPr>
        <p:spPr>
          <a:xfrm>
            <a:off x="594360" y="2542032"/>
            <a:ext cx="128016" cy="128016"/>
          </a:xfrm>
          <a:prstGeom prst="rect">
            <a:avLst/>
          </a:prstGeom>
          <a:solidFill>
            <a:srgbClr val="2C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label-UAE ROUTE"/>
          <p:cNvSpPr/>
          <p:nvPr/>
        </p:nvSpPr>
        <p:spPr>
          <a:xfrm>
            <a:off x="868680" y="2331720"/>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1">
                <a:solidFill>
                  <a:srgbClr val="2C7A33"/>
                </a:solidFill>
                <a:latin typeface="Aptos"/>
              </a:rPr>
              <a:t>UAE ROUTE</a:t>
            </a:r>
          </a:p>
        </p:txBody>
      </p:sp>
      <p:sp>
        <p:nvSpPr>
          <p:cNvPr id="9" name="detail-UAE ROUTE"/>
          <p:cNvSpPr/>
          <p:nvPr/>
        </p:nvSpPr>
        <p:spPr>
          <a:xfrm>
            <a:off x="2926080" y="2331720"/>
            <a:ext cx="8366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dirty="0">
                <a:solidFill>
                  <a:srgbClr val="1B2430"/>
                </a:solidFill>
                <a:latin typeface="Aptos"/>
              </a:rPr>
              <a:t>DIFC partner-led pilot (Month 12) + parallel VARA licence (Month 18)</a:t>
            </a:r>
            <a:r>
              <a:rPr lang="en-US" sz="1300" b="0" dirty="0">
                <a:solidFill>
                  <a:srgbClr val="1B2430"/>
                </a:solidFill>
                <a:latin typeface="Aptos"/>
              </a:rPr>
              <a:t>,</a:t>
            </a:r>
            <a:r>
              <a:rPr sz="1300" b="0" dirty="0">
                <a:solidFill>
                  <a:srgbClr val="1B2430"/>
                </a:solidFill>
                <a:latin typeface="Aptos"/>
              </a:rPr>
              <a:t> ADGM </a:t>
            </a:r>
            <a:r>
              <a:rPr lang="en-US" sz="1300" b="0" dirty="0">
                <a:solidFill>
                  <a:srgbClr val="1B2430"/>
                </a:solidFill>
                <a:latin typeface="Aptos"/>
              </a:rPr>
              <a:t>option </a:t>
            </a:r>
            <a:r>
              <a:rPr sz="1300" b="0" dirty="0">
                <a:solidFill>
                  <a:srgbClr val="1B2430"/>
                </a:solidFill>
                <a:latin typeface="Aptos"/>
              </a:rPr>
              <a:t>dropped</a:t>
            </a:r>
          </a:p>
        </p:txBody>
      </p:sp>
      <p:sp>
        <p:nvSpPr>
          <p:cNvPr id="10" name="chip-GDPR"/>
          <p:cNvSpPr/>
          <p:nvPr/>
        </p:nvSpPr>
        <p:spPr>
          <a:xfrm>
            <a:off x="594360" y="3090672"/>
            <a:ext cx="128016" cy="128016"/>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label-GDPR"/>
          <p:cNvSpPr/>
          <p:nvPr/>
        </p:nvSpPr>
        <p:spPr>
          <a:xfrm>
            <a:off x="868680" y="2880360"/>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1">
                <a:solidFill>
                  <a:srgbClr val="C77D18"/>
                </a:solidFill>
                <a:latin typeface="Aptos"/>
              </a:rPr>
              <a:t>GDPR</a:t>
            </a:r>
          </a:p>
        </p:txBody>
      </p:sp>
      <p:sp>
        <p:nvSpPr>
          <p:cNvPr id="12" name="detail-GDPR"/>
          <p:cNvSpPr/>
          <p:nvPr/>
        </p:nvSpPr>
        <p:spPr>
          <a:xfrm>
            <a:off x="2926080" y="2880360"/>
            <a:ext cx="8366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lang="en-US" sz="1300" b="0" dirty="0">
                <a:solidFill>
                  <a:srgbClr val="1B2430"/>
                </a:solidFill>
                <a:latin typeface="Aptos"/>
              </a:rPr>
              <a:t>specHash (roadmap): committing it to a public chain could still count as personal data under GDPR Art. 17</a:t>
            </a:r>
            <a:endParaRPr sz="1300" b="0" dirty="0">
              <a:solidFill>
                <a:srgbClr val="1B2430"/>
              </a:solidFill>
              <a:latin typeface="Aptos"/>
            </a:endParaRPr>
          </a:p>
        </p:txBody>
      </p:sp>
      <p:sp>
        <p:nvSpPr>
          <p:cNvPr id="13" name="chip-RELEASER KEY"/>
          <p:cNvSpPr/>
          <p:nvPr/>
        </p:nvSpPr>
        <p:spPr>
          <a:xfrm>
            <a:off x="594360" y="3639312"/>
            <a:ext cx="128016" cy="128016"/>
          </a:xfrm>
          <a:prstGeom prst="rect">
            <a:avLst/>
          </a:prstGeom>
          <a:solidFill>
            <a:srgbClr val="5A4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abel-RELEASER KEY"/>
          <p:cNvSpPr/>
          <p:nvPr/>
        </p:nvSpPr>
        <p:spPr>
          <a:xfrm>
            <a:off x="868680" y="3429000"/>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1">
                <a:solidFill>
                  <a:srgbClr val="5A4FBF"/>
                </a:solidFill>
                <a:latin typeface="Aptos"/>
              </a:rPr>
              <a:t>RELEASER KEY</a:t>
            </a:r>
          </a:p>
        </p:txBody>
      </p:sp>
      <p:sp>
        <p:nvSpPr>
          <p:cNvPr id="15" name="detail-RELEASER KEY"/>
          <p:cNvSpPr/>
          <p:nvPr/>
        </p:nvSpPr>
        <p:spPr>
          <a:xfrm>
            <a:off x="2926080" y="3429000"/>
            <a:ext cx="8366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a:solidFill>
                  <a:srgbClr val="1B2430"/>
                </a:solidFill>
                <a:latin typeface="Aptos"/>
              </a:rPr>
              <a:t>Key compromise = FCA/VARA breach notification + POCA criminal liability, not just a technical risk</a:t>
            </a:r>
          </a:p>
        </p:txBody>
      </p:sp>
      <p:sp>
        <p:nvSpPr>
          <p:cNvPr id="16" name="chip-CONSUMER DUTY"/>
          <p:cNvSpPr/>
          <p:nvPr/>
        </p:nvSpPr>
        <p:spPr>
          <a:xfrm>
            <a:off x="594360" y="4187951"/>
            <a:ext cx="128016" cy="12801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abel-CONSUMER DUTY"/>
          <p:cNvSpPr/>
          <p:nvPr/>
        </p:nvSpPr>
        <p:spPr>
          <a:xfrm>
            <a:off x="868680" y="3977639"/>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1">
                <a:solidFill>
                  <a:srgbClr val="1F6FB2"/>
                </a:solidFill>
                <a:latin typeface="Aptos"/>
              </a:rPr>
              <a:t>CONSUMER DUTY</a:t>
            </a:r>
          </a:p>
        </p:txBody>
      </p:sp>
      <p:sp>
        <p:nvSpPr>
          <p:cNvPr id="18" name="detail-CONSUMER DUTY"/>
          <p:cNvSpPr/>
          <p:nvPr/>
        </p:nvSpPr>
        <p:spPr>
          <a:xfrm>
            <a:off x="2926080" y="3977639"/>
            <a:ext cx="8366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dirty="0">
                <a:solidFill>
                  <a:srgbClr val="1B2430"/>
                </a:solidFill>
                <a:latin typeface="Aptos"/>
              </a:rPr>
              <a:t>Most SME users are retail customers under FCA rules</a:t>
            </a:r>
            <a:r>
              <a:rPr lang="en-US" sz="1300" b="0" dirty="0">
                <a:solidFill>
                  <a:srgbClr val="1B2430"/>
                </a:solidFill>
                <a:latin typeface="Aptos"/>
              </a:rPr>
              <a:t>, and</a:t>
            </a:r>
            <a:r>
              <a:rPr sz="1300" b="0" dirty="0">
                <a:solidFill>
                  <a:srgbClr val="1B2430"/>
                </a:solidFill>
                <a:latin typeface="Aptos"/>
              </a:rPr>
              <a:t> the duty applies in full</a:t>
            </a:r>
          </a:p>
        </p:txBody>
      </p:sp>
      <p:sp>
        <p:nvSpPr>
          <p:cNvPr id="19" name="chip-UCP 600"/>
          <p:cNvSpPr/>
          <p:nvPr/>
        </p:nvSpPr>
        <p:spPr>
          <a:xfrm>
            <a:off x="594360" y="4736591"/>
            <a:ext cx="128016" cy="128016"/>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label-UCP 600"/>
          <p:cNvSpPr/>
          <p:nvPr/>
        </p:nvSpPr>
        <p:spPr>
          <a:xfrm>
            <a:off x="868680" y="4526279"/>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1">
                <a:solidFill>
                  <a:srgbClr val="0E8C7F"/>
                </a:solidFill>
                <a:latin typeface="Aptos"/>
              </a:rPr>
              <a:t>UCP 600</a:t>
            </a:r>
          </a:p>
        </p:txBody>
      </p:sp>
      <p:sp>
        <p:nvSpPr>
          <p:cNvPr id="21" name="detail-UCP 600"/>
          <p:cNvSpPr/>
          <p:nvPr/>
        </p:nvSpPr>
        <p:spPr>
          <a:xfrm>
            <a:off x="2926080" y="4526279"/>
            <a:ext cx="8366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300" b="0">
                <a:solidFill>
                  <a:srgbClr val="1B2430"/>
                </a:solidFill>
                <a:latin typeface="Aptos"/>
              </a:rPr>
              <a:t>From “UCP 600-inspired” to an article-by-article, Incoterm-by-Incoterm document checklist</a:t>
            </a:r>
          </a:p>
        </p:txBody>
      </p:sp>
      <p:sp>
        <p:nvSpPr>
          <p:cNvPr id="22" name="footer-band"/>
          <p:cNvSpPr/>
          <p:nvPr/>
        </p:nvSpPr>
        <p:spPr>
          <a:xfrm>
            <a:off x="594360" y="5394960"/>
            <a:ext cx="10707624" cy="640080"/>
          </a:xfrm>
          <a:prstGeom prst="rect">
            <a:avLst/>
          </a:prstGeom>
          <a:solidFill>
            <a:srgbClr val="1028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ooter-left"/>
          <p:cNvSpPr/>
          <p:nvPr/>
        </p:nvSpPr>
        <p:spPr>
          <a:xfrm>
            <a:off x="868680" y="5513832"/>
            <a:ext cx="672084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200" b="0">
                <a:solidFill>
                  <a:srgbClr val="BFEAE5"/>
                </a:solidFill>
                <a:latin typeface="Aptos"/>
              </a:rPr>
              <a:t>Full sourcing, mitigation and the remaining 26 items: supplementary PDF.</a:t>
            </a:r>
          </a:p>
        </p:txBody>
      </p:sp>
      <p:sp>
        <p:nvSpPr>
          <p:cNvPr id="24" name="footer-right"/>
          <p:cNvSpPr/>
          <p:nvPr/>
        </p:nvSpPr>
        <p:spPr>
          <a:xfrm>
            <a:off x="7763256" y="5486400"/>
            <a:ext cx="32461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800" b="1">
                <a:solidFill>
                  <a:srgbClr val="FFFFFF"/>
                </a:solidFill>
                <a:latin typeface="Aptos Display"/>
              </a:rPr>
              <a:t>15 → 31 items</a:t>
            </a:r>
          </a:p>
        </p:txBody>
      </p:sp>
      <p:sp>
        <p:nvSpPr>
          <p:cNvPr id="25" name="caption"/>
          <p:cNvSpPr/>
          <p:nvPr/>
        </p:nvSpPr>
        <p:spPr>
          <a:xfrm>
            <a:off x="594360" y="6108192"/>
            <a:ext cx="990295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1000" b="0">
                <a:solidFill>
                  <a:srgbClr val="6B7280"/>
                </a:solidFill>
                <a:latin typeface="Aptos"/>
              </a:rPr>
              <a:t>Full risk register: Legal &amp; Compliance Risk Assessment PDF (docs/legal-risk.md)</a:t>
            </a:r>
          </a:p>
        </p:txBody>
      </p:sp>
      <p:sp>
        <p:nvSpPr>
          <p:cNvPr id="26" name="page-number"/>
          <p:cNvSpPr/>
          <p:nvPr/>
        </p:nvSpPr>
        <p:spPr>
          <a:xfrm>
            <a:off x="11109960" y="6437376"/>
            <a:ext cx="5486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900" b="1">
                <a:solidFill>
                  <a:srgbClr val="6B7280"/>
                </a:solidFill>
                <a:latin typeface="Aptos"/>
              </a:rPr>
              <a:t>11</a:t>
            </a:r>
          </a:p>
        </p:txBody>
      </p:sp>
    </p:spTree>
    <p:extLst>
      <p:ext uri="{BB962C8B-B14F-4D97-AF65-F5344CB8AC3E}">
        <p14:creationId xmlns:p14="http://schemas.microsoft.com/office/powerpoint/2010/main" val="3829342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5486400" cy="256032"/>
          </a:xfrm>
          <a:prstGeom prst="rect">
            <a:avLst/>
          </a:prstGeom>
          <a:noFill/>
        </p:spPr>
        <p:txBody>
          <a:bodyPr wrap="square" lIns="0" tIns="0" rIns="0" bIns="0" anchor="t">
            <a:spAutoFit/>
          </a:bodyPr>
          <a:lstStyle/>
          <a:p>
            <a:pPr algn="l">
              <a:lnSpc>
                <a:spcPct val="100000"/>
              </a:lnSpc>
              <a:spcAft>
                <a:spcPts val="0"/>
              </a:spcAft>
            </a:pPr>
            <a:r>
              <a:rPr sz="1100" b="1" i="0">
                <a:solidFill>
                  <a:srgbClr val="C77D18"/>
                </a:solidFill>
                <a:latin typeface="Aptos"/>
              </a:rPr>
              <a:t>MARKET</a:t>
            </a:r>
          </a:p>
        </p:txBody>
      </p:sp>
      <p:sp>
        <p:nvSpPr>
          <p:cNvPr id="3" name="TextBox 2"/>
          <p:cNvSpPr txBox="1"/>
          <p:nvPr/>
        </p:nvSpPr>
        <p:spPr>
          <a:xfrm>
            <a:off x="10972800" y="6355080"/>
            <a:ext cx="713232" cy="256032"/>
          </a:xfrm>
          <a:prstGeom prst="rect">
            <a:avLst/>
          </a:prstGeom>
          <a:noFill/>
        </p:spPr>
        <p:txBody>
          <a:bodyPr wrap="square" lIns="0" tIns="0" rIns="0" bIns="0" anchor="t">
            <a:spAutoFit/>
          </a:bodyPr>
          <a:lstStyle/>
          <a:p>
            <a:pPr algn="r">
              <a:lnSpc>
                <a:spcPct val="100000"/>
              </a:lnSpc>
              <a:spcAft>
                <a:spcPts val="0"/>
              </a:spcAft>
            </a:pPr>
            <a:r>
              <a:rPr sz="900" b="0" i="0">
                <a:solidFill>
                  <a:srgbClr val="6B7280"/>
                </a:solidFill>
                <a:latin typeface="Aptos"/>
              </a:rPr>
              <a:t>05</a:t>
            </a:r>
          </a:p>
        </p:txBody>
      </p:sp>
      <p:sp>
        <p:nvSpPr>
          <p:cNvPr id="4" name="TextBox 3"/>
          <p:cNvSpPr txBox="1"/>
          <p:nvPr/>
        </p:nvSpPr>
        <p:spPr>
          <a:xfrm>
            <a:off x="502920" y="658368"/>
            <a:ext cx="10881360" cy="566928"/>
          </a:xfrm>
          <a:prstGeom prst="rect">
            <a:avLst/>
          </a:prstGeom>
          <a:noFill/>
        </p:spPr>
        <p:txBody>
          <a:bodyPr wrap="square" lIns="0" tIns="0" rIns="0" bIns="0" anchor="t">
            <a:spAutoFit/>
          </a:bodyPr>
          <a:lstStyle/>
          <a:p>
            <a:pPr algn="l">
              <a:lnSpc>
                <a:spcPct val="100000"/>
              </a:lnSpc>
              <a:spcAft>
                <a:spcPts val="0"/>
              </a:spcAft>
            </a:pPr>
            <a:r>
              <a:rPr sz="2600" b="1" i="0">
                <a:solidFill>
                  <a:srgbClr val="0B1B3A"/>
                </a:solidFill>
                <a:latin typeface="Aptos"/>
              </a:rPr>
              <a:t>The wedge is narrow. The trade behind it is not.</a:t>
            </a:r>
          </a:p>
        </p:txBody>
      </p:sp>
      <p:sp>
        <p:nvSpPr>
          <p:cNvPr id="5" name="Oval 4"/>
          <p:cNvSpPr/>
          <p:nvPr/>
        </p:nvSpPr>
        <p:spPr>
          <a:xfrm>
            <a:off x="1851660" y="1513332"/>
            <a:ext cx="3703320" cy="3703320"/>
          </a:xfrm>
          <a:prstGeom prst="ellipse">
            <a:avLst/>
          </a:prstGeom>
          <a:noFill/>
          <a:ln w="31750">
            <a:solidFill>
              <a:srgbClr val="0B1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468879" y="2130552"/>
            <a:ext cx="2468880" cy="2468880"/>
          </a:xfrm>
          <a:prstGeom prst="ellipse">
            <a:avLst/>
          </a:prstGeom>
          <a:noFill/>
          <a:ln w="3175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063239" y="2724912"/>
            <a:ext cx="1280160" cy="1280160"/>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79" y="1627632"/>
            <a:ext cx="3383280" cy="420624"/>
          </a:xfrm>
          <a:prstGeom prst="rect">
            <a:avLst/>
          </a:prstGeom>
          <a:noFill/>
        </p:spPr>
        <p:txBody>
          <a:bodyPr wrap="square" lIns="0" tIns="0" rIns="0" bIns="0" anchor="t">
            <a:spAutoFit/>
          </a:bodyPr>
          <a:lstStyle/>
          <a:p>
            <a:pPr algn="ctr">
              <a:lnSpc>
                <a:spcPct val="100000"/>
              </a:lnSpc>
              <a:spcAft>
                <a:spcPts val="0"/>
              </a:spcAft>
            </a:pPr>
            <a:r>
              <a:rPr sz="2000" b="1" i="0">
                <a:solidFill>
                  <a:srgbClr val="0B1B3A"/>
                </a:solidFill>
                <a:latin typeface="Aptos"/>
              </a:rPr>
              <a:t>$1.03T</a:t>
            </a:r>
          </a:p>
          <a:p>
            <a:pPr algn="ctr">
              <a:lnSpc>
                <a:spcPct val="100000"/>
              </a:lnSpc>
              <a:spcAft>
                <a:spcPts val="0"/>
              </a:spcAft>
            </a:pPr>
            <a:r>
              <a:rPr sz="850" b="0" i="0">
                <a:solidFill>
                  <a:srgbClr val="6B7280"/>
                </a:solidFill>
                <a:latin typeface="Aptos"/>
              </a:rPr>
              <a:t>UAE non-oil foreign trade, 2025</a:t>
            </a:r>
          </a:p>
        </p:txBody>
      </p:sp>
      <p:sp>
        <p:nvSpPr>
          <p:cNvPr id="9" name="TextBox 8"/>
          <p:cNvSpPr txBox="1"/>
          <p:nvPr/>
        </p:nvSpPr>
        <p:spPr>
          <a:xfrm>
            <a:off x="2240279" y="2249424"/>
            <a:ext cx="2926080" cy="420624"/>
          </a:xfrm>
          <a:prstGeom prst="rect">
            <a:avLst/>
          </a:prstGeom>
          <a:noFill/>
        </p:spPr>
        <p:txBody>
          <a:bodyPr wrap="square" lIns="0" tIns="0" rIns="0" bIns="0" anchor="t">
            <a:spAutoFit/>
          </a:bodyPr>
          <a:lstStyle/>
          <a:p>
            <a:pPr algn="ctr">
              <a:lnSpc>
                <a:spcPct val="100000"/>
              </a:lnSpc>
              <a:spcAft>
                <a:spcPts val="0"/>
              </a:spcAft>
            </a:pPr>
            <a:r>
              <a:rPr sz="2000" b="1" i="0">
                <a:solidFill>
                  <a:srgbClr val="1F6FB2"/>
                </a:solidFill>
                <a:latin typeface="Aptos"/>
              </a:rPr>
              <a:t>~$65B</a:t>
            </a:r>
          </a:p>
          <a:p>
            <a:pPr algn="ctr">
              <a:lnSpc>
                <a:spcPct val="100000"/>
              </a:lnSpc>
              <a:spcAft>
                <a:spcPts val="0"/>
              </a:spcAft>
            </a:pPr>
            <a:r>
              <a:rPr sz="850" b="0" i="0">
                <a:solidFill>
                  <a:srgbClr val="6B7280"/>
                </a:solidFill>
                <a:latin typeface="Aptos"/>
              </a:rPr>
              <a:t>UAE–India CEPA non-oil corridor</a:t>
            </a:r>
          </a:p>
        </p:txBody>
      </p:sp>
      <p:sp>
        <p:nvSpPr>
          <p:cNvPr id="10" name="TextBox 9"/>
          <p:cNvSpPr txBox="1"/>
          <p:nvPr/>
        </p:nvSpPr>
        <p:spPr>
          <a:xfrm>
            <a:off x="3081527" y="3108960"/>
            <a:ext cx="1243584" cy="548640"/>
          </a:xfrm>
          <a:prstGeom prst="rect">
            <a:avLst/>
          </a:prstGeom>
          <a:noFill/>
        </p:spPr>
        <p:txBody>
          <a:bodyPr wrap="square" lIns="0" tIns="0" rIns="0" bIns="0" anchor="t">
            <a:spAutoFit/>
          </a:bodyPr>
          <a:lstStyle/>
          <a:p>
            <a:pPr algn="ctr">
              <a:lnSpc>
                <a:spcPct val="100000"/>
              </a:lnSpc>
              <a:spcAft>
                <a:spcPts val="0"/>
              </a:spcAft>
            </a:pPr>
            <a:r>
              <a:rPr sz="1500" b="1" i="0">
                <a:solidFill>
                  <a:srgbClr val="FFFFFF"/>
                </a:solidFill>
                <a:latin typeface="Aptos"/>
              </a:rPr>
              <a:t>~$110M</a:t>
            </a:r>
          </a:p>
          <a:p>
            <a:pPr algn="ctr">
              <a:lnSpc>
                <a:spcPct val="100000"/>
              </a:lnSpc>
              <a:spcAft>
                <a:spcPts val="0"/>
              </a:spcAft>
            </a:pPr>
            <a:r>
              <a:rPr sz="750" b="0" i="0">
                <a:solidFill>
                  <a:srgbClr val="FFFFFF"/>
                </a:solidFill>
                <a:latin typeface="Aptos"/>
              </a:rPr>
              <a:t>processed, Y1–Y3</a:t>
            </a:r>
          </a:p>
        </p:txBody>
      </p:sp>
      <p:sp>
        <p:nvSpPr>
          <p:cNvPr id="11" name="TextBox 10"/>
          <p:cNvSpPr txBox="1"/>
          <p:nvPr/>
        </p:nvSpPr>
        <p:spPr>
          <a:xfrm>
            <a:off x="548640" y="1664208"/>
            <a:ext cx="731520" cy="219456"/>
          </a:xfrm>
          <a:prstGeom prst="rect">
            <a:avLst/>
          </a:prstGeom>
          <a:noFill/>
        </p:spPr>
        <p:txBody>
          <a:bodyPr wrap="square" lIns="0" tIns="0" rIns="0" bIns="0" anchor="t">
            <a:spAutoFit/>
          </a:bodyPr>
          <a:lstStyle/>
          <a:p>
            <a:pPr algn="l">
              <a:lnSpc>
                <a:spcPct val="100000"/>
              </a:lnSpc>
              <a:spcAft>
                <a:spcPts val="0"/>
              </a:spcAft>
            </a:pPr>
            <a:r>
              <a:rPr sz="1100" b="1" i="0">
                <a:solidFill>
                  <a:srgbClr val="0B1B3A"/>
                </a:solidFill>
                <a:latin typeface="Aptos"/>
              </a:rPr>
              <a:t>TAM</a:t>
            </a:r>
          </a:p>
        </p:txBody>
      </p:sp>
      <p:sp>
        <p:nvSpPr>
          <p:cNvPr id="12" name="TextBox 11"/>
          <p:cNvSpPr txBox="1"/>
          <p:nvPr/>
        </p:nvSpPr>
        <p:spPr>
          <a:xfrm>
            <a:off x="548640" y="2286000"/>
            <a:ext cx="731520" cy="219456"/>
          </a:xfrm>
          <a:prstGeom prst="rect">
            <a:avLst/>
          </a:prstGeom>
          <a:noFill/>
        </p:spPr>
        <p:txBody>
          <a:bodyPr wrap="square" lIns="0" tIns="0" rIns="0" bIns="0" anchor="t">
            <a:spAutoFit/>
          </a:bodyPr>
          <a:lstStyle/>
          <a:p>
            <a:pPr algn="l">
              <a:lnSpc>
                <a:spcPct val="100000"/>
              </a:lnSpc>
              <a:spcAft>
                <a:spcPts val="0"/>
              </a:spcAft>
            </a:pPr>
            <a:r>
              <a:rPr sz="1100" b="1" i="0">
                <a:solidFill>
                  <a:srgbClr val="1F6FB2"/>
                </a:solidFill>
                <a:latin typeface="Aptos"/>
              </a:rPr>
              <a:t>SAM</a:t>
            </a:r>
          </a:p>
        </p:txBody>
      </p:sp>
      <p:sp>
        <p:nvSpPr>
          <p:cNvPr id="13" name="TextBox 12"/>
          <p:cNvSpPr txBox="1"/>
          <p:nvPr/>
        </p:nvSpPr>
        <p:spPr>
          <a:xfrm>
            <a:off x="548640" y="3145536"/>
            <a:ext cx="731520" cy="219456"/>
          </a:xfrm>
          <a:prstGeom prst="rect">
            <a:avLst/>
          </a:prstGeom>
          <a:noFill/>
        </p:spPr>
        <p:txBody>
          <a:bodyPr wrap="square" lIns="0" tIns="0" rIns="0" bIns="0" anchor="t">
            <a:spAutoFit/>
          </a:bodyPr>
          <a:lstStyle/>
          <a:p>
            <a:pPr algn="l">
              <a:lnSpc>
                <a:spcPct val="100000"/>
              </a:lnSpc>
              <a:spcAft>
                <a:spcPts val="0"/>
              </a:spcAft>
            </a:pPr>
            <a:r>
              <a:rPr sz="1100" b="1" i="0">
                <a:solidFill>
                  <a:srgbClr val="0E8C7F"/>
                </a:solidFill>
                <a:latin typeface="Aptos"/>
              </a:rPr>
              <a:t>SOM</a:t>
            </a:r>
          </a:p>
        </p:txBody>
      </p:sp>
      <p:sp>
        <p:nvSpPr>
          <p:cNvPr id="14" name="Rectangle 13"/>
          <p:cNvSpPr/>
          <p:nvPr/>
        </p:nvSpPr>
        <p:spPr>
          <a:xfrm>
            <a:off x="6675120" y="2267712"/>
            <a:ext cx="4983480" cy="21945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2267712"/>
            <a:ext cx="4983480" cy="3810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21424" y="2432304"/>
            <a:ext cx="4690872" cy="219456"/>
          </a:xfrm>
          <a:prstGeom prst="rect">
            <a:avLst/>
          </a:prstGeom>
          <a:noFill/>
        </p:spPr>
        <p:txBody>
          <a:bodyPr wrap="square" lIns="0" tIns="0" rIns="0" bIns="0" anchor="t">
            <a:spAutoFit/>
          </a:bodyPr>
          <a:lstStyle/>
          <a:p>
            <a:pPr algn="l">
              <a:lnSpc>
                <a:spcPct val="100000"/>
              </a:lnSpc>
              <a:spcAft>
                <a:spcPts val="0"/>
              </a:spcAft>
            </a:pPr>
            <a:r>
              <a:rPr sz="900" b="1" i="0">
                <a:solidFill>
                  <a:srgbClr val="C77D18"/>
                </a:solidFill>
                <a:latin typeface="Aptos"/>
              </a:rPr>
              <a:t>BEACHHEAD LOGIC</a:t>
            </a:r>
          </a:p>
        </p:txBody>
      </p:sp>
      <p:sp>
        <p:nvSpPr>
          <p:cNvPr id="17" name="TextBox 16"/>
          <p:cNvSpPr txBox="1"/>
          <p:nvPr/>
        </p:nvSpPr>
        <p:spPr>
          <a:xfrm>
            <a:off x="6821424" y="2743200"/>
            <a:ext cx="274320" cy="274320"/>
          </a:xfrm>
          <a:prstGeom prst="rect">
            <a:avLst/>
          </a:prstGeom>
          <a:noFill/>
        </p:spPr>
        <p:txBody>
          <a:bodyPr wrap="square" lIns="0" tIns="0" rIns="0" bIns="0" anchor="t">
            <a:spAutoFit/>
          </a:bodyPr>
          <a:lstStyle/>
          <a:p>
            <a:pPr algn="l">
              <a:lnSpc>
                <a:spcPct val="100000"/>
              </a:lnSpc>
              <a:spcAft>
                <a:spcPts val="0"/>
              </a:spcAft>
            </a:pPr>
            <a:r>
              <a:rPr sz="1300" b="1" i="0">
                <a:solidFill>
                  <a:srgbClr val="C77D18"/>
                </a:solidFill>
                <a:latin typeface="Aptos"/>
              </a:rPr>
              <a:t>1</a:t>
            </a:r>
          </a:p>
        </p:txBody>
      </p:sp>
      <p:sp>
        <p:nvSpPr>
          <p:cNvPr id="18" name="TextBox 17"/>
          <p:cNvSpPr txBox="1"/>
          <p:nvPr/>
        </p:nvSpPr>
        <p:spPr>
          <a:xfrm>
            <a:off x="7168896" y="2770632"/>
            <a:ext cx="4343400" cy="566928"/>
          </a:xfrm>
          <a:prstGeom prst="rect">
            <a:avLst/>
          </a:prstGeom>
          <a:noFill/>
        </p:spPr>
        <p:txBody>
          <a:bodyPr wrap="square" lIns="0" tIns="0" rIns="0" bIns="0" anchor="t">
            <a:spAutoFit/>
          </a:bodyPr>
          <a:lstStyle/>
          <a:p>
            <a:pPr algn="l">
              <a:lnSpc>
                <a:spcPct val="118000"/>
              </a:lnSpc>
              <a:spcAft>
                <a:spcPts val="0"/>
              </a:spcAft>
            </a:pPr>
            <a:r>
              <a:rPr sz="1050" b="0" i="0">
                <a:solidFill>
                  <a:srgbClr val="1B2430"/>
                </a:solidFill>
                <a:latin typeface="Aptos"/>
              </a:rPr>
              <a:t>UAE importers of Indian textiles, garments and consumer goods.</a:t>
            </a:r>
          </a:p>
        </p:txBody>
      </p:sp>
      <p:sp>
        <p:nvSpPr>
          <p:cNvPr id="19" name="TextBox 18"/>
          <p:cNvSpPr txBox="1"/>
          <p:nvPr/>
        </p:nvSpPr>
        <p:spPr>
          <a:xfrm>
            <a:off x="6821424" y="3401568"/>
            <a:ext cx="274320" cy="274320"/>
          </a:xfrm>
          <a:prstGeom prst="rect">
            <a:avLst/>
          </a:prstGeom>
          <a:noFill/>
        </p:spPr>
        <p:txBody>
          <a:bodyPr wrap="square" lIns="0" tIns="0" rIns="0" bIns="0" anchor="t">
            <a:spAutoFit/>
          </a:bodyPr>
          <a:lstStyle/>
          <a:p>
            <a:pPr algn="l">
              <a:lnSpc>
                <a:spcPct val="100000"/>
              </a:lnSpc>
              <a:spcAft>
                <a:spcPts val="0"/>
              </a:spcAft>
            </a:pPr>
            <a:r>
              <a:rPr sz="1300" b="1" i="0">
                <a:solidFill>
                  <a:srgbClr val="C77D18"/>
                </a:solidFill>
                <a:latin typeface="Aptos"/>
              </a:rPr>
              <a:t>2</a:t>
            </a:r>
          </a:p>
        </p:txBody>
      </p:sp>
      <p:sp>
        <p:nvSpPr>
          <p:cNvPr id="20" name="TextBox 19"/>
          <p:cNvSpPr txBox="1"/>
          <p:nvPr/>
        </p:nvSpPr>
        <p:spPr>
          <a:xfrm>
            <a:off x="7168896" y="3428999"/>
            <a:ext cx="4343400" cy="566928"/>
          </a:xfrm>
          <a:prstGeom prst="rect">
            <a:avLst/>
          </a:prstGeom>
          <a:noFill/>
        </p:spPr>
        <p:txBody>
          <a:bodyPr wrap="square" lIns="0" tIns="0" rIns="0" bIns="0" anchor="t">
            <a:spAutoFit/>
          </a:bodyPr>
          <a:lstStyle/>
          <a:p>
            <a:pPr algn="l">
              <a:lnSpc>
                <a:spcPct val="118000"/>
              </a:lnSpc>
              <a:spcAft>
                <a:spcPts val="0"/>
              </a:spcAft>
            </a:pPr>
            <a:r>
              <a:rPr sz="1050" b="0" i="0">
                <a:solidFill>
                  <a:srgbClr val="1B2430"/>
                </a:solidFill>
                <a:latin typeface="Aptos"/>
              </a:rPr>
              <a:t>$10K–$50K shipments — the LC dead zone: too small for a bank to issue against, too large to pay on trust.</a:t>
            </a:r>
          </a:p>
        </p:txBody>
      </p:sp>
      <p:sp>
        <p:nvSpPr>
          <p:cNvPr id="21" name="TextBox 20"/>
          <p:cNvSpPr txBox="1"/>
          <p:nvPr/>
        </p:nvSpPr>
        <p:spPr>
          <a:xfrm>
            <a:off x="6821424" y="4059935"/>
            <a:ext cx="274320" cy="274320"/>
          </a:xfrm>
          <a:prstGeom prst="rect">
            <a:avLst/>
          </a:prstGeom>
          <a:noFill/>
        </p:spPr>
        <p:txBody>
          <a:bodyPr wrap="square" lIns="0" tIns="0" rIns="0" bIns="0" anchor="t">
            <a:spAutoFit/>
          </a:bodyPr>
          <a:lstStyle/>
          <a:p>
            <a:pPr algn="l">
              <a:lnSpc>
                <a:spcPct val="100000"/>
              </a:lnSpc>
              <a:spcAft>
                <a:spcPts val="0"/>
              </a:spcAft>
            </a:pPr>
            <a:r>
              <a:rPr sz="1300" b="1" i="0">
                <a:solidFill>
                  <a:srgbClr val="C77D18"/>
                </a:solidFill>
                <a:latin typeface="Aptos"/>
              </a:rPr>
              <a:t>3</a:t>
            </a:r>
          </a:p>
        </p:txBody>
      </p:sp>
      <p:sp>
        <p:nvSpPr>
          <p:cNvPr id="22" name="TextBox 21"/>
          <p:cNvSpPr txBox="1"/>
          <p:nvPr/>
        </p:nvSpPr>
        <p:spPr>
          <a:xfrm>
            <a:off x="7168896" y="4087368"/>
            <a:ext cx="4343400" cy="566928"/>
          </a:xfrm>
          <a:prstGeom prst="rect">
            <a:avLst/>
          </a:prstGeom>
          <a:noFill/>
        </p:spPr>
        <p:txBody>
          <a:bodyPr wrap="square" lIns="0" tIns="0" rIns="0" bIns="0" anchor="t">
            <a:spAutoFit/>
          </a:bodyPr>
          <a:lstStyle/>
          <a:p>
            <a:pPr algn="l">
              <a:lnSpc>
                <a:spcPct val="118000"/>
              </a:lnSpc>
              <a:spcAft>
                <a:spcPts val="0"/>
              </a:spcAft>
            </a:pPr>
            <a:r>
              <a:rPr sz="1050" b="0" i="0">
                <a:solidFill>
                  <a:srgbClr val="1B2430"/>
                </a:solidFill>
                <a:latin typeface="Aptos"/>
              </a:rPr>
              <a:t>Repeat trade pattern creates a retention surface.</a:t>
            </a:r>
          </a:p>
        </p:txBody>
      </p:sp>
      <p:sp>
        <p:nvSpPr>
          <p:cNvPr id="23" name="TextBox 22"/>
          <p:cNvSpPr txBox="1"/>
          <p:nvPr/>
        </p:nvSpPr>
        <p:spPr>
          <a:xfrm>
            <a:off x="502920" y="5504688"/>
            <a:ext cx="6355080" cy="256032"/>
          </a:xfrm>
          <a:prstGeom prst="rect">
            <a:avLst/>
          </a:prstGeom>
          <a:noFill/>
        </p:spPr>
        <p:txBody>
          <a:bodyPr wrap="square" lIns="0" tIns="0" rIns="0" bIns="0" anchor="t">
            <a:spAutoFit/>
          </a:bodyPr>
          <a:lstStyle/>
          <a:p>
            <a:pPr algn="ctr">
              <a:lnSpc>
                <a:spcPct val="100000"/>
              </a:lnSpc>
              <a:spcAft>
                <a:spcPts val="0"/>
              </a:spcAft>
            </a:pPr>
            <a:r>
              <a:rPr sz="1200" b="0" i="1">
                <a:solidFill>
                  <a:srgbClr val="0B1B3A"/>
                </a:solidFill>
                <a:latin typeface="Aptos"/>
              </a:rPr>
              <a:t>Where the gap bites hardest, and where the regulators are most ready.</a:t>
            </a:r>
          </a:p>
        </p:txBody>
      </p:sp>
      <p:sp>
        <p:nvSpPr>
          <p:cNvPr id="24" name="TextBox 23"/>
          <p:cNvSpPr txBox="1"/>
          <p:nvPr/>
        </p:nvSpPr>
        <p:spPr>
          <a:xfrm>
            <a:off x="502920" y="5870448"/>
            <a:ext cx="6355080" cy="219456"/>
          </a:xfrm>
          <a:prstGeom prst="rect">
            <a:avLst/>
          </a:prstGeom>
          <a:noFill/>
        </p:spPr>
        <p:txBody>
          <a:bodyPr wrap="square" lIns="0" tIns="0" rIns="0" bIns="0" anchor="t">
            <a:spAutoFit/>
          </a:bodyPr>
          <a:lstStyle/>
          <a:p>
            <a:pPr algn="ctr">
              <a:lnSpc>
                <a:spcPct val="100000"/>
              </a:lnSpc>
              <a:spcAft>
                <a:spcPts val="0"/>
              </a:spcAft>
            </a:pPr>
            <a:r>
              <a:rPr sz="850" b="0" i="1">
                <a:solidFill>
                  <a:srgbClr val="6B7280"/>
                </a:solidFill>
                <a:latin typeface="Aptos"/>
              </a:rPr>
              <a:t>Trade value we settle against — not a financing gap we fund.</a:t>
            </a:r>
          </a:p>
        </p:txBody>
      </p:sp>
      <p:sp>
        <p:nvSpPr>
          <p:cNvPr id="25" name="TextBox 24"/>
          <p:cNvSpPr txBox="1"/>
          <p:nvPr/>
        </p:nvSpPr>
        <p:spPr>
          <a:xfrm>
            <a:off x="502920" y="6419088"/>
            <a:ext cx="8686800" cy="201168"/>
          </a:xfrm>
          <a:prstGeom prst="rect">
            <a:avLst/>
          </a:prstGeom>
          <a:noFill/>
        </p:spPr>
        <p:txBody>
          <a:bodyPr wrap="square" lIns="0" tIns="0" rIns="0" bIns="0" anchor="t">
            <a:spAutoFit/>
          </a:bodyPr>
          <a:lstStyle/>
          <a:p>
            <a:pPr algn="l">
              <a:lnSpc>
                <a:spcPct val="100000"/>
              </a:lnSpc>
              <a:spcAft>
                <a:spcPts val="0"/>
              </a:spcAft>
            </a:pPr>
            <a:r>
              <a:rPr sz="650" b="0" i="1">
                <a:solidFill>
                  <a:srgbClr val="6B7280"/>
                </a:solidFill>
                <a:latin typeface="Aptos"/>
              </a:rPr>
              <a:t>Sources: UAE Ministry of Foreign Trade (2026); India–UAE CEPA bilateral trade (2026); Blockmediary financial model, 13 Aug 2026. SOM converted at a stated 1.30 USD/GBP.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310896"/>
            <a:ext cx="6400800" cy="365760"/>
          </a:xfrm>
          <a:prstGeom prst="rect">
            <a:avLst/>
          </a:prstGeom>
          <a:noFill/>
        </p:spPr>
        <p:txBody>
          <a:bodyPr wrap="square" lIns="0" tIns="0" rIns="0" bIns="0" anchor="t">
            <a:spAutoFit/>
          </a:bodyPr>
          <a:lstStyle/>
          <a:p>
            <a:pPr algn="l">
              <a:lnSpc>
                <a:spcPct val="100000"/>
              </a:lnSpc>
              <a:spcAft>
                <a:spcPts val="0"/>
              </a:spcAft>
            </a:pPr>
            <a:r>
              <a:rPr sz="1800" b="1" i="0">
                <a:solidFill>
                  <a:srgbClr val="0B1B3A"/>
                </a:solidFill>
                <a:latin typeface="Aptos"/>
              </a:rPr>
              <a:t>Business Model Canvas</a:t>
            </a:r>
          </a:p>
        </p:txBody>
      </p:sp>
      <p:sp>
        <p:nvSpPr>
          <p:cNvPr id="3" name="TextBox 2"/>
          <p:cNvSpPr txBox="1"/>
          <p:nvPr/>
        </p:nvSpPr>
        <p:spPr>
          <a:xfrm>
            <a:off x="5486400" y="402336"/>
            <a:ext cx="6428232" cy="237744"/>
          </a:xfrm>
          <a:prstGeom prst="rect">
            <a:avLst/>
          </a:prstGeom>
          <a:noFill/>
        </p:spPr>
        <p:txBody>
          <a:bodyPr wrap="square" lIns="0" tIns="0" rIns="0" bIns="0" anchor="t">
            <a:spAutoFit/>
          </a:bodyPr>
          <a:lstStyle/>
          <a:p>
            <a:pPr algn="r">
              <a:lnSpc>
                <a:spcPct val="100000"/>
              </a:lnSpc>
              <a:spcAft>
                <a:spcPts val="0"/>
              </a:spcAft>
            </a:pPr>
            <a:r>
              <a:rPr sz="1000" b="0" i="1">
                <a:solidFill>
                  <a:srgbClr val="6B7280"/>
                </a:solidFill>
                <a:latin typeface="Aptos"/>
              </a:rPr>
              <a:t>Transakt — Blockmediary</a:t>
            </a:r>
          </a:p>
        </p:txBody>
      </p:sp>
      <p:sp>
        <p:nvSpPr>
          <p:cNvPr id="4" name="Rectangle 3"/>
          <p:cNvSpPr/>
          <p:nvPr/>
        </p:nvSpPr>
        <p:spPr>
          <a:xfrm>
            <a:off x="274320" y="822960"/>
            <a:ext cx="11640312" cy="1270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9144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914400"/>
            <a:ext cx="2843784" cy="381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042416"/>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The Business Opportunity</a:t>
            </a:r>
          </a:p>
          <a:p>
            <a:pPr>
              <a:lnSpc>
                <a:spcPct val="108000"/>
              </a:lnSpc>
              <a:spcBef>
                <a:spcPts val="0"/>
              </a:spcBef>
              <a:spcAft>
                <a:spcPts val="300"/>
              </a:spcAft>
            </a:pPr>
            <a:r>
              <a:rPr sz="700" b="0" i="1">
                <a:solidFill>
                  <a:srgbClr val="6B7280"/>
                </a:solidFill>
                <a:latin typeface="Aptos"/>
              </a:rPr>
              <a:t>Where is the gap in the market, and how do you intend to fill it?</a:t>
            </a:r>
          </a:p>
          <a:p>
            <a:pPr>
              <a:lnSpc>
                <a:spcPct val="110000"/>
              </a:lnSpc>
              <a:spcBef>
                <a:spcPts val="300"/>
              </a:spcBef>
              <a:spcAft>
                <a:spcPts val="100"/>
              </a:spcAft>
            </a:pPr>
            <a:r>
              <a:rPr sz="800" b="1" i="0">
                <a:solidFill>
                  <a:srgbClr val="0B1B3A"/>
                </a:solidFill>
                <a:latin typeface="Aptos"/>
              </a:rPr>
              <a:t>The Problem</a:t>
            </a:r>
          </a:p>
          <a:p>
            <a:pPr marL="91440" indent="-91440">
              <a:lnSpc>
                <a:spcPct val="112000"/>
              </a:lnSpc>
              <a:spcBef>
                <a:spcPts val="0"/>
              </a:spcBef>
              <a:spcAft>
                <a:spcPts val="120"/>
              </a:spcAft>
            </a:pPr>
            <a:r>
              <a:rPr sz="800" b="0" i="0">
                <a:solidFill>
                  <a:srgbClr val="6B7280"/>
                </a:solidFill>
                <a:latin typeface="Aptos"/>
              </a:rPr>
              <a:t>•  </a:t>
            </a:r>
            <a:r>
              <a:rPr sz="800" b="1" i="0">
                <a:solidFill>
                  <a:srgbClr val="1B2430"/>
                </a:solidFill>
                <a:latin typeface="Aptos"/>
              </a:rPr>
              <a:t>Same fixed compliance cost on a $10K trade as a $5M trade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SME ticket sizes uneconomic for banks at scale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$2.5T global trade finance gap (ADB, 2025); 41% of SME applications rejected</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Rejected SMEs fall back on trust, prepayment, or drop the trade</a:t>
            </a:r>
          </a:p>
          <a:p>
            <a:pPr>
              <a:lnSpc>
                <a:spcPct val="110000"/>
              </a:lnSpc>
              <a:spcBef>
                <a:spcPts val="300"/>
              </a:spcBef>
              <a:spcAft>
                <a:spcPts val="100"/>
              </a:spcAft>
            </a:pPr>
            <a:r>
              <a:rPr sz="800" b="1" i="0">
                <a:solidFill>
                  <a:srgbClr val="0B1B3A"/>
                </a:solidFill>
                <a:latin typeface="Aptos"/>
              </a:rPr>
              <a:t>Our Solution</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UCP 600-inspired documentary release, stablecoin settlement, no issuing bank</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Buyer escrow → seller documents → release on compliant presentation</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Four verification layers plus an invoked escalation route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Blockmediary addresses the documentary trust and payment-assurance gap, not working-capital finance</a:t>
            </a:r>
          </a:p>
        </p:txBody>
      </p:sp>
      <p:sp>
        <p:nvSpPr>
          <p:cNvPr id="8" name="Rectangle 7"/>
          <p:cNvSpPr/>
          <p:nvPr/>
        </p:nvSpPr>
        <p:spPr>
          <a:xfrm>
            <a:off x="3209544" y="9144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9544" y="914400"/>
            <a:ext cx="2843784" cy="38100"/>
          </a:xfrm>
          <a:prstGeom prst="rect">
            <a:avLst/>
          </a:prstGeom>
          <a:solidFill>
            <a:srgbClr val="5A4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19272" y="1042416"/>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Business Description</a:t>
            </a:r>
          </a:p>
          <a:p>
            <a:pPr>
              <a:lnSpc>
                <a:spcPct val="108000"/>
              </a:lnSpc>
              <a:spcBef>
                <a:spcPts val="0"/>
              </a:spcBef>
              <a:spcAft>
                <a:spcPts val="300"/>
              </a:spcAft>
            </a:pPr>
            <a:r>
              <a:rPr sz="700" b="0" i="1">
                <a:solidFill>
                  <a:srgbClr val="6B7280"/>
                </a:solidFill>
                <a:latin typeface="Aptos"/>
              </a:rPr>
              <a:t>Brief outline of your business model</a:t>
            </a:r>
          </a:p>
          <a:p>
            <a:pPr marL="91440" indent="-91440">
              <a:lnSpc>
                <a:spcPct val="112000"/>
              </a:lnSpc>
              <a:spcBef>
                <a:spcPts val="0"/>
              </a:spcBef>
              <a:spcAft>
                <a:spcPts val="120"/>
              </a:spcAft>
            </a:pPr>
            <a:r>
              <a:rPr sz="800" b="0" i="0">
                <a:solidFill>
                  <a:srgbClr val="6B7280"/>
                </a:solidFill>
                <a:latin typeface="Aptos"/>
              </a:rPr>
              <a:t>•  </a:t>
            </a:r>
            <a:r>
              <a:rPr sz="800" b="1" i="0">
                <a:solidFill>
                  <a:srgbClr val="1B2430"/>
                </a:solidFill>
                <a:latin typeface="Aptos"/>
              </a:rPr>
              <a:t>Documentary escrow operator: verification, release rules, settlement</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Smart-contract escrow holds stablecoins against documentary release rules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UCP 600-inspired Article 14 release logic — a Trade Escrow Agreement, not an LC</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Settlement on stablecoin rails (USDC), not bank correspondent networks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Not a bank: no deposits, no lending, no token issuance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Not DeFi: centralised trust and compliance layer by design</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Pilot planned through a suitably DFSA-authorised partner, subject to confirmed permissions and executed agreements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First paid deal targeted Month 12; full VARA licence Month 18 — the gate for UAE-wide scale</a:t>
            </a:r>
          </a:p>
        </p:txBody>
      </p:sp>
      <p:sp>
        <p:nvSpPr>
          <p:cNvPr id="11" name="Rectangle 10"/>
          <p:cNvSpPr/>
          <p:nvPr/>
        </p:nvSpPr>
        <p:spPr>
          <a:xfrm>
            <a:off x="6144768" y="9144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44768" y="914400"/>
            <a:ext cx="2843784" cy="381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4496" y="1042416"/>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dirty="0">
                <a:solidFill>
                  <a:srgbClr val="0B1B3A"/>
                </a:solidFill>
                <a:latin typeface="Aptos"/>
              </a:rPr>
              <a:t>Target Market</a:t>
            </a:r>
          </a:p>
          <a:p>
            <a:pPr>
              <a:lnSpc>
                <a:spcPct val="110000"/>
              </a:lnSpc>
              <a:spcBef>
                <a:spcPts val="300"/>
              </a:spcBef>
              <a:spcAft>
                <a:spcPts val="100"/>
              </a:spcAft>
            </a:pPr>
            <a:r>
              <a:rPr sz="800" b="1" i="0" dirty="0">
                <a:solidFill>
                  <a:srgbClr val="1F6FB2"/>
                </a:solidFill>
                <a:latin typeface="Aptos"/>
              </a:rPr>
              <a:t>Sector &amp; geography</a:t>
            </a:r>
          </a:p>
          <a:p>
            <a:pPr marL="91440" indent="-91440">
              <a:lnSpc>
                <a:spcPct val="112000"/>
              </a:lnSpc>
              <a:spcBef>
                <a:spcPts val="0"/>
              </a:spcBef>
              <a:spcAft>
                <a:spcPts val="120"/>
              </a:spcAft>
            </a:pPr>
            <a:r>
              <a:rPr sz="800" b="0" i="0" dirty="0">
                <a:solidFill>
                  <a:srgbClr val="6B7280"/>
                </a:solidFill>
                <a:latin typeface="Aptos"/>
              </a:rPr>
              <a:t>•  </a:t>
            </a:r>
            <a:r>
              <a:rPr sz="800" b="1" i="0" dirty="0">
                <a:solidFill>
                  <a:srgbClr val="1B2430"/>
                </a:solidFill>
                <a:latin typeface="Aptos"/>
              </a:rPr>
              <a:t>SME importers/exporters; UAE launch market</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Corridor: UAE–India (CEPA); more added per pilot envelope</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Sectors: manufacturing, consumer goods, electronics, textiles</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Ticket: the $10K–$50K “LC dead zone”; average deal £31K → £48K by Y5</a:t>
            </a:r>
          </a:p>
          <a:p>
            <a:pPr>
              <a:lnSpc>
                <a:spcPct val="110000"/>
              </a:lnSpc>
              <a:spcBef>
                <a:spcPts val="300"/>
              </a:spcBef>
              <a:spcAft>
                <a:spcPts val="100"/>
              </a:spcAft>
            </a:pPr>
            <a:r>
              <a:rPr sz="800" b="1" i="0" dirty="0">
                <a:solidFill>
                  <a:srgbClr val="1F6FB2"/>
                </a:solidFill>
                <a:latin typeface="Aptos"/>
              </a:rPr>
              <a:t>Strategic goals</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Payment without LC cost or bank issuance delay</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Counterparty access without bank gatekeeping</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Verified trade reputation that travels across deals</a:t>
            </a:r>
          </a:p>
          <a:p>
            <a:pPr>
              <a:lnSpc>
                <a:spcPct val="110000"/>
              </a:lnSpc>
              <a:spcBef>
                <a:spcPts val="300"/>
              </a:spcBef>
              <a:spcAft>
                <a:spcPts val="100"/>
              </a:spcAft>
            </a:pPr>
            <a:r>
              <a:rPr sz="800" b="1" i="0" dirty="0">
                <a:solidFill>
                  <a:srgbClr val="1F6FB2"/>
                </a:solidFill>
                <a:latin typeface="Aptos"/>
              </a:rPr>
              <a:t>Pain points &amp; risks</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LC pricing and access barrier at SME tickets</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Pre-shipment payment-trust gap</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Document fraud and discrepancy risk</a:t>
            </a:r>
          </a:p>
          <a:p>
            <a:pPr marL="91440" indent="-91440">
              <a:lnSpc>
                <a:spcPct val="112000"/>
              </a:lnSpc>
              <a:spcBef>
                <a:spcPts val="0"/>
              </a:spcBef>
              <a:spcAft>
                <a:spcPts val="120"/>
              </a:spcAft>
            </a:pPr>
            <a:r>
              <a:rPr sz="800" b="0" i="0" dirty="0">
                <a:solidFill>
                  <a:srgbClr val="6B7280"/>
                </a:solidFill>
                <a:latin typeface="Aptos"/>
              </a:rPr>
              <a:t>•  </a:t>
            </a:r>
            <a:r>
              <a:rPr sz="800" b="0" i="0" dirty="0">
                <a:solidFill>
                  <a:srgbClr val="1B2430"/>
                </a:solidFill>
                <a:latin typeface="Aptos"/>
              </a:rPr>
              <a:t>Corridor FX and regulatory friction</a:t>
            </a:r>
          </a:p>
        </p:txBody>
      </p:sp>
      <p:sp>
        <p:nvSpPr>
          <p:cNvPr id="14" name="Rectangle 13"/>
          <p:cNvSpPr/>
          <p:nvPr/>
        </p:nvSpPr>
        <p:spPr>
          <a:xfrm>
            <a:off x="9079992" y="9144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079992" y="914400"/>
            <a:ext cx="2843784" cy="38100"/>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89719" y="1042416"/>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USPs</a:t>
            </a:r>
          </a:p>
          <a:p>
            <a:pPr>
              <a:lnSpc>
                <a:spcPct val="108000"/>
              </a:lnSpc>
              <a:spcBef>
                <a:spcPts val="0"/>
              </a:spcBef>
              <a:spcAft>
                <a:spcPts val="300"/>
              </a:spcAft>
            </a:pPr>
            <a:r>
              <a:rPr sz="700" b="0" i="1">
                <a:solidFill>
                  <a:srgbClr val="6B7280"/>
                </a:solidFill>
                <a:latin typeface="Aptos"/>
              </a:rPr>
              <a:t>How does your product/service compare? What makes you unique?</a:t>
            </a:r>
          </a:p>
          <a:p>
            <a:pPr marL="91440" indent="-91440">
              <a:lnSpc>
                <a:spcPct val="112000"/>
              </a:lnSpc>
              <a:spcBef>
                <a:spcPts val="0"/>
              </a:spcBef>
              <a:spcAft>
                <a:spcPts val="120"/>
              </a:spcAft>
            </a:pPr>
            <a:r>
              <a:rPr sz="800" b="0" i="0">
                <a:solidFill>
                  <a:srgbClr val="6B7280"/>
                </a:solidFill>
                <a:latin typeface="Aptos"/>
              </a:rPr>
              <a:t>•  </a:t>
            </a:r>
            <a:r>
              <a:rPr sz="800" b="1" i="0">
                <a:solidFill>
                  <a:srgbClr val="1B2430"/>
                </a:solidFill>
                <a:latin typeface="Aptos"/>
              </a:rPr>
              <a:t>UCP 600-inspired documentary release on stablecoin rails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Four-layer verification: screening → extraction → source corroboration → contracted examiner</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Customer-selected verification tiers — speed traded against cost of trust</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Two-track UAE route: DIFC partner pilot, then own VARA licence for scale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Modelled to undercut traditional LC fees on Tier A and selected Tier B transactions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Compliance-first by design: not a bank, not DeFi</a:t>
            </a:r>
          </a:p>
        </p:txBody>
      </p:sp>
      <p:sp>
        <p:nvSpPr>
          <p:cNvPr id="17" name="Rectangle 16"/>
          <p:cNvSpPr/>
          <p:nvPr/>
        </p:nvSpPr>
        <p:spPr>
          <a:xfrm>
            <a:off x="274320" y="36576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4320" y="3657600"/>
            <a:ext cx="2843784" cy="38100"/>
          </a:xfrm>
          <a:prstGeom prst="rect">
            <a:avLst/>
          </a:prstGeom>
          <a:solidFill>
            <a:srgbClr val="2C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3785615"/>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Revenue</a:t>
            </a:r>
          </a:p>
          <a:p>
            <a:pPr>
              <a:lnSpc>
                <a:spcPct val="110000"/>
              </a:lnSpc>
              <a:spcBef>
                <a:spcPts val="300"/>
              </a:spcBef>
              <a:spcAft>
                <a:spcPts val="100"/>
              </a:spcAft>
            </a:pPr>
            <a:r>
              <a:rPr sz="800" b="1" i="0">
                <a:solidFill>
                  <a:srgbClr val="2C7A33"/>
                </a:solidFill>
                <a:latin typeface="Aptos"/>
              </a:rPr>
              <a:t>Streams</a:t>
            </a:r>
          </a:p>
          <a:p>
            <a:pPr marL="91440" indent="-91440">
              <a:lnSpc>
                <a:spcPct val="112000"/>
              </a:lnSpc>
              <a:spcBef>
                <a:spcPts val="0"/>
              </a:spcBef>
              <a:spcAft>
                <a:spcPts val="120"/>
              </a:spcAft>
            </a:pPr>
            <a:r>
              <a:rPr sz="800" b="0" i="0">
                <a:solidFill>
                  <a:srgbClr val="6B7280"/>
                </a:solidFill>
                <a:latin typeface="Aptos"/>
              </a:rPr>
              <a:t>•  </a:t>
            </a:r>
            <a:r>
              <a:rPr sz="800" b="1" i="0">
                <a:solidFill>
                  <a:srgbClr val="1B2430"/>
                </a:solidFill>
                <a:latin typeface="Aptos"/>
              </a:rPr>
              <a:t>A. Tiered escrow fee: 0.8% / 1.5% / 3.0% by verification tier</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B. Dispute, expedited and onboarding fees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C. Partner/API setup and committed-volume fees</a:t>
            </a:r>
          </a:p>
          <a:p>
            <a:pPr>
              <a:lnSpc>
                <a:spcPct val="110000"/>
              </a:lnSpc>
              <a:spcBef>
                <a:spcPts val="300"/>
              </a:spcBef>
              <a:spcAft>
                <a:spcPts val="100"/>
              </a:spcAft>
            </a:pPr>
            <a:r>
              <a:rPr sz="800" b="1" i="0">
                <a:solidFill>
                  <a:srgbClr val="2C7A33"/>
                </a:solidFill>
                <a:latin typeface="Aptos"/>
              </a:rPr>
              <a:t>Projected revenue — base case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Year 3: £1.37m revenue on 2,000 deals and £76m GMV</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Blended take rate falls 2.0% → 1.0% as Tier A grows 15% → 70%</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Gross margin 71–79%; ancillary fees 25% of Y3 revenue, 17% by Y5</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Monthly cash-flow break-even in Year 4, Month 8</a:t>
            </a:r>
          </a:p>
        </p:txBody>
      </p:sp>
      <p:sp>
        <p:nvSpPr>
          <p:cNvPr id="20" name="Rectangle 19"/>
          <p:cNvSpPr/>
          <p:nvPr/>
        </p:nvSpPr>
        <p:spPr>
          <a:xfrm>
            <a:off x="3209544" y="36576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09544" y="3657600"/>
            <a:ext cx="2843784" cy="3810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19272" y="3785615"/>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Costs</a:t>
            </a:r>
          </a:p>
          <a:p>
            <a:pPr>
              <a:lnSpc>
                <a:spcPct val="110000"/>
              </a:lnSpc>
              <a:spcBef>
                <a:spcPts val="300"/>
              </a:spcBef>
              <a:spcAft>
                <a:spcPts val="100"/>
              </a:spcAft>
            </a:pPr>
            <a:r>
              <a:rPr sz="800" b="1" i="0">
                <a:solidFill>
                  <a:srgbClr val="C77D18"/>
                </a:solidFill>
                <a:latin typeface="Aptos"/>
              </a:rPr>
              <a:t>Funding requirement</a:t>
            </a:r>
          </a:p>
          <a:p>
            <a:pPr marL="91440" indent="-91440">
              <a:lnSpc>
                <a:spcPct val="112000"/>
              </a:lnSpc>
              <a:spcBef>
                <a:spcPts val="0"/>
              </a:spcBef>
              <a:spcAft>
                <a:spcPts val="120"/>
              </a:spcAft>
            </a:pPr>
            <a:r>
              <a:rPr sz="800" b="0" i="0">
                <a:solidFill>
                  <a:srgbClr val="6B7280"/>
                </a:solidFill>
                <a:latin typeface="Aptos"/>
              </a:rPr>
              <a:t>•  </a:t>
            </a:r>
            <a:r>
              <a:rPr sz="800" b="1" i="0">
                <a:solidFill>
                  <a:srgbClr val="1B2430"/>
                </a:solidFill>
                <a:latin typeface="Aptos"/>
              </a:rPr>
              <a:t>£3.06m operating funding to break-even; £319k VARA capital separate</a:t>
            </a:r>
          </a:p>
          <a:p>
            <a:pPr>
              <a:lnSpc>
                <a:spcPct val="110000"/>
              </a:lnSpc>
              <a:spcBef>
                <a:spcPts val="300"/>
              </a:spcBef>
              <a:spcAft>
                <a:spcPts val="100"/>
              </a:spcAft>
            </a:pPr>
            <a:r>
              <a:rPr sz="800" b="1" i="0">
                <a:solidFill>
                  <a:srgbClr val="C77D18"/>
                </a:solidFill>
                <a:latin typeface="Aptos"/>
              </a:rPr>
              <a:t>Fixed</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Payroll — 8 FTE at launch to 24 by Year 5; dominant cost</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Compliance, MLRO, VARA supervision and operational resilience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Engineering, cloud, monitoring and security tooling</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Insurance (PI, cyber, D&amp;O) and legal retainer</a:t>
            </a:r>
          </a:p>
          <a:p>
            <a:pPr>
              <a:lnSpc>
                <a:spcPct val="110000"/>
              </a:lnSpc>
              <a:spcBef>
                <a:spcPts val="300"/>
              </a:spcBef>
              <a:spcAft>
                <a:spcPts val="100"/>
              </a:spcAft>
            </a:pPr>
            <a:r>
              <a:rPr sz="800" b="1" i="0">
                <a:solidFill>
                  <a:srgbClr val="C77D18"/>
                </a:solidFill>
                <a:latin typeface="Aptos"/>
              </a:rPr>
              <a:t>Variable (per deal)</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eBL/carrier API lookup, or paper collection</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Contracted documentary examiner time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KYB/KYC screening per new counterparty</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On-chain gas and settlement cost</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Dispute handling and enhanced review above £50K</a:t>
            </a:r>
          </a:p>
        </p:txBody>
      </p:sp>
      <p:sp>
        <p:nvSpPr>
          <p:cNvPr id="23" name="Rectangle 22"/>
          <p:cNvSpPr/>
          <p:nvPr/>
        </p:nvSpPr>
        <p:spPr>
          <a:xfrm>
            <a:off x="6144768" y="36576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44768" y="3657600"/>
            <a:ext cx="2843784" cy="381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54496" y="3785615"/>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Channels</a:t>
            </a:r>
          </a:p>
          <a:p>
            <a:pPr>
              <a:lnSpc>
                <a:spcPct val="108000"/>
              </a:lnSpc>
              <a:spcBef>
                <a:spcPts val="0"/>
              </a:spcBef>
              <a:spcAft>
                <a:spcPts val="300"/>
              </a:spcAft>
            </a:pPr>
            <a:r>
              <a:rPr sz="700" b="0" i="1">
                <a:solidFill>
                  <a:srgbClr val="6B7280"/>
                </a:solidFill>
                <a:latin typeface="Aptos"/>
              </a:rPr>
              <a:t>How will you promote your product or service?</a:t>
            </a:r>
          </a:p>
          <a:p>
            <a:pPr>
              <a:lnSpc>
                <a:spcPct val="110000"/>
              </a:lnSpc>
              <a:spcBef>
                <a:spcPts val="300"/>
              </a:spcBef>
              <a:spcAft>
                <a:spcPts val="100"/>
              </a:spcAft>
            </a:pPr>
            <a:r>
              <a:rPr sz="800" b="1" i="0">
                <a:solidFill>
                  <a:srgbClr val="1F6FB2"/>
                </a:solidFill>
                <a:latin typeface="Aptos"/>
              </a:rPr>
              <a:t>Direct</a:t>
            </a:r>
          </a:p>
          <a:p>
            <a:pPr marL="91440" indent="-91440">
              <a:lnSpc>
                <a:spcPct val="112000"/>
              </a:lnSpc>
              <a:spcBef>
                <a:spcPts val="0"/>
              </a:spcBef>
              <a:spcAft>
                <a:spcPts val="120"/>
              </a:spcAft>
            </a:pPr>
            <a:r>
              <a:rPr sz="800" b="0" i="0">
                <a:solidFill>
                  <a:srgbClr val="6B7280"/>
                </a:solidFill>
                <a:latin typeface="Aptos"/>
              </a:rPr>
              <a:t>•  </a:t>
            </a:r>
            <a:r>
              <a:rPr sz="800" b="1" i="0">
                <a:solidFill>
                  <a:srgbClr val="1B2430"/>
                </a:solidFill>
                <a:latin typeface="Aptos"/>
              </a:rPr>
              <a:t>Dubai and Sharjah chambers of commerce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Freight forwarder referrals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DIFC FinTech Hive; Gulfood, GITEX, Dubai FinTech Summit</a:t>
            </a:r>
          </a:p>
          <a:p>
            <a:pPr>
              <a:lnSpc>
                <a:spcPct val="110000"/>
              </a:lnSpc>
              <a:spcBef>
                <a:spcPts val="300"/>
              </a:spcBef>
              <a:spcAft>
                <a:spcPts val="100"/>
              </a:spcAft>
            </a:pPr>
            <a:r>
              <a:rPr sz="800" b="1" i="0">
                <a:solidFill>
                  <a:srgbClr val="1F6FB2"/>
                </a:solidFill>
                <a:latin typeface="Aptos"/>
              </a:rPr>
              <a:t>Indirect</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Regulated-partner distribution — the base case's primary scale route</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Fintech wallet integrations (white-label verification API)</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Logistics platform API partnerships</a:t>
            </a:r>
          </a:p>
        </p:txBody>
      </p:sp>
      <p:sp>
        <p:nvSpPr>
          <p:cNvPr id="26" name="Rectangle 25"/>
          <p:cNvSpPr/>
          <p:nvPr/>
        </p:nvSpPr>
        <p:spPr>
          <a:xfrm>
            <a:off x="9079992" y="3657600"/>
            <a:ext cx="2843784" cy="2651760"/>
          </a:xfrm>
          <a:prstGeom prst="rect">
            <a:avLst/>
          </a:prstGeom>
          <a:solidFill>
            <a:srgbClr val="F7F4EF"/>
          </a:solidFill>
          <a:ln w="9525">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79992" y="3657600"/>
            <a:ext cx="2843784" cy="381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89719" y="3785615"/>
            <a:ext cx="2624328" cy="2414015"/>
          </a:xfrm>
          <a:prstGeom prst="rect">
            <a:avLst/>
          </a:prstGeom>
          <a:noFill/>
        </p:spPr>
        <p:txBody>
          <a:bodyPr wrap="square" lIns="0" tIns="0" rIns="0" bIns="0">
            <a:spAutoFit/>
          </a:bodyPr>
          <a:lstStyle/>
          <a:p>
            <a:pPr>
              <a:lnSpc>
                <a:spcPct val="110000"/>
              </a:lnSpc>
              <a:spcBef>
                <a:spcPts val="0"/>
              </a:spcBef>
              <a:spcAft>
                <a:spcPts val="150"/>
              </a:spcAft>
            </a:pPr>
            <a:r>
              <a:rPr sz="1100" b="1" i="0">
                <a:solidFill>
                  <a:srgbClr val="0B1B3A"/>
                </a:solidFill>
                <a:latin typeface="Aptos"/>
              </a:rPr>
              <a:t>Competition</a:t>
            </a:r>
          </a:p>
          <a:p>
            <a:pPr>
              <a:lnSpc>
                <a:spcPct val="108000"/>
              </a:lnSpc>
              <a:spcBef>
                <a:spcPts val="0"/>
              </a:spcBef>
              <a:spcAft>
                <a:spcPts val="300"/>
              </a:spcAft>
            </a:pPr>
            <a:r>
              <a:rPr sz="700" b="0" i="1">
                <a:solidFill>
                  <a:srgbClr val="6B7280"/>
                </a:solidFill>
                <a:latin typeface="Aptos"/>
              </a:rPr>
              <a:t>Who are your competitors and what are their USPs?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Bank-issued LCs — trust and networks; 1–3% commission before the fee stack</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Tazapay — escrow-as-a-service; manual review, custodial fiat rails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Truzo — narrow UK–South Africa corridor; escrow wallet, no document layer</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XREX — licensed custodial escrow; releases on agreement, not documents</a:t>
            </a:r>
          </a:p>
          <a:p>
            <a:pPr marL="91440" indent="-91440">
              <a:lnSpc>
                <a:spcPct val="112000"/>
              </a:lnSpc>
              <a:spcBef>
                <a:spcPts val="0"/>
              </a:spcBef>
              <a:spcAft>
                <a:spcPts val="120"/>
              </a:spcAft>
            </a:pPr>
            <a:r>
              <a:rPr sz="800" b="0" i="0">
                <a:solidFill>
                  <a:srgbClr val="6B7280"/>
                </a:solidFill>
                <a:latin typeface="Aptos"/>
              </a:rPr>
              <a:t>•  </a:t>
            </a:r>
            <a:r>
              <a:rPr sz="800" b="0" i="0">
                <a:solidFill>
                  <a:srgbClr val="1B2430"/>
                </a:solidFill>
                <a:latin typeface="Aptos"/>
              </a:rPr>
              <a:t>Komgo / Contour — bank-consortium LC digitisation; Contour shut in 2023</a:t>
            </a:r>
          </a:p>
        </p:txBody>
      </p:sp>
      <p:sp>
        <p:nvSpPr>
          <p:cNvPr id="29" name="TextBox 28"/>
          <p:cNvSpPr txBox="1"/>
          <p:nvPr/>
        </p:nvSpPr>
        <p:spPr>
          <a:xfrm>
            <a:off x="274320" y="6345936"/>
            <a:ext cx="11640312" cy="310896"/>
          </a:xfrm>
          <a:prstGeom prst="rect">
            <a:avLst/>
          </a:prstGeom>
          <a:noFill/>
        </p:spPr>
        <p:txBody>
          <a:bodyPr wrap="square" lIns="0" tIns="0" rIns="0" bIns="0" anchor="t">
            <a:spAutoFit/>
          </a:bodyPr>
          <a:lstStyle/>
          <a:p>
            <a:pPr algn="l">
              <a:lnSpc>
                <a:spcPct val="135000"/>
              </a:lnSpc>
              <a:spcAft>
                <a:spcPts val="0"/>
              </a:spcAft>
            </a:pPr>
            <a:r>
              <a:rPr sz="600" b="0" i="1">
                <a:solidFill>
                  <a:srgbClr val="6B7280"/>
                </a:solidFill>
                <a:latin typeface="Aptos"/>
              </a:rPr>
              <a:t>Sources: ADB (2025); ICC UCP 600 (2007); VARA Rulebook (2026); Blockmediary financial model and legal &amp; compliance risk register, 13 Aug 2026. UCP 600-inspired release logic; not a letter of credit. Pilot planned through a suitably DFSA-authorised partner, subject to confirmed permissions and executed agreements. Blockmediary provides documentary escrow and payment assurance, not working-capital finance. Figures are base case. GMV is trade value processed, not revenue.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C4837CB6-6E06-48CD-BFA6-D1F09525E6D0}"/>
              </a:ext>
            </a:extLst>
          </p:cNvPr>
          <p:cNvSpPr>
            <a:spLocks noGrp="1"/>
          </p:cNvSpPr>
          <p:nvPr/>
        </p:nvSpPr>
        <p:spPr>
          <a:xfrm>
            <a:off x="0" y="0"/>
            <a:ext cx="12192000" cy="6858000"/>
          </a:xfrm>
          <a:prstGeom prst="rect">
            <a:avLst/>
          </a:prstGeom>
          <a:solidFill>
            <a:srgbClr val="F7F4EF"/>
          </a:solidFill>
          <a:ln w="0">
            <a:solidFill>
              <a:srgbClr val="000000">
                <a:alpha val="0"/>
              </a:srgbClr>
            </a:solidFill>
            <a:prstDash val="solid"/>
          </a:ln>
        </p:spPr>
        <p:txBody>
          <a:bodyPr/>
          <a:lstStyle/>
          <a:p>
            <a:pPr marL="0" indent="0" algn="l" defTabSz="914400">
              <a:buNone/>
            </a:pPr>
            <a:endParaRPr/>
          </a:p>
        </p:txBody>
      </p:sp>
      <p:sp>
        <p:nvSpPr>
          <p:cNvPr id="2" name="kicker-11-marker">
            <a:extLst>
              <a:ext uri="{FF2B5EF4-FFF2-40B4-BE49-F238E27FC236}">
                <a16:creationId xmlns:a16="http://schemas.microsoft.com/office/drawing/2014/main" id="{C41C138C-5F33-44BE-9202-2EC74B53D8BF}"/>
              </a:ext>
            </a:extLst>
          </p:cNvPr>
          <p:cNvSpPr>
            <a:spLocks noGrp="1"/>
          </p:cNvSpPr>
          <p:nvPr/>
        </p:nvSpPr>
        <p:spPr>
          <a:xfrm>
            <a:off x="533400" y="438150"/>
            <a:ext cx="76200" cy="76200"/>
          </a:xfrm>
          <a:prstGeom prst="rect">
            <a:avLst/>
          </a:prstGeom>
          <a:solidFill>
            <a:srgbClr val="0B1B3A"/>
          </a:solidFill>
          <a:ln w="0">
            <a:solidFill>
              <a:srgbClr val="000000">
                <a:alpha val="0"/>
              </a:srgbClr>
            </a:solidFill>
            <a:prstDash val="solid"/>
          </a:ln>
        </p:spPr>
        <p:txBody>
          <a:bodyPr/>
          <a:lstStyle/>
          <a:p>
            <a:endParaRPr/>
          </a:p>
        </p:txBody>
      </p:sp>
      <p:sp>
        <p:nvSpPr>
          <p:cNvPr id="3" name="kicker-11-label">
            <a:extLst>
              <a:ext uri="{FF2B5EF4-FFF2-40B4-BE49-F238E27FC236}">
                <a16:creationId xmlns:a16="http://schemas.microsoft.com/office/drawing/2014/main" id="{9678FDA4-D756-49DA-8686-A2480D127B46}"/>
              </a:ext>
            </a:extLst>
          </p:cNvPr>
          <p:cNvSpPr>
            <a:spLocks noGrp="1"/>
          </p:cNvSpPr>
          <p:nvPr/>
        </p:nvSpPr>
        <p:spPr>
          <a:xfrm>
            <a:off x="723900" y="361950"/>
            <a:ext cx="53340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00" b="1">
                <a:solidFill>
                  <a:srgbClr val="6B7280"/>
                </a:solidFill>
                <a:latin typeface="Aptos"/>
                <a:ea typeface="Aptos"/>
                <a:cs typeface="Aptos"/>
              </a:defRPr>
            </a:pPr>
            <a:r>
              <a:rPr sz="900" b="1" dirty="0">
                <a:solidFill>
                  <a:srgbClr val="6B7280"/>
                </a:solidFill>
                <a:latin typeface="Aptos"/>
                <a:ea typeface="Aptos"/>
                <a:cs typeface="Aptos"/>
              </a:rPr>
              <a:t>FINANCIAL PATH</a:t>
            </a:r>
          </a:p>
        </p:txBody>
      </p:sp>
      <p:sp>
        <p:nvSpPr>
          <p:cNvPr id="4" name="Rectangle 3">
            <a:extLst>
              <a:ext uri="{FF2B5EF4-FFF2-40B4-BE49-F238E27FC236}">
                <a16:creationId xmlns:a16="http://schemas.microsoft.com/office/drawing/2014/main" id="{E7698C5A-5AC1-4F16-B719-CAE7D16F4D2F}"/>
              </a:ext>
            </a:extLst>
          </p:cNvPr>
          <p:cNvSpPr>
            <a:spLocks noGrp="1"/>
          </p:cNvSpPr>
          <p:nvPr/>
        </p:nvSpPr>
        <p:spPr>
          <a:xfrm>
            <a:off x="533400" y="685800"/>
            <a:ext cx="8191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3000" b="1">
                <a:solidFill>
                  <a:srgbClr val="0B1B3A"/>
                </a:solidFill>
                <a:latin typeface="Aptos Display"/>
                <a:ea typeface="Aptos Display"/>
                <a:cs typeface="Aptos Display"/>
              </a:defRPr>
            </a:pPr>
            <a:r>
              <a:rPr sz="3000" b="1">
                <a:solidFill>
                  <a:srgbClr val="0B1B3A"/>
                </a:solidFill>
                <a:latin typeface="Aptos Display"/>
                <a:ea typeface="Aptos Display"/>
                <a:cs typeface="Aptos Display"/>
              </a:rPr>
              <a:t>Base case projects £1.37m Year 3 revenue and monthly cash-flow break-even in Y4 M8.</a:t>
            </a:r>
          </a:p>
        </p:txBody>
      </p:sp>
      <p:sp>
        <p:nvSpPr>
          <p:cNvPr id="5" name="Rectangle 4">
            <a:extLst>
              <a:ext uri="{FF2B5EF4-FFF2-40B4-BE49-F238E27FC236}">
                <a16:creationId xmlns:a16="http://schemas.microsoft.com/office/drawing/2014/main" id="{190738B7-5D3F-48A5-8E8A-70167E7B209E}"/>
              </a:ext>
            </a:extLst>
          </p:cNvPr>
          <p:cNvSpPr>
            <a:spLocks noGrp="1"/>
          </p:cNvSpPr>
          <p:nvPr/>
        </p:nvSpPr>
        <p:spPr>
          <a:xfrm>
            <a:off x="571500" y="1638300"/>
            <a:ext cx="8953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1B2430"/>
                </a:solidFill>
                <a:latin typeface="Aptos"/>
                <a:ea typeface="Aptos"/>
                <a:cs typeface="Aptos"/>
              </a:defRPr>
            </a:pPr>
            <a:r>
              <a:rPr sz="1500" b="0">
                <a:solidFill>
                  <a:srgbClr val="1B2430"/>
                </a:solidFill>
                <a:latin typeface="Aptos"/>
                <a:ea typeface="Aptos"/>
                <a:cs typeface="Aptos"/>
              </a:rPr>
              <a:t>Illustrative forecast—not current trading: paid partner-led pilot M12; first receipts M13; full VARA licence target M18.</a:t>
            </a:r>
          </a:p>
        </p:txBody>
      </p:sp>
      <p:sp>
        <p:nvSpPr>
          <p:cNvPr id="6" name="Rectangle 5">
            <a:extLst>
              <a:ext uri="{FF2B5EF4-FFF2-40B4-BE49-F238E27FC236}">
                <a16:creationId xmlns:a16="http://schemas.microsoft.com/office/drawing/2014/main" id="{6C0896C8-E2D1-436F-9C37-D91D557C1386}"/>
              </a:ext>
            </a:extLst>
          </p:cNvPr>
          <p:cNvSpPr>
            <a:spLocks noGrp="1"/>
          </p:cNvSpPr>
          <p:nvPr/>
        </p:nvSpPr>
        <p:spPr>
          <a:xfrm>
            <a:off x="704850" y="2514600"/>
            <a:ext cx="2419350" cy="1085850"/>
          </a:xfrm>
          <a:prstGeom prst="rect">
            <a:avLst/>
          </a:prstGeom>
          <a:solidFill>
            <a:srgbClr val="FFFFFF"/>
          </a:solidFill>
          <a:ln w="9525">
            <a:solidFill>
              <a:srgbClr val="D8D2C7"/>
            </a:solidFill>
            <a:prstDash val="solid"/>
          </a:ln>
        </p:spPr>
        <p:txBody>
          <a:bodyPr/>
          <a:lstStyle/>
          <a:p>
            <a:endParaRPr/>
          </a:p>
        </p:txBody>
      </p:sp>
      <p:sp>
        <p:nvSpPr>
          <p:cNvPr id="7" name="Rectangle 6">
            <a:extLst>
              <a:ext uri="{FF2B5EF4-FFF2-40B4-BE49-F238E27FC236}">
                <a16:creationId xmlns:a16="http://schemas.microsoft.com/office/drawing/2014/main" id="{CF113DC9-AFC4-4984-8B7B-EF02790DB51E}"/>
              </a:ext>
            </a:extLst>
          </p:cNvPr>
          <p:cNvSpPr>
            <a:spLocks noGrp="1"/>
          </p:cNvSpPr>
          <p:nvPr/>
        </p:nvSpPr>
        <p:spPr>
          <a:xfrm>
            <a:off x="704850" y="2514600"/>
            <a:ext cx="47625" cy="1085850"/>
          </a:xfrm>
          <a:prstGeom prst="rect">
            <a:avLst/>
          </a:prstGeom>
          <a:solidFill>
            <a:srgbClr val="2C7A33"/>
          </a:solidFill>
          <a:ln w="0">
            <a:solidFill>
              <a:srgbClr val="000000">
                <a:alpha val="0"/>
              </a:srgbClr>
            </a:solidFill>
            <a:prstDash val="solid"/>
          </a:ln>
        </p:spPr>
        <p:txBody>
          <a:bodyPr/>
          <a:lstStyle/>
          <a:p>
            <a:endParaRPr/>
          </a:p>
        </p:txBody>
      </p:sp>
      <p:sp>
        <p:nvSpPr>
          <p:cNvPr id="8" name="Rectangle 7">
            <a:extLst>
              <a:ext uri="{FF2B5EF4-FFF2-40B4-BE49-F238E27FC236}">
                <a16:creationId xmlns:a16="http://schemas.microsoft.com/office/drawing/2014/main" id="{1FD81102-E896-4017-B810-62AB0C079AEC}"/>
              </a:ext>
            </a:extLst>
          </p:cNvPr>
          <p:cNvSpPr>
            <a:spLocks noGrp="1"/>
          </p:cNvSpPr>
          <p:nvPr/>
        </p:nvSpPr>
        <p:spPr>
          <a:xfrm>
            <a:off x="914400" y="2657475"/>
            <a:ext cx="2000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0B1B3A"/>
                </a:solidFill>
                <a:latin typeface="Aptos"/>
                <a:ea typeface="Aptos"/>
                <a:cs typeface="Aptos"/>
              </a:defRPr>
            </a:pPr>
            <a:r>
              <a:rPr sz="2250" b="1">
                <a:solidFill>
                  <a:srgbClr val="0B1B3A"/>
                </a:solidFill>
                <a:latin typeface="Aptos"/>
                <a:ea typeface="Aptos"/>
                <a:cs typeface="Aptos"/>
              </a:rPr>
              <a:t>Month 12</a:t>
            </a:r>
          </a:p>
        </p:txBody>
      </p:sp>
      <p:sp>
        <p:nvSpPr>
          <p:cNvPr id="9" name="Rectangle 8">
            <a:extLst>
              <a:ext uri="{FF2B5EF4-FFF2-40B4-BE49-F238E27FC236}">
                <a16:creationId xmlns:a16="http://schemas.microsoft.com/office/drawing/2014/main" id="{1E34A5FF-016D-47EF-90A6-3FC081C2C9D2}"/>
              </a:ext>
            </a:extLst>
          </p:cNvPr>
          <p:cNvSpPr>
            <a:spLocks noGrp="1"/>
          </p:cNvSpPr>
          <p:nvPr/>
        </p:nvSpPr>
        <p:spPr>
          <a:xfrm>
            <a:off x="914400" y="30289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B2430"/>
                </a:solidFill>
                <a:latin typeface="Aptos"/>
                <a:ea typeface="Aptos"/>
                <a:cs typeface="Aptos"/>
              </a:defRPr>
            </a:pPr>
            <a:r>
              <a:rPr sz="1125" b="1">
                <a:solidFill>
                  <a:srgbClr val="1B2430"/>
                </a:solidFill>
                <a:latin typeface="Aptos"/>
                <a:ea typeface="Aptos"/>
                <a:cs typeface="Aptos"/>
              </a:rPr>
              <a:t>paid partner-led pilot</a:t>
            </a:r>
          </a:p>
        </p:txBody>
      </p:sp>
      <p:sp>
        <p:nvSpPr>
          <p:cNvPr id="10" name="Rectangle 9">
            <a:extLst>
              <a:ext uri="{FF2B5EF4-FFF2-40B4-BE49-F238E27FC236}">
                <a16:creationId xmlns:a16="http://schemas.microsoft.com/office/drawing/2014/main" id="{97E1DD05-7F2A-47B6-9799-3651FE2E78B6}"/>
              </a:ext>
            </a:extLst>
          </p:cNvPr>
          <p:cNvSpPr>
            <a:spLocks noGrp="1"/>
          </p:cNvSpPr>
          <p:nvPr/>
        </p:nvSpPr>
        <p:spPr>
          <a:xfrm>
            <a:off x="914400" y="327660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B7280"/>
                </a:solidFill>
                <a:latin typeface="Aptos"/>
                <a:ea typeface="Aptos"/>
                <a:cs typeface="Aptos"/>
              </a:defRPr>
            </a:pPr>
            <a:r>
              <a:rPr sz="900" b="0">
                <a:solidFill>
                  <a:srgbClr val="6B7280"/>
                </a:solidFill>
                <a:latin typeface="Aptos"/>
                <a:ea typeface="Aptos"/>
                <a:cs typeface="Aptos"/>
              </a:rPr>
              <a:t>receipts M13; licence target M18</a:t>
            </a:r>
          </a:p>
        </p:txBody>
      </p:sp>
      <p:sp>
        <p:nvSpPr>
          <p:cNvPr id="11" name="Rectangle 10">
            <a:extLst>
              <a:ext uri="{FF2B5EF4-FFF2-40B4-BE49-F238E27FC236}">
                <a16:creationId xmlns:a16="http://schemas.microsoft.com/office/drawing/2014/main" id="{F9064EF7-7562-432B-9542-DEE2F214CD70}"/>
              </a:ext>
            </a:extLst>
          </p:cNvPr>
          <p:cNvSpPr>
            <a:spLocks noGrp="1"/>
          </p:cNvSpPr>
          <p:nvPr/>
        </p:nvSpPr>
        <p:spPr>
          <a:xfrm>
            <a:off x="3429000" y="2514600"/>
            <a:ext cx="2419350" cy="1085850"/>
          </a:xfrm>
          <a:prstGeom prst="rect">
            <a:avLst/>
          </a:prstGeom>
          <a:solidFill>
            <a:srgbClr val="FFFFFF"/>
          </a:solidFill>
          <a:ln w="9525">
            <a:solidFill>
              <a:srgbClr val="D8D2C7"/>
            </a:solidFill>
            <a:prstDash val="solid"/>
          </a:ln>
        </p:spPr>
        <p:txBody>
          <a:bodyPr/>
          <a:lstStyle/>
          <a:p>
            <a:endParaRPr/>
          </a:p>
        </p:txBody>
      </p:sp>
      <p:sp>
        <p:nvSpPr>
          <p:cNvPr id="12" name="Rectangle 11">
            <a:extLst>
              <a:ext uri="{FF2B5EF4-FFF2-40B4-BE49-F238E27FC236}">
                <a16:creationId xmlns:a16="http://schemas.microsoft.com/office/drawing/2014/main" id="{5C618428-F10D-41AB-A616-9C8D7129854B}"/>
              </a:ext>
            </a:extLst>
          </p:cNvPr>
          <p:cNvSpPr>
            <a:spLocks noGrp="1"/>
          </p:cNvSpPr>
          <p:nvPr/>
        </p:nvSpPr>
        <p:spPr>
          <a:xfrm>
            <a:off x="3429000" y="2514600"/>
            <a:ext cx="47625" cy="1085850"/>
          </a:xfrm>
          <a:prstGeom prst="rect">
            <a:avLst/>
          </a:prstGeom>
          <a:solidFill>
            <a:srgbClr val="0E8C7F"/>
          </a:solidFill>
          <a:ln w="0">
            <a:solidFill>
              <a:srgbClr val="000000">
                <a:alpha val="0"/>
              </a:srgbClr>
            </a:solidFill>
            <a:prstDash val="solid"/>
          </a:ln>
        </p:spPr>
        <p:txBody>
          <a:bodyPr/>
          <a:lstStyle/>
          <a:p>
            <a:endParaRPr/>
          </a:p>
        </p:txBody>
      </p:sp>
      <p:sp>
        <p:nvSpPr>
          <p:cNvPr id="13" name="Rectangle 12">
            <a:extLst>
              <a:ext uri="{FF2B5EF4-FFF2-40B4-BE49-F238E27FC236}">
                <a16:creationId xmlns:a16="http://schemas.microsoft.com/office/drawing/2014/main" id="{020328B8-EA0A-4C97-A041-3D3060F3C871}"/>
              </a:ext>
            </a:extLst>
          </p:cNvPr>
          <p:cNvSpPr>
            <a:spLocks noGrp="1"/>
          </p:cNvSpPr>
          <p:nvPr/>
        </p:nvSpPr>
        <p:spPr>
          <a:xfrm>
            <a:off x="3638550" y="2657475"/>
            <a:ext cx="2000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0B1B3A"/>
                </a:solidFill>
                <a:latin typeface="Aptos"/>
                <a:ea typeface="Aptos"/>
                <a:cs typeface="Aptos"/>
              </a:defRPr>
            </a:pPr>
            <a:r>
              <a:rPr sz="2250" b="1">
                <a:solidFill>
                  <a:srgbClr val="0B1B3A"/>
                </a:solidFill>
                <a:latin typeface="Aptos"/>
                <a:ea typeface="Aptos"/>
                <a:cs typeface="Aptos"/>
              </a:rPr>
              <a:t>£76m</a:t>
            </a:r>
          </a:p>
        </p:txBody>
      </p:sp>
      <p:sp>
        <p:nvSpPr>
          <p:cNvPr id="14" name="Rectangle 13">
            <a:extLst>
              <a:ext uri="{FF2B5EF4-FFF2-40B4-BE49-F238E27FC236}">
                <a16:creationId xmlns:a16="http://schemas.microsoft.com/office/drawing/2014/main" id="{B285A877-C983-43FD-BEBF-1DB550D18B1B}"/>
              </a:ext>
            </a:extLst>
          </p:cNvPr>
          <p:cNvSpPr>
            <a:spLocks noGrp="1"/>
          </p:cNvSpPr>
          <p:nvPr/>
        </p:nvSpPr>
        <p:spPr>
          <a:xfrm>
            <a:off x="3638550" y="30289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B2430"/>
                </a:solidFill>
                <a:latin typeface="Aptos"/>
                <a:ea typeface="Aptos"/>
                <a:cs typeface="Aptos"/>
              </a:defRPr>
            </a:pPr>
            <a:r>
              <a:rPr sz="1125" b="1">
                <a:solidFill>
                  <a:srgbClr val="1B2430"/>
                </a:solidFill>
                <a:latin typeface="Aptos"/>
                <a:ea typeface="Aptos"/>
                <a:cs typeface="Aptos"/>
              </a:rPr>
              <a:t>Y3 trade value processed</a:t>
            </a:r>
          </a:p>
        </p:txBody>
      </p:sp>
      <p:sp>
        <p:nvSpPr>
          <p:cNvPr id="15" name="Rectangle 14">
            <a:extLst>
              <a:ext uri="{FF2B5EF4-FFF2-40B4-BE49-F238E27FC236}">
                <a16:creationId xmlns:a16="http://schemas.microsoft.com/office/drawing/2014/main" id="{C1A649CE-9E85-45AE-8238-15C085AAF195}"/>
              </a:ext>
            </a:extLst>
          </p:cNvPr>
          <p:cNvSpPr>
            <a:spLocks noGrp="1"/>
          </p:cNvSpPr>
          <p:nvPr/>
        </p:nvSpPr>
        <p:spPr>
          <a:xfrm>
            <a:off x="3638550" y="327660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B7280"/>
                </a:solidFill>
                <a:latin typeface="Aptos"/>
                <a:ea typeface="Aptos"/>
                <a:cs typeface="Aptos"/>
              </a:defRPr>
            </a:pPr>
            <a:r>
              <a:rPr sz="900" b="0">
                <a:solidFill>
                  <a:srgbClr val="6B7280"/>
                </a:solidFill>
                <a:latin typeface="Aptos"/>
                <a:ea typeface="Aptos"/>
                <a:cs typeface="Aptos"/>
              </a:rPr>
              <a:t>GMV—not company revenue</a:t>
            </a:r>
          </a:p>
        </p:txBody>
      </p:sp>
      <p:sp>
        <p:nvSpPr>
          <p:cNvPr id="16" name="Rectangle 15">
            <a:extLst>
              <a:ext uri="{FF2B5EF4-FFF2-40B4-BE49-F238E27FC236}">
                <a16:creationId xmlns:a16="http://schemas.microsoft.com/office/drawing/2014/main" id="{50CA0DC0-43C5-4B19-9CDA-D729966D1D47}"/>
              </a:ext>
            </a:extLst>
          </p:cNvPr>
          <p:cNvSpPr>
            <a:spLocks noGrp="1"/>
          </p:cNvSpPr>
          <p:nvPr/>
        </p:nvSpPr>
        <p:spPr>
          <a:xfrm>
            <a:off x="6153150" y="2514600"/>
            <a:ext cx="2419350" cy="1085850"/>
          </a:xfrm>
          <a:prstGeom prst="rect">
            <a:avLst/>
          </a:prstGeom>
          <a:solidFill>
            <a:srgbClr val="FFFFFF"/>
          </a:solidFill>
          <a:ln w="9525">
            <a:solidFill>
              <a:srgbClr val="D8D2C7"/>
            </a:solidFill>
            <a:prstDash val="solid"/>
          </a:ln>
        </p:spPr>
        <p:txBody>
          <a:bodyPr/>
          <a:lstStyle/>
          <a:p>
            <a:endParaRPr/>
          </a:p>
        </p:txBody>
      </p:sp>
      <p:sp>
        <p:nvSpPr>
          <p:cNvPr id="17" name="Rectangle 16">
            <a:extLst>
              <a:ext uri="{FF2B5EF4-FFF2-40B4-BE49-F238E27FC236}">
                <a16:creationId xmlns:a16="http://schemas.microsoft.com/office/drawing/2014/main" id="{ADDEA11F-96DB-4FA7-8CC8-1A76D1A18957}"/>
              </a:ext>
            </a:extLst>
          </p:cNvPr>
          <p:cNvSpPr>
            <a:spLocks noGrp="1"/>
          </p:cNvSpPr>
          <p:nvPr/>
        </p:nvSpPr>
        <p:spPr>
          <a:xfrm>
            <a:off x="6153150" y="2514600"/>
            <a:ext cx="47625" cy="1085850"/>
          </a:xfrm>
          <a:prstGeom prst="rect">
            <a:avLst/>
          </a:prstGeom>
          <a:solidFill>
            <a:srgbClr val="5A4FBF"/>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931DDD7D-A9D0-4533-954E-A6759A8B06EB}"/>
              </a:ext>
            </a:extLst>
          </p:cNvPr>
          <p:cNvSpPr>
            <a:spLocks noGrp="1"/>
          </p:cNvSpPr>
          <p:nvPr/>
        </p:nvSpPr>
        <p:spPr>
          <a:xfrm>
            <a:off x="6362700" y="2657475"/>
            <a:ext cx="2000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0B1B3A"/>
                </a:solidFill>
                <a:latin typeface="Aptos"/>
                <a:ea typeface="Aptos"/>
                <a:cs typeface="Aptos"/>
              </a:defRPr>
            </a:pPr>
            <a:r>
              <a:rPr sz="2250" b="1">
                <a:solidFill>
                  <a:srgbClr val="0B1B3A"/>
                </a:solidFill>
                <a:latin typeface="Aptos"/>
                <a:ea typeface="Aptos"/>
                <a:cs typeface="Aptos"/>
              </a:rPr>
              <a:t>£1.37m</a:t>
            </a:r>
          </a:p>
        </p:txBody>
      </p:sp>
      <p:sp>
        <p:nvSpPr>
          <p:cNvPr id="19" name="Rectangle 18">
            <a:extLst>
              <a:ext uri="{FF2B5EF4-FFF2-40B4-BE49-F238E27FC236}">
                <a16:creationId xmlns:a16="http://schemas.microsoft.com/office/drawing/2014/main" id="{4EE95D9F-CECF-4553-B1E6-0D2C27D7BF86}"/>
              </a:ext>
            </a:extLst>
          </p:cNvPr>
          <p:cNvSpPr>
            <a:spLocks noGrp="1"/>
          </p:cNvSpPr>
          <p:nvPr/>
        </p:nvSpPr>
        <p:spPr>
          <a:xfrm>
            <a:off x="6362700" y="30289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B2430"/>
                </a:solidFill>
                <a:latin typeface="Aptos"/>
                <a:ea typeface="Aptos"/>
                <a:cs typeface="Aptos"/>
              </a:defRPr>
            </a:pPr>
            <a:r>
              <a:rPr sz="1125" b="1">
                <a:solidFill>
                  <a:srgbClr val="1B2430"/>
                </a:solidFill>
                <a:latin typeface="Aptos"/>
                <a:ea typeface="Aptos"/>
                <a:cs typeface="Aptos"/>
              </a:rPr>
              <a:t>Y3 annual revenue</a:t>
            </a:r>
          </a:p>
        </p:txBody>
      </p:sp>
      <p:sp>
        <p:nvSpPr>
          <p:cNvPr id="20" name="Rectangle 19">
            <a:extLst>
              <a:ext uri="{FF2B5EF4-FFF2-40B4-BE49-F238E27FC236}">
                <a16:creationId xmlns:a16="http://schemas.microsoft.com/office/drawing/2014/main" id="{BD5C591F-6634-48B1-85AB-39B506B61133}"/>
              </a:ext>
            </a:extLst>
          </p:cNvPr>
          <p:cNvSpPr>
            <a:spLocks noGrp="1"/>
          </p:cNvSpPr>
          <p:nvPr/>
        </p:nvSpPr>
        <p:spPr>
          <a:xfrm>
            <a:off x="6362700" y="327660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B7280"/>
                </a:solidFill>
                <a:latin typeface="Aptos"/>
                <a:ea typeface="Aptos"/>
                <a:cs typeface="Aptos"/>
              </a:defRPr>
            </a:pPr>
            <a:r>
              <a:rPr sz="900" b="0">
                <a:solidFill>
                  <a:srgbClr val="6B7280"/>
                </a:solidFill>
                <a:latin typeface="Aptos"/>
                <a:ea typeface="Aptos"/>
                <a:cs typeface="Aptos"/>
              </a:rPr>
              <a:t>77% gross margin</a:t>
            </a:r>
          </a:p>
        </p:txBody>
      </p:sp>
      <p:sp>
        <p:nvSpPr>
          <p:cNvPr id="21" name="Rectangle 20">
            <a:extLst>
              <a:ext uri="{FF2B5EF4-FFF2-40B4-BE49-F238E27FC236}">
                <a16:creationId xmlns:a16="http://schemas.microsoft.com/office/drawing/2014/main" id="{E9F97402-411D-4712-A716-89A1CF72C96B}"/>
              </a:ext>
            </a:extLst>
          </p:cNvPr>
          <p:cNvSpPr>
            <a:spLocks noGrp="1"/>
          </p:cNvSpPr>
          <p:nvPr/>
        </p:nvSpPr>
        <p:spPr>
          <a:xfrm>
            <a:off x="8877300" y="2514600"/>
            <a:ext cx="2419350" cy="1085850"/>
          </a:xfrm>
          <a:prstGeom prst="rect">
            <a:avLst/>
          </a:prstGeom>
          <a:solidFill>
            <a:srgbClr val="FFFFFF"/>
          </a:solidFill>
          <a:ln w="9525">
            <a:solidFill>
              <a:srgbClr val="D8D2C7"/>
            </a:solidFill>
            <a:prstDash val="solid"/>
          </a:ln>
        </p:spPr>
        <p:txBody>
          <a:bodyPr/>
          <a:lstStyle/>
          <a:p>
            <a:endParaRPr/>
          </a:p>
        </p:txBody>
      </p:sp>
      <p:sp>
        <p:nvSpPr>
          <p:cNvPr id="22" name="Rectangle 21">
            <a:extLst>
              <a:ext uri="{FF2B5EF4-FFF2-40B4-BE49-F238E27FC236}">
                <a16:creationId xmlns:a16="http://schemas.microsoft.com/office/drawing/2014/main" id="{1189E399-6663-4A5C-8ECD-6C13455CB248}"/>
              </a:ext>
            </a:extLst>
          </p:cNvPr>
          <p:cNvSpPr>
            <a:spLocks noGrp="1"/>
          </p:cNvSpPr>
          <p:nvPr/>
        </p:nvSpPr>
        <p:spPr>
          <a:xfrm>
            <a:off x="8877300" y="2514600"/>
            <a:ext cx="47625" cy="1085850"/>
          </a:xfrm>
          <a:prstGeom prst="rect">
            <a:avLst/>
          </a:prstGeom>
          <a:solidFill>
            <a:srgbClr val="C77D18"/>
          </a:solidFill>
          <a:ln w="0">
            <a:solidFill>
              <a:srgbClr val="000000">
                <a:alpha val="0"/>
              </a:srgbClr>
            </a:solidFill>
            <a:prstDash val="solid"/>
          </a:ln>
        </p:spPr>
        <p:txBody>
          <a:bodyPr/>
          <a:lstStyle/>
          <a:p>
            <a:endParaRPr/>
          </a:p>
        </p:txBody>
      </p:sp>
      <p:sp>
        <p:nvSpPr>
          <p:cNvPr id="23" name="Rectangle 22">
            <a:extLst>
              <a:ext uri="{FF2B5EF4-FFF2-40B4-BE49-F238E27FC236}">
                <a16:creationId xmlns:a16="http://schemas.microsoft.com/office/drawing/2014/main" id="{6DE22802-0306-42EE-926A-7BB776B59D49}"/>
              </a:ext>
            </a:extLst>
          </p:cNvPr>
          <p:cNvSpPr>
            <a:spLocks noGrp="1"/>
          </p:cNvSpPr>
          <p:nvPr/>
        </p:nvSpPr>
        <p:spPr>
          <a:xfrm>
            <a:off x="9086850" y="2657475"/>
            <a:ext cx="2000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0B1B3A"/>
                </a:solidFill>
                <a:latin typeface="Aptos"/>
                <a:ea typeface="Aptos"/>
                <a:cs typeface="Aptos"/>
              </a:defRPr>
            </a:pPr>
            <a:r>
              <a:rPr sz="2250" b="1">
                <a:solidFill>
                  <a:srgbClr val="0B1B3A"/>
                </a:solidFill>
                <a:latin typeface="Aptos"/>
                <a:ea typeface="Aptos"/>
                <a:cs typeface="Aptos"/>
              </a:rPr>
              <a:t>Y4 M8</a:t>
            </a:r>
          </a:p>
        </p:txBody>
      </p:sp>
      <p:sp>
        <p:nvSpPr>
          <p:cNvPr id="24" name="Rectangle 23">
            <a:extLst>
              <a:ext uri="{FF2B5EF4-FFF2-40B4-BE49-F238E27FC236}">
                <a16:creationId xmlns:a16="http://schemas.microsoft.com/office/drawing/2014/main" id="{29640183-CEF1-44FE-B28B-D0C472AE5608}"/>
              </a:ext>
            </a:extLst>
          </p:cNvPr>
          <p:cNvSpPr>
            <a:spLocks noGrp="1"/>
          </p:cNvSpPr>
          <p:nvPr/>
        </p:nvSpPr>
        <p:spPr>
          <a:xfrm>
            <a:off x="9086850" y="30289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B2430"/>
                </a:solidFill>
                <a:latin typeface="Aptos"/>
                <a:ea typeface="Aptos"/>
                <a:cs typeface="Aptos"/>
              </a:defRPr>
            </a:pPr>
            <a:r>
              <a:rPr sz="1125" b="1">
                <a:solidFill>
                  <a:srgbClr val="1B2430"/>
                </a:solidFill>
                <a:latin typeface="Aptos"/>
                <a:ea typeface="Aptos"/>
                <a:cs typeface="Aptos"/>
              </a:rPr>
              <a:t>monthly cash-flow break-even</a:t>
            </a:r>
          </a:p>
        </p:txBody>
      </p:sp>
      <p:sp>
        <p:nvSpPr>
          <p:cNvPr id="25" name="Rectangle 24">
            <a:extLst>
              <a:ext uri="{FF2B5EF4-FFF2-40B4-BE49-F238E27FC236}">
                <a16:creationId xmlns:a16="http://schemas.microsoft.com/office/drawing/2014/main" id="{83ED7773-2ED2-469E-BD0A-239D4F990F73}"/>
              </a:ext>
            </a:extLst>
          </p:cNvPr>
          <p:cNvSpPr>
            <a:spLocks noGrp="1"/>
          </p:cNvSpPr>
          <p:nvPr/>
        </p:nvSpPr>
        <p:spPr>
          <a:xfrm>
            <a:off x="9086850" y="327660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B7280"/>
                </a:solidFill>
                <a:latin typeface="Aptos"/>
                <a:ea typeface="Aptos"/>
                <a:cs typeface="Aptos"/>
              </a:defRPr>
            </a:pPr>
            <a:r>
              <a:rPr sz="900" b="0">
                <a:solidFill>
                  <a:srgbClr val="6B7280"/>
                </a:solidFill>
                <a:latin typeface="Aptos"/>
                <a:ea typeface="Aptos"/>
                <a:cs typeface="Aptos"/>
              </a:rPr>
              <a:t>low &gt;M60; high Y4 M4</a:t>
            </a:r>
          </a:p>
        </p:txBody>
      </p:sp>
      <p:sp>
        <p:nvSpPr>
          <p:cNvPr id="26" name="Rectangle 25">
            <a:extLst>
              <a:ext uri="{FF2B5EF4-FFF2-40B4-BE49-F238E27FC236}">
                <a16:creationId xmlns:a16="http://schemas.microsoft.com/office/drawing/2014/main" id="{D3314116-0FF7-4086-8237-75AE3272C2BC}"/>
              </a:ext>
            </a:extLst>
          </p:cNvPr>
          <p:cNvSpPr>
            <a:spLocks noGrp="1"/>
          </p:cNvSpPr>
          <p:nvPr/>
        </p:nvSpPr>
        <p:spPr>
          <a:xfrm>
            <a:off x="704850" y="4171950"/>
            <a:ext cx="5124450" cy="1847850"/>
          </a:xfrm>
          <a:prstGeom prst="rect">
            <a:avLst/>
          </a:prstGeom>
          <a:solidFill>
            <a:srgbClr val="FFFFFF"/>
          </a:solidFill>
          <a:ln w="9525">
            <a:solidFill>
              <a:srgbClr val="D8D2C7"/>
            </a:solidFill>
            <a:prstDash val="solid"/>
          </a:ln>
        </p:spPr>
        <p:txBody>
          <a:bodyPr/>
          <a:lstStyle/>
          <a:p>
            <a:endParaRPr/>
          </a:p>
        </p:txBody>
      </p:sp>
      <p:sp>
        <p:nvSpPr>
          <p:cNvPr id="27" name="Rectangle 26">
            <a:extLst>
              <a:ext uri="{FF2B5EF4-FFF2-40B4-BE49-F238E27FC236}">
                <a16:creationId xmlns:a16="http://schemas.microsoft.com/office/drawing/2014/main" id="{3AB488C4-099C-457E-BFD5-01C0CCA5FCC0}"/>
              </a:ext>
            </a:extLst>
          </p:cNvPr>
          <p:cNvSpPr>
            <a:spLocks noGrp="1"/>
          </p:cNvSpPr>
          <p:nvPr/>
        </p:nvSpPr>
        <p:spPr>
          <a:xfrm>
            <a:off x="1066800" y="4305300"/>
            <a:ext cx="2857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0B1B3A"/>
                </a:solidFill>
                <a:latin typeface="Aptos"/>
                <a:ea typeface="Aptos"/>
                <a:cs typeface="Aptos"/>
              </a:defRPr>
            </a:pPr>
            <a:r>
              <a:rPr sz="1125" b="1">
                <a:solidFill>
                  <a:srgbClr val="0B1B3A"/>
                </a:solidFill>
                <a:latin typeface="Aptos"/>
                <a:ea typeface="Aptos"/>
                <a:cs typeface="Aptos"/>
              </a:rPr>
              <a:t>Base-case revenue engine</a:t>
            </a:r>
          </a:p>
        </p:txBody>
      </p:sp>
      <p:sp>
        <p:nvSpPr>
          <p:cNvPr id="28" name="Rectangle 27">
            <a:extLst>
              <a:ext uri="{FF2B5EF4-FFF2-40B4-BE49-F238E27FC236}">
                <a16:creationId xmlns:a16="http://schemas.microsoft.com/office/drawing/2014/main" id="{8C1EB0F0-4FA9-470F-B030-3BE3F9DE9F1E}"/>
              </a:ext>
            </a:extLst>
          </p:cNvPr>
          <p:cNvSpPr>
            <a:spLocks noGrp="1"/>
          </p:cNvSpPr>
          <p:nvPr/>
        </p:nvSpPr>
        <p:spPr>
          <a:xfrm>
            <a:off x="1066800" y="4810125"/>
            <a:ext cx="1066800" cy="533400"/>
          </a:xfrm>
          <a:prstGeom prst="rect">
            <a:avLst/>
          </a:prstGeom>
          <a:solidFill>
            <a:srgbClr val="0E8C7F"/>
          </a:solidFill>
          <a:ln w="9525">
            <a:solidFill>
              <a:srgbClr val="0E8C7F"/>
            </a:solidFill>
            <a:prstDash val="solid"/>
          </a:ln>
        </p:spPr>
        <p:txBody>
          <a:bodyPr/>
          <a:lstStyle/>
          <a:p>
            <a:endParaRPr/>
          </a:p>
        </p:txBody>
      </p:sp>
      <p:sp>
        <p:nvSpPr>
          <p:cNvPr id="29" name="Rectangle 28">
            <a:extLst>
              <a:ext uri="{FF2B5EF4-FFF2-40B4-BE49-F238E27FC236}">
                <a16:creationId xmlns:a16="http://schemas.microsoft.com/office/drawing/2014/main" id="{461EA15E-DBAE-469C-8817-7E80824CDE7A}"/>
              </a:ext>
            </a:extLst>
          </p:cNvPr>
          <p:cNvSpPr>
            <a:spLocks noGrp="1"/>
          </p:cNvSpPr>
          <p:nvPr/>
        </p:nvSpPr>
        <p:spPr>
          <a:xfrm>
            <a:off x="1066800" y="5400675"/>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44" b="1">
                <a:solidFill>
                  <a:srgbClr val="0B1B3A"/>
                </a:solidFill>
                <a:latin typeface="Aptos"/>
                <a:ea typeface="Aptos"/>
                <a:cs typeface="Aptos"/>
              </a:defRPr>
            </a:pPr>
            <a:r>
              <a:rPr sz="844" b="1">
                <a:solidFill>
                  <a:srgbClr val="0B1B3A"/>
                </a:solidFill>
                <a:latin typeface="Aptos"/>
                <a:ea typeface="Aptos"/>
                <a:cs typeface="Aptos"/>
              </a:rPr>
              <a:t>deals</a:t>
            </a:r>
          </a:p>
        </p:txBody>
      </p:sp>
      <p:sp>
        <p:nvSpPr>
          <p:cNvPr id="30" name="Rectangle 29">
            <a:extLst>
              <a:ext uri="{FF2B5EF4-FFF2-40B4-BE49-F238E27FC236}">
                <a16:creationId xmlns:a16="http://schemas.microsoft.com/office/drawing/2014/main" id="{65D0CD14-B46E-4946-BBA3-675888BA382A}"/>
              </a:ext>
            </a:extLst>
          </p:cNvPr>
          <p:cNvSpPr>
            <a:spLocks noGrp="1"/>
          </p:cNvSpPr>
          <p:nvPr/>
        </p:nvSpPr>
        <p:spPr>
          <a:xfrm>
            <a:off x="1066800" y="4905375"/>
            <a:ext cx="10668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688" b="1">
                <a:solidFill>
                  <a:srgbClr val="FFFFFF"/>
                </a:solidFill>
                <a:latin typeface="Aptos"/>
                <a:ea typeface="Aptos"/>
                <a:cs typeface="Aptos"/>
              </a:defRPr>
            </a:pPr>
            <a:r>
              <a:rPr sz="1688" b="1">
                <a:solidFill>
                  <a:srgbClr val="FFFFFF"/>
                </a:solidFill>
                <a:latin typeface="Aptos"/>
                <a:ea typeface="Aptos"/>
                <a:cs typeface="Aptos"/>
              </a:rPr>
              <a:t>2,000</a:t>
            </a:r>
            <a:endParaRPr sz="900" b="1">
              <a:solidFill>
                <a:srgbClr val="0E8C7F"/>
              </a:solidFill>
              <a:latin typeface="Aptos"/>
              <a:ea typeface="Aptos"/>
              <a:cs typeface="Aptos"/>
            </a:endParaRPr>
          </a:p>
        </p:txBody>
      </p:sp>
      <p:sp>
        <p:nvSpPr>
          <p:cNvPr id="31" name="Rectangle 30">
            <a:extLst>
              <a:ext uri="{FF2B5EF4-FFF2-40B4-BE49-F238E27FC236}">
                <a16:creationId xmlns:a16="http://schemas.microsoft.com/office/drawing/2014/main" id="{8B915DBD-F087-45F8-AD26-A30B1919B81D}"/>
              </a:ext>
            </a:extLst>
          </p:cNvPr>
          <p:cNvSpPr>
            <a:spLocks noGrp="1"/>
          </p:cNvSpPr>
          <p:nvPr/>
        </p:nvSpPr>
        <p:spPr>
          <a:xfrm>
            <a:off x="2705100" y="4810125"/>
            <a:ext cx="1066800" cy="533400"/>
          </a:xfrm>
          <a:prstGeom prst="rect">
            <a:avLst/>
          </a:prstGeom>
          <a:solidFill>
            <a:srgbClr val="0E8C7F"/>
          </a:solidFill>
          <a:ln w="9525">
            <a:solidFill>
              <a:srgbClr val="0E8C7F"/>
            </a:solidFill>
            <a:prstDash val="solid"/>
          </a:ln>
        </p:spPr>
        <p:txBody>
          <a:bodyPr/>
          <a:lstStyle/>
          <a:p>
            <a:endParaRPr/>
          </a:p>
        </p:txBody>
      </p:sp>
      <p:sp>
        <p:nvSpPr>
          <p:cNvPr id="32" name="Rectangle 31">
            <a:extLst>
              <a:ext uri="{FF2B5EF4-FFF2-40B4-BE49-F238E27FC236}">
                <a16:creationId xmlns:a16="http://schemas.microsoft.com/office/drawing/2014/main" id="{80B7BC36-CA77-4D27-A761-7FB810A306BF}"/>
              </a:ext>
            </a:extLst>
          </p:cNvPr>
          <p:cNvSpPr>
            <a:spLocks noGrp="1"/>
          </p:cNvSpPr>
          <p:nvPr/>
        </p:nvSpPr>
        <p:spPr>
          <a:xfrm>
            <a:off x="2705100" y="5400675"/>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44" b="1">
                <a:solidFill>
                  <a:srgbClr val="0B1B3A"/>
                </a:solidFill>
                <a:latin typeface="Aptos"/>
                <a:ea typeface="Aptos"/>
                <a:cs typeface="Aptos"/>
              </a:defRPr>
            </a:pPr>
            <a:r>
              <a:rPr sz="844" b="1">
                <a:solidFill>
                  <a:srgbClr val="0B1B3A"/>
                </a:solidFill>
                <a:latin typeface="Aptos"/>
                <a:ea typeface="Aptos"/>
                <a:cs typeface="Aptos"/>
              </a:rPr>
              <a:t>average trade</a:t>
            </a:r>
          </a:p>
        </p:txBody>
      </p:sp>
      <p:sp>
        <p:nvSpPr>
          <p:cNvPr id="33" name="Rectangle 32">
            <a:extLst>
              <a:ext uri="{FF2B5EF4-FFF2-40B4-BE49-F238E27FC236}">
                <a16:creationId xmlns:a16="http://schemas.microsoft.com/office/drawing/2014/main" id="{8F49C337-0BF6-4692-B8DF-66439527A05A}"/>
              </a:ext>
            </a:extLst>
          </p:cNvPr>
          <p:cNvSpPr>
            <a:spLocks noGrp="1"/>
          </p:cNvSpPr>
          <p:nvPr/>
        </p:nvSpPr>
        <p:spPr>
          <a:xfrm>
            <a:off x="2705100" y="4905375"/>
            <a:ext cx="10668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688" b="1">
                <a:solidFill>
                  <a:srgbClr val="FFFFFF"/>
                </a:solidFill>
                <a:latin typeface="Aptos"/>
                <a:ea typeface="Aptos"/>
                <a:cs typeface="Aptos"/>
              </a:defRPr>
            </a:pPr>
            <a:r>
              <a:rPr sz="1688" b="1">
                <a:solidFill>
                  <a:srgbClr val="FFFFFF"/>
                </a:solidFill>
                <a:latin typeface="Aptos"/>
                <a:ea typeface="Aptos"/>
                <a:cs typeface="Aptos"/>
              </a:rPr>
              <a:t>£38k</a:t>
            </a:r>
          </a:p>
        </p:txBody>
      </p:sp>
      <p:sp>
        <p:nvSpPr>
          <p:cNvPr id="34" name="Rectangle 33">
            <a:extLst>
              <a:ext uri="{FF2B5EF4-FFF2-40B4-BE49-F238E27FC236}">
                <a16:creationId xmlns:a16="http://schemas.microsoft.com/office/drawing/2014/main" id="{35469347-2347-4311-8B95-1D5AF85ACDED}"/>
              </a:ext>
            </a:extLst>
          </p:cNvPr>
          <p:cNvSpPr>
            <a:spLocks noGrp="1"/>
          </p:cNvSpPr>
          <p:nvPr/>
        </p:nvSpPr>
        <p:spPr>
          <a:xfrm>
            <a:off x="4343400" y="4810125"/>
            <a:ext cx="1066800" cy="533400"/>
          </a:xfrm>
          <a:prstGeom prst="rect">
            <a:avLst/>
          </a:prstGeom>
          <a:solidFill>
            <a:srgbClr val="0E8C7F"/>
          </a:solidFill>
          <a:ln w="9525">
            <a:solidFill>
              <a:srgbClr val="0E8C7F"/>
            </a:solidFill>
            <a:prstDash val="solid"/>
          </a:ln>
        </p:spPr>
        <p:txBody>
          <a:bodyPr/>
          <a:lstStyle/>
          <a:p>
            <a:endParaRPr/>
          </a:p>
        </p:txBody>
      </p:sp>
      <p:sp>
        <p:nvSpPr>
          <p:cNvPr id="35" name="Rectangle 34">
            <a:extLst>
              <a:ext uri="{FF2B5EF4-FFF2-40B4-BE49-F238E27FC236}">
                <a16:creationId xmlns:a16="http://schemas.microsoft.com/office/drawing/2014/main" id="{C56CEFFE-6CC4-4A21-ACB3-638C7C9A3806}"/>
              </a:ext>
            </a:extLst>
          </p:cNvPr>
          <p:cNvSpPr>
            <a:spLocks noGrp="1"/>
          </p:cNvSpPr>
          <p:nvPr/>
        </p:nvSpPr>
        <p:spPr>
          <a:xfrm>
            <a:off x="4343400" y="5400675"/>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44" b="1">
                <a:solidFill>
                  <a:srgbClr val="0B1B3A"/>
                </a:solidFill>
                <a:latin typeface="Aptos"/>
                <a:ea typeface="Aptos"/>
                <a:cs typeface="Aptos"/>
              </a:defRPr>
            </a:pPr>
            <a:r>
              <a:rPr sz="844" b="1">
                <a:solidFill>
                  <a:srgbClr val="0B1B3A"/>
                </a:solidFill>
                <a:latin typeface="Aptos"/>
                <a:ea typeface="Aptos"/>
                <a:cs typeface="Aptos"/>
              </a:rPr>
              <a:t>trade value</a:t>
            </a:r>
          </a:p>
        </p:txBody>
      </p:sp>
      <p:sp>
        <p:nvSpPr>
          <p:cNvPr id="36" name="Rectangle 35">
            <a:extLst>
              <a:ext uri="{FF2B5EF4-FFF2-40B4-BE49-F238E27FC236}">
                <a16:creationId xmlns:a16="http://schemas.microsoft.com/office/drawing/2014/main" id="{A28EFE54-57ED-451A-8BAB-2F1565B6789D}"/>
              </a:ext>
            </a:extLst>
          </p:cNvPr>
          <p:cNvSpPr>
            <a:spLocks noGrp="1"/>
          </p:cNvSpPr>
          <p:nvPr/>
        </p:nvSpPr>
        <p:spPr>
          <a:xfrm>
            <a:off x="4343400" y="4905375"/>
            <a:ext cx="10668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688" b="1">
                <a:solidFill>
                  <a:srgbClr val="FFFFFF"/>
                </a:solidFill>
                <a:latin typeface="Aptos"/>
                <a:ea typeface="Aptos"/>
                <a:cs typeface="Aptos"/>
              </a:defRPr>
            </a:pPr>
            <a:r>
              <a:rPr sz="1688" b="1">
                <a:solidFill>
                  <a:srgbClr val="FFFFFF"/>
                </a:solidFill>
                <a:latin typeface="Aptos"/>
                <a:ea typeface="Aptos"/>
                <a:cs typeface="Aptos"/>
              </a:rPr>
              <a:t>£76m</a:t>
            </a:r>
          </a:p>
        </p:txBody>
      </p:sp>
      <p:sp>
        <p:nvSpPr>
          <p:cNvPr id="37" name="Rectangle 36">
            <a:extLst>
              <a:ext uri="{FF2B5EF4-FFF2-40B4-BE49-F238E27FC236}">
                <a16:creationId xmlns:a16="http://schemas.microsoft.com/office/drawing/2014/main" id="{E51E3DF9-7E76-4BA0-B641-9C8285A0E5DC}"/>
              </a:ext>
            </a:extLst>
          </p:cNvPr>
          <p:cNvSpPr>
            <a:spLocks noGrp="1"/>
          </p:cNvSpPr>
          <p:nvPr/>
        </p:nvSpPr>
        <p:spPr>
          <a:xfrm>
            <a:off x="1066800" y="5715000"/>
            <a:ext cx="2762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44" b="0">
                <a:solidFill>
                  <a:srgbClr val="1B2430"/>
                </a:solidFill>
                <a:latin typeface="Aptos"/>
                <a:ea typeface="Aptos"/>
                <a:cs typeface="Aptos"/>
              </a:defRPr>
            </a:pPr>
            <a:r>
              <a:rPr sz="844" b="0">
                <a:solidFill>
                  <a:srgbClr val="1B2430"/>
                </a:solidFill>
                <a:latin typeface="Aptos"/>
                <a:ea typeface="Aptos"/>
                <a:cs typeface="Aptos"/>
              </a:rPr>
              <a:t>Tiered escrow take rate + ancillary fees</a:t>
            </a:r>
          </a:p>
        </p:txBody>
      </p:sp>
      <p:sp>
        <p:nvSpPr>
          <p:cNvPr id="39" name="Rectangle 38">
            <a:extLst>
              <a:ext uri="{FF2B5EF4-FFF2-40B4-BE49-F238E27FC236}">
                <a16:creationId xmlns:a16="http://schemas.microsoft.com/office/drawing/2014/main" id="{3324EB80-AF0E-4065-A7A6-60938C1C105F}"/>
              </a:ext>
            </a:extLst>
          </p:cNvPr>
          <p:cNvSpPr>
            <a:spLocks noGrp="1"/>
          </p:cNvSpPr>
          <p:nvPr/>
        </p:nvSpPr>
        <p:spPr>
          <a:xfrm>
            <a:off x="3524250" y="6172200"/>
            <a:ext cx="533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00" b="1">
                <a:solidFill>
                  <a:srgbClr val="6B7280"/>
                </a:solidFill>
                <a:latin typeface="Aptos"/>
                <a:ea typeface="Aptos"/>
                <a:cs typeface="Aptos"/>
              </a:defRPr>
            </a:pPr>
            <a:endParaRPr/>
          </a:p>
        </p:txBody>
      </p:sp>
      <p:sp>
        <p:nvSpPr>
          <p:cNvPr id="40" name="Rectangle 39">
            <a:extLst>
              <a:ext uri="{FF2B5EF4-FFF2-40B4-BE49-F238E27FC236}">
                <a16:creationId xmlns:a16="http://schemas.microsoft.com/office/drawing/2014/main" id="{1AEAC009-49DD-4817-9B33-BCA31DABFA9B}"/>
              </a:ext>
            </a:extLst>
          </p:cNvPr>
          <p:cNvSpPr>
            <a:spLocks noGrp="1"/>
          </p:cNvSpPr>
          <p:nvPr/>
        </p:nvSpPr>
        <p:spPr>
          <a:xfrm>
            <a:off x="2257425" y="485775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350" b="1">
                <a:solidFill>
                  <a:srgbClr val="0E8C7F"/>
                </a:solidFill>
                <a:latin typeface="Aptos"/>
                <a:ea typeface="Aptos"/>
                <a:cs typeface="Aptos"/>
              </a:defRPr>
            </a:pPr>
            <a:r>
              <a:rPr sz="1350" b="1">
                <a:solidFill>
                  <a:srgbClr val="0E8C7F"/>
                </a:solidFill>
                <a:latin typeface="Aptos"/>
                <a:ea typeface="Aptos"/>
                <a:cs typeface="Aptos"/>
              </a:rPr>
              <a:t>×</a:t>
            </a:r>
            <a:endParaRPr sz="900" b="1">
              <a:solidFill>
                <a:srgbClr val="2C7A33"/>
              </a:solidFill>
              <a:latin typeface="Aptos"/>
              <a:ea typeface="Aptos"/>
              <a:cs typeface="Aptos"/>
            </a:endParaRPr>
          </a:p>
        </p:txBody>
      </p:sp>
      <p:sp>
        <p:nvSpPr>
          <p:cNvPr id="42" name="Rectangle 41">
            <a:extLst>
              <a:ext uri="{FF2B5EF4-FFF2-40B4-BE49-F238E27FC236}">
                <a16:creationId xmlns:a16="http://schemas.microsoft.com/office/drawing/2014/main" id="{55BF1A42-AA5A-47A9-855E-94171A56C33D}"/>
              </a:ext>
            </a:extLst>
          </p:cNvPr>
          <p:cNvSpPr>
            <a:spLocks noGrp="1"/>
          </p:cNvSpPr>
          <p:nvPr/>
        </p:nvSpPr>
        <p:spPr>
          <a:xfrm>
            <a:off x="4343400" y="6172200"/>
            <a:ext cx="533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00" b="1">
                <a:solidFill>
                  <a:srgbClr val="6B7280"/>
                </a:solidFill>
                <a:latin typeface="Aptos"/>
                <a:ea typeface="Aptos"/>
                <a:cs typeface="Aptos"/>
              </a:defRPr>
            </a:pPr>
            <a:endParaRPr/>
          </a:p>
        </p:txBody>
      </p:sp>
      <p:sp>
        <p:nvSpPr>
          <p:cNvPr id="43" name="Rectangle 42">
            <a:extLst>
              <a:ext uri="{FF2B5EF4-FFF2-40B4-BE49-F238E27FC236}">
                <a16:creationId xmlns:a16="http://schemas.microsoft.com/office/drawing/2014/main" id="{94015E4C-69F2-4712-844B-D00D02258196}"/>
              </a:ext>
            </a:extLst>
          </p:cNvPr>
          <p:cNvSpPr>
            <a:spLocks noGrp="1"/>
          </p:cNvSpPr>
          <p:nvPr/>
        </p:nvSpPr>
        <p:spPr>
          <a:xfrm>
            <a:off x="3895725" y="485775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350" b="1">
                <a:solidFill>
                  <a:srgbClr val="2E7D32"/>
                </a:solidFill>
                <a:latin typeface="Aptos"/>
                <a:ea typeface="Aptos"/>
                <a:cs typeface="Aptos"/>
              </a:defRPr>
            </a:pPr>
            <a:r>
              <a:rPr sz="1350" b="1">
                <a:solidFill>
                  <a:srgbClr val="2E7D32"/>
                </a:solidFill>
                <a:latin typeface="Aptos"/>
                <a:ea typeface="Aptos"/>
                <a:cs typeface="Aptos"/>
              </a:rPr>
              <a:t>=</a:t>
            </a:r>
            <a:endParaRPr sz="900" b="1">
              <a:solidFill>
                <a:srgbClr val="2C7A33"/>
              </a:solidFill>
              <a:latin typeface="Aptos"/>
              <a:ea typeface="Aptos"/>
              <a:cs typeface="Aptos"/>
            </a:endParaRPr>
          </a:p>
        </p:txBody>
      </p:sp>
      <p:sp>
        <p:nvSpPr>
          <p:cNvPr id="45" name="Rectangle 44">
            <a:extLst>
              <a:ext uri="{FF2B5EF4-FFF2-40B4-BE49-F238E27FC236}">
                <a16:creationId xmlns:a16="http://schemas.microsoft.com/office/drawing/2014/main" id="{4FF71A96-F9B3-4BE2-A46B-A12E8150DA15}"/>
              </a:ext>
            </a:extLst>
          </p:cNvPr>
          <p:cNvSpPr>
            <a:spLocks noGrp="1"/>
          </p:cNvSpPr>
          <p:nvPr/>
        </p:nvSpPr>
        <p:spPr>
          <a:xfrm>
            <a:off x="5162550" y="6172200"/>
            <a:ext cx="533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00" b="1">
                <a:solidFill>
                  <a:srgbClr val="6B7280"/>
                </a:solidFill>
                <a:latin typeface="Aptos"/>
                <a:ea typeface="Aptos"/>
                <a:cs typeface="Aptos"/>
              </a:defRPr>
            </a:pPr>
            <a:endParaRPr/>
          </a:p>
        </p:txBody>
      </p:sp>
      <p:sp>
        <p:nvSpPr>
          <p:cNvPr id="46" name="Rectangle 45">
            <a:extLst>
              <a:ext uri="{FF2B5EF4-FFF2-40B4-BE49-F238E27FC236}">
                <a16:creationId xmlns:a16="http://schemas.microsoft.com/office/drawing/2014/main" id="{9DFE55B4-FD0A-4466-8D59-E943F38126CB}"/>
              </a:ext>
            </a:extLst>
          </p:cNvPr>
          <p:cNvSpPr>
            <a:spLocks noGrp="1"/>
          </p:cNvSpPr>
          <p:nvPr/>
        </p:nvSpPr>
        <p:spPr>
          <a:xfrm>
            <a:off x="3238500" y="5715000"/>
            <a:ext cx="2171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44" b="1">
                <a:solidFill>
                  <a:srgbClr val="2E7D32"/>
                </a:solidFill>
                <a:latin typeface="Aptos"/>
                <a:ea typeface="Aptos"/>
                <a:cs typeface="Aptos"/>
              </a:defRPr>
            </a:pPr>
            <a:r>
              <a:rPr sz="844" b="1">
                <a:solidFill>
                  <a:srgbClr val="2E7D32"/>
                </a:solidFill>
                <a:latin typeface="Aptos"/>
                <a:ea typeface="Aptos"/>
                <a:cs typeface="Aptos"/>
              </a:rPr>
              <a:t>→ £1.37m revenue · 77% gross margin</a:t>
            </a:r>
          </a:p>
        </p:txBody>
      </p:sp>
      <p:sp>
        <p:nvSpPr>
          <p:cNvPr id="47" name="Rectangle 46">
            <a:extLst>
              <a:ext uri="{FF2B5EF4-FFF2-40B4-BE49-F238E27FC236}">
                <a16:creationId xmlns:a16="http://schemas.microsoft.com/office/drawing/2014/main" id="{9C0E21F1-10F1-4A3B-AB49-2DD719481B69}"/>
              </a:ext>
            </a:extLst>
          </p:cNvPr>
          <p:cNvSpPr>
            <a:spLocks noGrp="1"/>
          </p:cNvSpPr>
          <p:nvPr/>
        </p:nvSpPr>
        <p:spPr>
          <a:xfrm>
            <a:off x="6286500" y="4171950"/>
            <a:ext cx="5010150" cy="1847850"/>
          </a:xfrm>
          <a:prstGeom prst="rect">
            <a:avLst/>
          </a:prstGeom>
          <a:solidFill>
            <a:srgbClr val="FFFFFF"/>
          </a:solidFill>
          <a:ln w="9525">
            <a:solidFill>
              <a:srgbClr val="D8D2C7"/>
            </a:solidFill>
            <a:prstDash val="solid"/>
          </a:ln>
        </p:spPr>
        <p:txBody>
          <a:bodyPr/>
          <a:lstStyle/>
          <a:p>
            <a:endParaRPr/>
          </a:p>
        </p:txBody>
      </p:sp>
      <p:sp>
        <p:nvSpPr>
          <p:cNvPr id="48" name="Rectangle 47">
            <a:extLst>
              <a:ext uri="{FF2B5EF4-FFF2-40B4-BE49-F238E27FC236}">
                <a16:creationId xmlns:a16="http://schemas.microsoft.com/office/drawing/2014/main" id="{AF4A9A09-95E8-4A0B-80FA-3C61CE42D946}"/>
              </a:ext>
            </a:extLst>
          </p:cNvPr>
          <p:cNvSpPr>
            <a:spLocks noGrp="1"/>
          </p:cNvSpPr>
          <p:nvPr/>
        </p:nvSpPr>
        <p:spPr>
          <a:xfrm>
            <a:off x="6629400" y="443865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1">
                <a:solidFill>
                  <a:srgbClr val="0B1B3A"/>
                </a:solidFill>
                <a:latin typeface="Aptos"/>
                <a:ea typeface="Aptos"/>
                <a:cs typeface="Aptos"/>
              </a:defRPr>
            </a:pPr>
            <a:r>
              <a:rPr sz="1575" b="1">
                <a:solidFill>
                  <a:srgbClr val="0B1B3A"/>
                </a:solidFill>
                <a:latin typeface="Aptos"/>
                <a:ea typeface="Aptos"/>
                <a:cs typeface="Aptos"/>
              </a:rPr>
              <a:t>Commercial guardrails</a:t>
            </a:r>
          </a:p>
        </p:txBody>
      </p:sp>
      <p:sp>
        <p:nvSpPr>
          <p:cNvPr id="49" name="Rectangle 48">
            <a:extLst>
              <a:ext uri="{FF2B5EF4-FFF2-40B4-BE49-F238E27FC236}">
                <a16:creationId xmlns:a16="http://schemas.microsoft.com/office/drawing/2014/main" id="{98CE4508-53A4-4576-AAE0-80566056D3D5}"/>
              </a:ext>
            </a:extLst>
          </p:cNvPr>
          <p:cNvSpPr>
            <a:spLocks noGrp="1"/>
          </p:cNvSpPr>
          <p:nvPr/>
        </p:nvSpPr>
        <p:spPr>
          <a:xfrm>
            <a:off x="6629400" y="4762500"/>
            <a:ext cx="4286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1B2430"/>
                </a:solidFill>
                <a:latin typeface="Aptos"/>
                <a:ea typeface="Aptos"/>
                <a:cs typeface="Aptos"/>
              </a:defRPr>
            </a:pPr>
            <a:r>
              <a:rPr sz="1200" b="0">
                <a:solidFill>
                  <a:srgbClr val="1B2430"/>
                </a:solidFill>
                <a:latin typeface="Aptos"/>
                <a:ea typeface="Aptos"/>
                <a:cs typeface="Aptos"/>
              </a:rPr>
              <a:t>• 333 customers × ~6 annual deals via partners</a:t>
            </a:r>
          </a:p>
          <a:p>
            <a:pPr algn="l">
              <a:buNone/>
              <a:defRPr sz="1200" b="0">
                <a:solidFill>
                  <a:srgbClr val="1B2430"/>
                </a:solidFill>
                <a:latin typeface="Aptos"/>
                <a:ea typeface="Aptos"/>
                <a:cs typeface="Aptos"/>
              </a:defRPr>
            </a:pPr>
            <a:r>
              <a:rPr sz="1200" b="0">
                <a:solidFill>
                  <a:srgbClr val="1B2430"/>
                </a:solidFill>
                <a:latin typeface="Aptos"/>
                <a:ea typeface="Aptos"/>
                <a:cs typeface="Aptos"/>
              </a:rPr>
              <a:t>• Y3 revenue: £1.04m / £1.37m / £1.91m</a:t>
            </a:r>
          </a:p>
          <a:p>
            <a:pPr algn="l">
              <a:buNone/>
              <a:defRPr sz="1200" b="0">
                <a:solidFill>
                  <a:srgbClr val="1B2430"/>
                </a:solidFill>
                <a:latin typeface="Aptos"/>
                <a:ea typeface="Aptos"/>
                <a:cs typeface="Aptos"/>
              </a:defRPr>
            </a:pPr>
            <a:r>
              <a:rPr sz="1200" b="0">
                <a:solidFill>
                  <a:srgbClr val="1B2430"/>
                </a:solidFill>
                <a:latin typeface="Aptos"/>
                <a:ea typeface="Aptos"/>
                <a:cs typeface="Aptos"/>
              </a:rPr>
              <a:t>• Break-even: &gt;M60 / Y4 M8 / Y4 M4</a:t>
            </a:r>
          </a:p>
          <a:p>
            <a:pPr algn="l">
              <a:buNone/>
              <a:defRPr sz="1200" b="0">
                <a:solidFill>
                  <a:srgbClr val="1B2430"/>
                </a:solidFill>
                <a:latin typeface="Aptos"/>
                <a:ea typeface="Aptos"/>
                <a:cs typeface="Aptos"/>
              </a:defRPr>
            </a:pPr>
            <a:r>
              <a:rPr sz="1200" b="0">
                <a:solidFill>
                  <a:srgbClr val="1B2430"/>
                </a:solidFill>
                <a:latin typeface="Aptos"/>
                <a:ea typeface="Aptos"/>
                <a:cs typeface="Aptos"/>
              </a:rPr>
              <a:t>• Client funds excluded from operating cash</a:t>
            </a:r>
            <a:endParaRPr sz="1125" b="0">
              <a:solidFill>
                <a:srgbClr val="1B2430"/>
              </a:solidFill>
              <a:latin typeface="Aptos"/>
              <a:ea typeface="Aptos"/>
              <a:cs typeface="Aptos"/>
            </a:endParaRPr>
          </a:p>
        </p:txBody>
      </p:sp>
      <p:sp>
        <p:nvSpPr>
          <p:cNvPr id="51" name="Rectangle 50">
            <a:extLst>
              <a:ext uri="{FF2B5EF4-FFF2-40B4-BE49-F238E27FC236}">
                <a16:creationId xmlns:a16="http://schemas.microsoft.com/office/drawing/2014/main" id="{221981F6-EEE9-4E84-A577-4C54199027D5}"/>
              </a:ext>
            </a:extLst>
          </p:cNvPr>
          <p:cNvSpPr>
            <a:spLocks noGrp="1"/>
          </p:cNvSpPr>
          <p:nvPr/>
        </p:nvSpPr>
        <p:spPr>
          <a:xfrm>
            <a:off x="11106150" y="6438900"/>
            <a:ext cx="552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6B7280"/>
                </a:solidFill>
                <a:latin typeface="Aptos"/>
                <a:ea typeface="Aptos"/>
                <a:cs typeface="Aptos"/>
              </a:defRPr>
            </a:pPr>
            <a:r>
              <a:rPr sz="900" b="1">
                <a:solidFill>
                  <a:srgbClr val="6B7280"/>
                </a:solidFill>
                <a:latin typeface="Aptos"/>
                <a:ea typeface="Aptos"/>
                <a:cs typeface="Aptos"/>
              </a:rPr>
              <a:t>13</a:t>
            </a:r>
          </a:p>
        </p:txBody>
      </p:sp>
    </p:spTree>
    <p:extLst>
      <p:ext uri="{BB962C8B-B14F-4D97-AF65-F5344CB8AC3E}">
        <p14:creationId xmlns:p14="http://schemas.microsoft.com/office/powerpoint/2010/main" val="697284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371600"/>
            <a:ext cx="502920" cy="3175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45775" cy="365760"/>
          </a:xfrm>
          <a:prstGeom prst="rect">
            <a:avLst/>
          </a:prstGeom>
          <a:noFill/>
        </p:spPr>
        <p:txBody>
          <a:bodyPr wrap="square">
            <a:spAutoFit/>
          </a:bodyPr>
          <a:lstStyle/>
          <a:p>
            <a:pPr algn="l"/>
            <a:r>
              <a:rPr sz="1300" b="1" spc="300">
                <a:solidFill>
                  <a:srgbClr val="C77D18"/>
                </a:solidFill>
                <a:latin typeface="Aptos"/>
              </a:rPr>
              <a:t>TEAM TRANSAKT</a:t>
            </a:r>
          </a:p>
        </p:txBody>
      </p:sp>
      <p:sp>
        <p:nvSpPr>
          <p:cNvPr id="5" name="TextBox 4"/>
          <p:cNvSpPr txBox="1"/>
          <p:nvPr/>
        </p:nvSpPr>
        <p:spPr>
          <a:xfrm>
            <a:off x="822960" y="1965960"/>
            <a:ext cx="10545775" cy="1463040"/>
          </a:xfrm>
          <a:prstGeom prst="rect">
            <a:avLst/>
          </a:prstGeom>
          <a:noFill/>
        </p:spPr>
        <p:txBody>
          <a:bodyPr wrap="square">
            <a:spAutoFit/>
          </a:bodyPr>
          <a:lstStyle/>
          <a:p>
            <a:pPr algn="l">
              <a:lnSpc>
                <a:spcPct val="105000"/>
              </a:lnSpc>
            </a:pPr>
            <a:r>
              <a:rPr sz="4000" b="1">
                <a:solidFill>
                  <a:srgbClr val="FFFFFF"/>
                </a:solidFill>
                <a:latin typeface="Aptos Display"/>
              </a:rPr>
              <a:t>The trust layer for global trade -</a:t>
            </a:r>
          </a:p>
          <a:p>
            <a:pPr algn="l">
              <a:lnSpc>
                <a:spcPct val="105000"/>
              </a:lnSpc>
            </a:pPr>
            <a:r>
              <a:rPr sz="4000" b="1">
                <a:solidFill>
                  <a:srgbClr val="C77D18"/>
                </a:solidFill>
                <a:latin typeface="Aptos Display"/>
              </a:rPr>
              <a:t>already settling.</a:t>
            </a:r>
          </a:p>
        </p:txBody>
      </p:sp>
      <p:sp>
        <p:nvSpPr>
          <p:cNvPr id="6" name="TextBox 5"/>
          <p:cNvSpPr txBox="1"/>
          <p:nvPr/>
        </p:nvSpPr>
        <p:spPr>
          <a:xfrm>
            <a:off x="822960" y="4206240"/>
            <a:ext cx="2926080" cy="365760"/>
          </a:xfrm>
          <a:prstGeom prst="rect">
            <a:avLst/>
          </a:prstGeom>
          <a:noFill/>
        </p:spPr>
        <p:txBody>
          <a:bodyPr wrap="square">
            <a:spAutoFit/>
          </a:bodyPr>
          <a:lstStyle/>
          <a:p>
            <a:pPr algn="l"/>
            <a:r>
              <a:rPr sz="1100" b="1" spc="200">
                <a:solidFill>
                  <a:srgbClr val="9CA6B8"/>
                </a:solidFill>
                <a:latin typeface="Aptos"/>
              </a:rPr>
              <a:t>LIVE PROTOTYPE</a:t>
            </a:r>
          </a:p>
        </p:txBody>
      </p:sp>
      <p:sp>
        <p:nvSpPr>
          <p:cNvPr id="7" name="TextBox 6"/>
          <p:cNvSpPr txBox="1"/>
          <p:nvPr/>
        </p:nvSpPr>
        <p:spPr>
          <a:xfrm>
            <a:off x="3840480" y="4206240"/>
            <a:ext cx="7315200" cy="365760"/>
          </a:xfrm>
          <a:prstGeom prst="rect">
            <a:avLst/>
          </a:prstGeom>
          <a:noFill/>
        </p:spPr>
        <p:txBody>
          <a:bodyPr wrap="square">
            <a:spAutoFit/>
          </a:bodyPr>
          <a:lstStyle/>
          <a:p>
            <a:pPr algn="l"/>
            <a:r>
              <a:rPr sz="1300" b="0">
                <a:solidFill>
                  <a:srgbClr val="FFFFFF"/>
                </a:solidFill>
                <a:latin typeface="Consolas"/>
              </a:rPr>
              <a:t>block-med-nine.vercel.app</a:t>
            </a:r>
          </a:p>
        </p:txBody>
      </p:sp>
      <p:sp>
        <p:nvSpPr>
          <p:cNvPr id="8" name="TextBox 7"/>
          <p:cNvSpPr txBox="1"/>
          <p:nvPr/>
        </p:nvSpPr>
        <p:spPr>
          <a:xfrm>
            <a:off x="822960" y="4681728"/>
            <a:ext cx="2926080" cy="365760"/>
          </a:xfrm>
          <a:prstGeom prst="rect">
            <a:avLst/>
          </a:prstGeom>
          <a:noFill/>
        </p:spPr>
        <p:txBody>
          <a:bodyPr wrap="square">
            <a:spAutoFit/>
          </a:bodyPr>
          <a:lstStyle/>
          <a:p>
            <a:pPr algn="l"/>
            <a:r>
              <a:rPr sz="1100" b="1" spc="200">
                <a:solidFill>
                  <a:srgbClr val="9CA6B8"/>
                </a:solidFill>
                <a:latin typeface="Aptos"/>
              </a:rPr>
              <a:t>SOURCE &amp; DOCUMENTS</a:t>
            </a:r>
          </a:p>
        </p:txBody>
      </p:sp>
      <p:sp>
        <p:nvSpPr>
          <p:cNvPr id="9" name="TextBox 8"/>
          <p:cNvSpPr txBox="1"/>
          <p:nvPr/>
        </p:nvSpPr>
        <p:spPr>
          <a:xfrm>
            <a:off x="3840480" y="4681728"/>
            <a:ext cx="7315200" cy="365760"/>
          </a:xfrm>
          <a:prstGeom prst="rect">
            <a:avLst/>
          </a:prstGeom>
          <a:noFill/>
        </p:spPr>
        <p:txBody>
          <a:bodyPr wrap="square">
            <a:spAutoFit/>
          </a:bodyPr>
          <a:lstStyle/>
          <a:p>
            <a:pPr algn="l"/>
            <a:r>
              <a:rPr sz="1300" b="0">
                <a:solidFill>
                  <a:srgbClr val="FFFFFF"/>
                </a:solidFill>
                <a:latin typeface="Consolas"/>
              </a:rPr>
              <a:t>github.com/nchengg/BlockMed</a:t>
            </a:r>
          </a:p>
        </p:txBody>
      </p:sp>
      <p:sp>
        <p:nvSpPr>
          <p:cNvPr id="10" name="TextBox 9"/>
          <p:cNvSpPr txBox="1"/>
          <p:nvPr/>
        </p:nvSpPr>
        <p:spPr>
          <a:xfrm>
            <a:off x="822960" y="5157216"/>
            <a:ext cx="2926080" cy="365760"/>
          </a:xfrm>
          <a:prstGeom prst="rect">
            <a:avLst/>
          </a:prstGeom>
          <a:noFill/>
        </p:spPr>
        <p:txBody>
          <a:bodyPr wrap="square">
            <a:spAutoFit/>
          </a:bodyPr>
          <a:lstStyle/>
          <a:p>
            <a:pPr algn="l"/>
            <a:r>
              <a:rPr sz="1100" b="1" spc="200">
                <a:solidFill>
                  <a:srgbClr val="9CA6B8"/>
                </a:solidFill>
                <a:latin typeface="Aptos"/>
              </a:rPr>
              <a:t>THE SETTLEMENT</a:t>
            </a:r>
          </a:p>
        </p:txBody>
      </p:sp>
      <p:sp>
        <p:nvSpPr>
          <p:cNvPr id="11" name="TextBox 10"/>
          <p:cNvSpPr txBox="1"/>
          <p:nvPr/>
        </p:nvSpPr>
        <p:spPr>
          <a:xfrm>
            <a:off x="3840480" y="5157216"/>
            <a:ext cx="7315200" cy="492443"/>
          </a:xfrm>
          <a:prstGeom prst="rect">
            <a:avLst/>
          </a:prstGeom>
          <a:noFill/>
        </p:spPr>
        <p:txBody>
          <a:bodyPr wrap="square">
            <a:spAutoFit/>
          </a:bodyPr>
          <a:lstStyle/>
          <a:p>
            <a:r>
              <a:rPr lang="en-GB" sz="1300" dirty="0">
                <a:solidFill>
                  <a:srgbClr val="FFFFFF"/>
                </a:solidFill>
                <a:latin typeface="Consolas"/>
              </a:rPr>
              <a:t>https://basescan.org/tx/0xd688a6cb7e4a2a13d5b939115c056a44fb486eac08837403b5d161fe60d7ec1e</a:t>
            </a:r>
            <a:endParaRPr sz="1300" b="0" dirty="0">
              <a:solidFill>
                <a:srgbClr val="FFFFFF"/>
              </a:solidFill>
              <a:latin typeface="Consolas"/>
            </a:endParaRPr>
          </a:p>
        </p:txBody>
      </p:sp>
    </p:spTree>
  </p:cSld>
  <p:clrMapOvr>
    <a:masterClrMapping/>
  </p:clrMapOvr>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5CFC7245-F426-4B7C-A90B-95E5DFDB98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F"/>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pPr marL="0" indent="0" algn="l" defTabSz="914400">
              <a:buNone/>
            </a:pPr>
            <a:endParaRPr/>
          </a:p>
        </p:txBody>
      </p:sp>
      <p:sp>
        <p:nvSpPr>
          <p:cNvPr id="2" name="kicker-08-marker">
            <a:extLst xmlns:a="http://schemas.openxmlformats.org/drawingml/2006/main">
              <a:ext uri="{FF2B5EF4-FFF2-40B4-BE49-F238E27FC236}">
                <a16:creationId xmlns:a16="http://schemas.microsoft.com/office/drawing/2014/main" id="{32ECFFE6-CDF4-4BB5-9EE0-AF6F59704513}"/>
              </a:ext>
            </a:extLst>
          </p:cNvPr>
          <p:cNvSpPr>
            <a:spLocks xmlns:a="http://schemas.openxmlformats.org/drawingml/2006/main" noGrp="1"/>
          </p:cNvSpPr>
          <p:nvPr/>
        </p:nvSpPr>
        <p:spPr>
          <a:xfrm xmlns:a="http://schemas.openxmlformats.org/drawingml/2006/main">
            <a:off x="533400" y="438150"/>
            <a:ext cx="76200" cy="76200"/>
          </a:xfrm>
          <a:prstGeom xmlns:a="http://schemas.openxmlformats.org/drawingml/2006/main" prst="rect">
            <a:avLst/>
          </a:prstGeom>
          <a:solidFill xmlns:a="http://schemas.openxmlformats.org/drawingml/2006/main">
            <a:srgbClr val="0B1B3A"/>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kicker-08-label">
            <a:extLst xmlns:a="http://schemas.openxmlformats.org/drawingml/2006/main">
              <a:ext uri="{FF2B5EF4-FFF2-40B4-BE49-F238E27FC236}">
                <a16:creationId xmlns:a16="http://schemas.microsoft.com/office/drawing/2014/main" id="{2B0E90CB-A161-46E8-8901-876F0547EB95}"/>
              </a:ext>
            </a:extLst>
          </p:cNvPr>
          <p:cNvSpPr>
            <a:spLocks xmlns:a="http://schemas.openxmlformats.org/drawingml/2006/main" noGrp="1"/>
          </p:cNvSpPr>
          <p:nvPr/>
        </p:nvSpPr>
        <p:spPr>
          <a:xfrm xmlns:a="http://schemas.openxmlformats.org/drawingml/2006/main">
            <a:off x="723900" y="36195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6B7280"/>
                </a:solidFill>
                <a:latin typeface="Aptos"/>
                <a:ea typeface="Aptos"/>
                <a:cs typeface="Aptos"/>
              </a:defRPr>
            </a:pPr>
            <a:r>
              <a:rPr sz="900" b="1">
                <a:solidFill>
                  <a:srgbClr val="6B7280"/>
                </a:solidFill>
                <a:latin typeface="Aptos"/>
                <a:ea typeface="Aptos"/>
                <a:cs typeface="Aptos"/>
              </a:rPr>
              <a:t>BUSINESS MODEL</a:t>
            </a:r>
          </a:p>
        </p:txBody>
      </p:sp>
      <p:sp>
        <p:nvSpPr>
          <p:cNvPr id="4" name="Rectangle 3">
            <a:extLst xmlns:a="http://schemas.openxmlformats.org/drawingml/2006/main">
              <a:ext uri="{FF2B5EF4-FFF2-40B4-BE49-F238E27FC236}">
                <a16:creationId xmlns:a16="http://schemas.microsoft.com/office/drawing/2014/main" id="{04FA7FC7-C48E-4E87-A9E6-E18BAB9D8419}"/>
              </a:ext>
            </a:extLst>
          </p:cNvPr>
          <p:cNvSpPr>
            <a:spLocks xmlns:a="http://schemas.openxmlformats.org/drawingml/2006/main" noGrp="1"/>
          </p:cNvSpPr>
          <p:nvPr/>
        </p:nvSpPr>
        <p:spPr>
          <a:xfrm xmlns:a="http://schemas.openxmlformats.org/drawingml/2006/main">
            <a:off x="533400" y="685800"/>
            <a:ext cx="8191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1">
                <a:solidFill>
                  <a:srgbClr val="0B1B3A"/>
                </a:solidFill>
                <a:latin typeface="Aptos Display"/>
                <a:ea typeface="Aptos Display"/>
                <a:cs typeface="Aptos Display"/>
              </a:defRPr>
            </a:pPr>
            <a:r>
              <a:rPr sz="3000" b="1">
                <a:solidFill>
                  <a:srgbClr val="0B1B3A"/>
                </a:solidFill>
                <a:latin typeface="Aptos Display"/>
                <a:ea typeface="Aptos Display"/>
                <a:cs typeface="Aptos Display"/>
              </a:rPr>
              <a:t>Every verified trade earns revenue, while partner channels add scale.</a:t>
            </a:r>
          </a:p>
        </p:txBody>
      </p:sp>
      <p:sp>
        <p:nvSpPr>
          <p:cNvPr id="5" name="Rectangle 4">
            <a:extLst xmlns:a="http://schemas.openxmlformats.org/drawingml/2006/main">
              <a:ext uri="{FF2B5EF4-FFF2-40B4-BE49-F238E27FC236}">
                <a16:creationId xmlns:a16="http://schemas.microsoft.com/office/drawing/2014/main" id="{8F3364A7-8494-419B-B1E9-62ADEDE12A3C}"/>
              </a:ext>
            </a:extLst>
          </p:cNvPr>
          <p:cNvSpPr>
            <a:spLocks xmlns:a="http://schemas.openxmlformats.org/drawingml/2006/main" noGrp="1"/>
          </p:cNvSpPr>
          <p:nvPr/>
        </p:nvSpPr>
        <p:spPr>
          <a:xfrm xmlns:a="http://schemas.openxmlformats.org/drawingml/2006/main">
            <a:off x="571500" y="1638300"/>
            <a:ext cx="8953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B2430"/>
                </a:solidFill>
                <a:latin typeface="Aptos"/>
                <a:ea typeface="Aptos"/>
                <a:cs typeface="Aptos"/>
              </a:defRPr>
            </a:pPr>
            <a:r>
              <a:rPr sz="1500" b="0">
                <a:solidFill>
                  <a:srgbClr val="1B2430"/>
                </a:solidFill>
                <a:latin typeface="Aptos"/>
                <a:ea typeface="Aptos"/>
                <a:cs typeface="Aptos"/>
              </a:rPr>
              <a:t>Customers choose a verification tier based on document complexity. Blockmediary earns transaction and review fees without lending, FX trading or using client funds.</a:t>
            </a:r>
          </a:p>
        </p:txBody>
      </p:sp>
      <p:sp>
        <p:nvSpPr>
          <p:cNvPr id="6" name="Rectangle 5">
            <a:extLst xmlns:a="http://schemas.openxmlformats.org/drawingml/2006/main">
              <a:ext uri="{FF2B5EF4-FFF2-40B4-BE49-F238E27FC236}">
                <a16:creationId xmlns:a16="http://schemas.microsoft.com/office/drawing/2014/main" id="{E17CCC04-12C7-486A-A263-1957D9CE1398}"/>
              </a:ext>
            </a:extLst>
          </p:cNvPr>
          <p:cNvSpPr>
            <a:spLocks xmlns:a="http://schemas.openxmlformats.org/drawingml/2006/main" noGrp="1"/>
          </p:cNvSpPr>
          <p:nvPr/>
        </p:nvSpPr>
        <p:spPr>
          <a:xfrm xmlns:a="http://schemas.openxmlformats.org/drawingml/2006/main">
            <a:off x="742950" y="2609850"/>
            <a:ext cx="30480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87BFCE09-77C6-47CD-AC06-92CCEBF07563}"/>
              </a:ext>
            </a:extLst>
          </p:cNvPr>
          <p:cNvSpPr>
            <a:spLocks xmlns:a="http://schemas.openxmlformats.org/drawingml/2006/main" noGrp="1"/>
          </p:cNvSpPr>
          <p:nvPr/>
        </p:nvSpPr>
        <p:spPr>
          <a:xfrm xmlns:a="http://schemas.openxmlformats.org/drawingml/2006/main">
            <a:off x="742950" y="2609850"/>
            <a:ext cx="3048000" cy="66675"/>
          </a:xfrm>
          <a:prstGeom xmlns:a="http://schemas.openxmlformats.org/drawingml/2006/main" prst="rect">
            <a:avLst/>
          </a:prstGeom>
          <a:solidFill xmlns:a="http://schemas.openxmlformats.org/drawingml/2006/main">
            <a:srgbClr val="0E8C7F"/>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930165D-54DE-482A-93CB-8DC144596CF3}"/>
              </a:ext>
            </a:extLst>
          </p:cNvPr>
          <p:cNvSpPr>
            <a:spLocks xmlns:a="http://schemas.openxmlformats.org/drawingml/2006/main" noGrp="1"/>
          </p:cNvSpPr>
          <p:nvPr/>
        </p:nvSpPr>
        <p:spPr>
          <a:xfrm xmlns:a="http://schemas.openxmlformats.org/drawingml/2006/main">
            <a:off x="952500" y="2857500"/>
            <a:ext cx="419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E8C7F"/>
                </a:solidFill>
                <a:latin typeface="Aptos"/>
                <a:ea typeface="Aptos"/>
                <a:cs typeface="Aptos"/>
              </a:defRPr>
            </a:pPr>
            <a:r>
              <a:rPr sz="2250" b="1">
                <a:solidFill>
                  <a:srgbClr val="0E8C7F"/>
                </a:solidFill>
                <a:latin typeface="Aptos"/>
                <a:ea typeface="Aptos"/>
                <a:cs typeface="Aptos"/>
              </a:rPr>
              <a:t>A</a:t>
            </a:r>
          </a:p>
        </p:txBody>
      </p:sp>
      <p:sp>
        <p:nvSpPr>
          <p:cNvPr id="9" name="Rectangle 8">
            <a:extLst xmlns:a="http://schemas.openxmlformats.org/drawingml/2006/main">
              <a:ext uri="{FF2B5EF4-FFF2-40B4-BE49-F238E27FC236}">
                <a16:creationId xmlns:a16="http://schemas.microsoft.com/office/drawing/2014/main" id="{7C12F6ED-A722-4B51-A8D3-7EA342EDFDB2}"/>
              </a:ext>
            </a:extLst>
          </p:cNvPr>
          <p:cNvSpPr>
            <a:spLocks xmlns:a="http://schemas.openxmlformats.org/drawingml/2006/main" noGrp="1"/>
          </p:cNvSpPr>
          <p:nvPr/>
        </p:nvSpPr>
        <p:spPr>
          <a:xfrm xmlns:a="http://schemas.openxmlformats.org/drawingml/2006/main">
            <a:off x="1466850" y="28956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B1B3A"/>
                </a:solidFill>
                <a:latin typeface="Aptos"/>
                <a:ea typeface="Aptos"/>
                <a:cs typeface="Aptos"/>
              </a:defRPr>
            </a:pPr>
            <a:r>
              <a:rPr sz="1500" b="1">
                <a:solidFill>
                  <a:srgbClr val="0B1B3A"/>
                </a:solidFill>
                <a:latin typeface="Aptos"/>
                <a:ea typeface="Aptos"/>
                <a:cs typeface="Aptos"/>
              </a:rPr>
              <a:t>Escrow fees</a:t>
            </a:r>
          </a:p>
        </p:txBody>
      </p:sp>
      <p:sp>
        <p:nvSpPr>
          <p:cNvPr id="10" name="Rectangle 9">
            <a:extLst xmlns:a="http://schemas.openxmlformats.org/drawingml/2006/main">
              <a:ext uri="{FF2B5EF4-FFF2-40B4-BE49-F238E27FC236}">
                <a16:creationId xmlns:a16="http://schemas.microsoft.com/office/drawing/2014/main" id="{6E1BFF95-CF35-4488-8D0F-3F041872F328}"/>
              </a:ext>
            </a:extLst>
          </p:cNvPr>
          <p:cNvSpPr>
            <a:spLocks xmlns:a="http://schemas.openxmlformats.org/drawingml/2006/main" noGrp="1"/>
          </p:cNvSpPr>
          <p:nvPr/>
        </p:nvSpPr>
        <p:spPr>
          <a:xfrm xmlns:a="http://schemas.openxmlformats.org/drawingml/2006/main">
            <a:off x="971550" y="3352800"/>
            <a:ext cx="2457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B2430"/>
                </a:solidFill>
                <a:latin typeface="Aptos"/>
                <a:ea typeface="Aptos"/>
                <a:cs typeface="Aptos"/>
              </a:defRPr>
            </a:pPr>
            <a:r>
              <a:rPr sz="1050" b="0">
                <a:solidFill>
                  <a:srgbClr val="1B2430"/>
                </a:solidFill>
                <a:latin typeface="Aptos"/>
                <a:ea typeface="Aptos"/>
                <a:cs typeface="Aptos"/>
              </a:rPr>
              <a:t>0.8% / 1.5% / 3.0% by eBL, carrier API or paper workflow; minimum £150 / £250 / £500.</a:t>
            </a:r>
          </a:p>
        </p:txBody>
      </p:sp>
      <p:sp>
        <p:nvSpPr>
          <p:cNvPr id="11" name="Rectangle 10">
            <a:extLst xmlns:a="http://schemas.openxmlformats.org/drawingml/2006/main">
              <a:ext uri="{FF2B5EF4-FFF2-40B4-BE49-F238E27FC236}">
                <a16:creationId xmlns:a16="http://schemas.microsoft.com/office/drawing/2014/main" id="{609FC3AC-22EE-4360-8D92-2E6F526D28AF}"/>
              </a:ext>
            </a:extLst>
          </p:cNvPr>
          <p:cNvSpPr>
            <a:spLocks xmlns:a="http://schemas.openxmlformats.org/drawingml/2006/main" noGrp="1"/>
          </p:cNvSpPr>
          <p:nvPr/>
        </p:nvSpPr>
        <p:spPr>
          <a:xfrm xmlns:a="http://schemas.openxmlformats.org/drawingml/2006/main">
            <a:off x="971550" y="39052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0E8C7F"/>
                </a:solidFill>
                <a:latin typeface="Aptos"/>
                <a:ea typeface="Aptos"/>
                <a:cs typeface="Aptos"/>
              </a:defRPr>
            </a:pPr>
            <a:r>
              <a:rPr sz="1200" b="1">
                <a:solidFill>
                  <a:srgbClr val="0E8C7F"/>
                </a:solidFill>
                <a:latin typeface="Aptos"/>
                <a:ea typeface="Aptos"/>
                <a:cs typeface="Aptos"/>
              </a:rPr>
              <a:t>core revenue on every deal</a:t>
            </a:r>
          </a:p>
        </p:txBody>
      </p:sp>
      <p:sp>
        <p:nvSpPr>
          <p:cNvPr id="12" name="Rectangle 11">
            <a:extLst xmlns:a="http://schemas.openxmlformats.org/drawingml/2006/main">
              <a:ext uri="{FF2B5EF4-FFF2-40B4-BE49-F238E27FC236}">
                <a16:creationId xmlns:a16="http://schemas.microsoft.com/office/drawing/2014/main" id="{3103FC44-9425-4C1E-B670-FD279C8BB48B}"/>
              </a:ext>
            </a:extLst>
          </p:cNvPr>
          <p:cNvSpPr>
            <a:spLocks xmlns:a="http://schemas.openxmlformats.org/drawingml/2006/main" noGrp="1"/>
          </p:cNvSpPr>
          <p:nvPr/>
        </p:nvSpPr>
        <p:spPr>
          <a:xfrm xmlns:a="http://schemas.openxmlformats.org/drawingml/2006/main">
            <a:off x="4572000" y="2609850"/>
            <a:ext cx="30480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6104B204-F192-44E6-88A4-0020F0267FB5}"/>
              </a:ext>
            </a:extLst>
          </p:cNvPr>
          <p:cNvSpPr>
            <a:spLocks xmlns:a="http://schemas.openxmlformats.org/drawingml/2006/main" noGrp="1"/>
          </p:cNvSpPr>
          <p:nvPr/>
        </p:nvSpPr>
        <p:spPr>
          <a:xfrm xmlns:a="http://schemas.openxmlformats.org/drawingml/2006/main">
            <a:off x="4572000" y="2609850"/>
            <a:ext cx="3048000" cy="66675"/>
          </a:xfrm>
          <a:prstGeom xmlns:a="http://schemas.openxmlformats.org/drawingml/2006/main" prst="rect">
            <a:avLst/>
          </a:prstGeom>
          <a:solidFill xmlns:a="http://schemas.openxmlformats.org/drawingml/2006/main">
            <a:srgbClr val="1F6FB2"/>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CA3B5CF2-CA99-4E10-8F95-B9DC57AEE403}"/>
              </a:ext>
            </a:extLst>
          </p:cNvPr>
          <p:cNvSpPr>
            <a:spLocks xmlns:a="http://schemas.openxmlformats.org/drawingml/2006/main" noGrp="1"/>
          </p:cNvSpPr>
          <p:nvPr/>
        </p:nvSpPr>
        <p:spPr>
          <a:xfrm xmlns:a="http://schemas.openxmlformats.org/drawingml/2006/main">
            <a:off x="4781550" y="2857500"/>
            <a:ext cx="419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F6FB2"/>
                </a:solidFill>
                <a:latin typeface="Aptos"/>
                <a:ea typeface="Aptos"/>
                <a:cs typeface="Aptos"/>
              </a:defRPr>
            </a:pPr>
            <a:r>
              <a:rPr sz="2250" b="1">
                <a:solidFill>
                  <a:srgbClr val="1F6FB2"/>
                </a:solidFill>
                <a:latin typeface="Aptos"/>
                <a:ea typeface="Aptos"/>
                <a:cs typeface="Aptos"/>
              </a:rPr>
              <a:t>B</a:t>
            </a:r>
          </a:p>
        </p:txBody>
      </p:sp>
      <p:sp>
        <p:nvSpPr>
          <p:cNvPr id="15" name="Rectangle 14">
            <a:extLst xmlns:a="http://schemas.openxmlformats.org/drawingml/2006/main">
              <a:ext uri="{FF2B5EF4-FFF2-40B4-BE49-F238E27FC236}">
                <a16:creationId xmlns:a16="http://schemas.microsoft.com/office/drawing/2014/main" id="{C9DD6D00-4112-4D7F-9A00-AE17163976EA}"/>
              </a:ext>
            </a:extLst>
          </p:cNvPr>
          <p:cNvSpPr>
            <a:spLocks xmlns:a="http://schemas.openxmlformats.org/drawingml/2006/main" noGrp="1"/>
          </p:cNvSpPr>
          <p:nvPr/>
        </p:nvSpPr>
        <p:spPr>
          <a:xfrm xmlns:a="http://schemas.openxmlformats.org/drawingml/2006/main">
            <a:off x="5295900" y="28956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B1B3A"/>
                </a:solidFill>
                <a:latin typeface="Aptos"/>
                <a:ea typeface="Aptos"/>
                <a:cs typeface="Aptos"/>
              </a:defRPr>
            </a:pPr>
            <a:r>
              <a:rPr sz="1500" b="1">
                <a:solidFill>
                  <a:srgbClr val="0B1B3A"/>
                </a:solidFill>
                <a:latin typeface="Aptos"/>
                <a:ea typeface="Aptos"/>
                <a:cs typeface="Aptos"/>
              </a:rPr>
              <a:t>Document fees</a:t>
            </a:r>
          </a:p>
        </p:txBody>
      </p:sp>
      <p:sp>
        <p:nvSpPr>
          <p:cNvPr id="16" name="Rectangle 15">
            <a:extLst xmlns:a="http://schemas.openxmlformats.org/drawingml/2006/main">
              <a:ext uri="{FF2B5EF4-FFF2-40B4-BE49-F238E27FC236}">
                <a16:creationId xmlns:a16="http://schemas.microsoft.com/office/drawing/2014/main" id="{E278E5CF-CDE6-4F12-B38C-946C3D13D755}"/>
              </a:ext>
            </a:extLst>
          </p:cNvPr>
          <p:cNvSpPr>
            <a:spLocks xmlns:a="http://schemas.openxmlformats.org/drawingml/2006/main" noGrp="1"/>
          </p:cNvSpPr>
          <p:nvPr/>
        </p:nvSpPr>
        <p:spPr>
          <a:xfrm xmlns:a="http://schemas.openxmlformats.org/drawingml/2006/main">
            <a:off x="4800600" y="3352800"/>
            <a:ext cx="2457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B2430"/>
                </a:solidFill>
                <a:latin typeface="Aptos"/>
                <a:ea typeface="Aptos"/>
                <a:cs typeface="Aptos"/>
              </a:defRPr>
            </a:pPr>
            <a:r>
              <a:rPr sz="1050" b="0">
                <a:solidFill>
                  <a:srgbClr val="1B2430"/>
                </a:solidFill>
                <a:latin typeface="Aptos"/>
                <a:ea typeface="Aptos"/>
                <a:cs typeface="Aptos"/>
              </a:rPr>
              <a:t>£25 / £90 / £300 review fee by tier; onboarding and dispute fees apply only when used.</a:t>
            </a:r>
          </a:p>
        </p:txBody>
      </p:sp>
      <p:sp>
        <p:nvSpPr>
          <p:cNvPr id="17" name="Rectangle 16">
            <a:extLst xmlns:a="http://schemas.openxmlformats.org/drawingml/2006/main">
              <a:ext uri="{FF2B5EF4-FFF2-40B4-BE49-F238E27FC236}">
                <a16:creationId xmlns:a16="http://schemas.microsoft.com/office/drawing/2014/main" id="{8C645EB8-38D7-4F2E-8E03-799A98398BCF}"/>
              </a:ext>
            </a:extLst>
          </p:cNvPr>
          <p:cNvSpPr>
            <a:spLocks xmlns:a="http://schemas.openxmlformats.org/drawingml/2006/main" noGrp="1"/>
          </p:cNvSpPr>
          <p:nvPr/>
        </p:nvSpPr>
        <p:spPr>
          <a:xfrm xmlns:a="http://schemas.openxmlformats.org/drawingml/2006/main">
            <a:off x="4800600" y="39052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1F6FB2"/>
                </a:solidFill>
                <a:latin typeface="Aptos"/>
                <a:ea typeface="Aptos"/>
                <a:cs typeface="Aptos"/>
              </a:defRPr>
            </a:pPr>
            <a:r>
              <a:rPr sz="1200" b="1">
                <a:solidFill>
                  <a:srgbClr val="1F6FB2"/>
                </a:solidFill>
                <a:latin typeface="Aptos"/>
                <a:ea typeface="Aptos"/>
                <a:cs typeface="Aptos"/>
              </a:rPr>
              <a:t>prices operational complexity</a:t>
            </a:r>
          </a:p>
        </p:txBody>
      </p:sp>
      <p:sp>
        <p:nvSpPr>
          <p:cNvPr id="18" name="Rectangle 17">
            <a:extLst xmlns:a="http://schemas.openxmlformats.org/drawingml/2006/main">
              <a:ext uri="{FF2B5EF4-FFF2-40B4-BE49-F238E27FC236}">
                <a16:creationId xmlns:a16="http://schemas.microsoft.com/office/drawing/2014/main" id="{0DCC2A0B-9ACC-469F-8279-5F8F67EB2DB7}"/>
              </a:ext>
            </a:extLst>
          </p:cNvPr>
          <p:cNvSpPr>
            <a:spLocks xmlns:a="http://schemas.openxmlformats.org/drawingml/2006/main" noGrp="1"/>
          </p:cNvSpPr>
          <p:nvPr/>
        </p:nvSpPr>
        <p:spPr>
          <a:xfrm xmlns:a="http://schemas.openxmlformats.org/drawingml/2006/main">
            <a:off x="8401050" y="2609850"/>
            <a:ext cx="30480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751AD9F5-6FC2-4E64-90E7-67DFE3B7E31D}"/>
              </a:ext>
            </a:extLst>
          </p:cNvPr>
          <p:cNvSpPr>
            <a:spLocks xmlns:a="http://schemas.openxmlformats.org/drawingml/2006/main" noGrp="1"/>
          </p:cNvSpPr>
          <p:nvPr/>
        </p:nvSpPr>
        <p:spPr>
          <a:xfrm xmlns:a="http://schemas.openxmlformats.org/drawingml/2006/main">
            <a:off x="8401050" y="2609850"/>
            <a:ext cx="3048000" cy="66675"/>
          </a:xfrm>
          <a:prstGeom xmlns:a="http://schemas.openxmlformats.org/drawingml/2006/main" prst="rect">
            <a:avLst/>
          </a:prstGeom>
          <a:solidFill xmlns:a="http://schemas.openxmlformats.org/drawingml/2006/main">
            <a:srgbClr val="2C7A33"/>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F01170D6-62F7-4B12-B63B-EF6FB3DDE9B5}"/>
              </a:ext>
            </a:extLst>
          </p:cNvPr>
          <p:cNvSpPr>
            <a:spLocks xmlns:a="http://schemas.openxmlformats.org/drawingml/2006/main" noGrp="1"/>
          </p:cNvSpPr>
          <p:nvPr/>
        </p:nvSpPr>
        <p:spPr>
          <a:xfrm xmlns:a="http://schemas.openxmlformats.org/drawingml/2006/main">
            <a:off x="8610600" y="2857500"/>
            <a:ext cx="419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C7A33"/>
                </a:solidFill>
                <a:latin typeface="Aptos"/>
                <a:ea typeface="Aptos"/>
                <a:cs typeface="Aptos"/>
              </a:defRPr>
            </a:pPr>
            <a:r>
              <a:rPr sz="2250" b="1">
                <a:solidFill>
                  <a:srgbClr val="2C7A33"/>
                </a:solidFill>
                <a:latin typeface="Aptos"/>
                <a:ea typeface="Aptos"/>
                <a:cs typeface="Aptos"/>
              </a:rPr>
              <a:t>C</a:t>
            </a:r>
          </a:p>
        </p:txBody>
      </p:sp>
      <p:sp>
        <p:nvSpPr>
          <p:cNvPr id="21" name="Rectangle 20">
            <a:extLst xmlns:a="http://schemas.openxmlformats.org/drawingml/2006/main">
              <a:ext uri="{FF2B5EF4-FFF2-40B4-BE49-F238E27FC236}">
                <a16:creationId xmlns:a16="http://schemas.microsoft.com/office/drawing/2014/main" id="{766CD84A-FA67-425B-98DC-15B987B137F6}"/>
              </a:ext>
            </a:extLst>
          </p:cNvPr>
          <p:cNvSpPr>
            <a:spLocks xmlns:a="http://schemas.openxmlformats.org/drawingml/2006/main" noGrp="1"/>
          </p:cNvSpPr>
          <p:nvPr/>
        </p:nvSpPr>
        <p:spPr>
          <a:xfrm xmlns:a="http://schemas.openxmlformats.org/drawingml/2006/main">
            <a:off x="9124950" y="28956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B1B3A"/>
                </a:solidFill>
                <a:latin typeface="Aptos"/>
                <a:ea typeface="Aptos"/>
                <a:cs typeface="Aptos"/>
              </a:defRPr>
            </a:pPr>
            <a:r>
              <a:rPr sz="1500" b="1">
                <a:solidFill>
                  <a:srgbClr val="0B1B3A"/>
                </a:solidFill>
                <a:latin typeface="Aptos"/>
                <a:ea typeface="Aptos"/>
                <a:cs typeface="Aptos"/>
              </a:rPr>
              <a:t>Partner / API</a:t>
            </a:r>
          </a:p>
        </p:txBody>
      </p:sp>
      <p:sp>
        <p:nvSpPr>
          <p:cNvPr id="22" name="Rectangle 21">
            <a:extLst xmlns:a="http://schemas.openxmlformats.org/drawingml/2006/main">
              <a:ext uri="{FF2B5EF4-FFF2-40B4-BE49-F238E27FC236}">
                <a16:creationId xmlns:a16="http://schemas.microsoft.com/office/drawing/2014/main" id="{8CA16E95-5115-42D3-86DC-A175C215E485}"/>
              </a:ext>
            </a:extLst>
          </p:cNvPr>
          <p:cNvSpPr>
            <a:spLocks xmlns:a="http://schemas.openxmlformats.org/drawingml/2006/main" noGrp="1"/>
          </p:cNvSpPr>
          <p:nvPr/>
        </p:nvSpPr>
        <p:spPr>
          <a:xfrm xmlns:a="http://schemas.openxmlformats.org/drawingml/2006/main">
            <a:off x="8629650" y="3352800"/>
            <a:ext cx="2457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B2430"/>
                </a:solidFill>
                <a:latin typeface="Aptos"/>
                <a:ea typeface="Aptos"/>
                <a:cs typeface="Aptos"/>
              </a:defRPr>
            </a:pPr>
            <a:r>
              <a:rPr sz="1050" b="0">
                <a:solidFill>
                  <a:srgbClr val="1B2430"/>
                </a:solidFill>
                <a:latin typeface="Aptos"/>
                <a:ea typeface="Aptos"/>
                <a:cs typeface="Aptos"/>
              </a:rPr>
              <a:t>Setup and committed-volume fees from platforms, wallets and logistics partners.</a:t>
            </a:r>
          </a:p>
        </p:txBody>
      </p:sp>
      <p:sp>
        <p:nvSpPr>
          <p:cNvPr id="23" name="Rectangle 22">
            <a:extLst xmlns:a="http://schemas.openxmlformats.org/drawingml/2006/main">
              <a:ext uri="{FF2B5EF4-FFF2-40B4-BE49-F238E27FC236}">
                <a16:creationId xmlns:a16="http://schemas.microsoft.com/office/drawing/2014/main" id="{BE0A658F-88C7-4947-94D6-AF2CC16302B3}"/>
              </a:ext>
            </a:extLst>
          </p:cNvPr>
          <p:cNvSpPr>
            <a:spLocks xmlns:a="http://schemas.openxmlformats.org/drawingml/2006/main" noGrp="1"/>
          </p:cNvSpPr>
          <p:nvPr/>
        </p:nvSpPr>
        <p:spPr>
          <a:xfrm xmlns:a="http://schemas.openxmlformats.org/drawingml/2006/main">
            <a:off x="8629650" y="39052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2C7A33"/>
                </a:solidFill>
                <a:latin typeface="Aptos"/>
                <a:ea typeface="Aptos"/>
                <a:cs typeface="Aptos"/>
              </a:defRPr>
            </a:pPr>
            <a:r>
              <a:rPr sz="1200" b="1">
                <a:solidFill>
                  <a:srgbClr val="2C7A33"/>
                </a:solidFill>
                <a:latin typeface="Aptos"/>
                <a:ea typeface="Aptos"/>
                <a:cs typeface="Aptos"/>
              </a:rPr>
              <a:t>scales distribution, not balance sheet</a:t>
            </a:r>
          </a:p>
        </p:txBody>
      </p:sp>
      <p:sp>
        <p:nvSpPr>
          <p:cNvPr id="24" name="Rectangle 23">
            <a:extLst xmlns:a="http://schemas.openxmlformats.org/drawingml/2006/main">
              <a:ext uri="{FF2B5EF4-FFF2-40B4-BE49-F238E27FC236}">
                <a16:creationId xmlns:a16="http://schemas.microsoft.com/office/drawing/2014/main" id="{F529439F-AA1B-479F-9713-F803AF3F0A88}"/>
              </a:ext>
            </a:extLst>
          </p:cNvPr>
          <p:cNvSpPr>
            <a:spLocks xmlns:a="http://schemas.openxmlformats.org/drawingml/2006/main" noGrp="1"/>
          </p:cNvSpPr>
          <p:nvPr/>
        </p:nvSpPr>
        <p:spPr>
          <a:xfrm xmlns:a="http://schemas.openxmlformats.org/drawingml/2006/main">
            <a:off x="914400" y="4876800"/>
            <a:ext cx="2381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9387088B-50B6-4E74-B1D9-1258469B22F1}"/>
              </a:ext>
            </a:extLst>
          </p:cNvPr>
          <p:cNvSpPr>
            <a:spLocks xmlns:a="http://schemas.openxmlformats.org/drawingml/2006/main" noGrp="1"/>
          </p:cNvSpPr>
          <p:nvPr/>
        </p:nvSpPr>
        <p:spPr>
          <a:xfrm xmlns:a="http://schemas.openxmlformats.org/drawingml/2006/main">
            <a:off x="914400" y="4876800"/>
            <a:ext cx="47625" cy="1085850"/>
          </a:xfrm>
          <a:prstGeom xmlns:a="http://schemas.openxmlformats.org/drawingml/2006/main" prst="rect">
            <a:avLst/>
          </a:prstGeom>
          <a:solidFill xmlns:a="http://schemas.openxmlformats.org/drawingml/2006/main">
            <a:srgbClr val="2C7A33"/>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76A54834-7861-4A9E-9835-E531018790F5}"/>
              </a:ext>
            </a:extLst>
          </p:cNvPr>
          <p:cNvSpPr>
            <a:spLocks xmlns:a="http://schemas.openxmlformats.org/drawingml/2006/main" noGrp="1"/>
          </p:cNvSpPr>
          <p:nvPr/>
        </p:nvSpPr>
        <p:spPr>
          <a:xfrm xmlns:a="http://schemas.openxmlformats.org/drawingml/2006/main">
            <a:off x="1123950" y="5019675"/>
            <a:ext cx="19621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B1B3A"/>
                </a:solidFill>
                <a:latin typeface="Aptos"/>
                <a:ea typeface="Aptos"/>
                <a:cs typeface="Aptos"/>
              </a:defRPr>
            </a:pPr>
            <a:r>
              <a:rPr sz="2250" b="1">
                <a:solidFill>
                  <a:srgbClr val="0B1B3A"/>
                </a:solidFill>
                <a:latin typeface="Aptos"/>
                <a:ea typeface="Aptos"/>
                <a:cs typeface="Aptos"/>
              </a:rPr>
              <a:t>2.0% → 1.0%</a:t>
            </a:r>
          </a:p>
        </p:txBody>
      </p:sp>
      <p:sp>
        <p:nvSpPr>
          <p:cNvPr id="27" name="Rectangle 26">
            <a:extLst xmlns:a="http://schemas.openxmlformats.org/drawingml/2006/main">
              <a:ext uri="{FF2B5EF4-FFF2-40B4-BE49-F238E27FC236}">
                <a16:creationId xmlns:a16="http://schemas.microsoft.com/office/drawing/2014/main" id="{C60E6FF2-C7F3-45AE-8595-52F357934042}"/>
              </a:ext>
            </a:extLst>
          </p:cNvPr>
          <p:cNvSpPr>
            <a:spLocks xmlns:a="http://schemas.openxmlformats.org/drawingml/2006/main" noGrp="1"/>
          </p:cNvSpPr>
          <p:nvPr/>
        </p:nvSpPr>
        <p:spPr>
          <a:xfrm xmlns:a="http://schemas.openxmlformats.org/drawingml/2006/main">
            <a:off x="1123950" y="5391150"/>
            <a:ext cx="1962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B2430"/>
                </a:solidFill>
                <a:latin typeface="Aptos"/>
                <a:ea typeface="Aptos"/>
                <a:cs typeface="Aptos"/>
              </a:defRPr>
            </a:pPr>
            <a:r>
              <a:rPr sz="1125" b="1">
                <a:solidFill>
                  <a:srgbClr val="1B2430"/>
                </a:solidFill>
                <a:latin typeface="Aptos"/>
                <a:ea typeface="Aptos"/>
                <a:cs typeface="Aptos"/>
              </a:rPr>
              <a:t>blended take rate</a:t>
            </a:r>
          </a:p>
        </p:txBody>
      </p:sp>
      <p:sp>
        <p:nvSpPr>
          <p:cNvPr id="28" name="Rectangle 27">
            <a:extLst xmlns:a="http://schemas.openxmlformats.org/drawingml/2006/main">
              <a:ext uri="{FF2B5EF4-FFF2-40B4-BE49-F238E27FC236}">
                <a16:creationId xmlns:a16="http://schemas.microsoft.com/office/drawing/2014/main" id="{8C6D793F-9A01-41BE-837F-2F3AD6EA4C5E}"/>
              </a:ext>
            </a:extLst>
          </p:cNvPr>
          <p:cNvSpPr>
            <a:spLocks xmlns:a="http://schemas.openxmlformats.org/drawingml/2006/main" noGrp="1"/>
          </p:cNvSpPr>
          <p:nvPr/>
        </p:nvSpPr>
        <p:spPr>
          <a:xfrm xmlns:a="http://schemas.openxmlformats.org/drawingml/2006/main">
            <a:off x="1123950" y="5638800"/>
            <a:ext cx="1962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B7280"/>
                </a:solidFill>
                <a:latin typeface="Aptos"/>
                <a:ea typeface="Aptos"/>
                <a:cs typeface="Aptos"/>
              </a:defRPr>
            </a:pPr>
            <a:r>
              <a:rPr sz="900" b="0">
                <a:solidFill>
                  <a:srgbClr val="6B7280"/>
                </a:solidFill>
                <a:latin typeface="Aptos"/>
                <a:ea typeface="Aptos"/>
                <a:cs typeface="Aptos"/>
              </a:rPr>
              <a:t>falls as Tier A grows</a:t>
            </a:r>
          </a:p>
        </p:txBody>
      </p:sp>
      <p:sp>
        <p:nvSpPr>
          <p:cNvPr id="29" name="Rectangle 28">
            <a:extLst xmlns:a="http://schemas.openxmlformats.org/drawingml/2006/main">
              <a:ext uri="{FF2B5EF4-FFF2-40B4-BE49-F238E27FC236}">
                <a16:creationId xmlns:a16="http://schemas.microsoft.com/office/drawing/2014/main" id="{5BDE4ABE-D574-48E1-B0EF-7E73187AD4CE}"/>
              </a:ext>
            </a:extLst>
          </p:cNvPr>
          <p:cNvSpPr>
            <a:spLocks xmlns:a="http://schemas.openxmlformats.org/drawingml/2006/main" noGrp="1"/>
          </p:cNvSpPr>
          <p:nvPr/>
        </p:nvSpPr>
        <p:spPr>
          <a:xfrm xmlns:a="http://schemas.openxmlformats.org/drawingml/2006/main">
            <a:off x="3638550" y="4876800"/>
            <a:ext cx="2381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EC41DA7C-ACBA-423C-9BAC-3BBA721894CE}"/>
              </a:ext>
            </a:extLst>
          </p:cNvPr>
          <p:cNvSpPr>
            <a:spLocks xmlns:a="http://schemas.openxmlformats.org/drawingml/2006/main" noGrp="1"/>
          </p:cNvSpPr>
          <p:nvPr/>
        </p:nvSpPr>
        <p:spPr>
          <a:xfrm xmlns:a="http://schemas.openxmlformats.org/drawingml/2006/main">
            <a:off x="3638550" y="4876800"/>
            <a:ext cx="47625" cy="1085850"/>
          </a:xfrm>
          <a:prstGeom xmlns:a="http://schemas.openxmlformats.org/drawingml/2006/main" prst="rect">
            <a:avLst/>
          </a:prstGeom>
          <a:solidFill xmlns:a="http://schemas.openxmlformats.org/drawingml/2006/main">
            <a:srgbClr val="C77D18"/>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9A9A16C0-7D2B-47C4-A305-179DAB429F55}"/>
              </a:ext>
            </a:extLst>
          </p:cNvPr>
          <p:cNvSpPr>
            <a:spLocks xmlns:a="http://schemas.openxmlformats.org/drawingml/2006/main" noGrp="1"/>
          </p:cNvSpPr>
          <p:nvPr/>
        </p:nvSpPr>
        <p:spPr>
          <a:xfrm xmlns:a="http://schemas.openxmlformats.org/drawingml/2006/main">
            <a:off x="3848100" y="5019675"/>
            <a:ext cx="19621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B1B3A"/>
                </a:solidFill>
                <a:latin typeface="Aptos"/>
                <a:ea typeface="Aptos"/>
                <a:cs typeface="Aptos"/>
              </a:defRPr>
            </a:pPr>
            <a:r>
              <a:rPr sz="2250" b="1">
                <a:solidFill>
                  <a:srgbClr val="0B1B3A"/>
                </a:solidFill>
                <a:latin typeface="Aptos"/>
                <a:ea typeface="Aptos"/>
                <a:cs typeface="Aptos"/>
              </a:rPr>
              <a:t>17%–26%</a:t>
            </a:r>
          </a:p>
        </p:txBody>
      </p:sp>
      <p:sp>
        <p:nvSpPr>
          <p:cNvPr id="32" name="Rectangle 31">
            <a:extLst xmlns:a="http://schemas.openxmlformats.org/drawingml/2006/main">
              <a:ext uri="{FF2B5EF4-FFF2-40B4-BE49-F238E27FC236}">
                <a16:creationId xmlns:a16="http://schemas.microsoft.com/office/drawing/2014/main" id="{11515AFD-455A-4E64-8D85-AD10FD0EA2A1}"/>
              </a:ext>
            </a:extLst>
          </p:cNvPr>
          <p:cNvSpPr>
            <a:spLocks xmlns:a="http://schemas.openxmlformats.org/drawingml/2006/main" noGrp="1"/>
          </p:cNvSpPr>
          <p:nvPr/>
        </p:nvSpPr>
        <p:spPr>
          <a:xfrm xmlns:a="http://schemas.openxmlformats.org/drawingml/2006/main">
            <a:off x="3848100" y="5391150"/>
            <a:ext cx="1962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B2430"/>
                </a:solidFill>
                <a:latin typeface="Aptos"/>
                <a:ea typeface="Aptos"/>
                <a:cs typeface="Aptos"/>
              </a:defRPr>
            </a:pPr>
            <a:r>
              <a:rPr sz="1125" b="1">
                <a:solidFill>
                  <a:srgbClr val="1B2430"/>
                </a:solidFill>
                <a:latin typeface="Aptos"/>
                <a:ea typeface="Aptos"/>
                <a:cs typeface="Aptos"/>
              </a:rPr>
              <a:t>ancillary revenue</a:t>
            </a:r>
          </a:p>
        </p:txBody>
      </p:sp>
      <p:sp>
        <p:nvSpPr>
          <p:cNvPr id="33" name="Rectangle 32">
            <a:extLst xmlns:a="http://schemas.openxmlformats.org/drawingml/2006/main">
              <a:ext uri="{FF2B5EF4-FFF2-40B4-BE49-F238E27FC236}">
                <a16:creationId xmlns:a16="http://schemas.microsoft.com/office/drawing/2014/main" id="{21075592-4F8D-42ED-8FC5-6B2DA5DB5F30}"/>
              </a:ext>
            </a:extLst>
          </p:cNvPr>
          <p:cNvSpPr>
            <a:spLocks xmlns:a="http://schemas.openxmlformats.org/drawingml/2006/main" noGrp="1"/>
          </p:cNvSpPr>
          <p:nvPr/>
        </p:nvSpPr>
        <p:spPr>
          <a:xfrm xmlns:a="http://schemas.openxmlformats.org/drawingml/2006/main">
            <a:off x="3848100" y="5638800"/>
            <a:ext cx="1962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B7280"/>
                </a:solidFill>
                <a:latin typeface="Aptos"/>
                <a:ea typeface="Aptos"/>
                <a:cs typeface="Aptos"/>
              </a:defRPr>
            </a:pPr>
            <a:r>
              <a:rPr sz="900" b="0">
                <a:solidFill>
                  <a:srgbClr val="6B7280"/>
                </a:solidFill>
                <a:latin typeface="Aptos"/>
                <a:ea typeface="Aptos"/>
                <a:cs typeface="Aptos"/>
              </a:rPr>
              <a:t>modelled share</a:t>
            </a:r>
          </a:p>
        </p:txBody>
      </p:sp>
      <p:sp>
        <p:nvSpPr>
          <p:cNvPr id="34" name="Rectangle 33">
            <a:extLst xmlns:a="http://schemas.openxmlformats.org/drawingml/2006/main">
              <a:ext uri="{FF2B5EF4-FFF2-40B4-BE49-F238E27FC236}">
                <a16:creationId xmlns:a16="http://schemas.microsoft.com/office/drawing/2014/main" id="{3DC75684-954F-42A1-B907-A321D2B887E1}"/>
              </a:ext>
            </a:extLst>
          </p:cNvPr>
          <p:cNvSpPr>
            <a:spLocks xmlns:a="http://schemas.openxmlformats.org/drawingml/2006/main" noGrp="1"/>
          </p:cNvSpPr>
          <p:nvPr/>
        </p:nvSpPr>
        <p:spPr>
          <a:xfrm xmlns:a="http://schemas.openxmlformats.org/drawingml/2006/main">
            <a:off x="6362700" y="4876800"/>
            <a:ext cx="2381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EF689177-35DC-4A56-8449-AFB8E88044F3}"/>
              </a:ext>
            </a:extLst>
          </p:cNvPr>
          <p:cNvSpPr>
            <a:spLocks xmlns:a="http://schemas.openxmlformats.org/drawingml/2006/main" noGrp="1"/>
          </p:cNvSpPr>
          <p:nvPr/>
        </p:nvSpPr>
        <p:spPr>
          <a:xfrm xmlns:a="http://schemas.openxmlformats.org/drawingml/2006/main">
            <a:off x="6362700" y="4876800"/>
            <a:ext cx="47625" cy="1085850"/>
          </a:xfrm>
          <a:prstGeom xmlns:a="http://schemas.openxmlformats.org/drawingml/2006/main" prst="rect">
            <a:avLst/>
          </a:prstGeom>
          <a:solidFill xmlns:a="http://schemas.openxmlformats.org/drawingml/2006/main">
            <a:srgbClr val="5A4FBF"/>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Rectangle 35">
            <a:extLst xmlns:a="http://schemas.openxmlformats.org/drawingml/2006/main">
              <a:ext uri="{FF2B5EF4-FFF2-40B4-BE49-F238E27FC236}">
                <a16:creationId xmlns:a16="http://schemas.microsoft.com/office/drawing/2014/main" id="{1A9A9E4E-7710-4B71-80EB-561B360FCE45}"/>
              </a:ext>
            </a:extLst>
          </p:cNvPr>
          <p:cNvSpPr>
            <a:spLocks xmlns:a="http://schemas.openxmlformats.org/drawingml/2006/main" noGrp="1"/>
          </p:cNvSpPr>
          <p:nvPr/>
        </p:nvSpPr>
        <p:spPr>
          <a:xfrm xmlns:a="http://schemas.openxmlformats.org/drawingml/2006/main">
            <a:off x="6572250" y="5019675"/>
            <a:ext cx="19621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B1B3A"/>
                </a:solidFill>
                <a:latin typeface="Aptos"/>
                <a:ea typeface="Aptos"/>
                <a:cs typeface="Aptos"/>
              </a:defRPr>
            </a:pPr>
            <a:r>
              <a:rPr sz="2250" b="1">
                <a:solidFill>
                  <a:srgbClr val="0B1B3A"/>
                </a:solidFill>
                <a:latin typeface="Aptos"/>
                <a:ea typeface="Aptos"/>
                <a:cs typeface="Aptos"/>
              </a:rPr>
              <a:t>71%–79%</a:t>
            </a:r>
          </a:p>
        </p:txBody>
      </p:sp>
      <p:sp>
        <p:nvSpPr>
          <p:cNvPr id="37" name="Rectangle 36">
            <a:extLst xmlns:a="http://schemas.openxmlformats.org/drawingml/2006/main">
              <a:ext uri="{FF2B5EF4-FFF2-40B4-BE49-F238E27FC236}">
                <a16:creationId xmlns:a16="http://schemas.microsoft.com/office/drawing/2014/main" id="{D42F5600-65C1-4652-9F40-9883DE0BC48D}"/>
              </a:ext>
            </a:extLst>
          </p:cNvPr>
          <p:cNvSpPr>
            <a:spLocks xmlns:a="http://schemas.openxmlformats.org/drawingml/2006/main" noGrp="1"/>
          </p:cNvSpPr>
          <p:nvPr/>
        </p:nvSpPr>
        <p:spPr>
          <a:xfrm xmlns:a="http://schemas.openxmlformats.org/drawingml/2006/main">
            <a:off x="6572250" y="5391150"/>
            <a:ext cx="1962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B2430"/>
                </a:solidFill>
                <a:latin typeface="Aptos"/>
                <a:ea typeface="Aptos"/>
                <a:cs typeface="Aptos"/>
              </a:defRPr>
            </a:pPr>
            <a:r>
              <a:rPr sz="1125" b="1">
                <a:solidFill>
                  <a:srgbClr val="1B2430"/>
                </a:solidFill>
                <a:latin typeface="Aptos"/>
                <a:ea typeface="Aptos"/>
                <a:cs typeface="Aptos"/>
              </a:rPr>
              <a:t>gross margin</a:t>
            </a:r>
          </a:p>
        </p:txBody>
      </p:sp>
      <p:sp>
        <p:nvSpPr>
          <p:cNvPr id="38" name="Rectangle 37">
            <a:extLst xmlns:a="http://schemas.openxmlformats.org/drawingml/2006/main">
              <a:ext uri="{FF2B5EF4-FFF2-40B4-BE49-F238E27FC236}">
                <a16:creationId xmlns:a16="http://schemas.microsoft.com/office/drawing/2014/main" id="{ECED317A-558B-4998-9194-61A59EAB520A}"/>
              </a:ext>
            </a:extLst>
          </p:cNvPr>
          <p:cNvSpPr>
            <a:spLocks xmlns:a="http://schemas.openxmlformats.org/drawingml/2006/main" noGrp="1"/>
          </p:cNvSpPr>
          <p:nvPr/>
        </p:nvSpPr>
        <p:spPr>
          <a:xfrm xmlns:a="http://schemas.openxmlformats.org/drawingml/2006/main">
            <a:off x="6572250" y="5638800"/>
            <a:ext cx="1962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B7280"/>
                </a:solidFill>
                <a:latin typeface="Aptos"/>
                <a:ea typeface="Aptos"/>
                <a:cs typeface="Aptos"/>
              </a:defRPr>
            </a:pPr>
            <a:r>
              <a:rPr sz="900" b="0">
                <a:solidFill>
                  <a:srgbClr val="6B7280"/>
                </a:solidFill>
                <a:latin typeface="Aptos"/>
                <a:ea typeface="Aptos"/>
                <a:cs typeface="Aptos"/>
              </a:rPr>
              <a:t>base-case range</a:t>
            </a:r>
          </a:p>
        </p:txBody>
      </p:sp>
      <p:sp>
        <p:nvSpPr>
          <p:cNvPr id="39" name="Rectangle 38">
            <a:extLst xmlns:a="http://schemas.openxmlformats.org/drawingml/2006/main">
              <a:ext uri="{FF2B5EF4-FFF2-40B4-BE49-F238E27FC236}">
                <a16:creationId xmlns:a16="http://schemas.microsoft.com/office/drawing/2014/main" id="{EA9FE867-CA34-4B10-89F8-78674E57F654}"/>
              </a:ext>
            </a:extLst>
          </p:cNvPr>
          <p:cNvSpPr>
            <a:spLocks xmlns:a="http://schemas.openxmlformats.org/drawingml/2006/main" noGrp="1"/>
          </p:cNvSpPr>
          <p:nvPr/>
        </p:nvSpPr>
        <p:spPr>
          <a:xfrm xmlns:a="http://schemas.openxmlformats.org/drawingml/2006/main">
            <a:off x="8991600" y="4876800"/>
            <a:ext cx="2095500" cy="1085850"/>
          </a:xfrm>
          <a:prstGeom xmlns:a="http://schemas.openxmlformats.org/drawingml/2006/main" prst="rect">
            <a:avLst/>
          </a:prstGeom>
          <a:solidFill xmlns:a="http://schemas.openxmlformats.org/drawingml/2006/main">
            <a:srgbClr val="EEF6F4"/>
          </a:solidFill>
          <a:ln xmlns:a="http://schemas.openxmlformats.org/drawingml/2006/main" w="9525">
            <a:solidFill>
              <a:srgbClr val="0E8C7F"/>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2B6257C5-79CD-4162-8D48-9FB910FF96BD}"/>
              </a:ext>
            </a:extLst>
          </p:cNvPr>
          <p:cNvSpPr>
            <a:spLocks xmlns:a="http://schemas.openxmlformats.org/drawingml/2006/main" noGrp="1"/>
          </p:cNvSpPr>
          <p:nvPr/>
        </p:nvSpPr>
        <p:spPr>
          <a:xfrm xmlns:a="http://schemas.openxmlformats.org/drawingml/2006/main">
            <a:off x="9163050" y="5029200"/>
            <a:ext cx="1695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0E8C7F"/>
                </a:solidFill>
                <a:latin typeface="Aptos"/>
                <a:ea typeface="Aptos"/>
                <a:cs typeface="Aptos"/>
              </a:defRPr>
            </a:pPr>
            <a:r>
              <a:rPr sz="1050" b="1">
                <a:solidFill>
                  <a:srgbClr val="0E8C7F"/>
                </a:solidFill>
                <a:latin typeface="Aptos"/>
                <a:ea typeface="Aptos"/>
                <a:cs typeface="Aptos"/>
              </a:rPr>
              <a:t>Year 3 base case</a:t>
            </a:r>
          </a:p>
        </p:txBody>
      </p:sp>
      <p:sp>
        <p:nvSpPr>
          <p:cNvPr id="41" name="Rectangle 40">
            <a:extLst xmlns:a="http://schemas.openxmlformats.org/drawingml/2006/main">
              <a:ext uri="{FF2B5EF4-FFF2-40B4-BE49-F238E27FC236}">
                <a16:creationId xmlns:a16="http://schemas.microsoft.com/office/drawing/2014/main" id="{5122A123-768E-4D45-B6A9-8DAEE716AC70}"/>
              </a:ext>
            </a:extLst>
          </p:cNvPr>
          <p:cNvSpPr>
            <a:spLocks xmlns:a="http://schemas.openxmlformats.org/drawingml/2006/main" noGrp="1"/>
          </p:cNvSpPr>
          <p:nvPr/>
        </p:nvSpPr>
        <p:spPr>
          <a:xfrm xmlns:a="http://schemas.openxmlformats.org/drawingml/2006/main">
            <a:off x="9163050" y="5276850"/>
            <a:ext cx="16573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0B1B3A"/>
                </a:solidFill>
                <a:latin typeface="Aptos"/>
                <a:ea typeface="Aptos"/>
                <a:cs typeface="Aptos"/>
              </a:defRPr>
            </a:pPr>
            <a:r>
              <a:rPr sz="938" b="1">
                <a:solidFill>
                  <a:srgbClr val="0B1B3A"/>
                </a:solidFill>
                <a:latin typeface="Aptos"/>
                <a:ea typeface="Aptos"/>
                <a:cs typeface="Aptos"/>
              </a:rPr>
              <a:t>2,000 deals | £76m GMV</a:t>
            </a:r>
          </a:p>
          <a:p xmlns:a="http://schemas.openxmlformats.org/drawingml/2006/main">
            <a:pPr algn="l">
              <a:buNone/>
              <a:defRPr sz="938" b="1">
                <a:solidFill>
                  <a:srgbClr val="0B1B3A"/>
                </a:solidFill>
                <a:latin typeface="Aptos"/>
                <a:ea typeface="Aptos"/>
                <a:cs typeface="Aptos"/>
              </a:defRPr>
            </a:pPr>
            <a:r>
              <a:rPr sz="938" b="1">
                <a:solidFill>
                  <a:srgbClr val="0B1B3A"/>
                </a:solidFill>
                <a:latin typeface="Aptos"/>
                <a:ea typeface="Aptos"/>
                <a:cs typeface="Aptos"/>
              </a:rPr>
              <a:t>£1.37m revenue | 77% margin</a:t>
            </a:r>
          </a:p>
        </p:txBody>
      </p:sp>
      <p:sp>
        <p:nvSpPr>
          <p:cNvPr id="43" name="Rectangle 42">
            <a:extLst xmlns:a="http://schemas.openxmlformats.org/drawingml/2006/main">
              <a:ext uri="{FF2B5EF4-FFF2-40B4-BE49-F238E27FC236}">
                <a16:creationId xmlns:a16="http://schemas.microsoft.com/office/drawing/2014/main" id="{CDAE3A3D-8539-47DC-BA99-C2C5F42F0640}"/>
              </a:ext>
            </a:extLst>
          </p:cNvPr>
          <p:cNvSpPr>
            <a:spLocks xmlns:a="http://schemas.openxmlformats.org/drawingml/2006/main" noGrp="1"/>
          </p:cNvSpPr>
          <p:nvPr/>
        </p:nvSpPr>
        <p:spPr>
          <a:xfrm xmlns:a="http://schemas.openxmlformats.org/drawingml/2006/main">
            <a:off x="11106150" y="6438900"/>
            <a:ext cx="552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6B7280"/>
                </a:solidFill>
                <a:latin typeface="Aptos"/>
                <a:ea typeface="Aptos"/>
                <a:cs typeface="Aptos"/>
              </a:defRPr>
            </a:pPr>
            <a:r>
              <a:rPr sz="900" b="1">
                <a:solidFill>
                  <a:srgbClr val="6B7280"/>
                </a:solidFill>
                <a:latin typeface="Aptos"/>
                <a:ea typeface="Aptos"/>
                <a:cs typeface="Aptos"/>
              </a:rPr>
              <a:t>7</a:t>
            </a:r>
            <a:endParaRPr sz="900" b="1">
              <a:solidFill>
                <a:srgbClr val="6B7280"/>
              </a:solidFill>
              <a:latin typeface="Aptos"/>
              <a:ea typeface="Aptos"/>
              <a:cs typeface="Aptos"/>
            </a:endParaRPr>
          </a:p>
        </p:txBody>
      </p:sp>
    </p:spTree>
    <p:extLst>
      <p:ext uri="{BB962C8B-B14F-4D97-AF65-F5344CB8AC3E}">
        <p14:creationId xmlns:p14="http://schemas.microsoft.com/office/powerpoint/2010/main" val="14407447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2D1B4AA-6B75-4713-9E9D-F80453C1591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D947770-B8D2-4226-A803-C88B69ECCD0C}"/>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0C67F87-6769-42B1-86A7-8F19B7A6ACC7}"/>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STAGE &amp; PATH</a:t>
            </a:r>
          </a:p>
        </p:txBody>
      </p:sp>
      <p:sp>
        <p:nvSpPr>
          <p:cNvPr id="5" name="TextBox 4">
            <a:extLst xmlns:a="http://schemas.openxmlformats.org/drawingml/2006/main">
              <a:ext uri="{FF2B5EF4-FFF2-40B4-BE49-F238E27FC236}">
                <a16:creationId xmlns:a16="http://schemas.microsoft.com/office/drawing/2014/main" id="{D7B93936-EDF0-4692-9D44-2C75F8B09699}"/>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Working rail today. Paid pilot M12. Full VARA licence target M18.</a:t>
            </a:r>
          </a:p>
        </p:txBody>
      </p:sp>
      <p:sp>
        <p:nvSpPr>
          <p:cNvPr id="6" name="TextBox 5">
            <a:extLst xmlns:a="http://schemas.openxmlformats.org/drawingml/2006/main">
              <a:ext uri="{FF2B5EF4-FFF2-40B4-BE49-F238E27FC236}">
                <a16:creationId xmlns:a16="http://schemas.microsoft.com/office/drawing/2014/main" id="{239BACC2-EB79-4520-835A-504E7CD0607A}"/>
              </a:ext>
            </a:extLst>
          </p:cNvPr>
          <p:cNvSpPr>
            <a:spLocks xmlns:a="http://schemas.openxmlformats.org/drawingml/2006/main" noGrp="1"/>
          </p:cNvSpPr>
          <p:nvPr/>
        </p:nvSpPr>
        <p:spPr>
          <a:xfrm xmlns:a="http://schemas.openxmlformats.org/drawingml/2006/main">
            <a:off x="502920" y="182880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Where we are against the plan — and the base case it funds.</a:t>
            </a:r>
          </a:p>
        </p:txBody>
      </p:sp>
      <p:sp>
        <p:nvSpPr>
          <p:cNvPr id="7" name="TextBox 6">
            <a:extLst xmlns:a="http://schemas.openxmlformats.org/drawingml/2006/main">
              <a:ext uri="{FF2B5EF4-FFF2-40B4-BE49-F238E27FC236}">
                <a16:creationId xmlns:a16="http://schemas.microsoft.com/office/drawing/2014/main" id="{6CEE6AD8-7CFA-464C-B881-3DDBF406F8F2}"/>
              </a:ext>
            </a:extLst>
          </p:cNvPr>
          <p:cNvSpPr>
            <a:spLocks xmlns:a="http://schemas.openxmlformats.org/drawingml/2006/main" noGrp="1"/>
          </p:cNvSpPr>
          <p:nvPr/>
        </p:nvSpPr>
        <p:spPr>
          <a:xfrm xmlns:a="http://schemas.openxmlformats.org/drawingml/2006/main">
            <a:off x="502920" y="2423160"/>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196B24"/>
                </a:solidFill>
                <a:latin typeface="Aptos"/>
                <a:ea typeface="Aptos"/>
                <a:cs typeface="Aptos"/>
              </a:rPr>
              <a:t>TODAY</a:t>
            </a:r>
          </a:p>
        </p:txBody>
      </p:sp>
      <p:sp>
        <p:nvSpPr>
          <p:cNvPr id="8" name="TextBox 7">
            <a:extLst xmlns:a="http://schemas.openxmlformats.org/drawingml/2006/main">
              <a:ext uri="{FF2B5EF4-FFF2-40B4-BE49-F238E27FC236}">
                <a16:creationId xmlns:a16="http://schemas.microsoft.com/office/drawing/2014/main" id="{5E3D2D99-853C-4A75-A518-63F68225DBF9}"/>
              </a:ext>
            </a:extLst>
          </p:cNvPr>
          <p:cNvSpPr>
            <a:spLocks xmlns:a="http://schemas.openxmlformats.org/drawingml/2006/main" noGrp="1"/>
          </p:cNvSpPr>
          <p:nvPr/>
        </p:nvSpPr>
        <p:spPr>
          <a:xfrm xmlns:a="http://schemas.openxmlformats.org/drawingml/2006/main">
            <a:off x="2011680" y="2423160"/>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1">
                <a:solidFill>
                  <a:srgbClr val="0B1B3A"/>
                </a:solidFill>
                <a:latin typeface="Aptos"/>
                <a:ea typeface="Aptos"/>
                <a:cs typeface="Aptos"/>
              </a:rPr>
              <a:t>Working prototype - real settlement executed on Base Mainnet</a:t>
            </a:r>
          </a:p>
        </p:txBody>
      </p:sp>
      <p:sp>
        <p:nvSpPr>
          <p:cNvPr id="9" name="TextBox 8">
            <a:extLst xmlns:a="http://schemas.openxmlformats.org/drawingml/2006/main">
              <a:ext uri="{FF2B5EF4-FFF2-40B4-BE49-F238E27FC236}">
                <a16:creationId xmlns:a16="http://schemas.microsoft.com/office/drawing/2014/main" id="{ABB01ADF-3145-448C-A658-A0CB4576537D}"/>
              </a:ext>
            </a:extLst>
          </p:cNvPr>
          <p:cNvSpPr>
            <a:spLocks xmlns:a="http://schemas.openxmlformats.org/drawingml/2006/main" noGrp="1"/>
          </p:cNvSpPr>
          <p:nvPr/>
        </p:nvSpPr>
        <p:spPr>
          <a:xfrm xmlns:a="http://schemas.openxmlformats.org/drawingml/2006/main">
            <a:off x="502920" y="3026664"/>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C77D18"/>
                </a:solidFill>
                <a:latin typeface="Aptos"/>
                <a:ea typeface="Aptos"/>
                <a:cs typeface="Aptos"/>
              </a:rPr>
              <a:t>M12</a:t>
            </a:r>
          </a:p>
        </p:txBody>
      </p:sp>
      <p:sp>
        <p:nvSpPr>
          <p:cNvPr id="10" name="TextBox 9">
            <a:extLst xmlns:a="http://schemas.openxmlformats.org/drawingml/2006/main">
              <a:ext uri="{FF2B5EF4-FFF2-40B4-BE49-F238E27FC236}">
                <a16:creationId xmlns:a16="http://schemas.microsoft.com/office/drawing/2014/main" id="{F9F16195-E4D8-44D2-9844-8689F3339BF9}"/>
              </a:ext>
            </a:extLst>
          </p:cNvPr>
          <p:cNvSpPr>
            <a:spLocks xmlns:a="http://schemas.openxmlformats.org/drawingml/2006/main" noGrp="1"/>
          </p:cNvSpPr>
          <p:nvPr/>
        </p:nvSpPr>
        <p:spPr>
          <a:xfrm xmlns:a="http://schemas.openxmlformats.org/drawingml/2006/main">
            <a:off x="2011680" y="3026664"/>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0">
                <a:solidFill>
                  <a:srgbClr val="6B7280"/>
                </a:solidFill>
                <a:latin typeface="Aptos"/>
                <a:ea typeface="Aptos"/>
                <a:cs typeface="Aptos"/>
              </a:rPr>
              <a:t>Paid partner-led pilot in DIFC - first receipts M13</a:t>
            </a:r>
          </a:p>
        </p:txBody>
      </p:sp>
      <p:sp>
        <p:nvSpPr>
          <p:cNvPr id="11" name="TextBox 10">
            <a:extLst xmlns:a="http://schemas.openxmlformats.org/drawingml/2006/main">
              <a:ext uri="{FF2B5EF4-FFF2-40B4-BE49-F238E27FC236}">
                <a16:creationId xmlns:a16="http://schemas.microsoft.com/office/drawing/2014/main" id="{717FE039-8A18-42D8-A19C-A7EA92D439C3}"/>
              </a:ext>
            </a:extLst>
          </p:cNvPr>
          <p:cNvSpPr>
            <a:spLocks xmlns:a="http://schemas.openxmlformats.org/drawingml/2006/main" noGrp="1"/>
          </p:cNvSpPr>
          <p:nvPr/>
        </p:nvSpPr>
        <p:spPr>
          <a:xfrm xmlns:a="http://schemas.openxmlformats.org/drawingml/2006/main">
            <a:off x="502920" y="3630168"/>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156082"/>
                </a:solidFill>
                <a:latin typeface="Aptos"/>
                <a:ea typeface="Aptos"/>
                <a:cs typeface="Aptos"/>
              </a:rPr>
              <a:t>M18</a:t>
            </a:r>
          </a:p>
        </p:txBody>
      </p:sp>
      <p:sp>
        <p:nvSpPr>
          <p:cNvPr id="12" name="TextBox 11">
            <a:extLst xmlns:a="http://schemas.openxmlformats.org/drawingml/2006/main">
              <a:ext uri="{FF2B5EF4-FFF2-40B4-BE49-F238E27FC236}">
                <a16:creationId xmlns:a16="http://schemas.microsoft.com/office/drawing/2014/main" id="{49AC771B-1F28-4184-83B0-7475EC149FC8}"/>
              </a:ext>
            </a:extLst>
          </p:cNvPr>
          <p:cNvSpPr>
            <a:spLocks xmlns:a="http://schemas.openxmlformats.org/drawingml/2006/main" noGrp="1"/>
          </p:cNvSpPr>
          <p:nvPr/>
        </p:nvSpPr>
        <p:spPr>
          <a:xfrm xmlns:a="http://schemas.openxmlformats.org/drawingml/2006/main">
            <a:off x="2011680" y="3630168"/>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0">
                <a:solidFill>
                  <a:srgbClr val="6B7280"/>
                </a:solidFill>
                <a:latin typeface="Aptos"/>
                <a:ea typeface="Aptos"/>
                <a:cs typeface="Aptos"/>
              </a:rPr>
              <a:t>Full VARA licence target</a:t>
            </a:r>
          </a:p>
        </p:txBody>
      </p:sp>
      <p:sp>
        <p:nvSpPr>
          <p:cNvPr id="13" name="TextBox 12">
            <a:extLst xmlns:a="http://schemas.openxmlformats.org/drawingml/2006/main">
              <a:ext uri="{FF2B5EF4-FFF2-40B4-BE49-F238E27FC236}">
                <a16:creationId xmlns:a16="http://schemas.microsoft.com/office/drawing/2014/main" id="{85CDD83B-3521-45A4-BC5C-C0CE2B0FC05C}"/>
              </a:ext>
            </a:extLst>
          </p:cNvPr>
          <p:cNvSpPr>
            <a:spLocks xmlns:a="http://schemas.openxmlformats.org/drawingml/2006/main" noGrp="1"/>
          </p:cNvSpPr>
          <p:nvPr/>
        </p:nvSpPr>
        <p:spPr>
          <a:xfrm xmlns:a="http://schemas.openxmlformats.org/drawingml/2006/main">
            <a:off x="502920" y="4233672"/>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0B1B3A"/>
                </a:solidFill>
                <a:latin typeface="Aptos"/>
                <a:ea typeface="Aptos"/>
                <a:cs typeface="Aptos"/>
              </a:rPr>
              <a:t>Y4 M8</a:t>
            </a:r>
          </a:p>
        </p:txBody>
      </p:sp>
      <p:sp>
        <p:nvSpPr>
          <p:cNvPr id="14" name="TextBox 13">
            <a:extLst xmlns:a="http://schemas.openxmlformats.org/drawingml/2006/main">
              <a:ext uri="{FF2B5EF4-FFF2-40B4-BE49-F238E27FC236}">
                <a16:creationId xmlns:a16="http://schemas.microsoft.com/office/drawing/2014/main" id="{163946C2-5424-4EF2-B7A7-9EB456B4BD42}"/>
              </a:ext>
            </a:extLst>
          </p:cNvPr>
          <p:cNvSpPr>
            <a:spLocks xmlns:a="http://schemas.openxmlformats.org/drawingml/2006/main" noGrp="1"/>
          </p:cNvSpPr>
          <p:nvPr/>
        </p:nvSpPr>
        <p:spPr>
          <a:xfrm xmlns:a="http://schemas.openxmlformats.org/drawingml/2006/main">
            <a:off x="2011680" y="4233672"/>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0">
                <a:solidFill>
                  <a:srgbClr val="6B7280"/>
                </a:solidFill>
                <a:latin typeface="Aptos"/>
                <a:ea typeface="Aptos"/>
                <a:cs typeface="Aptos"/>
              </a:rPr>
              <a:t>Monthly cash-flow break-even (base case)</a:t>
            </a:r>
          </a:p>
        </p:txBody>
      </p:sp>
      <p:sp>
        <p:nvSpPr>
          <p:cNvPr id="15" name="Rectangle 14">
            <a:extLst xmlns:a="http://schemas.openxmlformats.org/drawingml/2006/main">
              <a:ext uri="{FF2B5EF4-FFF2-40B4-BE49-F238E27FC236}">
                <a16:creationId xmlns:a16="http://schemas.microsoft.com/office/drawing/2014/main" id="{B1589F21-4125-490F-9E82-9691543AE62D}"/>
              </a:ext>
            </a:extLst>
          </p:cNvPr>
          <p:cNvSpPr>
            <a:spLocks xmlns:a="http://schemas.openxmlformats.org/drawingml/2006/main" noGrp="1"/>
          </p:cNvSpPr>
          <p:nvPr/>
        </p:nvSpPr>
        <p:spPr>
          <a:xfrm xmlns:a="http://schemas.openxmlformats.org/drawingml/2006/main">
            <a:off x="502920" y="4892040"/>
            <a:ext cx="1072865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69E6E22-69BF-456E-88DB-CA83F2545D0D}"/>
              </a:ext>
            </a:extLst>
          </p:cNvPr>
          <p:cNvSpPr>
            <a:spLocks xmlns:a="http://schemas.openxmlformats.org/drawingml/2006/main" noGrp="1"/>
          </p:cNvSpPr>
          <p:nvPr/>
        </p:nvSpPr>
        <p:spPr>
          <a:xfrm xmlns:a="http://schemas.openxmlformats.org/drawingml/2006/main">
            <a:off x="731520" y="5029200"/>
            <a:ext cx="103628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5000"/>
              </a:lnSpc>
              <a:buNone/>
            </a:pPr>
            <a:r>
              <a:rPr sz="1200" b="1">
                <a:solidFill>
                  <a:srgbClr val="0B1B3A"/>
                </a:solidFill>
                <a:latin typeface="Aptos"/>
                <a:ea typeface="Aptos"/>
                <a:cs typeface="Aptos"/>
              </a:rPr>
              <a:t>Base case revenue engine</a:t>
            </a:r>
            <a:r>
              <a:rPr sz="1200" b="1">
                <a:solidFill>
                  <a:srgbClr val="0B1B3A"/>
                </a:solidFill>
                <a:latin typeface="Aptos"/>
                <a:ea typeface="Aptos"/>
                <a:cs typeface="Aptos"/>
              </a:rPr>
              <a:t>   </a:t>
            </a:r>
            <a:r>
              <a:rPr sz="1300" b="1">
                <a:solidFill>
                  <a:srgbClr val="0E8C7F"/>
                </a:solidFill>
                <a:latin typeface="Aptos"/>
                <a:ea typeface="Aptos"/>
                <a:cs typeface="Aptos"/>
              </a:rPr>
              <a:t>2,000 deals × £38k avg = £76m trade value processed  →  £1.37m Y3 revenue at 77% gross margin</a:t>
            </a:r>
          </a:p>
          <a:p xmlns:a="http://schemas.openxmlformats.org/drawingml/2006/main">
            <a:pPr algn="l">
              <a:lnSpc>
                <a:spcPct val="125000"/>
              </a:lnSpc>
              <a:buNone/>
            </a:pPr>
            <a:r>
              <a:rPr sz="1000" b="0">
                <a:solidFill>
                  <a:srgbClr val="6B7280"/>
                </a:solidFill>
                <a:latin typeface="Aptos"/>
                <a:ea typeface="Aptos"/>
                <a:cs typeface="Aptos"/>
              </a:rPr>
              <a:t>Illustrative forecast, not current trading. Tiered escrow take rate plus ancillary fees; client funds excluded from operating cash.</a:t>
            </a:r>
          </a:p>
        </p:txBody>
      </p:sp>
      <p:sp>
        <p:nvSpPr>
          <p:cNvPr id="17" name="TextBox 16">
            <a:extLst xmlns:a="http://schemas.openxmlformats.org/drawingml/2006/main">
              <a:ext uri="{FF2B5EF4-FFF2-40B4-BE49-F238E27FC236}">
                <a16:creationId xmlns:a16="http://schemas.microsoft.com/office/drawing/2014/main" id="{D0A8C684-EC40-4FB4-BCD6-865BE9FD3BE1}"/>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8</a:t>
            </a:r>
          </a:p>
        </p:txBody>
      </p:sp>
    </p:spTree>
    <p:extLst>
      <p:ext uri="{BB962C8B-B14F-4D97-AF65-F5344CB8AC3E}">
        <p14:creationId xmlns:p14="http://schemas.microsoft.com/office/powerpoint/2010/main" val="8482297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C293227-1501-4A07-9D7B-FD16EABD57A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52BCA70-CA0B-4801-B537-88CFDBD4652E}"/>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3750B17-85E3-4404-AB3C-718B79DB402F}"/>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THE ASK</a:t>
            </a:r>
          </a:p>
        </p:txBody>
      </p:sp>
      <p:sp>
        <p:nvSpPr>
          <p:cNvPr id="5" name="TextBox 4">
            <a:extLst xmlns:a="http://schemas.openxmlformats.org/drawingml/2006/main">
              <a:ext uri="{FF2B5EF4-FFF2-40B4-BE49-F238E27FC236}">
                <a16:creationId xmlns:a16="http://schemas.microsoft.com/office/drawing/2014/main" id="{96A0954C-E5CF-4533-92B3-2469EB6798B2}"/>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Seeking £3.06m in staged operating capital for UAE launch.</a:t>
            </a:r>
          </a:p>
        </p:txBody>
      </p:sp>
      <p:sp>
        <p:nvSpPr>
          <p:cNvPr id="6" name="TextBox 5">
            <a:extLst xmlns:a="http://schemas.openxmlformats.org/drawingml/2006/main">
              <a:ext uri="{FF2B5EF4-FFF2-40B4-BE49-F238E27FC236}">
                <a16:creationId xmlns:a16="http://schemas.microsoft.com/office/drawing/2014/main" id="{5610BEB5-ABA2-491B-BC55-69AB06B70851}"/>
              </a:ext>
            </a:extLst>
          </p:cNvPr>
          <p:cNvSpPr>
            <a:spLocks xmlns:a="http://schemas.openxmlformats.org/drawingml/2006/main" noGrp="1"/>
          </p:cNvSpPr>
          <p:nvPr/>
        </p:nvSpPr>
        <p:spPr>
          <a:xfrm xmlns:a="http://schemas.openxmlformats.org/drawingml/2006/main">
            <a:off x="502920" y="182880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The base case funds the people and permissions required to reach monthly cash-flow break-even.</a:t>
            </a:r>
          </a:p>
        </p:txBody>
      </p:sp>
      <p:sp>
        <p:nvSpPr>
          <p:cNvPr id="7" name="TextBox 6">
            <a:extLst xmlns:a="http://schemas.openxmlformats.org/drawingml/2006/main">
              <a:ext uri="{FF2B5EF4-FFF2-40B4-BE49-F238E27FC236}">
                <a16:creationId xmlns:a16="http://schemas.microsoft.com/office/drawing/2014/main" id="{EBEE77CC-2C4E-4BB8-951D-7EEB92EBD5F8}"/>
              </a:ext>
            </a:extLst>
          </p:cNvPr>
          <p:cNvSpPr>
            <a:spLocks xmlns:a="http://schemas.openxmlformats.org/drawingml/2006/main" noGrp="1"/>
          </p:cNvSpPr>
          <p:nvPr/>
        </p:nvSpPr>
        <p:spPr>
          <a:xfrm xmlns:a="http://schemas.openxmlformats.org/drawingml/2006/main">
            <a:off x="502920" y="246888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Compliance, legal &amp; licensing</a:t>
            </a:r>
          </a:p>
        </p:txBody>
      </p:sp>
      <p:sp>
        <p:nvSpPr>
          <p:cNvPr id="8" name="Rectangle 7">
            <a:extLst xmlns:a="http://schemas.openxmlformats.org/drawingml/2006/main">
              <a:ext uri="{FF2B5EF4-FFF2-40B4-BE49-F238E27FC236}">
                <a16:creationId xmlns:a16="http://schemas.microsoft.com/office/drawing/2014/main" id="{A59EBC2A-0879-4C64-AA91-B57B1121938E}"/>
              </a:ext>
            </a:extLst>
          </p:cNvPr>
          <p:cNvSpPr>
            <a:spLocks xmlns:a="http://schemas.openxmlformats.org/drawingml/2006/main" noGrp="1"/>
          </p:cNvSpPr>
          <p:nvPr/>
        </p:nvSpPr>
        <p:spPr>
          <a:xfrm xmlns:a="http://schemas.openxmlformats.org/drawingml/2006/main">
            <a:off x="3749039" y="2523744"/>
            <a:ext cx="5669280" cy="237744"/>
          </a:xfrm>
          <a:prstGeom xmlns:a="http://schemas.openxmlformats.org/drawingml/2006/main" prst="rect">
            <a:avLst/>
          </a:prstGeom>
          <a:solidFill xmlns:a="http://schemas.openxmlformats.org/drawingml/2006/main">
            <a:srgbClr val="5B5F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E5A08F4-86BF-49C8-AFFC-45BFBBDD0C08}"/>
              </a:ext>
            </a:extLst>
          </p:cNvPr>
          <p:cNvSpPr>
            <a:spLocks xmlns:a="http://schemas.openxmlformats.org/drawingml/2006/main" noGrp="1"/>
          </p:cNvSpPr>
          <p:nvPr/>
        </p:nvSpPr>
        <p:spPr>
          <a:xfrm xmlns:a="http://schemas.openxmlformats.org/drawingml/2006/main">
            <a:off x="9692640" y="246888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34.8%  £1.07m</a:t>
            </a:r>
          </a:p>
        </p:txBody>
      </p:sp>
      <p:sp>
        <p:nvSpPr>
          <p:cNvPr id="10" name="TextBox 9">
            <a:extLst xmlns:a="http://schemas.openxmlformats.org/drawingml/2006/main">
              <a:ext uri="{FF2B5EF4-FFF2-40B4-BE49-F238E27FC236}">
                <a16:creationId xmlns:a16="http://schemas.microsoft.com/office/drawing/2014/main" id="{332AD3D6-F04A-452E-9A46-A7480D9CB4F8}"/>
              </a:ext>
            </a:extLst>
          </p:cNvPr>
          <p:cNvSpPr>
            <a:spLocks xmlns:a="http://schemas.openxmlformats.org/drawingml/2006/main" noGrp="1"/>
          </p:cNvSpPr>
          <p:nvPr/>
        </p:nvSpPr>
        <p:spPr>
          <a:xfrm xmlns:a="http://schemas.openxmlformats.org/drawingml/2006/main">
            <a:off x="502920" y="301752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Team, operations &amp; G&amp;A</a:t>
            </a:r>
          </a:p>
        </p:txBody>
      </p:sp>
      <p:sp>
        <p:nvSpPr>
          <p:cNvPr id="11" name="Rectangle 10">
            <a:extLst xmlns:a="http://schemas.openxmlformats.org/drawingml/2006/main">
              <a:ext uri="{FF2B5EF4-FFF2-40B4-BE49-F238E27FC236}">
                <a16:creationId xmlns:a16="http://schemas.microsoft.com/office/drawing/2014/main" id="{183F0F72-F833-4F8E-BB66-A984EE2F5C0C}"/>
              </a:ext>
            </a:extLst>
          </p:cNvPr>
          <p:cNvSpPr>
            <a:spLocks xmlns:a="http://schemas.openxmlformats.org/drawingml/2006/main" noGrp="1"/>
          </p:cNvSpPr>
          <p:nvPr/>
        </p:nvSpPr>
        <p:spPr>
          <a:xfrm xmlns:a="http://schemas.openxmlformats.org/drawingml/2006/main">
            <a:off x="3749039" y="3072384"/>
            <a:ext cx="5652988" cy="237744"/>
          </a:xfrm>
          <a:prstGeom xmlns:a="http://schemas.openxmlformats.org/drawingml/2006/main" prst="rect">
            <a:avLst/>
          </a:prstGeom>
          <a:solidFill xmlns:a="http://schemas.openxmlformats.org/drawingml/2006/main">
            <a:srgbClr val="1560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DDDE7C4-C59A-4079-8A3B-A3EB1D744771}"/>
              </a:ext>
            </a:extLst>
          </p:cNvPr>
          <p:cNvSpPr>
            <a:spLocks xmlns:a="http://schemas.openxmlformats.org/drawingml/2006/main" noGrp="1"/>
          </p:cNvSpPr>
          <p:nvPr/>
        </p:nvSpPr>
        <p:spPr>
          <a:xfrm xmlns:a="http://schemas.openxmlformats.org/drawingml/2006/main">
            <a:off x="9692640" y="301752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34.7%  £1.06m</a:t>
            </a:r>
          </a:p>
        </p:txBody>
      </p:sp>
      <p:sp>
        <p:nvSpPr>
          <p:cNvPr id="13" name="TextBox 12">
            <a:extLst xmlns:a="http://schemas.openxmlformats.org/drawingml/2006/main">
              <a:ext uri="{FF2B5EF4-FFF2-40B4-BE49-F238E27FC236}">
                <a16:creationId xmlns:a16="http://schemas.microsoft.com/office/drawing/2014/main" id="{EB9BFA7D-C2F9-4036-9339-F83EA7012B07}"/>
              </a:ext>
            </a:extLst>
          </p:cNvPr>
          <p:cNvSpPr>
            <a:spLocks xmlns:a="http://schemas.openxmlformats.org/drawingml/2006/main" noGrp="1"/>
          </p:cNvSpPr>
          <p:nvPr/>
        </p:nvSpPr>
        <p:spPr>
          <a:xfrm xmlns:a="http://schemas.openxmlformats.org/drawingml/2006/main">
            <a:off x="502920" y="356616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Engineering &amp; product delivery</a:t>
            </a:r>
          </a:p>
        </p:txBody>
      </p:sp>
      <p:sp>
        <p:nvSpPr>
          <p:cNvPr id="14" name="Rectangle 13">
            <a:extLst xmlns:a="http://schemas.openxmlformats.org/drawingml/2006/main">
              <a:ext uri="{FF2B5EF4-FFF2-40B4-BE49-F238E27FC236}">
                <a16:creationId xmlns:a16="http://schemas.microsoft.com/office/drawing/2014/main" id="{3CB6D0E9-D57F-45F5-BED2-78C6FABF2AC0}"/>
              </a:ext>
            </a:extLst>
          </p:cNvPr>
          <p:cNvSpPr>
            <a:spLocks xmlns:a="http://schemas.openxmlformats.org/drawingml/2006/main" noGrp="1"/>
          </p:cNvSpPr>
          <p:nvPr/>
        </p:nvSpPr>
        <p:spPr>
          <a:xfrm xmlns:a="http://schemas.openxmlformats.org/drawingml/2006/main">
            <a:off x="3749039" y="3621024"/>
            <a:ext cx="3030132" cy="237744"/>
          </a:xfrm>
          <a:prstGeom xmlns:a="http://schemas.openxmlformats.org/drawingml/2006/main" prst="rect">
            <a:avLst/>
          </a:prstGeom>
          <a:solidFill xmlns:a="http://schemas.openxmlformats.org/drawingml/2006/main">
            <a:srgbClr val="0E8C7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E4986FAC-49DE-4BEA-A0C3-B2BC8E575C01}"/>
              </a:ext>
            </a:extLst>
          </p:cNvPr>
          <p:cNvSpPr>
            <a:spLocks xmlns:a="http://schemas.openxmlformats.org/drawingml/2006/main" noGrp="1"/>
          </p:cNvSpPr>
          <p:nvPr/>
        </p:nvSpPr>
        <p:spPr>
          <a:xfrm xmlns:a="http://schemas.openxmlformats.org/drawingml/2006/main">
            <a:off x="9692640" y="356616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18.6%  £571k</a:t>
            </a:r>
          </a:p>
        </p:txBody>
      </p:sp>
      <p:sp>
        <p:nvSpPr>
          <p:cNvPr id="16" name="TextBox 15">
            <a:extLst xmlns:a="http://schemas.openxmlformats.org/drawingml/2006/main">
              <a:ext uri="{FF2B5EF4-FFF2-40B4-BE49-F238E27FC236}">
                <a16:creationId xmlns:a16="http://schemas.microsoft.com/office/drawing/2014/main" id="{673317BD-C343-4C6B-A77F-9AD070DBA5E4}"/>
              </a:ext>
            </a:extLst>
          </p:cNvPr>
          <p:cNvSpPr>
            <a:spLocks xmlns:a="http://schemas.openxmlformats.org/drawingml/2006/main" noGrp="1"/>
          </p:cNvSpPr>
          <p:nvPr/>
        </p:nvSpPr>
        <p:spPr>
          <a:xfrm xmlns:a="http://schemas.openxmlformats.org/drawingml/2006/main">
            <a:off x="502920" y="411480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Operating reserve &amp; contingency</a:t>
            </a:r>
          </a:p>
        </p:txBody>
      </p:sp>
      <p:sp>
        <p:nvSpPr>
          <p:cNvPr id="17" name="Rectangle 16">
            <a:extLst xmlns:a="http://schemas.openxmlformats.org/drawingml/2006/main">
              <a:ext uri="{FF2B5EF4-FFF2-40B4-BE49-F238E27FC236}">
                <a16:creationId xmlns:a16="http://schemas.microsoft.com/office/drawing/2014/main" id="{AFFD8E8F-1968-4D8A-AAFA-956A27EBF1ED}"/>
              </a:ext>
            </a:extLst>
          </p:cNvPr>
          <p:cNvSpPr>
            <a:spLocks xmlns:a="http://schemas.openxmlformats.org/drawingml/2006/main" noGrp="1"/>
          </p:cNvSpPr>
          <p:nvPr/>
        </p:nvSpPr>
        <p:spPr>
          <a:xfrm xmlns:a="http://schemas.openxmlformats.org/drawingml/2006/main">
            <a:off x="3749039" y="4169664"/>
            <a:ext cx="1026335" cy="237744"/>
          </a:xfrm>
          <a:prstGeom xmlns:a="http://schemas.openxmlformats.org/drawingml/2006/main" prst="rect">
            <a:avLst/>
          </a:prstGeom>
          <a:solidFill xmlns:a="http://schemas.openxmlformats.org/drawingml/2006/main">
            <a:srgbClr val="196B2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56100C40-7DD7-4565-9DD3-FAC56C8630E0}"/>
              </a:ext>
            </a:extLst>
          </p:cNvPr>
          <p:cNvSpPr>
            <a:spLocks xmlns:a="http://schemas.openxmlformats.org/drawingml/2006/main" noGrp="1"/>
          </p:cNvSpPr>
          <p:nvPr/>
        </p:nvSpPr>
        <p:spPr>
          <a:xfrm xmlns:a="http://schemas.openxmlformats.org/drawingml/2006/main">
            <a:off x="9692640" y="411480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6.3%  £192k</a:t>
            </a:r>
          </a:p>
        </p:txBody>
      </p:sp>
      <p:sp>
        <p:nvSpPr>
          <p:cNvPr id="19" name="TextBox 18">
            <a:extLst xmlns:a="http://schemas.openxmlformats.org/drawingml/2006/main">
              <a:ext uri="{FF2B5EF4-FFF2-40B4-BE49-F238E27FC236}">
                <a16:creationId xmlns:a16="http://schemas.microsoft.com/office/drawing/2014/main" id="{15F96E90-A50E-4C89-9D62-DE4DDEC549DB}"/>
              </a:ext>
            </a:extLst>
          </p:cNvPr>
          <p:cNvSpPr>
            <a:spLocks xmlns:a="http://schemas.openxmlformats.org/drawingml/2006/main" noGrp="1"/>
          </p:cNvSpPr>
          <p:nvPr/>
        </p:nvSpPr>
        <p:spPr>
          <a:xfrm xmlns:a="http://schemas.openxmlformats.org/drawingml/2006/main">
            <a:off x="502920" y="466344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Partner-led GTM &amp; acquisition</a:t>
            </a:r>
          </a:p>
        </p:txBody>
      </p:sp>
      <p:sp>
        <p:nvSpPr>
          <p:cNvPr id="20" name="Rectangle 19">
            <a:extLst xmlns:a="http://schemas.openxmlformats.org/drawingml/2006/main">
              <a:ext uri="{FF2B5EF4-FFF2-40B4-BE49-F238E27FC236}">
                <a16:creationId xmlns:a16="http://schemas.microsoft.com/office/drawing/2014/main" id="{87B0F8BE-4AB0-4495-B780-467512E269FE}"/>
              </a:ext>
            </a:extLst>
          </p:cNvPr>
          <p:cNvSpPr>
            <a:spLocks xmlns:a="http://schemas.openxmlformats.org/drawingml/2006/main" noGrp="1"/>
          </p:cNvSpPr>
          <p:nvPr/>
        </p:nvSpPr>
        <p:spPr>
          <a:xfrm xmlns:a="http://schemas.openxmlformats.org/drawingml/2006/main">
            <a:off x="3749039" y="4718304"/>
            <a:ext cx="912297" cy="237744"/>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BD0EAF73-D606-4474-A60C-452801EFE814}"/>
              </a:ext>
            </a:extLst>
          </p:cNvPr>
          <p:cNvSpPr>
            <a:spLocks xmlns:a="http://schemas.openxmlformats.org/drawingml/2006/main" noGrp="1"/>
          </p:cNvSpPr>
          <p:nvPr/>
        </p:nvSpPr>
        <p:spPr>
          <a:xfrm xmlns:a="http://schemas.openxmlformats.org/drawingml/2006/main">
            <a:off x="9692640" y="466344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5.6%  £171k</a:t>
            </a:r>
          </a:p>
        </p:txBody>
      </p:sp>
      <p:sp>
        <p:nvSpPr>
          <p:cNvPr id="22" name="Rectangle 21">
            <a:extLst xmlns:a="http://schemas.openxmlformats.org/drawingml/2006/main">
              <a:ext uri="{FF2B5EF4-FFF2-40B4-BE49-F238E27FC236}">
                <a16:creationId xmlns:a16="http://schemas.microsoft.com/office/drawing/2014/main" id="{46D81BB1-FBC7-4ED1-8CBB-AF8FDBC5270D}"/>
              </a:ext>
            </a:extLst>
          </p:cNvPr>
          <p:cNvSpPr>
            <a:spLocks xmlns:a="http://schemas.openxmlformats.org/drawingml/2006/main" noGrp="1"/>
          </p:cNvSpPr>
          <p:nvPr/>
        </p:nvSpPr>
        <p:spPr>
          <a:xfrm xmlns:a="http://schemas.openxmlformats.org/drawingml/2006/main">
            <a:off x="502920" y="5349240"/>
            <a:ext cx="10728655" cy="6858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0536D393-9567-4DA4-B822-06AB8A3B40A4}"/>
              </a:ext>
            </a:extLst>
          </p:cNvPr>
          <p:cNvSpPr>
            <a:spLocks xmlns:a="http://schemas.openxmlformats.org/drawingml/2006/main" noGrp="1"/>
          </p:cNvSpPr>
          <p:nvPr/>
        </p:nvSpPr>
        <p:spPr>
          <a:xfrm xmlns:a="http://schemas.openxmlformats.org/drawingml/2006/main">
            <a:off x="777240" y="5486400"/>
            <a:ext cx="7498079"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9EE8DA"/>
                </a:solidFill>
                <a:latin typeface="Aptos"/>
                <a:ea typeface="Aptos"/>
                <a:cs typeface="Aptos"/>
              </a:rPr>
              <a:t>£319k future restricted VARA capital — separate from the operating ask; not runway</a:t>
            </a:r>
          </a:p>
        </p:txBody>
      </p:sp>
      <p:sp>
        <p:nvSpPr>
          <p:cNvPr id="24" name="TextBox 23">
            <a:extLst xmlns:a="http://schemas.openxmlformats.org/drawingml/2006/main">
              <a:ext uri="{FF2B5EF4-FFF2-40B4-BE49-F238E27FC236}">
                <a16:creationId xmlns:a16="http://schemas.microsoft.com/office/drawing/2014/main" id="{BBB68719-D91E-45B6-B97A-90B41CB0CF15}"/>
              </a:ext>
            </a:extLst>
          </p:cNvPr>
          <p:cNvSpPr>
            <a:spLocks xmlns:a="http://schemas.openxmlformats.org/drawingml/2006/main" noGrp="1"/>
          </p:cNvSpPr>
          <p:nvPr/>
        </p:nvSpPr>
        <p:spPr>
          <a:xfrm xmlns:a="http://schemas.openxmlformats.org/drawingml/2006/main">
            <a:off x="8001000" y="5458968"/>
            <a:ext cx="29718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500" b="1">
                <a:solidFill>
                  <a:srgbClr val="FFFFFF"/>
                </a:solidFill>
                <a:latin typeface="Aptos"/>
                <a:ea typeface="Aptos"/>
                <a:cs typeface="Aptos"/>
              </a:rPr>
              <a:t>£3.063m operating ask</a:t>
            </a:r>
          </a:p>
        </p:txBody>
      </p:sp>
      <p:sp>
        <p:nvSpPr>
          <p:cNvPr id="25" name="TextBox 24">
            <a:extLst xmlns:a="http://schemas.openxmlformats.org/drawingml/2006/main">
              <a:ext uri="{FF2B5EF4-FFF2-40B4-BE49-F238E27FC236}">
                <a16:creationId xmlns:a16="http://schemas.microsoft.com/office/drawing/2014/main" id="{D6966970-4B3A-4074-9FA3-93A0A44EB07E}"/>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9</a:t>
            </a:r>
          </a:p>
        </p:txBody>
      </p:sp>
    </p:spTree>
    <p:extLst>
      <p:ext uri="{BB962C8B-B14F-4D97-AF65-F5344CB8AC3E}">
        <p14:creationId xmlns:p14="http://schemas.microsoft.com/office/powerpoint/2010/main" val="18330776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2903</Words>
  <Application>Microsoft Macintosh PowerPoint</Application>
  <PresentationFormat>Widescreen</PresentationFormat>
  <Paragraphs>299</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Daniel Price</cp:lastModifiedBy>
  <cp:revision>4</cp:revision>
  <dcterms:created xsi:type="dcterms:W3CDTF">2013-01-27T09:14:16Z</dcterms:created>
  <dcterms:modified xsi:type="dcterms:W3CDTF">2026-08-13T21:25:25Z</dcterms:modified>
  <cp:category/>
</cp:coreProperties>
</file>