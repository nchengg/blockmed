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3" r:id="rId7"/>
    <p:sldId id="268" r:id="rId8"/>
    <p:sldId id="264" r:id="rId9"/>
    <p:sldId id="265" r:id="rId10"/>
    <p:sldId id="266" r:id="rId11"/>
    <p:sldId id="269" r:id="rId12"/>
    <p:sldId id="270" r:id="rId13"/>
    <p:sldId id="267" r:id="rId14"/>
    <p:sldId id="271" r:id="rId15"/>
    <p:sldId id="272" r:id="rId16"/>
  </p:sldIdLst>
  <p:sldSz cx="12192000" cy="6858000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45"/>
  </p:normalViewPr>
  <p:slideViewPr>
    <p:cSldViewPr snapToGrid="0">
      <p:cViewPr varScale="1">
        <p:scale>
          <a:sx n="103" d="100"/>
          <a:sy n="103" d="100"/>
        </p:scale>
        <p:origin x="200" y="5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angle 28">
            <a:extLst>
              <a:ext uri="{FF2B5EF4-FFF2-40B4-BE49-F238E27FC236}">
                <a16:creationId xmlns:a16="http://schemas.microsoft.com/office/drawing/2014/main" id="{55923A26-19A4-49AD-B3D0-4CFD6697E22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B3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DAE0F1F-DA3F-417A-AE09-627EB7BB437C}"/>
              </a:ext>
            </a:extLst>
          </p:cNvPr>
          <p:cNvSpPr>
            <a:spLocks noGrp="1"/>
          </p:cNvSpPr>
          <p:nvPr/>
        </p:nvSpPr>
        <p:spPr>
          <a:xfrm>
            <a:off x="571500" y="514350"/>
            <a:ext cx="160973" cy="160973"/>
          </a:xfrm>
          <a:prstGeom prst="rect">
            <a:avLst/>
          </a:prstGeom>
          <a:solidFill>
            <a:srgbClr val="0E8C7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C74303D-BBF9-47F4-BDF4-4A9C7FC66C89}"/>
              </a:ext>
            </a:extLst>
          </p:cNvPr>
          <p:cNvSpPr>
            <a:spLocks noGrp="1"/>
          </p:cNvSpPr>
          <p:nvPr/>
        </p:nvSpPr>
        <p:spPr>
          <a:xfrm>
            <a:off x="571500" y="737235"/>
            <a:ext cx="160973" cy="160973"/>
          </a:xfrm>
          <a:prstGeom prst="rect">
            <a:avLst/>
          </a:prstGeom>
          <a:solidFill>
            <a:srgbClr val="C77D1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A4CEF41-A1BB-4C54-8D74-241D9C9A12A7}"/>
              </a:ext>
            </a:extLst>
          </p:cNvPr>
          <p:cNvSpPr>
            <a:spLocks noGrp="1"/>
          </p:cNvSpPr>
          <p:nvPr/>
        </p:nvSpPr>
        <p:spPr>
          <a:xfrm>
            <a:off x="876300" y="438150"/>
            <a:ext cx="4000500" cy="571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31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Blockmediary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396A799-3810-4F95-A896-0303E3DF2FDE}"/>
              </a:ext>
            </a:extLst>
          </p:cNvPr>
          <p:cNvSpPr>
            <a:spLocks noGrp="1"/>
          </p:cNvSpPr>
          <p:nvPr/>
        </p:nvSpPr>
        <p:spPr>
          <a:xfrm>
            <a:off x="571500" y="1466850"/>
            <a:ext cx="7239000" cy="647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39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39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Settlement rails for global trade.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60B49AF-8CB6-4A71-9682-757484CF8E97}"/>
              </a:ext>
            </a:extLst>
          </p:cNvPr>
          <p:cNvSpPr>
            <a:spLocks noGrp="1"/>
          </p:cNvSpPr>
          <p:nvPr/>
        </p:nvSpPr>
        <p:spPr>
          <a:xfrm>
            <a:off x="590550" y="2381250"/>
            <a:ext cx="7239000" cy="666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75" b="0">
                <a:solidFill>
                  <a:srgbClr val="C9D6E5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C9D6E5"/>
                </a:solidFill>
                <a:latin typeface="Aptos"/>
                <a:ea typeface="Aptos"/>
                <a:cs typeface="Aptos"/>
              </a:rPr>
              <a:t>UCP 600-style documentary release, stablecoin prefunding, and a compliance-controlled verification layer for SME cross-border trade.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5A64711-CC78-4703-A67C-F8237D97DF2D}"/>
              </a:ext>
            </a:extLst>
          </p:cNvPr>
          <p:cNvSpPr>
            <a:spLocks noGrp="1"/>
          </p:cNvSpPr>
          <p:nvPr/>
        </p:nvSpPr>
        <p:spPr>
          <a:xfrm>
            <a:off x="571500" y="3333750"/>
            <a:ext cx="5334000" cy="19050"/>
          </a:xfrm>
          <a:prstGeom prst="rect">
            <a:avLst/>
          </a:prstGeom>
          <a:solidFill>
            <a:srgbClr val="29466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B06BCA5-A471-4AAB-8490-86A44223FADA}"/>
              </a:ext>
            </a:extLst>
          </p:cNvPr>
          <p:cNvSpPr>
            <a:spLocks noGrp="1"/>
          </p:cNvSpPr>
          <p:nvPr/>
        </p:nvSpPr>
        <p:spPr>
          <a:xfrm>
            <a:off x="571500" y="3733800"/>
            <a:ext cx="2381250" cy="1085850"/>
          </a:xfrm>
          <a:prstGeom prst="rect">
            <a:avLst/>
          </a:prstGeom>
          <a:solidFill>
            <a:srgbClr val="10284E"/>
          </a:solidFill>
          <a:ln w="9525">
            <a:solidFill>
              <a:srgbClr val="29466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BCC9030-48F4-4FAC-9D07-5BF986D9A1C1}"/>
              </a:ext>
            </a:extLst>
          </p:cNvPr>
          <p:cNvSpPr>
            <a:spLocks noGrp="1"/>
          </p:cNvSpPr>
          <p:nvPr/>
        </p:nvSpPr>
        <p:spPr>
          <a:xfrm>
            <a:off x="571500" y="3733800"/>
            <a:ext cx="47625" cy="1085850"/>
          </a:xfrm>
          <a:prstGeom prst="rect">
            <a:avLst/>
          </a:prstGeom>
          <a:solidFill>
            <a:srgbClr val="0E8C7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182264A-183B-46B1-8A7F-11B74A854632}"/>
              </a:ext>
            </a:extLst>
          </p:cNvPr>
          <p:cNvSpPr>
            <a:spLocks noGrp="1"/>
          </p:cNvSpPr>
          <p:nvPr/>
        </p:nvSpPr>
        <p:spPr>
          <a:xfrm>
            <a:off x="781050" y="3876675"/>
            <a:ext cx="196215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2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$1M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CC335AE-49F7-4C2D-B005-2A4DAAB7B156}"/>
              </a:ext>
            </a:extLst>
          </p:cNvPr>
          <p:cNvSpPr>
            <a:spLocks noGrp="1"/>
          </p:cNvSpPr>
          <p:nvPr/>
        </p:nvSpPr>
        <p:spPr>
          <a:xfrm>
            <a:off x="781050" y="4248150"/>
            <a:ext cx="19621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1">
                <a:solidFill>
                  <a:srgbClr val="BFEAE5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BFEAE5"/>
                </a:solidFill>
                <a:latin typeface="Aptos"/>
                <a:ea typeface="Aptos"/>
                <a:cs typeface="Aptos"/>
              </a:rPr>
              <a:t>seed round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3950B75-FFC0-4B44-9A74-81A5D9014E7F}"/>
              </a:ext>
            </a:extLst>
          </p:cNvPr>
          <p:cNvSpPr>
            <a:spLocks noGrp="1"/>
          </p:cNvSpPr>
          <p:nvPr/>
        </p:nvSpPr>
        <p:spPr>
          <a:xfrm>
            <a:off x="781050" y="4495800"/>
            <a:ext cx="196215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B9C6D7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B9C6D7"/>
                </a:solidFill>
                <a:latin typeface="Aptos"/>
                <a:ea typeface="Aptos"/>
                <a:cs typeface="Aptos"/>
              </a:rPr>
              <a:t>~$10M post-money / 10% equity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68E33E4-7E44-4762-BC9E-1D9F809166DA}"/>
              </a:ext>
            </a:extLst>
          </p:cNvPr>
          <p:cNvSpPr>
            <a:spLocks noGrp="1"/>
          </p:cNvSpPr>
          <p:nvPr/>
        </p:nvSpPr>
        <p:spPr>
          <a:xfrm>
            <a:off x="3143250" y="3733800"/>
            <a:ext cx="2381250" cy="1085850"/>
          </a:xfrm>
          <a:prstGeom prst="rect">
            <a:avLst/>
          </a:prstGeom>
          <a:solidFill>
            <a:srgbClr val="10284E"/>
          </a:solidFill>
          <a:ln w="9525">
            <a:solidFill>
              <a:srgbClr val="29466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DE305C9-4A9B-4E6A-BD81-075CD7084D7E}"/>
              </a:ext>
            </a:extLst>
          </p:cNvPr>
          <p:cNvSpPr>
            <a:spLocks noGrp="1"/>
          </p:cNvSpPr>
          <p:nvPr/>
        </p:nvSpPr>
        <p:spPr>
          <a:xfrm>
            <a:off x="3143250" y="3733800"/>
            <a:ext cx="47625" cy="1085850"/>
          </a:xfrm>
          <a:prstGeom prst="rect">
            <a:avLst/>
          </a:prstGeom>
          <a:solidFill>
            <a:srgbClr val="C77D1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82C7D49-51B7-4E52-ADB4-287FCAEB0D50}"/>
              </a:ext>
            </a:extLst>
          </p:cNvPr>
          <p:cNvSpPr>
            <a:spLocks noGrp="1"/>
          </p:cNvSpPr>
          <p:nvPr/>
        </p:nvSpPr>
        <p:spPr>
          <a:xfrm>
            <a:off x="3352800" y="3876675"/>
            <a:ext cx="196215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2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$5K-$250K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0C28428-870A-4D8A-9A17-0234EDD5E9BE}"/>
              </a:ext>
            </a:extLst>
          </p:cNvPr>
          <p:cNvSpPr>
            <a:spLocks noGrp="1"/>
          </p:cNvSpPr>
          <p:nvPr/>
        </p:nvSpPr>
        <p:spPr>
          <a:xfrm>
            <a:off x="3352800" y="4248150"/>
            <a:ext cx="19621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1">
                <a:solidFill>
                  <a:srgbClr val="BFEAE5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BFEAE5"/>
                </a:solidFill>
                <a:latin typeface="Aptos"/>
                <a:ea typeface="Aptos"/>
                <a:cs typeface="Aptos"/>
              </a:rPr>
              <a:t>target wedge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85B27EB-DAF7-40CF-AFDA-E9D01A46DBBB}"/>
              </a:ext>
            </a:extLst>
          </p:cNvPr>
          <p:cNvSpPr>
            <a:spLocks noGrp="1"/>
          </p:cNvSpPr>
          <p:nvPr/>
        </p:nvSpPr>
        <p:spPr>
          <a:xfrm>
            <a:off x="3352800" y="4495800"/>
            <a:ext cx="196215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B9C6D7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B9C6D7"/>
                </a:solidFill>
                <a:latin typeface="Aptos"/>
                <a:ea typeface="Aptos"/>
                <a:cs typeface="Aptos"/>
              </a:rPr>
              <a:t>SME cross-border shipment values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19F3C80-F6FD-4835-9EEA-F80844CF56E1}"/>
              </a:ext>
            </a:extLst>
          </p:cNvPr>
          <p:cNvSpPr>
            <a:spLocks noGrp="1"/>
          </p:cNvSpPr>
          <p:nvPr/>
        </p:nvSpPr>
        <p:spPr>
          <a:xfrm>
            <a:off x="5715000" y="3733800"/>
            <a:ext cx="2381250" cy="1085850"/>
          </a:xfrm>
          <a:prstGeom prst="rect">
            <a:avLst/>
          </a:prstGeom>
          <a:solidFill>
            <a:srgbClr val="10284E"/>
          </a:solidFill>
          <a:ln w="9525">
            <a:solidFill>
              <a:srgbClr val="29466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C26CDBE-CF0A-44DD-8F47-2EC62FF05FEB}"/>
              </a:ext>
            </a:extLst>
          </p:cNvPr>
          <p:cNvSpPr>
            <a:spLocks noGrp="1"/>
          </p:cNvSpPr>
          <p:nvPr/>
        </p:nvSpPr>
        <p:spPr>
          <a:xfrm>
            <a:off x="5715000" y="3733800"/>
            <a:ext cx="47625" cy="1085850"/>
          </a:xfrm>
          <a:prstGeom prst="rect">
            <a:avLst/>
          </a:prstGeom>
          <a:solidFill>
            <a:srgbClr val="1F6FB2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78E74BE-A2FF-402F-B410-C55E2D911770}"/>
              </a:ext>
            </a:extLst>
          </p:cNvPr>
          <p:cNvSpPr>
            <a:spLocks noGrp="1"/>
          </p:cNvSpPr>
          <p:nvPr/>
        </p:nvSpPr>
        <p:spPr>
          <a:xfrm>
            <a:off x="5924550" y="3876675"/>
            <a:ext cx="196215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2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$2.5T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CC82FE3D-0716-458C-98C2-014C54E59000}"/>
              </a:ext>
            </a:extLst>
          </p:cNvPr>
          <p:cNvSpPr>
            <a:spLocks noGrp="1"/>
          </p:cNvSpPr>
          <p:nvPr/>
        </p:nvSpPr>
        <p:spPr>
          <a:xfrm>
            <a:off x="5924550" y="4248150"/>
            <a:ext cx="19621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1">
                <a:solidFill>
                  <a:srgbClr val="BFEAE5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BFEAE5"/>
                </a:solidFill>
                <a:latin typeface="Aptos"/>
                <a:ea typeface="Aptos"/>
                <a:cs typeface="Aptos"/>
              </a:rPr>
              <a:t>market gap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A45DD1B-ABF4-46E2-9C3C-41BB5EC076EE}"/>
              </a:ext>
            </a:extLst>
          </p:cNvPr>
          <p:cNvSpPr>
            <a:spLocks noGrp="1"/>
          </p:cNvSpPr>
          <p:nvPr/>
        </p:nvSpPr>
        <p:spPr>
          <a:xfrm>
            <a:off x="5924550" y="4495800"/>
            <a:ext cx="196215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B9C6D7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B9C6D7"/>
                </a:solidFill>
                <a:latin typeface="Aptos"/>
                <a:ea typeface="Aptos"/>
                <a:cs typeface="Aptos"/>
              </a:rPr>
              <a:t>global SME trade finance gap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414D54B4-00D4-483C-81F8-BD4DA3E4AA17}"/>
              </a:ext>
            </a:extLst>
          </p:cNvPr>
          <p:cNvSpPr>
            <a:spLocks noGrp="1"/>
          </p:cNvSpPr>
          <p:nvPr/>
        </p:nvSpPr>
        <p:spPr>
          <a:xfrm>
            <a:off x="8286750" y="3733800"/>
            <a:ext cx="2381250" cy="1085850"/>
          </a:xfrm>
          <a:prstGeom prst="rect">
            <a:avLst/>
          </a:prstGeom>
          <a:solidFill>
            <a:srgbClr val="10284E"/>
          </a:solidFill>
          <a:ln w="9525">
            <a:solidFill>
              <a:srgbClr val="29466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23648ADB-50B1-4C44-92C1-9AAE0CF0B9D3}"/>
              </a:ext>
            </a:extLst>
          </p:cNvPr>
          <p:cNvSpPr>
            <a:spLocks noGrp="1"/>
          </p:cNvSpPr>
          <p:nvPr/>
        </p:nvSpPr>
        <p:spPr>
          <a:xfrm>
            <a:off x="8286750" y="3733800"/>
            <a:ext cx="47625" cy="1085850"/>
          </a:xfrm>
          <a:prstGeom prst="rect">
            <a:avLst/>
          </a:prstGeom>
          <a:solidFill>
            <a:srgbClr val="2C7A33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D00DCC81-C9D5-4A45-9F7A-D5F1A0689FD0}"/>
              </a:ext>
            </a:extLst>
          </p:cNvPr>
          <p:cNvSpPr>
            <a:spLocks noGrp="1"/>
          </p:cNvSpPr>
          <p:nvPr/>
        </p:nvSpPr>
        <p:spPr>
          <a:xfrm>
            <a:off x="8496300" y="3876675"/>
            <a:ext cx="196215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2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18 months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6B085EFF-7B45-4230-8CFD-D7A66A397C2B}"/>
              </a:ext>
            </a:extLst>
          </p:cNvPr>
          <p:cNvSpPr>
            <a:spLocks noGrp="1"/>
          </p:cNvSpPr>
          <p:nvPr/>
        </p:nvSpPr>
        <p:spPr>
          <a:xfrm>
            <a:off x="8496300" y="4248150"/>
            <a:ext cx="19621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1">
                <a:solidFill>
                  <a:srgbClr val="BFEAE5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BFEAE5"/>
                </a:solidFill>
                <a:latin typeface="Aptos"/>
                <a:ea typeface="Aptos"/>
                <a:cs typeface="Aptos"/>
              </a:rPr>
              <a:t>runway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A4B2D8F6-61FD-4D55-B081-7DA8D0FD5A03}"/>
              </a:ext>
            </a:extLst>
          </p:cNvPr>
          <p:cNvSpPr>
            <a:spLocks noGrp="1"/>
          </p:cNvSpPr>
          <p:nvPr/>
        </p:nvSpPr>
        <p:spPr>
          <a:xfrm>
            <a:off x="8496300" y="4495800"/>
            <a:ext cx="196215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B9C6D7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B9C6D7"/>
                </a:solidFill>
                <a:latin typeface="Aptos"/>
                <a:ea typeface="Aptos"/>
                <a:cs typeface="Aptos"/>
              </a:rPr>
              <a:t>MVP + pilot proof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57FA614D-DE37-4561-A37A-AD98705D28EB}"/>
              </a:ext>
            </a:extLst>
          </p:cNvPr>
          <p:cNvSpPr>
            <a:spLocks noGrp="1"/>
          </p:cNvSpPr>
          <p:nvPr/>
        </p:nvSpPr>
        <p:spPr>
          <a:xfrm>
            <a:off x="571500" y="6343650"/>
            <a:ext cx="81915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90A2B8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90A2B8"/>
                </a:solidFill>
                <a:latin typeface="Aptos"/>
                <a:ea typeface="Aptos"/>
                <a:cs typeface="Aptos"/>
              </a:rPr>
              <a:t>Funding deck | University of Exeter MSc FinTech Hackathon | 30 May 2026</a:t>
            </a:r>
          </a:p>
        </p:txBody>
      </p:sp>
    </p:spTree>
    <p:extLst>
      <p:ext uri="{BB962C8B-B14F-4D97-AF65-F5344CB8AC3E}">
        <p14:creationId xmlns:p14="http://schemas.microsoft.com/office/powerpoint/2010/main" val="125524947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>
            <a:extLst>
              <a:ext uri="{FF2B5EF4-FFF2-40B4-BE49-F238E27FC236}">
                <a16:creationId xmlns:a16="http://schemas.microsoft.com/office/drawing/2014/main" id="{9EEF4816-F554-440A-B816-D75345B6812E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4E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" name="kicker-02-marker">
            <a:extLst>
              <a:ext uri="{FF2B5EF4-FFF2-40B4-BE49-F238E27FC236}">
                <a16:creationId xmlns:a16="http://schemas.microsoft.com/office/drawing/2014/main" id="{85561F03-945A-4B55-9A1C-B9DFA5EB5F66}"/>
              </a:ext>
            </a:extLst>
          </p:cNvPr>
          <p:cNvSpPr>
            <a:spLocks noGrp="1"/>
          </p:cNvSpPr>
          <p:nvPr/>
        </p:nvSpPr>
        <p:spPr>
          <a:xfrm>
            <a:off x="533400" y="438150"/>
            <a:ext cx="76200" cy="76200"/>
          </a:xfrm>
          <a:prstGeom prst="rect">
            <a:avLst/>
          </a:prstGeom>
          <a:solidFill>
            <a:srgbClr val="0B1B3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kicker-02-label">
            <a:extLst>
              <a:ext uri="{FF2B5EF4-FFF2-40B4-BE49-F238E27FC236}">
                <a16:creationId xmlns:a16="http://schemas.microsoft.com/office/drawing/2014/main" id="{8A464077-A52E-4439-8A74-66928730F100}"/>
              </a:ext>
            </a:extLst>
          </p:cNvPr>
          <p:cNvSpPr>
            <a:spLocks noGrp="1"/>
          </p:cNvSpPr>
          <p:nvPr/>
        </p:nvSpPr>
        <p:spPr>
          <a:xfrm>
            <a:off x="723900" y="361950"/>
            <a:ext cx="5334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900" b="1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B7280"/>
                </a:solidFill>
                <a:latin typeface="Aptos"/>
                <a:ea typeface="Aptos"/>
                <a:cs typeface="Aptos"/>
              </a:rPr>
              <a:t>PROBLEM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449565B-A766-4B12-AB15-96ED5E293E92}"/>
              </a:ext>
            </a:extLst>
          </p:cNvPr>
          <p:cNvSpPr>
            <a:spLocks noGrp="1"/>
          </p:cNvSpPr>
          <p:nvPr/>
        </p:nvSpPr>
        <p:spPr>
          <a:xfrm>
            <a:off x="533400" y="685800"/>
            <a:ext cx="8191500" cy="876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3000" b="1">
                <a:solidFill>
                  <a:srgbClr val="0B1B3A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0B1B3A"/>
                </a:solidFill>
                <a:latin typeface="Aptos Display"/>
                <a:ea typeface="Aptos Display"/>
                <a:cs typeface="Aptos Display"/>
              </a:rPr>
              <a:t>SMEs are priced out of the instrument that made global trade work.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A84A6DD-D7B8-451D-A7D5-33AF8CF34C00}"/>
              </a:ext>
            </a:extLst>
          </p:cNvPr>
          <p:cNvSpPr>
            <a:spLocks noGrp="1"/>
          </p:cNvSpPr>
          <p:nvPr/>
        </p:nvSpPr>
        <p:spPr>
          <a:xfrm>
            <a:off x="571500" y="1809750"/>
            <a:ext cx="5524500" cy="1104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725" b="0">
                <a:solidFill>
                  <a:srgbClr val="1B2430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1B2430"/>
                </a:solidFill>
                <a:latin typeface="Aptos"/>
                <a:ea typeface="Aptos"/>
                <a:cs typeface="Aptos"/>
              </a:rPr>
              <a:t>Documentary credit solved trust in trade. But the same KYB, sanctions, document examination, and capital work sits behind a $10K shipment and a $5M shipment. Banks choose the economics.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EE178FA-9E39-4667-95B6-3958E9FA8241}"/>
              </a:ext>
            </a:extLst>
          </p:cNvPr>
          <p:cNvSpPr>
            <a:spLocks noGrp="1"/>
          </p:cNvSpPr>
          <p:nvPr/>
        </p:nvSpPr>
        <p:spPr>
          <a:xfrm>
            <a:off x="571500" y="3105150"/>
            <a:ext cx="5143500" cy="19050"/>
          </a:xfrm>
          <a:prstGeom prst="rect">
            <a:avLst/>
          </a:prstGeom>
          <a:solidFill>
            <a:srgbClr val="D8D2C7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7A2F30B-9D0B-4175-9D49-241802DA174F}"/>
              </a:ext>
            </a:extLst>
          </p:cNvPr>
          <p:cNvSpPr>
            <a:spLocks noGrp="1"/>
          </p:cNvSpPr>
          <p:nvPr/>
        </p:nvSpPr>
        <p:spPr>
          <a:xfrm>
            <a:off x="571500" y="3333750"/>
            <a:ext cx="4953000" cy="685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0B1B3A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B1B3A"/>
                </a:solidFill>
                <a:latin typeface="Aptos"/>
                <a:ea typeface="Aptos"/>
                <a:cs typeface="Aptos"/>
              </a:rPr>
              <a:t>Result: low-value cross-border trade still depends on cash in advance, informal trust, or deals that never happen.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DD7CFD0-1F22-4DB6-A413-46DDFC13887C}"/>
              </a:ext>
            </a:extLst>
          </p:cNvPr>
          <p:cNvSpPr>
            <a:spLocks noGrp="1"/>
          </p:cNvSpPr>
          <p:nvPr/>
        </p:nvSpPr>
        <p:spPr>
          <a:xfrm>
            <a:off x="6762750" y="1638300"/>
            <a:ext cx="3429000" cy="1085850"/>
          </a:xfrm>
          <a:prstGeom prst="rect">
            <a:avLst/>
          </a:prstGeom>
          <a:solidFill>
            <a:srgbClr val="FFFFFF"/>
          </a:solidFill>
          <a:ln w="9525">
            <a:solidFill>
              <a:srgbClr val="D8D2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ABD3602-C59E-4C2C-B3A3-392443948C5B}"/>
              </a:ext>
            </a:extLst>
          </p:cNvPr>
          <p:cNvSpPr>
            <a:spLocks noGrp="1"/>
          </p:cNvSpPr>
          <p:nvPr/>
        </p:nvSpPr>
        <p:spPr>
          <a:xfrm>
            <a:off x="6762750" y="1638300"/>
            <a:ext cx="47625" cy="1085850"/>
          </a:xfrm>
          <a:prstGeom prst="rect">
            <a:avLst/>
          </a:prstGeom>
          <a:solidFill>
            <a:srgbClr val="0E8C7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92C8472-A69D-4A15-B8E8-EF899E6B2E9E}"/>
              </a:ext>
            </a:extLst>
          </p:cNvPr>
          <p:cNvSpPr>
            <a:spLocks noGrp="1"/>
          </p:cNvSpPr>
          <p:nvPr/>
        </p:nvSpPr>
        <p:spPr>
          <a:xfrm>
            <a:off x="6972300" y="1781175"/>
            <a:ext cx="300990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250" b="1">
                <a:solidFill>
                  <a:srgbClr val="0B1B3A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0B1B3A"/>
                </a:solidFill>
                <a:latin typeface="Aptos"/>
                <a:ea typeface="Aptos"/>
                <a:cs typeface="Aptos"/>
              </a:rPr>
              <a:t>$2.5T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72C4673-E562-437A-A793-7DCA18DEB1A9}"/>
              </a:ext>
            </a:extLst>
          </p:cNvPr>
          <p:cNvSpPr>
            <a:spLocks noGrp="1"/>
          </p:cNvSpPr>
          <p:nvPr/>
        </p:nvSpPr>
        <p:spPr>
          <a:xfrm>
            <a:off x="6972300" y="2152650"/>
            <a:ext cx="30099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1">
                <a:solidFill>
                  <a:srgbClr val="1B2430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B2430"/>
                </a:solidFill>
                <a:latin typeface="Aptos"/>
                <a:ea typeface="Aptos"/>
                <a:cs typeface="Aptos"/>
              </a:rPr>
              <a:t>global SME trade finance gap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86EEC02-B591-4C69-BED3-5823119BF745}"/>
              </a:ext>
            </a:extLst>
          </p:cNvPr>
          <p:cNvSpPr>
            <a:spLocks noGrp="1"/>
          </p:cNvSpPr>
          <p:nvPr/>
        </p:nvSpPr>
        <p:spPr>
          <a:xfrm>
            <a:off x="6972300" y="2400300"/>
            <a:ext cx="30099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ADB 2025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E04B0DA-E3E9-4B78-BC31-7237EC8E9AE4}"/>
              </a:ext>
            </a:extLst>
          </p:cNvPr>
          <p:cNvSpPr>
            <a:spLocks noGrp="1"/>
          </p:cNvSpPr>
          <p:nvPr/>
        </p:nvSpPr>
        <p:spPr>
          <a:xfrm>
            <a:off x="6762750" y="2933700"/>
            <a:ext cx="3429000" cy="1085850"/>
          </a:xfrm>
          <a:prstGeom prst="rect">
            <a:avLst/>
          </a:prstGeom>
          <a:solidFill>
            <a:srgbClr val="FFFFFF"/>
          </a:solidFill>
          <a:ln w="9525">
            <a:solidFill>
              <a:srgbClr val="D8D2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3571E21-9F83-4F6A-8654-896EC3310A5E}"/>
              </a:ext>
            </a:extLst>
          </p:cNvPr>
          <p:cNvSpPr>
            <a:spLocks noGrp="1"/>
          </p:cNvSpPr>
          <p:nvPr/>
        </p:nvSpPr>
        <p:spPr>
          <a:xfrm>
            <a:off x="6762750" y="2933700"/>
            <a:ext cx="47625" cy="1085850"/>
          </a:xfrm>
          <a:prstGeom prst="rect">
            <a:avLst/>
          </a:prstGeom>
          <a:solidFill>
            <a:srgbClr val="5A4FB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01D83D6-DFFF-416E-9FD4-8F677CEF3653}"/>
              </a:ext>
            </a:extLst>
          </p:cNvPr>
          <p:cNvSpPr>
            <a:spLocks noGrp="1"/>
          </p:cNvSpPr>
          <p:nvPr/>
        </p:nvSpPr>
        <p:spPr>
          <a:xfrm>
            <a:off x="6972300" y="3076575"/>
            <a:ext cx="300990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250" b="1">
                <a:solidFill>
                  <a:srgbClr val="0B1B3A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0B1B3A"/>
                </a:solidFill>
                <a:latin typeface="Aptos"/>
                <a:ea typeface="Aptos"/>
                <a:cs typeface="Aptos"/>
              </a:rPr>
              <a:t>~45%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AB93100-17B9-4DFF-AD18-CBD12EE4DBBE}"/>
              </a:ext>
            </a:extLst>
          </p:cNvPr>
          <p:cNvSpPr>
            <a:spLocks noGrp="1"/>
          </p:cNvSpPr>
          <p:nvPr/>
        </p:nvSpPr>
        <p:spPr>
          <a:xfrm>
            <a:off x="6972300" y="3448050"/>
            <a:ext cx="30099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1">
                <a:solidFill>
                  <a:srgbClr val="1B2430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B2430"/>
                </a:solidFill>
                <a:latin typeface="Aptos"/>
                <a:ea typeface="Aptos"/>
                <a:cs typeface="Aptos"/>
              </a:rPr>
              <a:t>SME rejection rate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FF79197-1D24-457D-9CC6-58BE64A68982}"/>
              </a:ext>
            </a:extLst>
          </p:cNvPr>
          <p:cNvSpPr>
            <a:spLocks noGrp="1"/>
          </p:cNvSpPr>
          <p:nvPr/>
        </p:nvSpPr>
        <p:spPr>
          <a:xfrm>
            <a:off x="6972300" y="3695700"/>
            <a:ext cx="30099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trade finance access pain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9B544E5-5526-4D82-874D-96D74C828031}"/>
              </a:ext>
            </a:extLst>
          </p:cNvPr>
          <p:cNvSpPr>
            <a:spLocks noGrp="1"/>
          </p:cNvSpPr>
          <p:nvPr/>
        </p:nvSpPr>
        <p:spPr>
          <a:xfrm>
            <a:off x="6762750" y="4229100"/>
            <a:ext cx="3429000" cy="1085850"/>
          </a:xfrm>
          <a:prstGeom prst="rect">
            <a:avLst/>
          </a:prstGeom>
          <a:solidFill>
            <a:srgbClr val="FFFFFF"/>
          </a:solidFill>
          <a:ln w="9525">
            <a:solidFill>
              <a:srgbClr val="D8D2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E312E7D-4283-444A-8D37-8AD0557AEC4D}"/>
              </a:ext>
            </a:extLst>
          </p:cNvPr>
          <p:cNvSpPr>
            <a:spLocks noGrp="1"/>
          </p:cNvSpPr>
          <p:nvPr/>
        </p:nvSpPr>
        <p:spPr>
          <a:xfrm>
            <a:off x="6762750" y="4229100"/>
            <a:ext cx="47625" cy="1085850"/>
          </a:xfrm>
          <a:prstGeom prst="rect">
            <a:avLst/>
          </a:prstGeom>
          <a:solidFill>
            <a:srgbClr val="C77D1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9B3E7D5A-1251-40FD-A690-27E85C587554}"/>
              </a:ext>
            </a:extLst>
          </p:cNvPr>
          <p:cNvSpPr>
            <a:spLocks noGrp="1"/>
          </p:cNvSpPr>
          <p:nvPr/>
        </p:nvSpPr>
        <p:spPr>
          <a:xfrm>
            <a:off x="6972300" y="4371975"/>
            <a:ext cx="300990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250" b="1">
                <a:solidFill>
                  <a:srgbClr val="0B1B3A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0B1B3A"/>
                </a:solidFill>
                <a:latin typeface="Aptos"/>
                <a:ea typeface="Aptos"/>
                <a:cs typeface="Aptos"/>
              </a:rPr>
              <a:t>$10K-$50K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2126CC8-DD2B-48CC-9644-51572166B6EF}"/>
              </a:ext>
            </a:extLst>
          </p:cNvPr>
          <p:cNvSpPr>
            <a:spLocks noGrp="1"/>
          </p:cNvSpPr>
          <p:nvPr/>
        </p:nvSpPr>
        <p:spPr>
          <a:xfrm>
            <a:off x="6972300" y="4743450"/>
            <a:ext cx="30099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1">
                <a:solidFill>
                  <a:srgbClr val="1B2430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B2430"/>
                </a:solidFill>
                <a:latin typeface="Aptos"/>
                <a:ea typeface="Aptos"/>
                <a:cs typeface="Aptos"/>
              </a:rPr>
              <a:t>LC dead zone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6D85144-044A-4D7B-8173-47CA7883409F}"/>
              </a:ext>
            </a:extLst>
          </p:cNvPr>
          <p:cNvSpPr>
            <a:spLocks noGrp="1"/>
          </p:cNvSpPr>
          <p:nvPr/>
        </p:nvSpPr>
        <p:spPr>
          <a:xfrm>
            <a:off x="6972300" y="4991100"/>
            <a:ext cx="30099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too large for trust, too small for banks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69433A89-89B6-450C-BE1E-D41BF959CEE3}"/>
              </a:ext>
            </a:extLst>
          </p:cNvPr>
          <p:cNvSpPr>
            <a:spLocks noGrp="1"/>
          </p:cNvSpPr>
          <p:nvPr/>
        </p:nvSpPr>
        <p:spPr>
          <a:xfrm>
            <a:off x="571500" y="4762500"/>
            <a:ext cx="5334000" cy="781050"/>
          </a:xfrm>
          <a:prstGeom prst="rect">
            <a:avLst/>
          </a:prstGeom>
          <a:solidFill>
            <a:srgbClr val="FFFFFF"/>
          </a:solidFill>
          <a:ln w="9525">
            <a:solidFill>
              <a:srgbClr val="D8D2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D012C5B5-2CD8-46D2-BA8D-518C1683B0F9}"/>
              </a:ext>
            </a:extLst>
          </p:cNvPr>
          <p:cNvSpPr>
            <a:spLocks noGrp="1"/>
          </p:cNvSpPr>
          <p:nvPr/>
        </p:nvSpPr>
        <p:spPr>
          <a:xfrm>
            <a:off x="781050" y="4933950"/>
            <a:ext cx="15240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0E8C7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E8C7F"/>
                </a:solidFill>
                <a:latin typeface="Aptos"/>
                <a:ea typeface="Aptos"/>
                <a:cs typeface="Aptos"/>
              </a:rPr>
              <a:t>Investor question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15249D5D-0844-4129-ABEF-6290C94DD070}"/>
              </a:ext>
            </a:extLst>
          </p:cNvPr>
          <p:cNvSpPr>
            <a:spLocks noGrp="1"/>
          </p:cNvSpPr>
          <p:nvPr/>
        </p:nvSpPr>
        <p:spPr>
          <a:xfrm>
            <a:off x="781050" y="5162550"/>
            <a:ext cx="476250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00" b="1">
                <a:solidFill>
                  <a:srgbClr val="0B1B3A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B1B3A"/>
                </a:solidFill>
                <a:latin typeface="Aptos"/>
                <a:ea typeface="Aptos"/>
                <a:cs typeface="Aptos"/>
              </a:rPr>
              <a:t>Who can make seller certainty and buyer control economical at SME deal sizes?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340A1264-C9E6-4341-82B8-44833A7AC560}"/>
              </a:ext>
            </a:extLst>
          </p:cNvPr>
          <p:cNvSpPr>
            <a:spLocks noGrp="1"/>
          </p:cNvSpPr>
          <p:nvPr/>
        </p:nvSpPr>
        <p:spPr>
          <a:xfrm>
            <a:off x="11106150" y="6438900"/>
            <a:ext cx="5524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900" b="1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B7280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92997753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Rectangle 47">
            <a:extLst>
              <a:ext uri="{FF2B5EF4-FFF2-40B4-BE49-F238E27FC236}">
                <a16:creationId xmlns:a16="http://schemas.microsoft.com/office/drawing/2014/main" id="{D521EB4B-85DF-49F2-8107-3036D578E47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4E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" name="kicker-03-marker">
            <a:extLst>
              <a:ext uri="{FF2B5EF4-FFF2-40B4-BE49-F238E27FC236}">
                <a16:creationId xmlns:a16="http://schemas.microsoft.com/office/drawing/2014/main" id="{9C2C98F4-0761-4F59-91CB-45C1DA9BA235}"/>
              </a:ext>
            </a:extLst>
          </p:cNvPr>
          <p:cNvSpPr>
            <a:spLocks noGrp="1"/>
          </p:cNvSpPr>
          <p:nvPr/>
        </p:nvSpPr>
        <p:spPr>
          <a:xfrm>
            <a:off x="533400" y="438150"/>
            <a:ext cx="76200" cy="76200"/>
          </a:xfrm>
          <a:prstGeom prst="rect">
            <a:avLst/>
          </a:prstGeom>
          <a:solidFill>
            <a:srgbClr val="0B1B3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kicker-03-label">
            <a:extLst>
              <a:ext uri="{FF2B5EF4-FFF2-40B4-BE49-F238E27FC236}">
                <a16:creationId xmlns:a16="http://schemas.microsoft.com/office/drawing/2014/main" id="{15C181B9-C90D-460F-BF9A-7BE1FC2ACA5D}"/>
              </a:ext>
            </a:extLst>
          </p:cNvPr>
          <p:cNvSpPr>
            <a:spLocks noGrp="1"/>
          </p:cNvSpPr>
          <p:nvPr/>
        </p:nvSpPr>
        <p:spPr>
          <a:xfrm>
            <a:off x="723900" y="361950"/>
            <a:ext cx="5334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900" b="1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B7280"/>
                </a:solidFill>
                <a:latin typeface="Aptos"/>
                <a:ea typeface="Aptos"/>
                <a:cs typeface="Aptos"/>
              </a:rPr>
              <a:t>SOLUTION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EAAB53E-F0F5-4DDB-9FF1-D7301434A957}"/>
              </a:ext>
            </a:extLst>
          </p:cNvPr>
          <p:cNvSpPr>
            <a:spLocks noGrp="1"/>
          </p:cNvSpPr>
          <p:nvPr/>
        </p:nvSpPr>
        <p:spPr>
          <a:xfrm>
            <a:off x="533400" y="685800"/>
            <a:ext cx="8191500" cy="876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3000" b="1">
                <a:solidFill>
                  <a:srgbClr val="0B1B3A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0B1B3A"/>
                </a:solidFill>
                <a:latin typeface="Aptos Display"/>
                <a:ea typeface="Aptos Display"/>
                <a:cs typeface="Aptos Display"/>
              </a:rPr>
              <a:t>Blockmediary turns documentary credit into a programmable escrow workflow.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F5704DD-A436-4BED-8ABA-4E0A8C6153EB}"/>
              </a:ext>
            </a:extLst>
          </p:cNvPr>
          <p:cNvSpPr>
            <a:spLocks noGrp="1"/>
          </p:cNvSpPr>
          <p:nvPr/>
        </p:nvSpPr>
        <p:spPr>
          <a:xfrm>
            <a:off x="571500" y="1695450"/>
            <a:ext cx="9334500" cy="552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00" b="0">
                <a:solidFill>
                  <a:srgbClr val="1B2430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B2430"/>
                </a:solidFill>
                <a:latin typeface="Aptos"/>
                <a:ea typeface="Aptos"/>
                <a:cs typeface="Aptos"/>
              </a:rPr>
              <a:t>The product does not replace trade law. It converts agreed, payment-relevant terms into a signed escrow specification, then releases funds when submitted documents are apparently compliant.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F8C4D81-DCBC-4B95-BDC1-EA46A7C10DE9}"/>
              </a:ext>
            </a:extLst>
          </p:cNvPr>
          <p:cNvSpPr>
            <a:spLocks noGrp="1"/>
          </p:cNvSpPr>
          <p:nvPr/>
        </p:nvSpPr>
        <p:spPr>
          <a:xfrm>
            <a:off x="571500" y="2933700"/>
            <a:ext cx="1790700" cy="12192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2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B2BFC3E-B13F-49A8-90FA-539D0394E171}"/>
              </a:ext>
            </a:extLst>
          </p:cNvPr>
          <p:cNvSpPr>
            <a:spLocks noGrp="1"/>
          </p:cNvSpPr>
          <p:nvPr/>
        </p:nvSpPr>
        <p:spPr>
          <a:xfrm>
            <a:off x="571500" y="2933700"/>
            <a:ext cx="1790700" cy="57150"/>
          </a:xfrm>
          <a:prstGeom prst="rect">
            <a:avLst/>
          </a:prstGeom>
          <a:solidFill>
            <a:srgbClr val="5A4FB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AFBED5D-DFD7-4063-81C1-066E369E1C62}"/>
              </a:ext>
            </a:extLst>
          </p:cNvPr>
          <p:cNvSpPr>
            <a:spLocks noGrp="1"/>
          </p:cNvSpPr>
          <p:nvPr/>
        </p:nvSpPr>
        <p:spPr>
          <a:xfrm>
            <a:off x="742950" y="3105150"/>
            <a:ext cx="40005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5A4FB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5A4FBF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3F85FE9-CD43-4A34-AB98-05B2EC041576}"/>
              </a:ext>
            </a:extLst>
          </p:cNvPr>
          <p:cNvSpPr>
            <a:spLocks noGrp="1"/>
          </p:cNvSpPr>
          <p:nvPr/>
        </p:nvSpPr>
        <p:spPr>
          <a:xfrm>
            <a:off x="1162050" y="3124200"/>
            <a:ext cx="9906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1">
                <a:solidFill>
                  <a:srgbClr val="0B1B3A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0B1B3A"/>
                </a:solidFill>
                <a:latin typeface="Aptos"/>
                <a:ea typeface="Aptos"/>
                <a:cs typeface="Aptos"/>
              </a:rPr>
              <a:t>Agree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3BA37AA-F330-459C-AAC0-9AEC2016A38D}"/>
              </a:ext>
            </a:extLst>
          </p:cNvPr>
          <p:cNvSpPr>
            <a:spLocks noGrp="1"/>
          </p:cNvSpPr>
          <p:nvPr/>
        </p:nvSpPr>
        <p:spPr>
          <a:xfrm>
            <a:off x="742950" y="3486150"/>
            <a:ext cx="1409700" cy="4762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Buyer and seller approve a structured Escrow Specification.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1FE53D0-2AB3-42D2-AAEB-87AC6D4E6A84}"/>
              </a:ext>
            </a:extLst>
          </p:cNvPr>
          <p:cNvSpPr>
            <a:spLocks noGrp="1"/>
          </p:cNvSpPr>
          <p:nvPr/>
        </p:nvSpPr>
        <p:spPr>
          <a:xfrm>
            <a:off x="2781300" y="2933700"/>
            <a:ext cx="1790700" cy="12192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2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815C935-7E7D-4E24-82A3-BE665FEBEA50}"/>
              </a:ext>
            </a:extLst>
          </p:cNvPr>
          <p:cNvSpPr>
            <a:spLocks noGrp="1"/>
          </p:cNvSpPr>
          <p:nvPr/>
        </p:nvSpPr>
        <p:spPr>
          <a:xfrm>
            <a:off x="2781300" y="2933700"/>
            <a:ext cx="1790700" cy="57150"/>
          </a:xfrm>
          <a:prstGeom prst="rect">
            <a:avLst/>
          </a:prstGeom>
          <a:solidFill>
            <a:srgbClr val="0E8C7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F4F894A-5476-4383-A8A4-0CD79EA38843}"/>
              </a:ext>
            </a:extLst>
          </p:cNvPr>
          <p:cNvSpPr>
            <a:spLocks noGrp="1"/>
          </p:cNvSpPr>
          <p:nvPr/>
        </p:nvSpPr>
        <p:spPr>
          <a:xfrm>
            <a:off x="2952750" y="3105150"/>
            <a:ext cx="40005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0E8C7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E8C7F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64F3C52-DFB3-47AC-BB75-64126E24E0B7}"/>
              </a:ext>
            </a:extLst>
          </p:cNvPr>
          <p:cNvSpPr>
            <a:spLocks noGrp="1"/>
          </p:cNvSpPr>
          <p:nvPr/>
        </p:nvSpPr>
        <p:spPr>
          <a:xfrm>
            <a:off x="3371850" y="3124200"/>
            <a:ext cx="9906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1">
                <a:solidFill>
                  <a:srgbClr val="0B1B3A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0B1B3A"/>
                </a:solidFill>
                <a:latin typeface="Aptos"/>
                <a:ea typeface="Aptos"/>
                <a:cs typeface="Aptos"/>
              </a:rPr>
              <a:t>Fund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C454CA3-0BA8-4A45-B9F0-362BF14593A1}"/>
              </a:ext>
            </a:extLst>
          </p:cNvPr>
          <p:cNvSpPr>
            <a:spLocks noGrp="1"/>
          </p:cNvSpPr>
          <p:nvPr/>
        </p:nvSpPr>
        <p:spPr>
          <a:xfrm>
            <a:off x="2952750" y="3486150"/>
            <a:ext cx="1409700" cy="4762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Buyer locks USDC in smart-contract escrow or partner custody.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C29325F-0CB9-47E5-8187-7CF073C1DDDD}"/>
              </a:ext>
            </a:extLst>
          </p:cNvPr>
          <p:cNvSpPr>
            <a:spLocks noGrp="1"/>
          </p:cNvSpPr>
          <p:nvPr/>
        </p:nvSpPr>
        <p:spPr>
          <a:xfrm>
            <a:off x="4991100" y="2933700"/>
            <a:ext cx="1790700" cy="12192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2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382AF10-1DDE-4370-BBFF-C3028528A5FF}"/>
              </a:ext>
            </a:extLst>
          </p:cNvPr>
          <p:cNvSpPr>
            <a:spLocks noGrp="1"/>
          </p:cNvSpPr>
          <p:nvPr/>
        </p:nvSpPr>
        <p:spPr>
          <a:xfrm>
            <a:off x="4991100" y="2933700"/>
            <a:ext cx="1790700" cy="57150"/>
          </a:xfrm>
          <a:prstGeom prst="rect">
            <a:avLst/>
          </a:prstGeom>
          <a:solidFill>
            <a:srgbClr val="1F6FB2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E405DAF-95D2-49B1-828A-BE282993DBA2}"/>
              </a:ext>
            </a:extLst>
          </p:cNvPr>
          <p:cNvSpPr>
            <a:spLocks noGrp="1"/>
          </p:cNvSpPr>
          <p:nvPr/>
        </p:nvSpPr>
        <p:spPr>
          <a:xfrm>
            <a:off x="5162550" y="3105150"/>
            <a:ext cx="40005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1F6FB2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F6FB2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8A2672B-E744-4949-940E-37C66ED67471}"/>
              </a:ext>
            </a:extLst>
          </p:cNvPr>
          <p:cNvSpPr>
            <a:spLocks noGrp="1"/>
          </p:cNvSpPr>
          <p:nvPr/>
        </p:nvSpPr>
        <p:spPr>
          <a:xfrm>
            <a:off x="5581650" y="3124200"/>
            <a:ext cx="9906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1">
                <a:solidFill>
                  <a:srgbClr val="0B1B3A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0B1B3A"/>
                </a:solidFill>
                <a:latin typeface="Aptos"/>
                <a:ea typeface="Aptos"/>
                <a:cs typeface="Aptos"/>
              </a:rPr>
              <a:t>Ship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1A39883-694C-4091-BA53-6CEE07009D52}"/>
              </a:ext>
            </a:extLst>
          </p:cNvPr>
          <p:cNvSpPr>
            <a:spLocks noGrp="1"/>
          </p:cNvSpPr>
          <p:nvPr/>
        </p:nvSpPr>
        <p:spPr>
          <a:xfrm>
            <a:off x="5162550" y="3486150"/>
            <a:ext cx="1409700" cy="4762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Seller ships goods and submits the agreed documents.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6747589-7D7B-462B-9F32-48AA2ADFB757}"/>
              </a:ext>
            </a:extLst>
          </p:cNvPr>
          <p:cNvSpPr>
            <a:spLocks noGrp="1"/>
          </p:cNvSpPr>
          <p:nvPr/>
        </p:nvSpPr>
        <p:spPr>
          <a:xfrm>
            <a:off x="7200900" y="2933700"/>
            <a:ext cx="1790700" cy="12192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2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D91F3288-3914-440B-BADF-996E098B0701}"/>
              </a:ext>
            </a:extLst>
          </p:cNvPr>
          <p:cNvSpPr>
            <a:spLocks noGrp="1"/>
          </p:cNvSpPr>
          <p:nvPr/>
        </p:nvSpPr>
        <p:spPr>
          <a:xfrm>
            <a:off x="7200900" y="2933700"/>
            <a:ext cx="1790700" cy="57150"/>
          </a:xfrm>
          <a:prstGeom prst="rect">
            <a:avLst/>
          </a:prstGeom>
          <a:solidFill>
            <a:srgbClr val="C77D1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CA6B292D-BCBA-433C-9668-6EA89A629550}"/>
              </a:ext>
            </a:extLst>
          </p:cNvPr>
          <p:cNvSpPr>
            <a:spLocks noGrp="1"/>
          </p:cNvSpPr>
          <p:nvPr/>
        </p:nvSpPr>
        <p:spPr>
          <a:xfrm>
            <a:off x="7372350" y="3105150"/>
            <a:ext cx="40005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C77D18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C77D18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F1EEFD16-DDC3-481D-8296-4A379FAC6FB6}"/>
              </a:ext>
            </a:extLst>
          </p:cNvPr>
          <p:cNvSpPr>
            <a:spLocks noGrp="1"/>
          </p:cNvSpPr>
          <p:nvPr/>
        </p:nvSpPr>
        <p:spPr>
          <a:xfrm>
            <a:off x="7791450" y="3124200"/>
            <a:ext cx="9906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1">
                <a:solidFill>
                  <a:srgbClr val="0B1B3A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0B1B3A"/>
                </a:solidFill>
                <a:latin typeface="Aptos"/>
                <a:ea typeface="Aptos"/>
                <a:cs typeface="Aptos"/>
              </a:rPr>
              <a:t>Review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59D76419-D17B-4541-9135-D7E267DE978A}"/>
              </a:ext>
            </a:extLst>
          </p:cNvPr>
          <p:cNvSpPr>
            <a:spLocks noGrp="1"/>
          </p:cNvSpPr>
          <p:nvPr/>
        </p:nvSpPr>
        <p:spPr>
          <a:xfrm>
            <a:off x="7372350" y="3486150"/>
            <a:ext cx="1409700" cy="4762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Rules engine and examiner check document compliance.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20B17DD8-57D1-4647-AE61-B0363D6A6BCA}"/>
              </a:ext>
            </a:extLst>
          </p:cNvPr>
          <p:cNvSpPr>
            <a:spLocks noGrp="1"/>
          </p:cNvSpPr>
          <p:nvPr/>
        </p:nvSpPr>
        <p:spPr>
          <a:xfrm>
            <a:off x="9410700" y="2933700"/>
            <a:ext cx="1790700" cy="12192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2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634E668F-AB33-4BC4-A7EC-6352175D6C38}"/>
              </a:ext>
            </a:extLst>
          </p:cNvPr>
          <p:cNvSpPr>
            <a:spLocks noGrp="1"/>
          </p:cNvSpPr>
          <p:nvPr/>
        </p:nvSpPr>
        <p:spPr>
          <a:xfrm>
            <a:off x="9410700" y="2933700"/>
            <a:ext cx="1790700" cy="57150"/>
          </a:xfrm>
          <a:prstGeom prst="rect">
            <a:avLst/>
          </a:prstGeom>
          <a:solidFill>
            <a:srgbClr val="2C7A33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B93AA5A2-6296-4850-9603-45337F4DCF33}"/>
              </a:ext>
            </a:extLst>
          </p:cNvPr>
          <p:cNvSpPr>
            <a:spLocks noGrp="1"/>
          </p:cNvSpPr>
          <p:nvPr/>
        </p:nvSpPr>
        <p:spPr>
          <a:xfrm>
            <a:off x="9582150" y="3105150"/>
            <a:ext cx="40005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2C7A33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2C7A33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0CF727E9-75FE-4191-AE1D-4DF0C1EE4627}"/>
              </a:ext>
            </a:extLst>
          </p:cNvPr>
          <p:cNvSpPr>
            <a:spLocks noGrp="1"/>
          </p:cNvSpPr>
          <p:nvPr/>
        </p:nvSpPr>
        <p:spPr>
          <a:xfrm>
            <a:off x="10001250" y="3124200"/>
            <a:ext cx="9906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1">
                <a:solidFill>
                  <a:srgbClr val="0B1B3A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0B1B3A"/>
                </a:solidFill>
                <a:latin typeface="Aptos"/>
                <a:ea typeface="Aptos"/>
                <a:cs typeface="Aptos"/>
              </a:rPr>
              <a:t>Release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4B8E6228-2F60-4B83-8BC5-E9AA07EE8FD6}"/>
              </a:ext>
            </a:extLst>
          </p:cNvPr>
          <p:cNvSpPr>
            <a:spLocks noGrp="1"/>
          </p:cNvSpPr>
          <p:nvPr/>
        </p:nvSpPr>
        <p:spPr>
          <a:xfrm>
            <a:off x="9582150" y="3486150"/>
            <a:ext cx="1409700" cy="4762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Funds release, refund, or move to dispute path.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DDE542BE-C526-4E3F-A507-92B88CCD444F}"/>
              </a:ext>
            </a:extLst>
          </p:cNvPr>
          <p:cNvSpPr>
            <a:spLocks noGrp="1"/>
          </p:cNvSpPr>
          <p:nvPr/>
        </p:nvSpPr>
        <p:spPr>
          <a:xfrm>
            <a:off x="2362200" y="3543300"/>
            <a:ext cx="419100" cy="19050"/>
          </a:xfrm>
          <a:prstGeom prst="rect">
            <a:avLst/>
          </a:prstGeom>
          <a:solidFill>
            <a:srgbClr val="6B7280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" name="Triangle 31">
            <a:extLst>
              <a:ext uri="{FF2B5EF4-FFF2-40B4-BE49-F238E27FC236}">
                <a16:creationId xmlns:a16="http://schemas.microsoft.com/office/drawing/2014/main" id="{FFD9C2E9-EFE3-4A7D-9D74-E07DBD40EDAC}"/>
              </a:ext>
            </a:extLst>
          </p:cNvPr>
          <p:cNvSpPr>
            <a:spLocks noGrp="1"/>
          </p:cNvSpPr>
          <p:nvPr/>
        </p:nvSpPr>
        <p:spPr>
          <a:xfrm>
            <a:off x="2724150" y="3495675"/>
            <a:ext cx="95250" cy="95250"/>
          </a:xfrm>
          <a:prstGeom prst="triangle">
            <a:avLst/>
          </a:prstGeom>
          <a:solidFill>
            <a:srgbClr val="6B7280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9D5C9F73-2272-4D3B-A9B9-24516D116BD0}"/>
              </a:ext>
            </a:extLst>
          </p:cNvPr>
          <p:cNvSpPr>
            <a:spLocks noGrp="1"/>
          </p:cNvSpPr>
          <p:nvPr/>
        </p:nvSpPr>
        <p:spPr>
          <a:xfrm>
            <a:off x="4572000" y="3543300"/>
            <a:ext cx="419100" cy="19050"/>
          </a:xfrm>
          <a:prstGeom prst="rect">
            <a:avLst/>
          </a:prstGeom>
          <a:solidFill>
            <a:srgbClr val="6B7280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4" name="Triangle 33">
            <a:extLst>
              <a:ext uri="{FF2B5EF4-FFF2-40B4-BE49-F238E27FC236}">
                <a16:creationId xmlns:a16="http://schemas.microsoft.com/office/drawing/2014/main" id="{9ACE5066-C9AA-40E0-A97C-9E15A9F7602F}"/>
              </a:ext>
            </a:extLst>
          </p:cNvPr>
          <p:cNvSpPr>
            <a:spLocks noGrp="1"/>
          </p:cNvSpPr>
          <p:nvPr/>
        </p:nvSpPr>
        <p:spPr>
          <a:xfrm>
            <a:off x="4933950" y="3495675"/>
            <a:ext cx="95250" cy="95250"/>
          </a:xfrm>
          <a:prstGeom prst="triangle">
            <a:avLst/>
          </a:prstGeom>
          <a:solidFill>
            <a:srgbClr val="6B7280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A9C39DDD-0A35-4F5F-9879-1C08385FD7E7}"/>
              </a:ext>
            </a:extLst>
          </p:cNvPr>
          <p:cNvSpPr>
            <a:spLocks noGrp="1"/>
          </p:cNvSpPr>
          <p:nvPr/>
        </p:nvSpPr>
        <p:spPr>
          <a:xfrm>
            <a:off x="6781800" y="3543300"/>
            <a:ext cx="419100" cy="19050"/>
          </a:xfrm>
          <a:prstGeom prst="rect">
            <a:avLst/>
          </a:prstGeom>
          <a:solidFill>
            <a:srgbClr val="6B7280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6" name="Triangle 35">
            <a:extLst>
              <a:ext uri="{FF2B5EF4-FFF2-40B4-BE49-F238E27FC236}">
                <a16:creationId xmlns:a16="http://schemas.microsoft.com/office/drawing/2014/main" id="{15162A05-22B8-4B55-916F-58A3311F1E96}"/>
              </a:ext>
            </a:extLst>
          </p:cNvPr>
          <p:cNvSpPr>
            <a:spLocks noGrp="1"/>
          </p:cNvSpPr>
          <p:nvPr/>
        </p:nvSpPr>
        <p:spPr>
          <a:xfrm>
            <a:off x="7143750" y="3495675"/>
            <a:ext cx="95250" cy="95250"/>
          </a:xfrm>
          <a:prstGeom prst="triangle">
            <a:avLst/>
          </a:prstGeom>
          <a:solidFill>
            <a:srgbClr val="6B7280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419AA44D-25F1-4FAB-AA49-29C11D227F4E}"/>
              </a:ext>
            </a:extLst>
          </p:cNvPr>
          <p:cNvSpPr>
            <a:spLocks noGrp="1"/>
          </p:cNvSpPr>
          <p:nvPr/>
        </p:nvSpPr>
        <p:spPr>
          <a:xfrm>
            <a:off x="8991600" y="3543300"/>
            <a:ext cx="419100" cy="19050"/>
          </a:xfrm>
          <a:prstGeom prst="rect">
            <a:avLst/>
          </a:prstGeom>
          <a:solidFill>
            <a:srgbClr val="6B7280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8" name="Triangle 37">
            <a:extLst>
              <a:ext uri="{FF2B5EF4-FFF2-40B4-BE49-F238E27FC236}">
                <a16:creationId xmlns:a16="http://schemas.microsoft.com/office/drawing/2014/main" id="{B33658CF-13AF-4927-BA83-9C15578F8F6C}"/>
              </a:ext>
            </a:extLst>
          </p:cNvPr>
          <p:cNvSpPr>
            <a:spLocks noGrp="1"/>
          </p:cNvSpPr>
          <p:nvPr/>
        </p:nvSpPr>
        <p:spPr>
          <a:xfrm>
            <a:off x="9353550" y="3495675"/>
            <a:ext cx="95250" cy="95250"/>
          </a:xfrm>
          <a:prstGeom prst="triangle">
            <a:avLst/>
          </a:prstGeom>
          <a:solidFill>
            <a:srgbClr val="6B7280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02713A5F-046B-48D6-9487-8C0D61CBE7C0}"/>
              </a:ext>
            </a:extLst>
          </p:cNvPr>
          <p:cNvSpPr>
            <a:spLocks noGrp="1"/>
          </p:cNvSpPr>
          <p:nvPr/>
        </p:nvSpPr>
        <p:spPr>
          <a:xfrm>
            <a:off x="1143000" y="4705350"/>
            <a:ext cx="3695700" cy="323850"/>
          </a:xfrm>
          <a:prstGeom prst="rect">
            <a:avLst/>
          </a:prstGeom>
          <a:solidFill>
            <a:srgbClr val="FFFFFF"/>
          </a:solidFill>
          <a:ln w="9525">
            <a:solidFill>
              <a:srgbClr val="0E8C7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708FF858-BF37-4AE8-A683-95BE34A2A42E}"/>
              </a:ext>
            </a:extLst>
          </p:cNvPr>
          <p:cNvSpPr>
            <a:spLocks noGrp="1"/>
          </p:cNvSpPr>
          <p:nvPr/>
        </p:nvSpPr>
        <p:spPr>
          <a:xfrm>
            <a:off x="1143000" y="4705350"/>
            <a:ext cx="57150" cy="323850"/>
          </a:xfrm>
          <a:prstGeom prst="rect">
            <a:avLst/>
          </a:prstGeom>
          <a:solidFill>
            <a:srgbClr val="0E8C7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9B891BA2-0134-436F-8B3B-7AC8121EA16C}"/>
              </a:ext>
            </a:extLst>
          </p:cNvPr>
          <p:cNvSpPr>
            <a:spLocks noGrp="1"/>
          </p:cNvSpPr>
          <p:nvPr/>
        </p:nvSpPr>
        <p:spPr>
          <a:xfrm>
            <a:off x="1295400" y="4772025"/>
            <a:ext cx="34671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975" b="1">
                <a:solidFill>
                  <a:srgbClr val="0B1B3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B1B3A"/>
                </a:solidFill>
                <a:latin typeface="Aptos"/>
                <a:ea typeface="Aptos"/>
                <a:cs typeface="Aptos"/>
              </a:rPr>
              <a:t>Seller certainty: funds are visibly locked before shipment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CE8619BD-5D9F-45A9-89AA-058DFD0DA365}"/>
              </a:ext>
            </a:extLst>
          </p:cNvPr>
          <p:cNvSpPr>
            <a:spLocks noGrp="1"/>
          </p:cNvSpPr>
          <p:nvPr/>
        </p:nvSpPr>
        <p:spPr>
          <a:xfrm>
            <a:off x="5086350" y="4705350"/>
            <a:ext cx="3333750" cy="323850"/>
          </a:xfrm>
          <a:prstGeom prst="rect">
            <a:avLst/>
          </a:prstGeom>
          <a:solidFill>
            <a:srgbClr val="FFFFFF"/>
          </a:solidFill>
          <a:ln w="9525">
            <a:solidFill>
              <a:srgbClr val="5A4FB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166A6C55-BAD9-4C51-9AB7-975A38924057}"/>
              </a:ext>
            </a:extLst>
          </p:cNvPr>
          <p:cNvSpPr>
            <a:spLocks noGrp="1"/>
          </p:cNvSpPr>
          <p:nvPr/>
        </p:nvSpPr>
        <p:spPr>
          <a:xfrm>
            <a:off x="5086350" y="4705350"/>
            <a:ext cx="57150" cy="323850"/>
          </a:xfrm>
          <a:prstGeom prst="rect">
            <a:avLst/>
          </a:prstGeom>
          <a:solidFill>
            <a:srgbClr val="5A4FB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007BEFB3-4888-49D9-BD2B-8140D822FABD}"/>
              </a:ext>
            </a:extLst>
          </p:cNvPr>
          <p:cNvSpPr>
            <a:spLocks noGrp="1"/>
          </p:cNvSpPr>
          <p:nvPr/>
        </p:nvSpPr>
        <p:spPr>
          <a:xfrm>
            <a:off x="5238750" y="4772025"/>
            <a:ext cx="310515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975" b="1">
                <a:solidFill>
                  <a:srgbClr val="0B1B3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B1B3A"/>
                </a:solidFill>
                <a:latin typeface="Aptos"/>
                <a:ea typeface="Aptos"/>
                <a:cs typeface="Aptos"/>
              </a:rPr>
              <a:t>Buyer control: release is bound to agreed documents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1E1331AC-64E9-49FF-B905-17A6ECA78864}"/>
              </a:ext>
            </a:extLst>
          </p:cNvPr>
          <p:cNvSpPr>
            <a:spLocks noGrp="1"/>
          </p:cNvSpPr>
          <p:nvPr/>
        </p:nvSpPr>
        <p:spPr>
          <a:xfrm>
            <a:off x="8667750" y="4705350"/>
            <a:ext cx="2571750" cy="323850"/>
          </a:xfrm>
          <a:prstGeom prst="rect">
            <a:avLst/>
          </a:prstGeom>
          <a:solidFill>
            <a:srgbClr val="FFFFFF"/>
          </a:solidFill>
          <a:ln w="9525">
            <a:solidFill>
              <a:srgbClr val="C77D1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6C791212-A9C8-4F8A-B317-6088A226CEC6}"/>
              </a:ext>
            </a:extLst>
          </p:cNvPr>
          <p:cNvSpPr>
            <a:spLocks noGrp="1"/>
          </p:cNvSpPr>
          <p:nvPr/>
        </p:nvSpPr>
        <p:spPr>
          <a:xfrm>
            <a:off x="8667750" y="4705350"/>
            <a:ext cx="57150" cy="323850"/>
          </a:xfrm>
          <a:prstGeom prst="rect">
            <a:avLst/>
          </a:prstGeom>
          <a:solidFill>
            <a:srgbClr val="C77D1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EB5E2C8B-1ED4-4DCB-B8B9-F0152408F402}"/>
              </a:ext>
            </a:extLst>
          </p:cNvPr>
          <p:cNvSpPr>
            <a:spLocks noGrp="1"/>
          </p:cNvSpPr>
          <p:nvPr/>
        </p:nvSpPr>
        <p:spPr>
          <a:xfrm>
            <a:off x="8820150" y="4772025"/>
            <a:ext cx="234315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975" b="1">
                <a:solidFill>
                  <a:srgbClr val="0B1B3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B1B3A"/>
                </a:solidFill>
                <a:latin typeface="Aptos"/>
                <a:ea typeface="Aptos"/>
                <a:cs typeface="Aptos"/>
              </a:rPr>
              <a:t>Blockmediary boundary: document review, not goods quality guarantee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60632BF3-210E-4E95-8E57-671F97F9CBDE}"/>
              </a:ext>
            </a:extLst>
          </p:cNvPr>
          <p:cNvSpPr>
            <a:spLocks noGrp="1"/>
          </p:cNvSpPr>
          <p:nvPr/>
        </p:nvSpPr>
        <p:spPr>
          <a:xfrm>
            <a:off x="11106150" y="6438900"/>
            <a:ext cx="5524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900" b="1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B7280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28174883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>
            <a:extLst>
              <a:ext uri="{FF2B5EF4-FFF2-40B4-BE49-F238E27FC236}">
                <a16:creationId xmlns:a16="http://schemas.microsoft.com/office/drawing/2014/main" id="{9B039E0A-E4D4-494C-ABC6-4F5432DE34E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4E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" name="kicker-04-marker">
            <a:extLst>
              <a:ext uri="{FF2B5EF4-FFF2-40B4-BE49-F238E27FC236}">
                <a16:creationId xmlns:a16="http://schemas.microsoft.com/office/drawing/2014/main" id="{6E86F81D-01C9-4E23-B17B-936807DB3964}"/>
              </a:ext>
            </a:extLst>
          </p:cNvPr>
          <p:cNvSpPr>
            <a:spLocks noGrp="1"/>
          </p:cNvSpPr>
          <p:nvPr/>
        </p:nvSpPr>
        <p:spPr>
          <a:xfrm>
            <a:off x="533400" y="438150"/>
            <a:ext cx="76200" cy="76200"/>
          </a:xfrm>
          <a:prstGeom prst="rect">
            <a:avLst/>
          </a:prstGeom>
          <a:solidFill>
            <a:srgbClr val="0B1B3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kicker-04-label">
            <a:extLst>
              <a:ext uri="{FF2B5EF4-FFF2-40B4-BE49-F238E27FC236}">
                <a16:creationId xmlns:a16="http://schemas.microsoft.com/office/drawing/2014/main" id="{545F81B6-0B2E-43F8-B4D1-A0D5C06EF221}"/>
              </a:ext>
            </a:extLst>
          </p:cNvPr>
          <p:cNvSpPr>
            <a:spLocks noGrp="1"/>
          </p:cNvSpPr>
          <p:nvPr/>
        </p:nvSpPr>
        <p:spPr>
          <a:xfrm>
            <a:off x="723900" y="361950"/>
            <a:ext cx="5334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900" b="1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B7280"/>
                </a:solidFill>
                <a:latin typeface="Aptos"/>
                <a:ea typeface="Aptos"/>
                <a:cs typeface="Aptos"/>
              </a:rPr>
              <a:t>MARKET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8C6E336-C804-441C-AEF3-0819D2DFD556}"/>
              </a:ext>
            </a:extLst>
          </p:cNvPr>
          <p:cNvSpPr>
            <a:spLocks noGrp="1"/>
          </p:cNvSpPr>
          <p:nvPr/>
        </p:nvSpPr>
        <p:spPr>
          <a:xfrm>
            <a:off x="533400" y="685800"/>
            <a:ext cx="8191500" cy="876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3000" b="1">
                <a:solidFill>
                  <a:srgbClr val="0B1B3A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 dirty="0">
                <a:solidFill>
                  <a:srgbClr val="0B1B3A"/>
                </a:solidFill>
                <a:latin typeface="Aptos Display"/>
                <a:ea typeface="Aptos Display"/>
                <a:cs typeface="Aptos Display"/>
              </a:rPr>
              <a:t>The wedge is narrow, but the gap behind it is enormous.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044BD7CE-439A-42CA-B607-68ADAC0E7EE3}"/>
              </a:ext>
            </a:extLst>
          </p:cNvPr>
          <p:cNvSpPr>
            <a:spLocks noGrp="1"/>
          </p:cNvSpPr>
          <p:nvPr/>
        </p:nvSpPr>
        <p:spPr>
          <a:xfrm>
            <a:off x="1238250" y="1559719"/>
            <a:ext cx="4953000" cy="4767262"/>
          </a:xfrm>
          <a:prstGeom prst="ellipse">
            <a:avLst/>
          </a:prstGeom>
          <a:solidFill>
            <a:srgbClr val="E3EEF5"/>
          </a:solidFill>
          <a:ln w="19050">
            <a:solidFill>
              <a:srgbClr val="1F6FB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8B46051D-70B9-4856-A116-0D5F7E926D6C}"/>
              </a:ext>
            </a:extLst>
          </p:cNvPr>
          <p:cNvSpPr>
            <a:spLocks noGrp="1"/>
          </p:cNvSpPr>
          <p:nvPr/>
        </p:nvSpPr>
        <p:spPr>
          <a:xfrm>
            <a:off x="1905000" y="2457449"/>
            <a:ext cx="3619500" cy="3337869"/>
          </a:xfrm>
          <a:prstGeom prst="ellipse">
            <a:avLst/>
          </a:prstGeom>
          <a:solidFill>
            <a:srgbClr val="DCEFEB"/>
          </a:solidFill>
          <a:ln w="19050">
            <a:solidFill>
              <a:srgbClr val="0E8C7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562E7BFF-7381-47EE-8C0E-8754006D1F2B}"/>
              </a:ext>
            </a:extLst>
          </p:cNvPr>
          <p:cNvSpPr>
            <a:spLocks noGrp="1"/>
          </p:cNvSpPr>
          <p:nvPr/>
        </p:nvSpPr>
        <p:spPr>
          <a:xfrm>
            <a:off x="2571750" y="3395663"/>
            <a:ext cx="2286000" cy="1752600"/>
          </a:xfrm>
          <a:prstGeom prst="ellipse">
            <a:avLst/>
          </a:prstGeom>
          <a:solidFill>
            <a:srgbClr val="F4E8D2"/>
          </a:solidFill>
          <a:ln w="19050">
            <a:solidFill>
              <a:srgbClr val="C77D1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C8E8892-31EC-419B-8D73-E4AB66FBD806}"/>
              </a:ext>
            </a:extLst>
          </p:cNvPr>
          <p:cNvSpPr>
            <a:spLocks noGrp="1"/>
          </p:cNvSpPr>
          <p:nvPr/>
        </p:nvSpPr>
        <p:spPr>
          <a:xfrm>
            <a:off x="3152775" y="1600200"/>
            <a:ext cx="1143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350" b="1">
                <a:solidFill>
                  <a:srgbClr val="1F6FB2"/>
                </a:solidFill>
                <a:latin typeface="Aptos"/>
                <a:ea typeface="Aptos"/>
                <a:cs typeface="Aptos"/>
              </a:defRPr>
            </a:pPr>
            <a:r>
              <a:rPr sz="1350" b="1" dirty="0">
                <a:solidFill>
                  <a:srgbClr val="1F6FB2"/>
                </a:solidFill>
                <a:latin typeface="Aptos"/>
                <a:ea typeface="Aptos"/>
                <a:cs typeface="Aptos"/>
              </a:rPr>
              <a:t>TAM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C009F0F-DBB8-48CF-B493-9D8937CD090A}"/>
              </a:ext>
            </a:extLst>
          </p:cNvPr>
          <p:cNvSpPr>
            <a:spLocks noGrp="1"/>
          </p:cNvSpPr>
          <p:nvPr/>
        </p:nvSpPr>
        <p:spPr>
          <a:xfrm>
            <a:off x="2905125" y="1847850"/>
            <a:ext cx="1638300" cy="4381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2700" b="1">
                <a:solidFill>
                  <a:srgbClr val="0B1B3A"/>
                </a:solidFill>
                <a:latin typeface="Aptos"/>
                <a:ea typeface="Aptos"/>
                <a:cs typeface="Aptos"/>
              </a:defRPr>
            </a:pPr>
            <a:r>
              <a:rPr sz="2700" b="1">
                <a:solidFill>
                  <a:srgbClr val="0B1B3A"/>
                </a:solidFill>
                <a:latin typeface="Aptos"/>
                <a:ea typeface="Aptos"/>
                <a:cs typeface="Aptos"/>
              </a:rPr>
              <a:t>$2.5T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D4D11A5-E0ED-4C0B-9747-0A4D531BF49C}"/>
              </a:ext>
            </a:extLst>
          </p:cNvPr>
          <p:cNvSpPr>
            <a:spLocks noGrp="1"/>
          </p:cNvSpPr>
          <p:nvPr/>
        </p:nvSpPr>
        <p:spPr>
          <a:xfrm>
            <a:off x="2657475" y="2286000"/>
            <a:ext cx="213360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050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global SME trade finance gap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E9327DE-FF5A-4F5A-81A6-BF83ECFF30BF}"/>
              </a:ext>
            </a:extLst>
          </p:cNvPr>
          <p:cNvSpPr>
            <a:spLocks noGrp="1"/>
          </p:cNvSpPr>
          <p:nvPr/>
        </p:nvSpPr>
        <p:spPr>
          <a:xfrm>
            <a:off x="3200400" y="2505075"/>
            <a:ext cx="10287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200" b="1">
                <a:solidFill>
                  <a:srgbClr val="0E8C7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E8C7F"/>
                </a:solidFill>
                <a:latin typeface="Aptos"/>
                <a:ea typeface="Aptos"/>
                <a:cs typeface="Aptos"/>
              </a:rPr>
              <a:t>SAM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96CAC0C-87C6-42AD-ABBE-9088536C5D10}"/>
              </a:ext>
            </a:extLst>
          </p:cNvPr>
          <p:cNvSpPr>
            <a:spLocks noGrp="1"/>
          </p:cNvSpPr>
          <p:nvPr/>
        </p:nvSpPr>
        <p:spPr>
          <a:xfrm>
            <a:off x="3086100" y="2752725"/>
            <a:ext cx="1257300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2400" b="1">
                <a:solidFill>
                  <a:srgbClr val="0B1B3A"/>
                </a:solidFill>
                <a:latin typeface="Aptos"/>
                <a:ea typeface="Aptos"/>
                <a:cs typeface="Aptos"/>
              </a:defRPr>
            </a:pPr>
            <a:r>
              <a:rPr sz="2400" b="1">
                <a:solidFill>
                  <a:srgbClr val="0B1B3A"/>
                </a:solidFill>
                <a:latin typeface="Aptos"/>
                <a:ea typeface="Aptos"/>
                <a:cs typeface="Aptos"/>
              </a:rPr>
              <a:t>$5B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F25B80A-28A4-4FC3-B2F7-FF4CC335BB48}"/>
              </a:ext>
            </a:extLst>
          </p:cNvPr>
          <p:cNvSpPr>
            <a:spLocks noGrp="1"/>
          </p:cNvSpPr>
          <p:nvPr/>
        </p:nvSpPr>
        <p:spPr>
          <a:xfrm>
            <a:off x="2857500" y="3133725"/>
            <a:ext cx="17145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050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1050" b="0" dirty="0">
                <a:solidFill>
                  <a:srgbClr val="6B7280"/>
                </a:solidFill>
                <a:latin typeface="Aptos"/>
                <a:ea typeface="Aptos"/>
                <a:cs typeface="Aptos"/>
              </a:rPr>
              <a:t>UAE SME gap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EEFE3B2-2B10-44F1-B786-DEC314A95D1E}"/>
              </a:ext>
            </a:extLst>
          </p:cNvPr>
          <p:cNvSpPr>
            <a:spLocks noGrp="1"/>
          </p:cNvSpPr>
          <p:nvPr/>
        </p:nvSpPr>
        <p:spPr>
          <a:xfrm>
            <a:off x="3162300" y="3857625"/>
            <a:ext cx="10287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050" b="1">
                <a:solidFill>
                  <a:srgbClr val="C77D18"/>
                </a:solidFill>
                <a:latin typeface="Aptos"/>
                <a:ea typeface="Aptos"/>
                <a:cs typeface="Aptos"/>
              </a:defRPr>
            </a:pPr>
            <a:r>
              <a:rPr sz="1050" b="1" dirty="0">
                <a:solidFill>
                  <a:srgbClr val="C77D18"/>
                </a:solidFill>
                <a:latin typeface="Aptos"/>
                <a:ea typeface="Aptos"/>
                <a:cs typeface="Aptos"/>
              </a:rPr>
              <a:t>SOM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19A6F2A-D7A2-49BA-A03B-89990691CB1C}"/>
              </a:ext>
            </a:extLst>
          </p:cNvPr>
          <p:cNvSpPr>
            <a:spLocks noGrp="1"/>
          </p:cNvSpPr>
          <p:nvPr/>
        </p:nvSpPr>
        <p:spPr>
          <a:xfrm>
            <a:off x="2686050" y="4048125"/>
            <a:ext cx="20002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650" b="1">
                <a:solidFill>
                  <a:srgbClr val="0B1B3A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B1B3A"/>
                </a:solidFill>
                <a:latin typeface="Aptos"/>
                <a:ea typeface="Aptos"/>
                <a:cs typeface="Aptos"/>
              </a:rPr>
              <a:t>$100-250M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62B73F2-298E-4193-97A0-923DF9E3CBC6}"/>
              </a:ext>
            </a:extLst>
          </p:cNvPr>
          <p:cNvSpPr>
            <a:spLocks noGrp="1"/>
          </p:cNvSpPr>
          <p:nvPr/>
        </p:nvSpPr>
        <p:spPr>
          <a:xfrm>
            <a:off x="7334250" y="2000250"/>
            <a:ext cx="3352800" cy="3105150"/>
          </a:xfrm>
          <a:prstGeom prst="rect">
            <a:avLst/>
          </a:prstGeom>
          <a:solidFill>
            <a:srgbClr val="FFFFFF"/>
          </a:solidFill>
          <a:ln w="9525">
            <a:solidFill>
              <a:srgbClr val="D8D2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8D09C08-5214-445C-914E-003045391AF1}"/>
              </a:ext>
            </a:extLst>
          </p:cNvPr>
          <p:cNvSpPr>
            <a:spLocks noGrp="1"/>
          </p:cNvSpPr>
          <p:nvPr/>
        </p:nvSpPr>
        <p:spPr>
          <a:xfrm>
            <a:off x="7581900" y="2247900"/>
            <a:ext cx="25717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0B1B3A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B1B3A"/>
                </a:solidFill>
                <a:latin typeface="Aptos"/>
                <a:ea typeface="Aptos"/>
                <a:cs typeface="Aptos"/>
              </a:rPr>
              <a:t>Beachhead logic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AECA5E6-BA8D-4B41-90E2-479DBF1D2270}"/>
              </a:ext>
            </a:extLst>
          </p:cNvPr>
          <p:cNvSpPr>
            <a:spLocks noGrp="1"/>
          </p:cNvSpPr>
          <p:nvPr/>
        </p:nvSpPr>
        <p:spPr>
          <a:xfrm>
            <a:off x="7581900" y="2686050"/>
            <a:ext cx="2743200" cy="1390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1B243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B2430"/>
                </a:solidFill>
                <a:latin typeface="Aptos"/>
                <a:ea typeface="Aptos"/>
                <a:cs typeface="Aptos"/>
              </a:rPr>
              <a:t>1. UAE importers of Indian and Turkish textiles, garments, and consumer goods.</a:t>
            </a:r>
          </a:p>
          <a:p>
            <a:endParaRPr sz="1200" b="0">
              <a:solidFill>
                <a:srgbClr val="1B2430"/>
              </a:solidFill>
              <a:latin typeface="Aptos"/>
              <a:ea typeface="Aptos"/>
              <a:cs typeface="Aptos"/>
            </a:endParaRPr>
          </a:p>
          <a:p>
            <a:pPr algn="l">
              <a:defRPr sz="1200" b="0">
                <a:solidFill>
                  <a:srgbClr val="1B243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B2430"/>
                </a:solidFill>
                <a:latin typeface="Aptos"/>
                <a:ea typeface="Aptos"/>
                <a:cs typeface="Aptos"/>
              </a:rPr>
              <a:t>2. $10K-$50K shipments: too small for bank LCs, too large for trust-only payment.</a:t>
            </a:r>
          </a:p>
          <a:p>
            <a:endParaRPr sz="1200" b="0">
              <a:solidFill>
                <a:srgbClr val="1B2430"/>
              </a:solidFill>
              <a:latin typeface="Aptos"/>
              <a:ea typeface="Aptos"/>
              <a:cs typeface="Aptos"/>
            </a:endParaRPr>
          </a:p>
          <a:p>
            <a:pPr algn="l">
              <a:defRPr sz="1200" b="0">
                <a:solidFill>
                  <a:srgbClr val="1B243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B2430"/>
                </a:solidFill>
                <a:latin typeface="Aptos"/>
                <a:ea typeface="Aptos"/>
                <a:cs typeface="Aptos"/>
              </a:rPr>
              <a:t>3. Repeat trade pattern creates retention surface.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680CFF7-9A9F-4E10-9949-5126A8087404}"/>
              </a:ext>
            </a:extLst>
          </p:cNvPr>
          <p:cNvSpPr>
            <a:spLocks noGrp="1"/>
          </p:cNvSpPr>
          <p:nvPr/>
        </p:nvSpPr>
        <p:spPr>
          <a:xfrm>
            <a:off x="7581900" y="4476750"/>
            <a:ext cx="2571750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1">
                <a:solidFill>
                  <a:srgbClr val="0E8C7F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0E8C7F"/>
                </a:solidFill>
                <a:latin typeface="Aptos"/>
                <a:ea typeface="Aptos"/>
                <a:cs typeface="Aptos"/>
              </a:rPr>
              <a:t>Where the gap bites hardest, and where regulators are most ready.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B1FF3E9-3378-471E-9514-2286B763D86B}"/>
              </a:ext>
            </a:extLst>
          </p:cNvPr>
          <p:cNvSpPr>
            <a:spLocks noGrp="1"/>
          </p:cNvSpPr>
          <p:nvPr/>
        </p:nvSpPr>
        <p:spPr>
          <a:xfrm>
            <a:off x="11106150" y="6438900"/>
            <a:ext cx="5524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900" b="1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B7280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75697309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Rectangle 30">
            <a:extLst>
              <a:ext uri="{FF2B5EF4-FFF2-40B4-BE49-F238E27FC236}">
                <a16:creationId xmlns:a16="http://schemas.microsoft.com/office/drawing/2014/main" id="{DF527E48-7C3F-4134-B177-CAE6BAA6917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4E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" name="kicker-05-marker">
            <a:extLst>
              <a:ext uri="{FF2B5EF4-FFF2-40B4-BE49-F238E27FC236}">
                <a16:creationId xmlns:a16="http://schemas.microsoft.com/office/drawing/2014/main" id="{DB21B6CC-1904-4F91-B45E-4090B2065634}"/>
              </a:ext>
            </a:extLst>
          </p:cNvPr>
          <p:cNvSpPr>
            <a:spLocks noGrp="1"/>
          </p:cNvSpPr>
          <p:nvPr/>
        </p:nvSpPr>
        <p:spPr>
          <a:xfrm>
            <a:off x="533400" y="438150"/>
            <a:ext cx="76200" cy="76200"/>
          </a:xfrm>
          <a:prstGeom prst="rect">
            <a:avLst/>
          </a:prstGeom>
          <a:solidFill>
            <a:srgbClr val="0B1B3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kicker-05-label">
            <a:extLst>
              <a:ext uri="{FF2B5EF4-FFF2-40B4-BE49-F238E27FC236}">
                <a16:creationId xmlns:a16="http://schemas.microsoft.com/office/drawing/2014/main" id="{26993B88-157F-46AD-854B-0DF5E534682C}"/>
              </a:ext>
            </a:extLst>
          </p:cNvPr>
          <p:cNvSpPr>
            <a:spLocks noGrp="1"/>
          </p:cNvSpPr>
          <p:nvPr/>
        </p:nvSpPr>
        <p:spPr>
          <a:xfrm>
            <a:off x="723900" y="361950"/>
            <a:ext cx="5334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900" b="1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B7280"/>
                </a:solidFill>
                <a:latin typeface="Aptos"/>
                <a:ea typeface="Aptos"/>
                <a:cs typeface="Aptos"/>
              </a:rPr>
              <a:t>PRODUCT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459BFF0-9D04-4E24-9284-AED08DB7959C}"/>
              </a:ext>
            </a:extLst>
          </p:cNvPr>
          <p:cNvSpPr>
            <a:spLocks noGrp="1"/>
          </p:cNvSpPr>
          <p:nvPr/>
        </p:nvSpPr>
        <p:spPr>
          <a:xfrm>
            <a:off x="533400" y="685800"/>
            <a:ext cx="8191500" cy="876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3000" b="1">
                <a:solidFill>
                  <a:srgbClr val="0B1B3A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0B1B3A"/>
                </a:solidFill>
                <a:latin typeface="Aptos Display"/>
                <a:ea typeface="Aptos Display"/>
                <a:cs typeface="Aptos Display"/>
              </a:rPr>
              <a:t>The MVP is governed documentary escrow, not a generic admin release button.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3766352-FB2D-4AEC-A481-659F7255E98D}"/>
              </a:ext>
            </a:extLst>
          </p:cNvPr>
          <p:cNvSpPr>
            <a:spLocks noGrp="1"/>
          </p:cNvSpPr>
          <p:nvPr/>
        </p:nvSpPr>
        <p:spPr>
          <a:xfrm>
            <a:off x="571500" y="1638300"/>
            <a:ext cx="704850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00" b="0">
                <a:solidFill>
                  <a:srgbClr val="1B2430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B2430"/>
                </a:solidFill>
                <a:latin typeface="Aptos"/>
                <a:ea typeface="Aptos"/>
                <a:cs typeface="Aptos"/>
              </a:rPr>
              <a:t>Blockmediary makes the release rules explicit before funds move. The signed Escrow Specification becomes the operational source of truth.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191D52C-7145-4AA0-9014-E2BD9B997EBA}"/>
              </a:ext>
            </a:extLst>
          </p:cNvPr>
          <p:cNvSpPr>
            <a:spLocks noGrp="1"/>
          </p:cNvSpPr>
          <p:nvPr/>
        </p:nvSpPr>
        <p:spPr>
          <a:xfrm>
            <a:off x="666750" y="2686050"/>
            <a:ext cx="2333625" cy="876300"/>
          </a:xfrm>
          <a:prstGeom prst="rect">
            <a:avLst/>
          </a:prstGeom>
          <a:solidFill>
            <a:srgbClr val="E8E5F8"/>
          </a:solidFill>
          <a:ln w="9525">
            <a:solidFill>
              <a:srgbClr val="5A4FB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7A52728-5221-43AC-B438-C8CCAFBA1734}"/>
              </a:ext>
            </a:extLst>
          </p:cNvPr>
          <p:cNvSpPr>
            <a:spLocks noGrp="1"/>
          </p:cNvSpPr>
          <p:nvPr/>
        </p:nvSpPr>
        <p:spPr>
          <a:xfrm>
            <a:off x="666750" y="2686050"/>
            <a:ext cx="57150" cy="876300"/>
          </a:xfrm>
          <a:prstGeom prst="rect">
            <a:avLst/>
          </a:prstGeom>
          <a:solidFill>
            <a:srgbClr val="5A4FB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B7D500E-97C7-422F-B02D-F7CB22068ACD}"/>
              </a:ext>
            </a:extLst>
          </p:cNvPr>
          <p:cNvSpPr>
            <a:spLocks noGrp="1"/>
          </p:cNvSpPr>
          <p:nvPr/>
        </p:nvSpPr>
        <p:spPr>
          <a:xfrm>
            <a:off x="857250" y="2819400"/>
            <a:ext cx="19050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1">
                <a:solidFill>
                  <a:srgbClr val="0B1B3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B1B3A"/>
                </a:solidFill>
                <a:latin typeface="Aptos"/>
                <a:ea typeface="Aptos"/>
                <a:cs typeface="Aptos"/>
              </a:rPr>
              <a:t>1. Escrow Specification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C129E90-3155-4A06-AF1D-9E3812B3206E}"/>
              </a:ext>
            </a:extLst>
          </p:cNvPr>
          <p:cNvSpPr>
            <a:spLocks noGrp="1"/>
          </p:cNvSpPr>
          <p:nvPr/>
        </p:nvSpPr>
        <p:spPr>
          <a:xfrm>
            <a:off x="857250" y="3086100"/>
            <a:ext cx="19050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38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Structured trade terms, required documents, objection window, release rules.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A363E27-A425-4D6D-AA20-C36A44B02799}"/>
              </a:ext>
            </a:extLst>
          </p:cNvPr>
          <p:cNvSpPr>
            <a:spLocks noGrp="1"/>
          </p:cNvSpPr>
          <p:nvPr/>
        </p:nvSpPr>
        <p:spPr>
          <a:xfrm>
            <a:off x="3429000" y="2686050"/>
            <a:ext cx="2333625" cy="876300"/>
          </a:xfrm>
          <a:prstGeom prst="rect">
            <a:avLst/>
          </a:prstGeom>
          <a:solidFill>
            <a:srgbClr val="DCEFEB"/>
          </a:solidFill>
          <a:ln w="9525">
            <a:solidFill>
              <a:srgbClr val="0E8C7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345E463-9069-4BC5-8E63-AE909E46C09D}"/>
              </a:ext>
            </a:extLst>
          </p:cNvPr>
          <p:cNvSpPr>
            <a:spLocks noGrp="1"/>
          </p:cNvSpPr>
          <p:nvPr/>
        </p:nvSpPr>
        <p:spPr>
          <a:xfrm>
            <a:off x="3429000" y="2686050"/>
            <a:ext cx="57150" cy="876300"/>
          </a:xfrm>
          <a:prstGeom prst="rect">
            <a:avLst/>
          </a:prstGeom>
          <a:solidFill>
            <a:srgbClr val="0E8C7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A52CB99-0B7F-4E77-965C-3D6638F7ECCD}"/>
              </a:ext>
            </a:extLst>
          </p:cNvPr>
          <p:cNvSpPr>
            <a:spLocks noGrp="1"/>
          </p:cNvSpPr>
          <p:nvPr/>
        </p:nvSpPr>
        <p:spPr>
          <a:xfrm>
            <a:off x="3619500" y="2819400"/>
            <a:ext cx="19050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1">
                <a:solidFill>
                  <a:srgbClr val="0B1B3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B1B3A"/>
                </a:solidFill>
                <a:latin typeface="Aptos"/>
                <a:ea typeface="Aptos"/>
                <a:cs typeface="Aptos"/>
              </a:rPr>
              <a:t>2. Trade Escrow Agreement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F74D830-9A9D-49D7-8194-B82350217F97}"/>
              </a:ext>
            </a:extLst>
          </p:cNvPr>
          <p:cNvSpPr>
            <a:spLocks noGrp="1"/>
          </p:cNvSpPr>
          <p:nvPr/>
        </p:nvSpPr>
        <p:spPr>
          <a:xfrm>
            <a:off x="3619500" y="3086100"/>
            <a:ext cx="19050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38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Buyer and seller accept the payment-release workflow and dispute path.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D55A71B-0C0B-4F9C-8D0B-6F0E548C39D9}"/>
              </a:ext>
            </a:extLst>
          </p:cNvPr>
          <p:cNvSpPr>
            <a:spLocks noGrp="1"/>
          </p:cNvSpPr>
          <p:nvPr/>
        </p:nvSpPr>
        <p:spPr>
          <a:xfrm>
            <a:off x="6191250" y="2686050"/>
            <a:ext cx="2333625" cy="876300"/>
          </a:xfrm>
          <a:prstGeom prst="rect">
            <a:avLst/>
          </a:prstGeom>
          <a:solidFill>
            <a:srgbClr val="DDEAF5"/>
          </a:solidFill>
          <a:ln w="9525">
            <a:solidFill>
              <a:srgbClr val="1F6FB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A382483-E0A2-4A16-89FC-C7BA9D143129}"/>
              </a:ext>
            </a:extLst>
          </p:cNvPr>
          <p:cNvSpPr>
            <a:spLocks noGrp="1"/>
          </p:cNvSpPr>
          <p:nvPr/>
        </p:nvSpPr>
        <p:spPr>
          <a:xfrm>
            <a:off x="6191250" y="2686050"/>
            <a:ext cx="57150" cy="876300"/>
          </a:xfrm>
          <a:prstGeom prst="rect">
            <a:avLst/>
          </a:prstGeom>
          <a:solidFill>
            <a:srgbClr val="1F6FB2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8E970C4-0FBD-44E1-95B2-01B86BF60772}"/>
              </a:ext>
            </a:extLst>
          </p:cNvPr>
          <p:cNvSpPr>
            <a:spLocks noGrp="1"/>
          </p:cNvSpPr>
          <p:nvPr/>
        </p:nvSpPr>
        <p:spPr>
          <a:xfrm>
            <a:off x="6381750" y="2819400"/>
            <a:ext cx="19050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1">
                <a:solidFill>
                  <a:srgbClr val="0B1B3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B1B3A"/>
                </a:solidFill>
                <a:latin typeface="Aptos"/>
                <a:ea typeface="Aptos"/>
                <a:cs typeface="Aptos"/>
              </a:rPr>
              <a:t>3. Submitted Documents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DC92CAA-524D-42C8-BF3C-1CF88A37564D}"/>
              </a:ext>
            </a:extLst>
          </p:cNvPr>
          <p:cNvSpPr>
            <a:spLocks noGrp="1"/>
          </p:cNvSpPr>
          <p:nvPr/>
        </p:nvSpPr>
        <p:spPr>
          <a:xfrm>
            <a:off x="6381750" y="3086100"/>
            <a:ext cx="19050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38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Invoice, packing list, transport document, certificate where needed.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9442F47-59E6-4BF6-BE5D-1ACAFA42D8C3}"/>
              </a:ext>
            </a:extLst>
          </p:cNvPr>
          <p:cNvSpPr>
            <a:spLocks noGrp="1"/>
          </p:cNvSpPr>
          <p:nvPr/>
        </p:nvSpPr>
        <p:spPr>
          <a:xfrm>
            <a:off x="8953500" y="2686050"/>
            <a:ext cx="2333625" cy="876300"/>
          </a:xfrm>
          <a:prstGeom prst="rect">
            <a:avLst/>
          </a:prstGeom>
          <a:solidFill>
            <a:srgbClr val="F4E8D2"/>
          </a:solidFill>
          <a:ln w="9525">
            <a:solidFill>
              <a:srgbClr val="C77D1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FC5EF57-433C-4671-B0BD-96513395E522}"/>
              </a:ext>
            </a:extLst>
          </p:cNvPr>
          <p:cNvSpPr>
            <a:spLocks noGrp="1"/>
          </p:cNvSpPr>
          <p:nvPr/>
        </p:nvSpPr>
        <p:spPr>
          <a:xfrm>
            <a:off x="8953500" y="2686050"/>
            <a:ext cx="57150" cy="876300"/>
          </a:xfrm>
          <a:prstGeom prst="rect">
            <a:avLst/>
          </a:prstGeom>
          <a:solidFill>
            <a:srgbClr val="C77D1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125EC64-7D55-4BBC-A80B-A135E0A91E34}"/>
              </a:ext>
            </a:extLst>
          </p:cNvPr>
          <p:cNvSpPr>
            <a:spLocks noGrp="1"/>
          </p:cNvSpPr>
          <p:nvPr/>
        </p:nvSpPr>
        <p:spPr>
          <a:xfrm>
            <a:off x="9144000" y="2819400"/>
            <a:ext cx="19050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1">
                <a:solidFill>
                  <a:srgbClr val="0B1B3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B1B3A"/>
                </a:solidFill>
                <a:latin typeface="Aptos"/>
                <a:ea typeface="Aptos"/>
                <a:cs typeface="Aptos"/>
              </a:rPr>
              <a:t>4. Audit Trail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8A93EB0-FA1F-4BDB-923B-5E898D970B37}"/>
              </a:ext>
            </a:extLst>
          </p:cNvPr>
          <p:cNvSpPr>
            <a:spLocks noGrp="1"/>
          </p:cNvSpPr>
          <p:nvPr/>
        </p:nvSpPr>
        <p:spPr>
          <a:xfrm>
            <a:off x="9144000" y="3086100"/>
            <a:ext cx="19050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38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Reviewer notes, buyer notice, objection clock, release instruction.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E6611C4-599F-454C-BBB0-8D4626054743}"/>
              </a:ext>
            </a:extLst>
          </p:cNvPr>
          <p:cNvSpPr>
            <a:spLocks noGrp="1"/>
          </p:cNvSpPr>
          <p:nvPr/>
        </p:nvSpPr>
        <p:spPr>
          <a:xfrm>
            <a:off x="3028950" y="3114675"/>
            <a:ext cx="361950" cy="19050"/>
          </a:xfrm>
          <a:prstGeom prst="rect">
            <a:avLst/>
          </a:prstGeom>
          <a:solidFill>
            <a:srgbClr val="6B7280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01D796B-F4AC-47A2-945A-21EDBEE54B53}"/>
              </a:ext>
            </a:extLst>
          </p:cNvPr>
          <p:cNvSpPr>
            <a:spLocks noGrp="1"/>
          </p:cNvSpPr>
          <p:nvPr/>
        </p:nvSpPr>
        <p:spPr>
          <a:xfrm>
            <a:off x="5791200" y="3114675"/>
            <a:ext cx="361950" cy="19050"/>
          </a:xfrm>
          <a:prstGeom prst="rect">
            <a:avLst/>
          </a:prstGeom>
          <a:solidFill>
            <a:srgbClr val="6B7280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014A901D-02FE-4794-A58A-373F35120E20}"/>
              </a:ext>
            </a:extLst>
          </p:cNvPr>
          <p:cNvSpPr>
            <a:spLocks noGrp="1"/>
          </p:cNvSpPr>
          <p:nvPr/>
        </p:nvSpPr>
        <p:spPr>
          <a:xfrm>
            <a:off x="8553450" y="3114675"/>
            <a:ext cx="361950" cy="19050"/>
          </a:xfrm>
          <a:prstGeom prst="rect">
            <a:avLst/>
          </a:prstGeom>
          <a:solidFill>
            <a:srgbClr val="6B7280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F943F194-E45D-40B4-86E8-66C1C36D5C67}"/>
              </a:ext>
            </a:extLst>
          </p:cNvPr>
          <p:cNvSpPr>
            <a:spLocks noGrp="1"/>
          </p:cNvSpPr>
          <p:nvPr/>
        </p:nvSpPr>
        <p:spPr>
          <a:xfrm>
            <a:off x="1047750" y="4171950"/>
            <a:ext cx="4362450" cy="895350"/>
          </a:xfrm>
          <a:prstGeom prst="rect">
            <a:avLst/>
          </a:prstGeom>
          <a:solidFill>
            <a:srgbClr val="FFFFFF"/>
          </a:solidFill>
          <a:ln w="9525">
            <a:solidFill>
              <a:srgbClr val="D8D2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72F4E5C7-1612-41BF-9EDD-8B3932341C6C}"/>
              </a:ext>
            </a:extLst>
          </p:cNvPr>
          <p:cNvSpPr>
            <a:spLocks noGrp="1"/>
          </p:cNvSpPr>
          <p:nvPr/>
        </p:nvSpPr>
        <p:spPr>
          <a:xfrm>
            <a:off x="1276350" y="4362450"/>
            <a:ext cx="24765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0B1B3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B1B3A"/>
                </a:solidFill>
                <a:latin typeface="Aptos"/>
                <a:ea typeface="Aptos"/>
                <a:cs typeface="Aptos"/>
              </a:rPr>
              <a:t>On-chain state stays narrow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B4A9006-EC23-4449-903E-94443393FC3D}"/>
              </a:ext>
            </a:extLst>
          </p:cNvPr>
          <p:cNvSpPr>
            <a:spLocks noGrp="1"/>
          </p:cNvSpPr>
          <p:nvPr/>
        </p:nvSpPr>
        <p:spPr>
          <a:xfrm>
            <a:off x="1276350" y="4667250"/>
            <a:ext cx="36385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1">
                <a:solidFill>
                  <a:srgbClr val="0E8C7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E8C7F"/>
                </a:solidFill>
                <a:latin typeface="Aptos"/>
                <a:ea typeface="Aptos"/>
                <a:cs typeface="Aptos"/>
              </a:rPr>
              <a:t>Created -&gt; Funded -&gt; ReleasePending -&gt; Released / Refunded / Disputed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E1740E81-F192-41AD-83C2-2627500D4C12}"/>
              </a:ext>
            </a:extLst>
          </p:cNvPr>
          <p:cNvSpPr>
            <a:spLocks noGrp="1"/>
          </p:cNvSpPr>
          <p:nvPr/>
        </p:nvSpPr>
        <p:spPr>
          <a:xfrm>
            <a:off x="5829300" y="4171950"/>
            <a:ext cx="4362450" cy="895350"/>
          </a:xfrm>
          <a:prstGeom prst="rect">
            <a:avLst/>
          </a:prstGeom>
          <a:solidFill>
            <a:srgbClr val="FFFFFF"/>
          </a:solidFill>
          <a:ln w="9525">
            <a:solidFill>
              <a:srgbClr val="D8D2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EFA59945-495B-4304-9CAF-99EC9EC01D7C}"/>
              </a:ext>
            </a:extLst>
          </p:cNvPr>
          <p:cNvSpPr>
            <a:spLocks noGrp="1"/>
          </p:cNvSpPr>
          <p:nvPr/>
        </p:nvSpPr>
        <p:spPr>
          <a:xfrm>
            <a:off x="6057900" y="4362450"/>
            <a:ext cx="30480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0B1B3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B1B3A"/>
                </a:solidFill>
                <a:latin typeface="Aptos"/>
                <a:ea typeface="Aptos"/>
                <a:cs typeface="Aptos"/>
              </a:rPr>
              <a:t>Off-chain review carries the nuance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30A092C1-077B-4627-BA3A-47BDFC9888E6}"/>
              </a:ext>
            </a:extLst>
          </p:cNvPr>
          <p:cNvSpPr>
            <a:spLocks noGrp="1"/>
          </p:cNvSpPr>
          <p:nvPr/>
        </p:nvSpPr>
        <p:spPr>
          <a:xfrm>
            <a:off x="6057900" y="4667250"/>
            <a:ext cx="356235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Document intake, apparent compliance, sanctions checks, buyer objection validity, examiner escalation.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B255769E-B3A0-449A-AF4F-F8182976ED5B}"/>
              </a:ext>
            </a:extLst>
          </p:cNvPr>
          <p:cNvSpPr>
            <a:spLocks noGrp="1"/>
          </p:cNvSpPr>
          <p:nvPr/>
        </p:nvSpPr>
        <p:spPr>
          <a:xfrm>
            <a:off x="11106150" y="6438900"/>
            <a:ext cx="5524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900" b="1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B7280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00541574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Rectangle 41">
            <a:extLst>
              <a:ext uri="{FF2B5EF4-FFF2-40B4-BE49-F238E27FC236}">
                <a16:creationId xmlns:a16="http://schemas.microsoft.com/office/drawing/2014/main" id="{5CFC7245-F426-4B7C-A90B-95E5DFDB986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4E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" name="kicker-08-marker">
            <a:extLst>
              <a:ext uri="{FF2B5EF4-FFF2-40B4-BE49-F238E27FC236}">
                <a16:creationId xmlns:a16="http://schemas.microsoft.com/office/drawing/2014/main" id="{32ECFFE6-CDF4-4BB5-9EE0-AF6F59704513}"/>
              </a:ext>
            </a:extLst>
          </p:cNvPr>
          <p:cNvSpPr>
            <a:spLocks noGrp="1"/>
          </p:cNvSpPr>
          <p:nvPr/>
        </p:nvSpPr>
        <p:spPr>
          <a:xfrm>
            <a:off x="533400" y="438150"/>
            <a:ext cx="76200" cy="76200"/>
          </a:xfrm>
          <a:prstGeom prst="rect">
            <a:avLst/>
          </a:prstGeom>
          <a:solidFill>
            <a:srgbClr val="0B1B3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kicker-08-label">
            <a:extLst>
              <a:ext uri="{FF2B5EF4-FFF2-40B4-BE49-F238E27FC236}">
                <a16:creationId xmlns:a16="http://schemas.microsoft.com/office/drawing/2014/main" id="{2B0E90CB-A161-46E8-8901-876F0547EB95}"/>
              </a:ext>
            </a:extLst>
          </p:cNvPr>
          <p:cNvSpPr>
            <a:spLocks noGrp="1"/>
          </p:cNvSpPr>
          <p:nvPr/>
        </p:nvSpPr>
        <p:spPr>
          <a:xfrm>
            <a:off x="723900" y="361950"/>
            <a:ext cx="5334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900" b="1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B7280"/>
                </a:solidFill>
                <a:latin typeface="Aptos"/>
                <a:ea typeface="Aptos"/>
                <a:cs typeface="Aptos"/>
              </a:rPr>
              <a:t>BUSINESS MODEL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4FA7FC7-C48E-4E87-A9E6-E18BAB9D8419}"/>
              </a:ext>
            </a:extLst>
          </p:cNvPr>
          <p:cNvSpPr>
            <a:spLocks noGrp="1"/>
          </p:cNvSpPr>
          <p:nvPr/>
        </p:nvSpPr>
        <p:spPr>
          <a:xfrm>
            <a:off x="533400" y="685800"/>
            <a:ext cx="8191500" cy="876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3000" b="1">
                <a:solidFill>
                  <a:srgbClr val="0B1B3A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0B1B3A"/>
                </a:solidFill>
                <a:latin typeface="Aptos Display"/>
                <a:ea typeface="Aptos Display"/>
                <a:cs typeface="Aptos Display"/>
              </a:rPr>
              <a:t>Revenue starts transactional, then expands into APIs and verified-trade data.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F3364A7-8494-419B-B1E9-62ADEDE12A3C}"/>
              </a:ext>
            </a:extLst>
          </p:cNvPr>
          <p:cNvSpPr>
            <a:spLocks noGrp="1"/>
          </p:cNvSpPr>
          <p:nvPr/>
        </p:nvSpPr>
        <p:spPr>
          <a:xfrm>
            <a:off x="571500" y="1638300"/>
            <a:ext cx="8953500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00" b="0">
                <a:solidFill>
                  <a:srgbClr val="1B2430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B2430"/>
                </a:solidFill>
                <a:latin typeface="Aptos"/>
                <a:ea typeface="Aptos"/>
                <a:cs typeface="Aptos"/>
              </a:rPr>
              <a:t>The model is intentionally boring for Phase 1: charge for settlement orchestration and document review. Higher-margin partner APIs and yield share come only after the transaction base exists.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17CCC04-12C7-486A-A263-1957D9CE1398}"/>
              </a:ext>
            </a:extLst>
          </p:cNvPr>
          <p:cNvSpPr>
            <a:spLocks noGrp="1"/>
          </p:cNvSpPr>
          <p:nvPr/>
        </p:nvSpPr>
        <p:spPr>
          <a:xfrm>
            <a:off x="742950" y="2609850"/>
            <a:ext cx="3048000" cy="16764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2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7BFCE09-77C6-47CD-AC06-92CCEBF07563}"/>
              </a:ext>
            </a:extLst>
          </p:cNvPr>
          <p:cNvSpPr>
            <a:spLocks noGrp="1"/>
          </p:cNvSpPr>
          <p:nvPr/>
        </p:nvSpPr>
        <p:spPr>
          <a:xfrm>
            <a:off x="742950" y="2609850"/>
            <a:ext cx="3048000" cy="66675"/>
          </a:xfrm>
          <a:prstGeom prst="rect">
            <a:avLst/>
          </a:prstGeom>
          <a:solidFill>
            <a:srgbClr val="0E8C7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930165D-54DE-482A-93CB-8DC144596CF3}"/>
              </a:ext>
            </a:extLst>
          </p:cNvPr>
          <p:cNvSpPr>
            <a:spLocks noGrp="1"/>
          </p:cNvSpPr>
          <p:nvPr/>
        </p:nvSpPr>
        <p:spPr>
          <a:xfrm>
            <a:off x="952500" y="2857500"/>
            <a:ext cx="41910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250" b="1">
                <a:solidFill>
                  <a:srgbClr val="0E8C7F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0E8C7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C12F6ED-A722-4B51-A8D3-7EA342EDFDB2}"/>
              </a:ext>
            </a:extLst>
          </p:cNvPr>
          <p:cNvSpPr>
            <a:spLocks noGrp="1"/>
          </p:cNvSpPr>
          <p:nvPr/>
        </p:nvSpPr>
        <p:spPr>
          <a:xfrm>
            <a:off x="1466850" y="2895600"/>
            <a:ext cx="194310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00" b="1">
                <a:solidFill>
                  <a:srgbClr val="0B1B3A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B1B3A"/>
                </a:solidFill>
                <a:latin typeface="Aptos"/>
                <a:ea typeface="Aptos"/>
                <a:cs typeface="Aptos"/>
              </a:rPr>
              <a:t>Settlement fees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E1BFF95-CF35-4488-8D0F-3F041872F328}"/>
              </a:ext>
            </a:extLst>
          </p:cNvPr>
          <p:cNvSpPr>
            <a:spLocks noGrp="1"/>
          </p:cNvSpPr>
          <p:nvPr/>
        </p:nvSpPr>
        <p:spPr>
          <a:xfrm>
            <a:off x="971550" y="3352800"/>
            <a:ext cx="24574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0">
                <a:solidFill>
                  <a:srgbClr val="1B2430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B2430"/>
                </a:solidFill>
                <a:latin typeface="Aptos"/>
                <a:ea typeface="Aptos"/>
                <a:cs typeface="Aptos"/>
              </a:rPr>
              <a:t>0.5%-1.0% per trade, tier-dependent. First deal discount only; standard pricing from deal two.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09FC3AC-22EE-4360-8D92-2E6F526D28AF}"/>
              </a:ext>
            </a:extLst>
          </p:cNvPr>
          <p:cNvSpPr>
            <a:spLocks noGrp="1"/>
          </p:cNvSpPr>
          <p:nvPr/>
        </p:nvSpPr>
        <p:spPr>
          <a:xfrm>
            <a:off x="971550" y="3905250"/>
            <a:ext cx="23622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1">
                <a:solidFill>
                  <a:srgbClr val="0E8C7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E8C7F"/>
                </a:solidFill>
                <a:latin typeface="Aptos"/>
                <a:ea typeface="Aptos"/>
                <a:cs typeface="Aptos"/>
              </a:rPr>
              <a:t>core revenue from day one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103FC44-9425-4C1E-B670-FD279C8BB48B}"/>
              </a:ext>
            </a:extLst>
          </p:cNvPr>
          <p:cNvSpPr>
            <a:spLocks noGrp="1"/>
          </p:cNvSpPr>
          <p:nvPr/>
        </p:nvSpPr>
        <p:spPr>
          <a:xfrm>
            <a:off x="4572000" y="2609850"/>
            <a:ext cx="3048000" cy="16764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2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104B204-F192-44E6-88A4-0020F0267FB5}"/>
              </a:ext>
            </a:extLst>
          </p:cNvPr>
          <p:cNvSpPr>
            <a:spLocks noGrp="1"/>
          </p:cNvSpPr>
          <p:nvPr/>
        </p:nvSpPr>
        <p:spPr>
          <a:xfrm>
            <a:off x="4572000" y="2609850"/>
            <a:ext cx="3048000" cy="66675"/>
          </a:xfrm>
          <a:prstGeom prst="rect">
            <a:avLst/>
          </a:prstGeom>
          <a:solidFill>
            <a:srgbClr val="1F6FB2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A3B5CF2-CA99-4E10-8F95-B9DC57AEE403}"/>
              </a:ext>
            </a:extLst>
          </p:cNvPr>
          <p:cNvSpPr>
            <a:spLocks noGrp="1"/>
          </p:cNvSpPr>
          <p:nvPr/>
        </p:nvSpPr>
        <p:spPr>
          <a:xfrm>
            <a:off x="4781550" y="2857500"/>
            <a:ext cx="41910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250" b="1">
                <a:solidFill>
                  <a:srgbClr val="1F6FB2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1F6FB2"/>
                </a:solidFill>
                <a:latin typeface="Aptos"/>
                <a:ea typeface="Aptos"/>
                <a:cs typeface="Aptos"/>
              </a:rPr>
              <a:t>B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9DD6D00-4112-4D7F-9A00-AE17163976EA}"/>
              </a:ext>
            </a:extLst>
          </p:cNvPr>
          <p:cNvSpPr>
            <a:spLocks noGrp="1"/>
          </p:cNvSpPr>
          <p:nvPr/>
        </p:nvSpPr>
        <p:spPr>
          <a:xfrm>
            <a:off x="5295900" y="2895600"/>
            <a:ext cx="194310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00" b="1">
                <a:solidFill>
                  <a:srgbClr val="0B1B3A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B1B3A"/>
                </a:solidFill>
                <a:latin typeface="Aptos"/>
                <a:ea typeface="Aptos"/>
                <a:cs typeface="Aptos"/>
              </a:rPr>
              <a:t>SaaS / API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E278E5CF-CDE6-4F12-B38C-946C3D13D755}"/>
              </a:ext>
            </a:extLst>
          </p:cNvPr>
          <p:cNvSpPr>
            <a:spLocks noGrp="1"/>
          </p:cNvSpPr>
          <p:nvPr/>
        </p:nvSpPr>
        <p:spPr>
          <a:xfrm>
            <a:off x="4800600" y="3352800"/>
            <a:ext cx="24574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0">
                <a:solidFill>
                  <a:srgbClr val="1B2430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B2430"/>
                </a:solidFill>
                <a:latin typeface="Aptos"/>
                <a:ea typeface="Aptos"/>
                <a:cs typeface="Aptos"/>
              </a:rPr>
              <a:t>Verification API and bank white-label rail once templates and review operations mature.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C645EB8-38D7-4F2E-8E03-799A98398BCF}"/>
              </a:ext>
            </a:extLst>
          </p:cNvPr>
          <p:cNvSpPr>
            <a:spLocks noGrp="1"/>
          </p:cNvSpPr>
          <p:nvPr/>
        </p:nvSpPr>
        <p:spPr>
          <a:xfrm>
            <a:off x="4800600" y="3905250"/>
            <a:ext cx="23622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1">
                <a:solidFill>
                  <a:srgbClr val="1F6FB2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F6FB2"/>
                </a:solidFill>
                <a:latin typeface="Aptos"/>
                <a:ea typeface="Aptos"/>
                <a:cs typeface="Aptos"/>
              </a:rPr>
              <a:t>partner revenue in Y1-Y3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DCC2A0B-9ACC-469F-8279-5F8F67EB2DB7}"/>
              </a:ext>
            </a:extLst>
          </p:cNvPr>
          <p:cNvSpPr>
            <a:spLocks noGrp="1"/>
          </p:cNvSpPr>
          <p:nvPr/>
        </p:nvSpPr>
        <p:spPr>
          <a:xfrm>
            <a:off x="8401050" y="2609850"/>
            <a:ext cx="3048000" cy="16764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2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51AD9F5-6FC2-4E64-90E7-67DFE3B7E31D}"/>
              </a:ext>
            </a:extLst>
          </p:cNvPr>
          <p:cNvSpPr>
            <a:spLocks noGrp="1"/>
          </p:cNvSpPr>
          <p:nvPr/>
        </p:nvSpPr>
        <p:spPr>
          <a:xfrm>
            <a:off x="8401050" y="2609850"/>
            <a:ext cx="3048000" cy="66675"/>
          </a:xfrm>
          <a:prstGeom prst="rect">
            <a:avLst/>
          </a:prstGeom>
          <a:solidFill>
            <a:srgbClr val="2C7A33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01170D6-62F7-4B12-B63B-EF6FB3DDE9B5}"/>
              </a:ext>
            </a:extLst>
          </p:cNvPr>
          <p:cNvSpPr>
            <a:spLocks noGrp="1"/>
          </p:cNvSpPr>
          <p:nvPr/>
        </p:nvSpPr>
        <p:spPr>
          <a:xfrm>
            <a:off x="8610600" y="2857500"/>
            <a:ext cx="41910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250" b="1">
                <a:solidFill>
                  <a:srgbClr val="2C7A33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2C7A33"/>
                </a:solidFill>
                <a:latin typeface="Aptos"/>
                <a:ea typeface="Aptos"/>
                <a:cs typeface="Aptos"/>
              </a:rPr>
              <a:t>C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66CD84A-FA67-425B-98DC-15B987B137F6}"/>
              </a:ext>
            </a:extLst>
          </p:cNvPr>
          <p:cNvSpPr>
            <a:spLocks noGrp="1"/>
          </p:cNvSpPr>
          <p:nvPr/>
        </p:nvSpPr>
        <p:spPr>
          <a:xfrm>
            <a:off x="9124950" y="2895600"/>
            <a:ext cx="194310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00" b="1">
                <a:solidFill>
                  <a:srgbClr val="0B1B3A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B1B3A"/>
                </a:solidFill>
                <a:latin typeface="Aptos"/>
                <a:ea typeface="Aptos"/>
                <a:cs typeface="Aptos"/>
              </a:rPr>
              <a:t>Yield share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8CA16E95-5115-42D3-86DC-A175C215E485}"/>
              </a:ext>
            </a:extLst>
          </p:cNvPr>
          <p:cNvSpPr>
            <a:spLocks noGrp="1"/>
          </p:cNvSpPr>
          <p:nvPr/>
        </p:nvSpPr>
        <p:spPr>
          <a:xfrm>
            <a:off x="8629650" y="3352800"/>
            <a:ext cx="24574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0">
                <a:solidFill>
                  <a:srgbClr val="1B2430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B2430"/>
                </a:solidFill>
                <a:latin typeface="Aptos"/>
                <a:ea typeface="Aptos"/>
                <a:cs typeface="Aptos"/>
              </a:rPr>
              <a:t>Optional later share on idle escrow via regulated yield infrastructure.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E0A658F-88C7-4947-94D6-AF2CC16302B3}"/>
              </a:ext>
            </a:extLst>
          </p:cNvPr>
          <p:cNvSpPr>
            <a:spLocks noGrp="1"/>
          </p:cNvSpPr>
          <p:nvPr/>
        </p:nvSpPr>
        <p:spPr>
          <a:xfrm>
            <a:off x="8629650" y="3905250"/>
            <a:ext cx="23622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1">
                <a:solidFill>
                  <a:srgbClr val="2C7A33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2C7A33"/>
                </a:solidFill>
                <a:latin typeface="Aptos"/>
                <a:ea typeface="Aptos"/>
                <a:cs typeface="Aptos"/>
              </a:rPr>
              <a:t>future upside, not base dependency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F529439F-AA1B-479F-9713-F803AF3F0A88}"/>
              </a:ext>
            </a:extLst>
          </p:cNvPr>
          <p:cNvSpPr>
            <a:spLocks noGrp="1"/>
          </p:cNvSpPr>
          <p:nvPr/>
        </p:nvSpPr>
        <p:spPr>
          <a:xfrm>
            <a:off x="914400" y="4876800"/>
            <a:ext cx="2381250" cy="1085850"/>
          </a:xfrm>
          <a:prstGeom prst="rect">
            <a:avLst/>
          </a:prstGeom>
          <a:solidFill>
            <a:srgbClr val="FFFFFF"/>
          </a:solidFill>
          <a:ln w="9525">
            <a:solidFill>
              <a:srgbClr val="D8D2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9387088B-50B6-4E74-B1D9-1258469B22F1}"/>
              </a:ext>
            </a:extLst>
          </p:cNvPr>
          <p:cNvSpPr>
            <a:spLocks noGrp="1"/>
          </p:cNvSpPr>
          <p:nvPr/>
        </p:nvSpPr>
        <p:spPr>
          <a:xfrm>
            <a:off x="914400" y="4876800"/>
            <a:ext cx="47625" cy="1085850"/>
          </a:xfrm>
          <a:prstGeom prst="rect">
            <a:avLst/>
          </a:prstGeom>
          <a:solidFill>
            <a:srgbClr val="2C7A33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76A54834-7861-4A9E-9835-E531018790F5}"/>
              </a:ext>
            </a:extLst>
          </p:cNvPr>
          <p:cNvSpPr>
            <a:spLocks noGrp="1"/>
          </p:cNvSpPr>
          <p:nvPr/>
        </p:nvSpPr>
        <p:spPr>
          <a:xfrm>
            <a:off x="1123950" y="5019675"/>
            <a:ext cx="196215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250" b="1">
                <a:solidFill>
                  <a:srgbClr val="0B1B3A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0B1B3A"/>
                </a:solidFill>
                <a:latin typeface="Aptos"/>
                <a:ea typeface="Aptos"/>
                <a:cs typeface="Aptos"/>
              </a:rPr>
              <a:t>60%-70%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C60E6FF2-C7F3-45AE-8595-52F357934042}"/>
              </a:ext>
            </a:extLst>
          </p:cNvPr>
          <p:cNvSpPr>
            <a:spLocks noGrp="1"/>
          </p:cNvSpPr>
          <p:nvPr/>
        </p:nvSpPr>
        <p:spPr>
          <a:xfrm>
            <a:off x="1123950" y="5391150"/>
            <a:ext cx="19621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1">
                <a:solidFill>
                  <a:srgbClr val="1B2430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B2430"/>
                </a:solidFill>
                <a:latin typeface="Aptos"/>
                <a:ea typeface="Aptos"/>
                <a:cs typeface="Aptos"/>
              </a:rPr>
              <a:t>blended gross margin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C6D793F-9A01-41BE-837F-2F3AD6EA4C5E}"/>
              </a:ext>
            </a:extLst>
          </p:cNvPr>
          <p:cNvSpPr>
            <a:spLocks noGrp="1"/>
          </p:cNvSpPr>
          <p:nvPr/>
        </p:nvSpPr>
        <p:spPr>
          <a:xfrm>
            <a:off x="1123950" y="5638800"/>
            <a:ext cx="196215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rises as Tier A grows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5BDE4ABE-D574-48E1-B0EF-7E73187AD4CE}"/>
              </a:ext>
            </a:extLst>
          </p:cNvPr>
          <p:cNvSpPr>
            <a:spLocks noGrp="1"/>
          </p:cNvSpPr>
          <p:nvPr/>
        </p:nvSpPr>
        <p:spPr>
          <a:xfrm>
            <a:off x="3638550" y="4876800"/>
            <a:ext cx="2381250" cy="1085850"/>
          </a:xfrm>
          <a:prstGeom prst="rect">
            <a:avLst/>
          </a:prstGeom>
          <a:solidFill>
            <a:srgbClr val="FFFFFF"/>
          </a:solidFill>
          <a:ln w="9525">
            <a:solidFill>
              <a:srgbClr val="D8D2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EC41DA7C-ACBA-423C-9BAC-3BBA721894CE}"/>
              </a:ext>
            </a:extLst>
          </p:cNvPr>
          <p:cNvSpPr>
            <a:spLocks noGrp="1"/>
          </p:cNvSpPr>
          <p:nvPr/>
        </p:nvSpPr>
        <p:spPr>
          <a:xfrm>
            <a:off x="3638550" y="4876800"/>
            <a:ext cx="47625" cy="1085850"/>
          </a:xfrm>
          <a:prstGeom prst="rect">
            <a:avLst/>
          </a:prstGeom>
          <a:solidFill>
            <a:srgbClr val="C77D1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9A9A16C0-7D2B-47C4-A305-179DAB429F55}"/>
              </a:ext>
            </a:extLst>
          </p:cNvPr>
          <p:cNvSpPr>
            <a:spLocks noGrp="1"/>
          </p:cNvSpPr>
          <p:nvPr/>
        </p:nvSpPr>
        <p:spPr>
          <a:xfrm>
            <a:off x="3848100" y="5019675"/>
            <a:ext cx="196215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250" b="1">
                <a:solidFill>
                  <a:srgbClr val="0B1B3A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0B1B3A"/>
                </a:solidFill>
                <a:latin typeface="Aptos"/>
                <a:ea typeface="Aptos"/>
                <a:cs typeface="Aptos"/>
              </a:rPr>
              <a:t>$25K-&gt;$50K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11515AFD-455A-4E64-8D85-AD10FD0EA2A1}"/>
              </a:ext>
            </a:extLst>
          </p:cNvPr>
          <p:cNvSpPr>
            <a:spLocks noGrp="1"/>
          </p:cNvSpPr>
          <p:nvPr/>
        </p:nvSpPr>
        <p:spPr>
          <a:xfrm>
            <a:off x="3848100" y="5391150"/>
            <a:ext cx="19621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1">
                <a:solidFill>
                  <a:srgbClr val="1B2430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B2430"/>
                </a:solidFill>
                <a:latin typeface="Aptos"/>
                <a:ea typeface="Aptos"/>
                <a:cs typeface="Aptos"/>
              </a:rPr>
              <a:t>average ticket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21075592-4F8D-42ED-8FC5-6B2DA5DB5F30}"/>
              </a:ext>
            </a:extLst>
          </p:cNvPr>
          <p:cNvSpPr>
            <a:spLocks noGrp="1"/>
          </p:cNvSpPr>
          <p:nvPr/>
        </p:nvSpPr>
        <p:spPr>
          <a:xfrm>
            <a:off x="3848100" y="5638800"/>
            <a:ext cx="196215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Y1 to Y3 base case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3DC75684-954F-42A1-B907-A321D2B887E1}"/>
              </a:ext>
            </a:extLst>
          </p:cNvPr>
          <p:cNvSpPr>
            <a:spLocks noGrp="1"/>
          </p:cNvSpPr>
          <p:nvPr/>
        </p:nvSpPr>
        <p:spPr>
          <a:xfrm>
            <a:off x="6362700" y="4876800"/>
            <a:ext cx="2381250" cy="1085850"/>
          </a:xfrm>
          <a:prstGeom prst="rect">
            <a:avLst/>
          </a:prstGeom>
          <a:solidFill>
            <a:srgbClr val="FFFFFF"/>
          </a:solidFill>
          <a:ln w="9525">
            <a:solidFill>
              <a:srgbClr val="D8D2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EF689177-35DC-4A56-8449-AFB8E88044F3}"/>
              </a:ext>
            </a:extLst>
          </p:cNvPr>
          <p:cNvSpPr>
            <a:spLocks noGrp="1"/>
          </p:cNvSpPr>
          <p:nvPr/>
        </p:nvSpPr>
        <p:spPr>
          <a:xfrm>
            <a:off x="6362700" y="4876800"/>
            <a:ext cx="47625" cy="1085850"/>
          </a:xfrm>
          <a:prstGeom prst="rect">
            <a:avLst/>
          </a:prstGeom>
          <a:solidFill>
            <a:srgbClr val="5A4FB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1A9A9E4E-7710-4B71-80EB-561B360FCE45}"/>
              </a:ext>
            </a:extLst>
          </p:cNvPr>
          <p:cNvSpPr>
            <a:spLocks noGrp="1"/>
          </p:cNvSpPr>
          <p:nvPr/>
        </p:nvSpPr>
        <p:spPr>
          <a:xfrm>
            <a:off x="6572250" y="5019675"/>
            <a:ext cx="196215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250" b="1">
                <a:solidFill>
                  <a:srgbClr val="0B1B3A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0B1B3A"/>
                </a:solidFill>
                <a:latin typeface="Aptos"/>
                <a:ea typeface="Aptos"/>
                <a:cs typeface="Aptos"/>
              </a:rPr>
              <a:t>25-&gt;1,600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D42F5600-65C1-4652-9F40-9883DE0BC48D}"/>
              </a:ext>
            </a:extLst>
          </p:cNvPr>
          <p:cNvSpPr>
            <a:spLocks noGrp="1"/>
          </p:cNvSpPr>
          <p:nvPr/>
        </p:nvSpPr>
        <p:spPr>
          <a:xfrm>
            <a:off x="6572250" y="5391150"/>
            <a:ext cx="19621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1">
                <a:solidFill>
                  <a:srgbClr val="1B2430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B2430"/>
                </a:solidFill>
                <a:latin typeface="Aptos"/>
                <a:ea typeface="Aptos"/>
                <a:cs typeface="Aptos"/>
              </a:rPr>
              <a:t>processed deals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ECED317A-558B-4998-9194-61A59EAB520A}"/>
              </a:ext>
            </a:extLst>
          </p:cNvPr>
          <p:cNvSpPr>
            <a:spLocks noGrp="1"/>
          </p:cNvSpPr>
          <p:nvPr/>
        </p:nvSpPr>
        <p:spPr>
          <a:xfrm>
            <a:off x="6572250" y="5638800"/>
            <a:ext cx="196215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Y1 to Y3 range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EA9FE867-CA34-4B10-89F8-78674E57F654}"/>
              </a:ext>
            </a:extLst>
          </p:cNvPr>
          <p:cNvSpPr>
            <a:spLocks noGrp="1"/>
          </p:cNvSpPr>
          <p:nvPr/>
        </p:nvSpPr>
        <p:spPr>
          <a:xfrm>
            <a:off x="8991600" y="4876800"/>
            <a:ext cx="2095500" cy="1085850"/>
          </a:xfrm>
          <a:prstGeom prst="rect">
            <a:avLst/>
          </a:prstGeom>
          <a:solidFill>
            <a:srgbClr val="EEF6F4"/>
          </a:solidFill>
          <a:ln w="9525">
            <a:solidFill>
              <a:srgbClr val="0E8C7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2B6257C5-79CD-4162-8D48-9FB910FF96BD}"/>
              </a:ext>
            </a:extLst>
          </p:cNvPr>
          <p:cNvSpPr>
            <a:spLocks noGrp="1"/>
          </p:cNvSpPr>
          <p:nvPr/>
        </p:nvSpPr>
        <p:spPr>
          <a:xfrm>
            <a:off x="9163050" y="5029200"/>
            <a:ext cx="169545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1">
                <a:solidFill>
                  <a:srgbClr val="0E8C7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E8C7F"/>
                </a:solidFill>
                <a:latin typeface="Aptos"/>
                <a:ea typeface="Aptos"/>
                <a:cs typeface="Aptos"/>
              </a:rPr>
              <a:t>Product-to-financial linkage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5122A123-768E-4D45-B6A9-8DAEE716AC70}"/>
              </a:ext>
            </a:extLst>
          </p:cNvPr>
          <p:cNvSpPr>
            <a:spLocks noGrp="1"/>
          </p:cNvSpPr>
          <p:nvPr/>
        </p:nvSpPr>
        <p:spPr>
          <a:xfrm>
            <a:off x="9163050" y="5276850"/>
            <a:ext cx="1657350" cy="4381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38" b="1">
                <a:solidFill>
                  <a:srgbClr val="0B1B3A"/>
                </a:solidFill>
                <a:latin typeface="Aptos"/>
                <a:ea typeface="Aptos"/>
                <a:cs typeface="Aptos"/>
              </a:defRPr>
            </a:pPr>
            <a:r>
              <a:rPr sz="938" b="1">
                <a:solidFill>
                  <a:srgbClr val="0B1B3A"/>
                </a:solidFill>
                <a:latin typeface="Aptos"/>
                <a:ea typeface="Aptos"/>
                <a:cs typeface="Aptos"/>
              </a:rPr>
              <a:t>Repeat deals lower onboarding friction and move customers toward faster, higher-margin document tiers.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CDAE3A3D-8539-47DC-BA99-C2C5F42F0640}"/>
              </a:ext>
            </a:extLst>
          </p:cNvPr>
          <p:cNvSpPr>
            <a:spLocks noGrp="1"/>
          </p:cNvSpPr>
          <p:nvPr/>
        </p:nvSpPr>
        <p:spPr>
          <a:xfrm>
            <a:off x="11106150" y="6438900"/>
            <a:ext cx="5524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900" b="1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B7280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79926381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33095" y="437997"/>
            <a:ext cx="75895" cy="75895"/>
          </a:xfrm>
          <a:prstGeom prst="rect">
            <a:avLst/>
          </a:prstGeom>
          <a:solidFill>
            <a:srgbClr val="0B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24204" y="362102"/>
            <a:ext cx="68580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 spc="140">
                <a:solidFill>
                  <a:srgbClr val="6B7280"/>
                </a:solidFill>
                <a:latin typeface="Aptos"/>
              </a:rPr>
              <a:t>TRACTION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095" y="722376"/>
            <a:ext cx="10789920" cy="8778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000" b="0">
                <a:solidFill>
                  <a:srgbClr val="0B1B3A"/>
                </a:solidFill>
                <a:latin typeface="Aptos Display"/>
              </a:rPr>
              <a:t>Pre-revenue, but the proof path is concrete and underway.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06302" y="6439204"/>
            <a:ext cx="552297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Aptos"/>
              </a:rPr>
              <a:t>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0702" y="1481328"/>
            <a:ext cx="1060704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0">
                <a:solidFill>
                  <a:srgbClr val="1B2430"/>
                </a:solidFill>
                <a:latin typeface="Aptos"/>
              </a:rPr>
              <a:t>As a hackathon-stage venture the milestones are build-and-validation, not revenue. Each one de-risks the next funding step.</a:t>
            </a:r>
          </a:p>
        </p:txBody>
      </p:sp>
      <p:sp>
        <p:nvSpPr>
          <p:cNvPr id="8" name="Rectangle 7"/>
          <p:cNvSpPr/>
          <p:nvPr/>
        </p:nvSpPr>
        <p:spPr>
          <a:xfrm>
            <a:off x="590702" y="2331720"/>
            <a:ext cx="2633472" cy="1234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90702" y="2331720"/>
            <a:ext cx="45720" cy="1234440"/>
          </a:xfrm>
          <a:prstGeom prst="rect">
            <a:avLst/>
          </a:prstGeom>
          <a:solidFill>
            <a:srgbClr val="0E8C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91870" y="2487168"/>
            <a:ext cx="2267712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250" b="0">
                <a:solidFill>
                  <a:srgbClr val="0B1B3A"/>
                </a:solidFill>
                <a:latin typeface="Aptos Display"/>
              </a:rPr>
              <a:t>MVP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1870" y="2926080"/>
            <a:ext cx="2267712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25" b="0">
                <a:solidFill>
                  <a:srgbClr val="1B2430"/>
                </a:solidFill>
                <a:latin typeface="Aptos"/>
              </a:rPr>
              <a:t>documentary escrow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1870" y="3172968"/>
            <a:ext cx="226771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Aptos"/>
              </a:rPr>
              <a:t>working on Base testnet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61334" y="2331720"/>
            <a:ext cx="2633472" cy="1234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3361334" y="2331720"/>
            <a:ext cx="45720" cy="123444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562502" y="2487168"/>
            <a:ext cx="2267712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250" b="0">
                <a:solidFill>
                  <a:srgbClr val="0B1B3A"/>
                </a:solidFill>
                <a:latin typeface="Aptos Display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62502" y="2926080"/>
            <a:ext cx="2267712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25" b="0">
                <a:solidFill>
                  <a:srgbClr val="1B2430"/>
                </a:solidFill>
                <a:latin typeface="Aptos"/>
              </a:rPr>
              <a:t>beachhead corridor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2502" y="3172968"/>
            <a:ext cx="226771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Aptos"/>
              </a:rPr>
              <a:t>UAE textile imports scoped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31966" y="2331720"/>
            <a:ext cx="2633472" cy="1234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6131966" y="2331720"/>
            <a:ext cx="45720" cy="1234440"/>
          </a:xfrm>
          <a:prstGeom prst="rect">
            <a:avLst/>
          </a:prstGeom>
          <a:solidFill>
            <a:srgbClr val="5A4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333134" y="2487168"/>
            <a:ext cx="2267712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250" b="0">
                <a:solidFill>
                  <a:srgbClr val="0B1B3A"/>
                </a:solidFill>
                <a:latin typeface="Aptos Display"/>
              </a:rPr>
              <a:t>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33134" y="2926080"/>
            <a:ext cx="2267712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25" b="0">
                <a:solidFill>
                  <a:srgbClr val="1B2430"/>
                </a:solidFill>
                <a:latin typeface="Aptos"/>
              </a:rPr>
              <a:t>founding roles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33134" y="3172968"/>
            <a:ext cx="226771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Aptos"/>
              </a:rPr>
              <a:t>mandates mapped &amp; owned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902598" y="2331720"/>
            <a:ext cx="2633472" cy="1234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8902598" y="2331720"/>
            <a:ext cx="45720" cy="1234440"/>
          </a:xfrm>
          <a:prstGeom prst="rect">
            <a:avLst/>
          </a:prstGeom>
          <a:solidFill>
            <a:srgbClr val="C77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103766" y="2487168"/>
            <a:ext cx="2267712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250" b="0">
                <a:solidFill>
                  <a:srgbClr val="0B1B3A"/>
                </a:solidFill>
                <a:latin typeface="Aptos Display"/>
              </a:rPr>
              <a:t>$2.5T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03766" y="2926080"/>
            <a:ext cx="2267712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25" b="0">
                <a:solidFill>
                  <a:srgbClr val="1B2430"/>
                </a:solidFill>
                <a:latin typeface="Aptos"/>
              </a:rPr>
              <a:t>gap validated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03766" y="3172968"/>
            <a:ext cx="226771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Aptos"/>
              </a:rPr>
              <a:t>ADB 2025 source data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90702" y="3886200"/>
            <a:ext cx="10707624" cy="10972"/>
          </a:xfrm>
          <a:prstGeom prst="rect">
            <a:avLst/>
          </a:prstGeom>
          <a:solidFill>
            <a:srgbClr val="D8D2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590702" y="4069080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spc="120">
                <a:solidFill>
                  <a:srgbClr val="6B7280"/>
                </a:solidFill>
                <a:latin typeface="Aptos"/>
              </a:rPr>
              <a:t>VALIDATION MILESTONES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90702" y="4434840"/>
            <a:ext cx="2633472" cy="1234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590702" y="4434840"/>
            <a:ext cx="45720" cy="1234440"/>
          </a:xfrm>
          <a:prstGeom prst="rect">
            <a:avLst/>
          </a:prstGeom>
          <a:solidFill>
            <a:srgbClr val="0E8C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791870" y="4590288"/>
            <a:ext cx="2267712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1" spc="80">
                <a:solidFill>
                  <a:srgbClr val="0E8C7F"/>
                </a:solidFill>
                <a:latin typeface="Aptos"/>
              </a:rPr>
              <a:t>DONE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1870" y="4864608"/>
            <a:ext cx="226771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25" b="0">
                <a:solidFill>
                  <a:srgbClr val="0B1B3A"/>
                </a:solidFill>
                <a:latin typeface="Aptos"/>
              </a:rPr>
              <a:t>Escrow spec + state model defined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361334" y="4434840"/>
            <a:ext cx="2633472" cy="1234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3361334" y="4434840"/>
            <a:ext cx="45720" cy="123444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3562502" y="4590288"/>
            <a:ext cx="2267712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1" spc="80">
                <a:solidFill>
                  <a:srgbClr val="1F6FB2"/>
                </a:solidFill>
                <a:latin typeface="Aptos"/>
              </a:rPr>
              <a:t>NOW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62502" y="4864608"/>
            <a:ext cx="226771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25" b="0">
                <a:solidFill>
                  <a:srgbClr val="0B1B3A"/>
                </a:solidFill>
                <a:latin typeface="Aptos"/>
              </a:rPr>
              <a:t>Testnet escrow + review console build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131966" y="4434840"/>
            <a:ext cx="2633472" cy="1234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6131966" y="4434840"/>
            <a:ext cx="45720" cy="1234440"/>
          </a:xfrm>
          <a:prstGeom prst="rect">
            <a:avLst/>
          </a:prstGeom>
          <a:solidFill>
            <a:srgbClr val="5A4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333134" y="4590288"/>
            <a:ext cx="2267712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1" spc="80">
                <a:solidFill>
                  <a:srgbClr val="5A4FBF"/>
                </a:solidFill>
                <a:latin typeface="Aptos"/>
              </a:rPr>
              <a:t>NEXT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33134" y="4864608"/>
            <a:ext cx="226771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25" b="0">
                <a:solidFill>
                  <a:srgbClr val="0B1B3A"/>
                </a:solidFill>
                <a:latin typeface="Aptos"/>
              </a:rPr>
              <a:t>First forwarder-introduced pilot deal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902598" y="4434840"/>
            <a:ext cx="2633472" cy="1234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8902598" y="4434840"/>
            <a:ext cx="45720" cy="1234440"/>
          </a:xfrm>
          <a:prstGeom prst="rect">
            <a:avLst/>
          </a:prstGeom>
          <a:solidFill>
            <a:srgbClr val="C77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9103766" y="4590288"/>
            <a:ext cx="2267712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1" spc="80">
                <a:solidFill>
                  <a:srgbClr val="C77D18"/>
                </a:solidFill>
                <a:latin typeface="Aptos"/>
              </a:rPr>
              <a:t>THEN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03766" y="4864608"/>
            <a:ext cx="226771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25" b="0">
                <a:solidFill>
                  <a:srgbClr val="0B1B3A"/>
                </a:solidFill>
                <a:latin typeface="Aptos"/>
              </a:rPr>
              <a:t>Repeat deal with reused KYB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90702" y="5943600"/>
            <a:ext cx="105156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75" b="0">
                <a:solidFill>
                  <a:srgbClr val="6B7280"/>
                </a:solidFill>
                <a:latin typeface="Aptos"/>
              </a:rPr>
              <a:t>Hackathon-stage venture: traction = build, validation, and beachhead readiness rather than booked revenue.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angle 28">
            <a:extLst>
              <a:ext uri="{FF2B5EF4-FFF2-40B4-BE49-F238E27FC236}">
                <a16:creationId xmlns:a16="http://schemas.microsoft.com/office/drawing/2014/main" id="{67EBD3C1-DEE0-42D2-83AF-9DC37D8F7A4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4E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" name="kicker-09-marker">
            <a:extLst>
              <a:ext uri="{FF2B5EF4-FFF2-40B4-BE49-F238E27FC236}">
                <a16:creationId xmlns:a16="http://schemas.microsoft.com/office/drawing/2014/main" id="{A0DC87CB-FE9C-43E1-BEE4-CC8766D59A95}"/>
              </a:ext>
            </a:extLst>
          </p:cNvPr>
          <p:cNvSpPr>
            <a:spLocks noGrp="1"/>
          </p:cNvSpPr>
          <p:nvPr/>
        </p:nvSpPr>
        <p:spPr>
          <a:xfrm>
            <a:off x="533400" y="438150"/>
            <a:ext cx="76200" cy="76200"/>
          </a:xfrm>
          <a:prstGeom prst="rect">
            <a:avLst/>
          </a:prstGeom>
          <a:solidFill>
            <a:srgbClr val="0B1B3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kicker-09-label">
            <a:extLst>
              <a:ext uri="{FF2B5EF4-FFF2-40B4-BE49-F238E27FC236}">
                <a16:creationId xmlns:a16="http://schemas.microsoft.com/office/drawing/2014/main" id="{DB8D40D3-2287-491F-8065-85EEC1A58DC5}"/>
              </a:ext>
            </a:extLst>
          </p:cNvPr>
          <p:cNvSpPr>
            <a:spLocks noGrp="1"/>
          </p:cNvSpPr>
          <p:nvPr/>
        </p:nvSpPr>
        <p:spPr>
          <a:xfrm>
            <a:off x="723900" y="361950"/>
            <a:ext cx="5334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900" b="1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B7280"/>
                </a:solidFill>
                <a:latin typeface="Aptos"/>
                <a:ea typeface="Aptos"/>
                <a:cs typeface="Aptos"/>
              </a:rPr>
              <a:t>GO TO MARKET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CC54A5A-4352-46A0-8E20-630EF946AFA1}"/>
              </a:ext>
            </a:extLst>
          </p:cNvPr>
          <p:cNvSpPr>
            <a:spLocks noGrp="1"/>
          </p:cNvSpPr>
          <p:nvPr/>
        </p:nvSpPr>
        <p:spPr>
          <a:xfrm>
            <a:off x="533400" y="685800"/>
            <a:ext cx="8191500" cy="876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3000" b="1">
                <a:solidFill>
                  <a:srgbClr val="0B1B3A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0B1B3A"/>
                </a:solidFill>
                <a:latin typeface="Aptos Display"/>
                <a:ea typeface="Aptos Display"/>
                <a:cs typeface="Aptos Display"/>
              </a:rPr>
              <a:t>Start with one corridor wedge, then let repeated trade compound trust.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EFD2F09-A829-4078-9C52-02D790E949AC}"/>
              </a:ext>
            </a:extLst>
          </p:cNvPr>
          <p:cNvSpPr>
            <a:spLocks noGrp="1"/>
          </p:cNvSpPr>
          <p:nvPr/>
        </p:nvSpPr>
        <p:spPr>
          <a:xfrm>
            <a:off x="571500" y="1638300"/>
            <a:ext cx="8953500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00" b="0">
                <a:solidFill>
                  <a:srgbClr val="1B2430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B2430"/>
                </a:solidFill>
                <a:latin typeface="Aptos"/>
                <a:ea typeface="Aptos"/>
                <a:cs typeface="Aptos"/>
              </a:rPr>
              <a:t>Founder-led BD is the right motion at Day 0: freight forwarders see the trust gap before banks do, and repeat shipments create a natural retention loop.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2A01F06-A583-4389-BFBE-3BEE3325999A}"/>
              </a:ext>
            </a:extLst>
          </p:cNvPr>
          <p:cNvSpPr>
            <a:spLocks noGrp="1"/>
          </p:cNvSpPr>
          <p:nvPr/>
        </p:nvSpPr>
        <p:spPr>
          <a:xfrm>
            <a:off x="895350" y="2838450"/>
            <a:ext cx="1809750" cy="819150"/>
          </a:xfrm>
          <a:prstGeom prst="rect">
            <a:avLst/>
          </a:prstGeom>
          <a:solidFill>
            <a:srgbClr val="FFFFFF"/>
          </a:solidFill>
          <a:ln w="9525">
            <a:solidFill>
              <a:srgbClr val="1F6FB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68863BC-BAA6-4CE9-90FE-023C74E518F8}"/>
              </a:ext>
            </a:extLst>
          </p:cNvPr>
          <p:cNvSpPr>
            <a:spLocks noGrp="1"/>
          </p:cNvSpPr>
          <p:nvPr/>
        </p:nvSpPr>
        <p:spPr>
          <a:xfrm>
            <a:off x="1066800" y="2990850"/>
            <a:ext cx="142875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1">
                <a:solidFill>
                  <a:srgbClr val="0B1B3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B1B3A"/>
                </a:solidFill>
                <a:latin typeface="Aptos"/>
                <a:ea typeface="Aptos"/>
                <a:cs typeface="Aptos"/>
              </a:rPr>
              <a:t>Forwarder intro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97E854C-DF50-460D-AC16-EDDAD50A3AD9}"/>
              </a:ext>
            </a:extLst>
          </p:cNvPr>
          <p:cNvSpPr>
            <a:spLocks noGrp="1"/>
          </p:cNvSpPr>
          <p:nvPr/>
        </p:nvSpPr>
        <p:spPr>
          <a:xfrm>
            <a:off x="1066800" y="3238500"/>
            <a:ext cx="13906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warm lead from shipment friction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ED9359D-4C41-4793-8523-158F3C9644C7}"/>
              </a:ext>
            </a:extLst>
          </p:cNvPr>
          <p:cNvSpPr>
            <a:spLocks noGrp="1"/>
          </p:cNvSpPr>
          <p:nvPr/>
        </p:nvSpPr>
        <p:spPr>
          <a:xfrm>
            <a:off x="3390900" y="2838450"/>
            <a:ext cx="1809750" cy="819150"/>
          </a:xfrm>
          <a:prstGeom prst="rect">
            <a:avLst/>
          </a:prstGeom>
          <a:solidFill>
            <a:srgbClr val="FFFFFF"/>
          </a:solidFill>
          <a:ln w="9525">
            <a:solidFill>
              <a:srgbClr val="0E8C7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B0E412F-07F1-48B4-B828-B2BFB31F0146}"/>
              </a:ext>
            </a:extLst>
          </p:cNvPr>
          <p:cNvSpPr>
            <a:spLocks noGrp="1"/>
          </p:cNvSpPr>
          <p:nvPr/>
        </p:nvSpPr>
        <p:spPr>
          <a:xfrm>
            <a:off x="3562350" y="2990850"/>
            <a:ext cx="142875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1">
                <a:solidFill>
                  <a:srgbClr val="0B1B3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B1B3A"/>
                </a:solidFill>
                <a:latin typeface="Aptos"/>
                <a:ea typeface="Aptos"/>
                <a:cs typeface="Aptos"/>
              </a:rPr>
              <a:t>First deal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CAB2420-8D41-4D3B-A026-001E2CFB6BF8}"/>
              </a:ext>
            </a:extLst>
          </p:cNvPr>
          <p:cNvSpPr>
            <a:spLocks noGrp="1"/>
          </p:cNvSpPr>
          <p:nvPr/>
        </p:nvSpPr>
        <p:spPr>
          <a:xfrm>
            <a:off x="3562350" y="3238500"/>
            <a:ext cx="13906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50% discount and white-glove onboarding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2D95702-9682-4681-8843-6A2DABC647CB}"/>
              </a:ext>
            </a:extLst>
          </p:cNvPr>
          <p:cNvSpPr>
            <a:spLocks noGrp="1"/>
          </p:cNvSpPr>
          <p:nvPr/>
        </p:nvSpPr>
        <p:spPr>
          <a:xfrm>
            <a:off x="5886450" y="2838450"/>
            <a:ext cx="1809750" cy="819150"/>
          </a:xfrm>
          <a:prstGeom prst="rect">
            <a:avLst/>
          </a:prstGeom>
          <a:solidFill>
            <a:srgbClr val="FFFFFF"/>
          </a:solidFill>
          <a:ln w="9525">
            <a:solidFill>
              <a:srgbClr val="5A4FB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4178494-8C44-416A-AAC5-30CB8665D74F}"/>
              </a:ext>
            </a:extLst>
          </p:cNvPr>
          <p:cNvSpPr>
            <a:spLocks noGrp="1"/>
          </p:cNvSpPr>
          <p:nvPr/>
        </p:nvSpPr>
        <p:spPr>
          <a:xfrm>
            <a:off x="6057900" y="2990850"/>
            <a:ext cx="142875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1">
                <a:solidFill>
                  <a:srgbClr val="0B1B3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B1B3A"/>
                </a:solidFill>
                <a:latin typeface="Aptos"/>
                <a:ea typeface="Aptos"/>
                <a:cs typeface="Aptos"/>
              </a:rPr>
              <a:t>KYB reused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BD76EBA-D3A7-4B74-AFDD-5755D612567F}"/>
              </a:ext>
            </a:extLst>
          </p:cNvPr>
          <p:cNvSpPr>
            <a:spLocks noGrp="1"/>
          </p:cNvSpPr>
          <p:nvPr/>
        </p:nvSpPr>
        <p:spPr>
          <a:xfrm>
            <a:off x="6057900" y="3238500"/>
            <a:ext cx="13906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deal two starts with lower friction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B027EF3-9F4F-41EE-97C0-A3607BA29E05}"/>
              </a:ext>
            </a:extLst>
          </p:cNvPr>
          <p:cNvSpPr>
            <a:spLocks noGrp="1"/>
          </p:cNvSpPr>
          <p:nvPr/>
        </p:nvSpPr>
        <p:spPr>
          <a:xfrm>
            <a:off x="8382000" y="2838450"/>
            <a:ext cx="1809750" cy="819150"/>
          </a:xfrm>
          <a:prstGeom prst="rect">
            <a:avLst/>
          </a:prstGeom>
          <a:solidFill>
            <a:srgbClr val="FFFFFF"/>
          </a:solidFill>
          <a:ln w="9525">
            <a:solidFill>
              <a:srgbClr val="2C7A3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7A513E2-BEA4-4550-82EA-69D5833FAC04}"/>
              </a:ext>
            </a:extLst>
          </p:cNvPr>
          <p:cNvSpPr>
            <a:spLocks noGrp="1"/>
          </p:cNvSpPr>
          <p:nvPr/>
        </p:nvSpPr>
        <p:spPr>
          <a:xfrm>
            <a:off x="8553450" y="2990850"/>
            <a:ext cx="142875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1">
                <a:solidFill>
                  <a:srgbClr val="0B1B3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B1B3A"/>
                </a:solidFill>
                <a:latin typeface="Aptos"/>
                <a:ea typeface="Aptos"/>
                <a:cs typeface="Aptos"/>
              </a:rPr>
              <a:t>Verified status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8DD4E12-2143-43BE-A21A-B207F3521D7F}"/>
              </a:ext>
            </a:extLst>
          </p:cNvPr>
          <p:cNvSpPr>
            <a:spLocks noGrp="1"/>
          </p:cNvSpPr>
          <p:nvPr/>
        </p:nvSpPr>
        <p:spPr>
          <a:xfrm>
            <a:off x="8553450" y="3238500"/>
            <a:ext cx="13906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counterparty reputation travels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CFED9B2-F0D8-439C-AA92-1445DDE1BB42}"/>
              </a:ext>
            </a:extLst>
          </p:cNvPr>
          <p:cNvSpPr>
            <a:spLocks noGrp="1"/>
          </p:cNvSpPr>
          <p:nvPr/>
        </p:nvSpPr>
        <p:spPr>
          <a:xfrm>
            <a:off x="2705100" y="3248025"/>
            <a:ext cx="685800" cy="19050"/>
          </a:xfrm>
          <a:prstGeom prst="rect">
            <a:avLst/>
          </a:prstGeom>
          <a:solidFill>
            <a:srgbClr val="6B7280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D59CD4B4-7B2C-4EB4-A919-6C40530BCFA4}"/>
              </a:ext>
            </a:extLst>
          </p:cNvPr>
          <p:cNvSpPr>
            <a:spLocks noGrp="1"/>
          </p:cNvSpPr>
          <p:nvPr/>
        </p:nvSpPr>
        <p:spPr>
          <a:xfrm>
            <a:off x="5200650" y="3248025"/>
            <a:ext cx="685800" cy="19050"/>
          </a:xfrm>
          <a:prstGeom prst="rect">
            <a:avLst/>
          </a:prstGeom>
          <a:solidFill>
            <a:srgbClr val="6B7280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3EFDEE8-405A-4EE2-A66D-C78BDCB4DB82}"/>
              </a:ext>
            </a:extLst>
          </p:cNvPr>
          <p:cNvSpPr>
            <a:spLocks noGrp="1"/>
          </p:cNvSpPr>
          <p:nvPr/>
        </p:nvSpPr>
        <p:spPr>
          <a:xfrm>
            <a:off x="7696200" y="3248025"/>
            <a:ext cx="685800" cy="19050"/>
          </a:xfrm>
          <a:prstGeom prst="rect">
            <a:avLst/>
          </a:prstGeom>
          <a:solidFill>
            <a:srgbClr val="6B7280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994F8B61-F718-43D1-BBC4-A58A539841C4}"/>
              </a:ext>
            </a:extLst>
          </p:cNvPr>
          <p:cNvSpPr>
            <a:spLocks noGrp="1"/>
          </p:cNvSpPr>
          <p:nvPr/>
        </p:nvSpPr>
        <p:spPr>
          <a:xfrm>
            <a:off x="9286875" y="3657600"/>
            <a:ext cx="19050" cy="704850"/>
          </a:xfrm>
          <a:prstGeom prst="rect">
            <a:avLst/>
          </a:prstGeom>
          <a:solidFill>
            <a:srgbClr val="6B7280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8F0B92C-D8F9-4E79-A7F3-260E23934F64}"/>
              </a:ext>
            </a:extLst>
          </p:cNvPr>
          <p:cNvSpPr>
            <a:spLocks noGrp="1"/>
          </p:cNvSpPr>
          <p:nvPr/>
        </p:nvSpPr>
        <p:spPr>
          <a:xfrm>
            <a:off x="1809750" y="4362450"/>
            <a:ext cx="7477125" cy="19050"/>
          </a:xfrm>
          <a:prstGeom prst="rect">
            <a:avLst/>
          </a:prstGeom>
          <a:solidFill>
            <a:srgbClr val="6B7280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61AE51B3-0FD5-4DD3-9AAB-994430179CC8}"/>
              </a:ext>
            </a:extLst>
          </p:cNvPr>
          <p:cNvSpPr>
            <a:spLocks noGrp="1"/>
          </p:cNvSpPr>
          <p:nvPr/>
        </p:nvSpPr>
        <p:spPr>
          <a:xfrm>
            <a:off x="1809750" y="3657600"/>
            <a:ext cx="19050" cy="704850"/>
          </a:xfrm>
          <a:prstGeom prst="rect">
            <a:avLst/>
          </a:prstGeom>
          <a:solidFill>
            <a:srgbClr val="6B7280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5718434F-AC5E-4367-B7AB-97B62BEF1AAB}"/>
              </a:ext>
            </a:extLst>
          </p:cNvPr>
          <p:cNvSpPr>
            <a:spLocks noGrp="1"/>
          </p:cNvSpPr>
          <p:nvPr/>
        </p:nvSpPr>
        <p:spPr>
          <a:xfrm>
            <a:off x="1485900" y="4819650"/>
            <a:ext cx="7334250" cy="323850"/>
          </a:xfrm>
          <a:prstGeom prst="rect">
            <a:avLst/>
          </a:prstGeom>
          <a:solidFill>
            <a:srgbClr val="FFFFFF"/>
          </a:solidFill>
          <a:ln w="9525">
            <a:solidFill>
              <a:srgbClr val="C77D1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DD72370B-1A2D-4798-98D1-93F3464191D2}"/>
              </a:ext>
            </a:extLst>
          </p:cNvPr>
          <p:cNvSpPr>
            <a:spLocks noGrp="1"/>
          </p:cNvSpPr>
          <p:nvPr/>
        </p:nvSpPr>
        <p:spPr>
          <a:xfrm>
            <a:off x="1485900" y="4819650"/>
            <a:ext cx="57150" cy="323850"/>
          </a:xfrm>
          <a:prstGeom prst="rect">
            <a:avLst/>
          </a:prstGeom>
          <a:solidFill>
            <a:srgbClr val="C77D1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144C432E-D2C9-49B6-B2CA-25950A595328}"/>
              </a:ext>
            </a:extLst>
          </p:cNvPr>
          <p:cNvSpPr>
            <a:spLocks noGrp="1"/>
          </p:cNvSpPr>
          <p:nvPr/>
        </p:nvSpPr>
        <p:spPr>
          <a:xfrm>
            <a:off x="1638300" y="4886325"/>
            <a:ext cx="710565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975" b="1">
                <a:solidFill>
                  <a:srgbClr val="0B1B3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B1B3A"/>
                </a:solidFill>
                <a:latin typeface="Aptos"/>
                <a:ea typeface="Aptos"/>
                <a:cs typeface="Aptos"/>
              </a:rPr>
              <a:t>Beachhead: UAE importers of Indian and Turkish textiles, garments, and consumer goods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EDF7CFAC-2A31-445D-B753-655BC53D270A}"/>
              </a:ext>
            </a:extLst>
          </p:cNvPr>
          <p:cNvSpPr>
            <a:spLocks noGrp="1"/>
          </p:cNvSpPr>
          <p:nvPr/>
        </p:nvSpPr>
        <p:spPr>
          <a:xfrm>
            <a:off x="819150" y="5657850"/>
            <a:ext cx="9867900" cy="438150"/>
          </a:xfrm>
          <a:prstGeom prst="rect">
            <a:avLst/>
          </a:prstGeom>
          <a:solidFill>
            <a:srgbClr val="FFFFFF"/>
          </a:solidFill>
          <a:ln w="9525">
            <a:solidFill>
              <a:srgbClr val="D8D2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5AD87BFF-2039-4423-8984-2A300CA9134E}"/>
              </a:ext>
            </a:extLst>
          </p:cNvPr>
          <p:cNvSpPr>
            <a:spLocks noGrp="1"/>
          </p:cNvSpPr>
          <p:nvPr/>
        </p:nvSpPr>
        <p:spPr>
          <a:xfrm>
            <a:off x="1066800" y="5791200"/>
            <a:ext cx="923925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1">
                <a:solidFill>
                  <a:srgbClr val="0B1B3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B1B3A"/>
                </a:solidFill>
                <a:latin typeface="Aptos"/>
                <a:ea typeface="Aptos"/>
                <a:cs typeface="Aptos"/>
              </a:rPr>
              <a:t>Why it works: repeat shipments, same documents, warm intros, stablecoin familiarity, and SME LC pain.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EF0E6365-50B1-4350-89D2-D2E5BE22BFD5}"/>
              </a:ext>
            </a:extLst>
          </p:cNvPr>
          <p:cNvSpPr>
            <a:spLocks noGrp="1"/>
          </p:cNvSpPr>
          <p:nvPr/>
        </p:nvSpPr>
        <p:spPr>
          <a:xfrm>
            <a:off x="11106150" y="6438900"/>
            <a:ext cx="5524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900" b="1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B7280"/>
                </a:solidFill>
                <a:latin typeface="Aptos"/>
                <a:ea typeface="Aptos"/>
                <a:cs typeface="Aptos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59986218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Rectangle 87">
            <a:extLst>
              <a:ext uri="{FF2B5EF4-FFF2-40B4-BE49-F238E27FC236}">
                <a16:creationId xmlns:a16="http://schemas.microsoft.com/office/drawing/2014/main" id="{69E0E56C-B126-4990-BEF3-DE207479F96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4E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" name="kicker-10-marker">
            <a:extLst>
              <a:ext uri="{FF2B5EF4-FFF2-40B4-BE49-F238E27FC236}">
                <a16:creationId xmlns:a16="http://schemas.microsoft.com/office/drawing/2014/main" id="{0BCA4E40-34F9-4E2C-95A1-AEED5C432C76}"/>
              </a:ext>
            </a:extLst>
          </p:cNvPr>
          <p:cNvSpPr>
            <a:spLocks noGrp="1"/>
          </p:cNvSpPr>
          <p:nvPr/>
        </p:nvSpPr>
        <p:spPr>
          <a:xfrm>
            <a:off x="533400" y="438150"/>
            <a:ext cx="76200" cy="76200"/>
          </a:xfrm>
          <a:prstGeom prst="rect">
            <a:avLst/>
          </a:prstGeom>
          <a:solidFill>
            <a:srgbClr val="0B1B3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kicker-10-label">
            <a:extLst>
              <a:ext uri="{FF2B5EF4-FFF2-40B4-BE49-F238E27FC236}">
                <a16:creationId xmlns:a16="http://schemas.microsoft.com/office/drawing/2014/main" id="{E7D461EE-F642-4F07-AA5E-17B2B93B7C34}"/>
              </a:ext>
            </a:extLst>
          </p:cNvPr>
          <p:cNvSpPr>
            <a:spLocks noGrp="1"/>
          </p:cNvSpPr>
          <p:nvPr/>
        </p:nvSpPr>
        <p:spPr>
          <a:xfrm>
            <a:off x="723900" y="361950"/>
            <a:ext cx="5334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900" b="1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B7280"/>
                </a:solidFill>
                <a:latin typeface="Aptos"/>
                <a:ea typeface="Aptos"/>
                <a:cs typeface="Aptos"/>
              </a:rPr>
              <a:t>COMPETITION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9E33E29-5C1C-45AC-9332-510A78F43AB2}"/>
              </a:ext>
            </a:extLst>
          </p:cNvPr>
          <p:cNvSpPr>
            <a:spLocks noGrp="1"/>
          </p:cNvSpPr>
          <p:nvPr/>
        </p:nvSpPr>
        <p:spPr>
          <a:xfrm>
            <a:off x="533400" y="685800"/>
            <a:ext cx="8191500" cy="876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3000" b="1">
                <a:solidFill>
                  <a:srgbClr val="0B1B3A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0B1B3A"/>
                </a:solidFill>
                <a:latin typeface="Aptos Display"/>
                <a:ea typeface="Aptos Display"/>
                <a:cs typeface="Aptos Display"/>
              </a:rPr>
              <a:t>Blockmediary combines categories competitors leave separate.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E400EED-C797-4C6E-9E1B-A2A687D2E377}"/>
              </a:ext>
            </a:extLst>
          </p:cNvPr>
          <p:cNvSpPr>
            <a:spLocks noGrp="1"/>
          </p:cNvSpPr>
          <p:nvPr/>
        </p:nvSpPr>
        <p:spPr>
          <a:xfrm>
            <a:off x="571500" y="1638300"/>
            <a:ext cx="895350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00" b="0">
                <a:solidFill>
                  <a:srgbClr val="1B2430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B2430"/>
                </a:solidFill>
                <a:latin typeface="Aptos"/>
                <a:ea typeface="Aptos"/>
                <a:cs typeface="Aptos"/>
              </a:rPr>
              <a:t>Banks understand documents but cannot serve the SME dead zone economically. Stablecoin rails move funds quickly but do not govern documentary release.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11993F8-E473-421A-85F5-365130ACD308}"/>
              </a:ext>
            </a:extLst>
          </p:cNvPr>
          <p:cNvSpPr>
            <a:spLocks noGrp="1"/>
          </p:cNvSpPr>
          <p:nvPr/>
        </p:nvSpPr>
        <p:spPr>
          <a:xfrm>
            <a:off x="685800" y="2533650"/>
            <a:ext cx="2781300" cy="400050"/>
          </a:xfrm>
          <a:prstGeom prst="rect">
            <a:avLst/>
          </a:prstGeom>
          <a:solidFill>
            <a:srgbClr val="FFFFFF"/>
          </a:solidFill>
          <a:ln w="9525">
            <a:solidFill>
              <a:srgbClr val="D8D2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74C0720-CD18-43F2-BF34-274864A22349}"/>
              </a:ext>
            </a:extLst>
          </p:cNvPr>
          <p:cNvSpPr>
            <a:spLocks noGrp="1"/>
          </p:cNvSpPr>
          <p:nvPr/>
        </p:nvSpPr>
        <p:spPr>
          <a:xfrm>
            <a:off x="800100" y="2657475"/>
            <a:ext cx="2552700" cy="16192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0B1B3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B1B3A"/>
                </a:solidFill>
                <a:latin typeface="Aptos"/>
                <a:ea typeface="Aptos"/>
                <a:cs typeface="Aptos"/>
              </a:rPr>
              <a:t>Capability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AC6DE5A-B19E-4EDD-A578-CA214071CBEA}"/>
              </a:ext>
            </a:extLst>
          </p:cNvPr>
          <p:cNvSpPr>
            <a:spLocks noGrp="1"/>
          </p:cNvSpPr>
          <p:nvPr/>
        </p:nvSpPr>
        <p:spPr>
          <a:xfrm>
            <a:off x="3467100" y="2533650"/>
            <a:ext cx="1714500" cy="400050"/>
          </a:xfrm>
          <a:prstGeom prst="rect">
            <a:avLst/>
          </a:prstGeom>
          <a:solidFill>
            <a:srgbClr val="FFFFFF"/>
          </a:solidFill>
          <a:ln w="9525">
            <a:solidFill>
              <a:srgbClr val="D8D2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7E73996-91B7-4169-B5F9-DB1A472270A8}"/>
              </a:ext>
            </a:extLst>
          </p:cNvPr>
          <p:cNvSpPr>
            <a:spLocks noGrp="1"/>
          </p:cNvSpPr>
          <p:nvPr/>
        </p:nvSpPr>
        <p:spPr>
          <a:xfrm>
            <a:off x="3581400" y="2657475"/>
            <a:ext cx="1485900" cy="16192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75" b="1">
                <a:solidFill>
                  <a:srgbClr val="0B1B3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B1B3A"/>
                </a:solidFill>
                <a:latin typeface="Aptos"/>
                <a:ea typeface="Aptos"/>
                <a:cs typeface="Aptos"/>
              </a:rPr>
              <a:t>Banks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1D03947-2136-40FA-91D1-C0B22B6E6CFC}"/>
              </a:ext>
            </a:extLst>
          </p:cNvPr>
          <p:cNvSpPr>
            <a:spLocks noGrp="1"/>
          </p:cNvSpPr>
          <p:nvPr/>
        </p:nvSpPr>
        <p:spPr>
          <a:xfrm>
            <a:off x="5181600" y="2533650"/>
            <a:ext cx="1952625" cy="400050"/>
          </a:xfrm>
          <a:prstGeom prst="rect">
            <a:avLst/>
          </a:prstGeom>
          <a:solidFill>
            <a:srgbClr val="FFFFFF"/>
          </a:solidFill>
          <a:ln w="9525">
            <a:solidFill>
              <a:srgbClr val="D8D2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7F8037E-935E-41D2-8D34-6824FC103198}"/>
              </a:ext>
            </a:extLst>
          </p:cNvPr>
          <p:cNvSpPr>
            <a:spLocks noGrp="1"/>
          </p:cNvSpPr>
          <p:nvPr/>
        </p:nvSpPr>
        <p:spPr>
          <a:xfrm>
            <a:off x="5295900" y="2657475"/>
            <a:ext cx="1724025" cy="16192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75" b="1">
                <a:solidFill>
                  <a:srgbClr val="0B1B3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B1B3A"/>
                </a:solidFill>
                <a:latin typeface="Aptos"/>
                <a:ea typeface="Aptos"/>
                <a:cs typeface="Aptos"/>
              </a:rPr>
              <a:t>Programmable escrow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4C70DBA-3DC3-4E69-B4FB-5492986CFB33}"/>
              </a:ext>
            </a:extLst>
          </p:cNvPr>
          <p:cNvSpPr>
            <a:spLocks noGrp="1"/>
          </p:cNvSpPr>
          <p:nvPr/>
        </p:nvSpPr>
        <p:spPr>
          <a:xfrm>
            <a:off x="7134225" y="2533650"/>
            <a:ext cx="2000250" cy="400050"/>
          </a:xfrm>
          <a:prstGeom prst="rect">
            <a:avLst/>
          </a:prstGeom>
          <a:solidFill>
            <a:srgbClr val="FFFFFF"/>
          </a:solidFill>
          <a:ln w="9525">
            <a:solidFill>
              <a:srgbClr val="D8D2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D2D3BEB-E866-4DF3-8849-2EDCC74B2497}"/>
              </a:ext>
            </a:extLst>
          </p:cNvPr>
          <p:cNvSpPr>
            <a:spLocks noGrp="1"/>
          </p:cNvSpPr>
          <p:nvPr/>
        </p:nvSpPr>
        <p:spPr>
          <a:xfrm>
            <a:off x="7248525" y="2657475"/>
            <a:ext cx="1771650" cy="16192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75" b="1">
                <a:solidFill>
                  <a:srgbClr val="0B1B3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B1B3A"/>
                </a:solidFill>
                <a:latin typeface="Aptos"/>
                <a:ea typeface="Aptos"/>
                <a:cs typeface="Aptos"/>
              </a:rPr>
              <a:t>Stablecoin rails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11B7EF4-5115-4A02-9EFC-240ADAADE62D}"/>
              </a:ext>
            </a:extLst>
          </p:cNvPr>
          <p:cNvSpPr>
            <a:spLocks noGrp="1"/>
          </p:cNvSpPr>
          <p:nvPr/>
        </p:nvSpPr>
        <p:spPr>
          <a:xfrm>
            <a:off x="9134475" y="2533650"/>
            <a:ext cx="1762125" cy="400050"/>
          </a:xfrm>
          <a:prstGeom prst="rect">
            <a:avLst/>
          </a:prstGeom>
          <a:solidFill>
            <a:srgbClr val="0B1B3A"/>
          </a:solidFill>
          <a:ln w="9525">
            <a:solidFill>
              <a:srgbClr val="0B1B3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A59EC04-C05B-4F1E-95A3-00F92CF1C42C}"/>
              </a:ext>
            </a:extLst>
          </p:cNvPr>
          <p:cNvSpPr>
            <a:spLocks noGrp="1"/>
          </p:cNvSpPr>
          <p:nvPr/>
        </p:nvSpPr>
        <p:spPr>
          <a:xfrm>
            <a:off x="9248775" y="2657475"/>
            <a:ext cx="1533525" cy="16192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Blockmediary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F3D1A1A-7AC1-4D9A-9D84-62674CF3A112}"/>
              </a:ext>
            </a:extLst>
          </p:cNvPr>
          <p:cNvSpPr>
            <a:spLocks noGrp="1"/>
          </p:cNvSpPr>
          <p:nvPr/>
        </p:nvSpPr>
        <p:spPr>
          <a:xfrm>
            <a:off x="685800" y="2933700"/>
            <a:ext cx="2781300" cy="3810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2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45C2FED-5B88-4D49-B71A-B4659C2D97AE}"/>
              </a:ext>
            </a:extLst>
          </p:cNvPr>
          <p:cNvSpPr>
            <a:spLocks noGrp="1"/>
          </p:cNvSpPr>
          <p:nvPr/>
        </p:nvSpPr>
        <p:spPr>
          <a:xfrm>
            <a:off x="800100" y="3048000"/>
            <a:ext cx="2552700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1B2430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B2430"/>
                </a:solidFill>
                <a:latin typeface="Aptos"/>
                <a:ea typeface="Aptos"/>
                <a:cs typeface="Aptos"/>
              </a:rPr>
              <a:t>Documentary release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D06A1D3-B0C6-4C6D-BEEA-1B292EFB4C87}"/>
              </a:ext>
            </a:extLst>
          </p:cNvPr>
          <p:cNvSpPr>
            <a:spLocks noGrp="1"/>
          </p:cNvSpPr>
          <p:nvPr/>
        </p:nvSpPr>
        <p:spPr>
          <a:xfrm>
            <a:off x="3467100" y="2933700"/>
            <a:ext cx="1714500" cy="3810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2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6432A1C-5A4E-4466-A640-BF44FDC86E1B}"/>
              </a:ext>
            </a:extLst>
          </p:cNvPr>
          <p:cNvSpPr>
            <a:spLocks noGrp="1"/>
          </p:cNvSpPr>
          <p:nvPr/>
        </p:nvSpPr>
        <p:spPr>
          <a:xfrm>
            <a:off x="3581400" y="3048000"/>
            <a:ext cx="1485900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00" b="1">
                <a:solidFill>
                  <a:srgbClr val="0E8C7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E8C7F"/>
                </a:solidFill>
                <a:latin typeface="Aptos"/>
                <a:ea typeface="Aptos"/>
                <a:cs typeface="Aptos"/>
              </a:rPr>
              <a:t>YES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2AD6B03A-ECC3-4933-97A4-0E0820B4F115}"/>
              </a:ext>
            </a:extLst>
          </p:cNvPr>
          <p:cNvSpPr>
            <a:spLocks noGrp="1"/>
          </p:cNvSpPr>
          <p:nvPr/>
        </p:nvSpPr>
        <p:spPr>
          <a:xfrm>
            <a:off x="5181600" y="2933700"/>
            <a:ext cx="1952625" cy="3810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2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AF8CA2DA-3E43-424A-9F86-F4293FDC2F1F}"/>
              </a:ext>
            </a:extLst>
          </p:cNvPr>
          <p:cNvSpPr>
            <a:spLocks noGrp="1"/>
          </p:cNvSpPr>
          <p:nvPr/>
        </p:nvSpPr>
        <p:spPr>
          <a:xfrm>
            <a:off x="5295900" y="3048000"/>
            <a:ext cx="1724025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00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NO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758EDFDC-9AE7-4EE2-BCE6-D7046ACF5E5E}"/>
              </a:ext>
            </a:extLst>
          </p:cNvPr>
          <p:cNvSpPr>
            <a:spLocks noGrp="1"/>
          </p:cNvSpPr>
          <p:nvPr/>
        </p:nvSpPr>
        <p:spPr>
          <a:xfrm>
            <a:off x="7134225" y="2933700"/>
            <a:ext cx="2000250" cy="3810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2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C1EB5BD3-7E9F-4ADB-9282-E533E9401C5B}"/>
              </a:ext>
            </a:extLst>
          </p:cNvPr>
          <p:cNvSpPr>
            <a:spLocks noGrp="1"/>
          </p:cNvSpPr>
          <p:nvPr/>
        </p:nvSpPr>
        <p:spPr>
          <a:xfrm>
            <a:off x="7248525" y="3048000"/>
            <a:ext cx="1771650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00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NO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8873CAF-8FDB-448E-972C-1F9960794FEA}"/>
              </a:ext>
            </a:extLst>
          </p:cNvPr>
          <p:cNvSpPr>
            <a:spLocks noGrp="1"/>
          </p:cNvSpPr>
          <p:nvPr/>
        </p:nvSpPr>
        <p:spPr>
          <a:xfrm>
            <a:off x="9134475" y="2933700"/>
            <a:ext cx="1762125" cy="381000"/>
          </a:xfrm>
          <a:prstGeom prst="rect">
            <a:avLst/>
          </a:prstGeom>
          <a:solidFill>
            <a:srgbClr val="EAF6F3"/>
          </a:solidFill>
          <a:ln w="9525">
            <a:solidFill>
              <a:srgbClr val="D8D2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70B8C862-41E8-41F1-8839-1EB0D2700108}"/>
              </a:ext>
            </a:extLst>
          </p:cNvPr>
          <p:cNvSpPr>
            <a:spLocks noGrp="1"/>
          </p:cNvSpPr>
          <p:nvPr/>
        </p:nvSpPr>
        <p:spPr>
          <a:xfrm>
            <a:off x="9248775" y="3048000"/>
            <a:ext cx="1533525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00" b="1">
                <a:solidFill>
                  <a:srgbClr val="0E8C7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E8C7F"/>
                </a:solidFill>
                <a:latin typeface="Aptos"/>
                <a:ea typeface="Aptos"/>
                <a:cs typeface="Aptos"/>
              </a:rPr>
              <a:t>YES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CD841F9C-E750-4C02-9950-E0A45292FB24}"/>
              </a:ext>
            </a:extLst>
          </p:cNvPr>
          <p:cNvSpPr>
            <a:spLocks noGrp="1"/>
          </p:cNvSpPr>
          <p:nvPr/>
        </p:nvSpPr>
        <p:spPr>
          <a:xfrm>
            <a:off x="685800" y="3314700"/>
            <a:ext cx="2781300" cy="381000"/>
          </a:xfrm>
          <a:prstGeom prst="rect">
            <a:avLst/>
          </a:prstGeom>
          <a:solidFill>
            <a:srgbClr val="FBFAF7"/>
          </a:solidFill>
          <a:ln w="9525">
            <a:solidFill>
              <a:srgbClr val="D8D2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4D7CC358-76DC-40F4-950C-AC19D0A4C840}"/>
              </a:ext>
            </a:extLst>
          </p:cNvPr>
          <p:cNvSpPr>
            <a:spLocks noGrp="1"/>
          </p:cNvSpPr>
          <p:nvPr/>
        </p:nvSpPr>
        <p:spPr>
          <a:xfrm>
            <a:off x="800100" y="3429000"/>
            <a:ext cx="2552700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1B2430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B2430"/>
                </a:solidFill>
                <a:latin typeface="Aptos"/>
                <a:ea typeface="Aptos"/>
                <a:cs typeface="Aptos"/>
              </a:rPr>
              <a:t>Stablecoin settlement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9FD20D4C-8706-4523-8714-C45255F680B9}"/>
              </a:ext>
            </a:extLst>
          </p:cNvPr>
          <p:cNvSpPr>
            <a:spLocks noGrp="1"/>
          </p:cNvSpPr>
          <p:nvPr/>
        </p:nvSpPr>
        <p:spPr>
          <a:xfrm>
            <a:off x="3467100" y="3314700"/>
            <a:ext cx="1714500" cy="381000"/>
          </a:xfrm>
          <a:prstGeom prst="rect">
            <a:avLst/>
          </a:prstGeom>
          <a:solidFill>
            <a:srgbClr val="FBFAF7"/>
          </a:solidFill>
          <a:ln w="9525">
            <a:solidFill>
              <a:srgbClr val="D8D2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70A2F7F5-1EF3-417C-9C91-383A59E9881E}"/>
              </a:ext>
            </a:extLst>
          </p:cNvPr>
          <p:cNvSpPr>
            <a:spLocks noGrp="1"/>
          </p:cNvSpPr>
          <p:nvPr/>
        </p:nvSpPr>
        <p:spPr>
          <a:xfrm>
            <a:off x="3581400" y="3429000"/>
            <a:ext cx="1485900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00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NO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C64D97C1-6447-43C9-B935-F1DF4FDA4CC4}"/>
              </a:ext>
            </a:extLst>
          </p:cNvPr>
          <p:cNvSpPr>
            <a:spLocks noGrp="1"/>
          </p:cNvSpPr>
          <p:nvPr/>
        </p:nvSpPr>
        <p:spPr>
          <a:xfrm>
            <a:off x="5181600" y="3314700"/>
            <a:ext cx="1952625" cy="381000"/>
          </a:xfrm>
          <a:prstGeom prst="rect">
            <a:avLst/>
          </a:prstGeom>
          <a:solidFill>
            <a:srgbClr val="FBFAF7"/>
          </a:solidFill>
          <a:ln w="9525">
            <a:solidFill>
              <a:srgbClr val="D8D2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0E716932-7016-4F0D-B093-A66656EE0A19}"/>
              </a:ext>
            </a:extLst>
          </p:cNvPr>
          <p:cNvSpPr>
            <a:spLocks noGrp="1"/>
          </p:cNvSpPr>
          <p:nvPr/>
        </p:nvSpPr>
        <p:spPr>
          <a:xfrm>
            <a:off x="5295900" y="3429000"/>
            <a:ext cx="1724025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00" b="1">
                <a:solidFill>
                  <a:srgbClr val="0E8C7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E8C7F"/>
                </a:solidFill>
                <a:latin typeface="Aptos"/>
                <a:ea typeface="Aptos"/>
                <a:cs typeface="Aptos"/>
              </a:rPr>
              <a:t>YES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1EEBEB3F-89A1-4308-80D6-C7B1CB045195}"/>
              </a:ext>
            </a:extLst>
          </p:cNvPr>
          <p:cNvSpPr>
            <a:spLocks noGrp="1"/>
          </p:cNvSpPr>
          <p:nvPr/>
        </p:nvSpPr>
        <p:spPr>
          <a:xfrm>
            <a:off x="7134225" y="3314700"/>
            <a:ext cx="2000250" cy="381000"/>
          </a:xfrm>
          <a:prstGeom prst="rect">
            <a:avLst/>
          </a:prstGeom>
          <a:solidFill>
            <a:srgbClr val="FBFAF7"/>
          </a:solidFill>
          <a:ln w="9525">
            <a:solidFill>
              <a:srgbClr val="D8D2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F4653920-15A7-46E9-8D04-2E6545D9374B}"/>
              </a:ext>
            </a:extLst>
          </p:cNvPr>
          <p:cNvSpPr>
            <a:spLocks noGrp="1"/>
          </p:cNvSpPr>
          <p:nvPr/>
        </p:nvSpPr>
        <p:spPr>
          <a:xfrm>
            <a:off x="7248525" y="3429000"/>
            <a:ext cx="1771650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00" b="1">
                <a:solidFill>
                  <a:srgbClr val="0E8C7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E8C7F"/>
                </a:solidFill>
                <a:latin typeface="Aptos"/>
                <a:ea typeface="Aptos"/>
                <a:cs typeface="Aptos"/>
              </a:rPr>
              <a:t>YES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2D4249A4-6CB4-4897-92C2-1BA6393F91D7}"/>
              </a:ext>
            </a:extLst>
          </p:cNvPr>
          <p:cNvSpPr>
            <a:spLocks noGrp="1"/>
          </p:cNvSpPr>
          <p:nvPr/>
        </p:nvSpPr>
        <p:spPr>
          <a:xfrm>
            <a:off x="9134475" y="3314700"/>
            <a:ext cx="1762125" cy="381000"/>
          </a:xfrm>
          <a:prstGeom prst="rect">
            <a:avLst/>
          </a:prstGeom>
          <a:solidFill>
            <a:srgbClr val="EAF6F3"/>
          </a:solidFill>
          <a:ln w="9525">
            <a:solidFill>
              <a:srgbClr val="D8D2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B4ECF69C-0B0A-4E47-9B9F-5FC08618C998}"/>
              </a:ext>
            </a:extLst>
          </p:cNvPr>
          <p:cNvSpPr>
            <a:spLocks noGrp="1"/>
          </p:cNvSpPr>
          <p:nvPr/>
        </p:nvSpPr>
        <p:spPr>
          <a:xfrm>
            <a:off x="9248775" y="3429000"/>
            <a:ext cx="1533525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00" b="1">
                <a:solidFill>
                  <a:srgbClr val="0E8C7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E8C7F"/>
                </a:solidFill>
                <a:latin typeface="Aptos"/>
                <a:ea typeface="Aptos"/>
                <a:cs typeface="Aptos"/>
              </a:rPr>
              <a:t>YES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9C41D469-27FD-4CB0-8F20-4D908432D3DE}"/>
              </a:ext>
            </a:extLst>
          </p:cNvPr>
          <p:cNvSpPr>
            <a:spLocks noGrp="1"/>
          </p:cNvSpPr>
          <p:nvPr/>
        </p:nvSpPr>
        <p:spPr>
          <a:xfrm>
            <a:off x="685800" y="3695700"/>
            <a:ext cx="2781300" cy="3810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2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29DAAC9E-FA4C-4365-9A05-83CE1A6C95E6}"/>
              </a:ext>
            </a:extLst>
          </p:cNvPr>
          <p:cNvSpPr>
            <a:spLocks noGrp="1"/>
          </p:cNvSpPr>
          <p:nvPr/>
        </p:nvSpPr>
        <p:spPr>
          <a:xfrm>
            <a:off x="800100" y="3810000"/>
            <a:ext cx="2552700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1B2430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B2430"/>
                </a:solidFill>
                <a:latin typeface="Aptos"/>
                <a:ea typeface="Aptos"/>
                <a:cs typeface="Aptos"/>
              </a:rPr>
              <a:t>SME ticket sizes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CCA4ACB7-1973-4B05-A106-563B12DCB62B}"/>
              </a:ext>
            </a:extLst>
          </p:cNvPr>
          <p:cNvSpPr>
            <a:spLocks noGrp="1"/>
          </p:cNvSpPr>
          <p:nvPr/>
        </p:nvSpPr>
        <p:spPr>
          <a:xfrm>
            <a:off x="3467100" y="3695700"/>
            <a:ext cx="1714500" cy="3810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2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8D0079E9-C1C8-4A3A-A045-917076F96083}"/>
              </a:ext>
            </a:extLst>
          </p:cNvPr>
          <p:cNvSpPr>
            <a:spLocks noGrp="1"/>
          </p:cNvSpPr>
          <p:nvPr/>
        </p:nvSpPr>
        <p:spPr>
          <a:xfrm>
            <a:off x="3581400" y="3810000"/>
            <a:ext cx="1485900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00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NO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D098A9D7-7B6F-4F2B-BD7D-6A68E322DE7B}"/>
              </a:ext>
            </a:extLst>
          </p:cNvPr>
          <p:cNvSpPr>
            <a:spLocks noGrp="1"/>
          </p:cNvSpPr>
          <p:nvPr/>
        </p:nvSpPr>
        <p:spPr>
          <a:xfrm>
            <a:off x="5181600" y="3695700"/>
            <a:ext cx="1952625" cy="3810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2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557A2292-AA6A-460D-B80E-1329737C6A25}"/>
              </a:ext>
            </a:extLst>
          </p:cNvPr>
          <p:cNvSpPr>
            <a:spLocks noGrp="1"/>
          </p:cNvSpPr>
          <p:nvPr/>
        </p:nvSpPr>
        <p:spPr>
          <a:xfrm>
            <a:off x="5295900" y="3810000"/>
            <a:ext cx="1724025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00" b="1">
                <a:solidFill>
                  <a:srgbClr val="0E8C7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E8C7F"/>
                </a:solidFill>
                <a:latin typeface="Aptos"/>
                <a:ea typeface="Aptos"/>
                <a:cs typeface="Aptos"/>
              </a:rPr>
              <a:t>YES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E3912DCE-BA5C-4D59-BA02-EF4974792EDE}"/>
              </a:ext>
            </a:extLst>
          </p:cNvPr>
          <p:cNvSpPr>
            <a:spLocks noGrp="1"/>
          </p:cNvSpPr>
          <p:nvPr/>
        </p:nvSpPr>
        <p:spPr>
          <a:xfrm>
            <a:off x="7134225" y="3695700"/>
            <a:ext cx="2000250" cy="3810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2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9F4A83F0-DB4A-4B5D-B6B5-F16F2F90EA2F}"/>
              </a:ext>
            </a:extLst>
          </p:cNvPr>
          <p:cNvSpPr>
            <a:spLocks noGrp="1"/>
          </p:cNvSpPr>
          <p:nvPr/>
        </p:nvSpPr>
        <p:spPr>
          <a:xfrm>
            <a:off x="7248525" y="3810000"/>
            <a:ext cx="1771650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00" b="1">
                <a:solidFill>
                  <a:srgbClr val="0E8C7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E8C7F"/>
                </a:solidFill>
                <a:latin typeface="Aptos"/>
                <a:ea typeface="Aptos"/>
                <a:cs typeface="Aptos"/>
              </a:rPr>
              <a:t>YES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1F5B5783-2333-4C5B-BFD0-95A0488A4A54}"/>
              </a:ext>
            </a:extLst>
          </p:cNvPr>
          <p:cNvSpPr>
            <a:spLocks noGrp="1"/>
          </p:cNvSpPr>
          <p:nvPr/>
        </p:nvSpPr>
        <p:spPr>
          <a:xfrm>
            <a:off x="9134475" y="3695700"/>
            <a:ext cx="1762125" cy="381000"/>
          </a:xfrm>
          <a:prstGeom prst="rect">
            <a:avLst/>
          </a:prstGeom>
          <a:solidFill>
            <a:srgbClr val="EAF6F3"/>
          </a:solidFill>
          <a:ln w="9525">
            <a:solidFill>
              <a:srgbClr val="D8D2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915A040F-711A-4D29-B67B-E5DAE5CE9B14}"/>
              </a:ext>
            </a:extLst>
          </p:cNvPr>
          <p:cNvSpPr>
            <a:spLocks noGrp="1"/>
          </p:cNvSpPr>
          <p:nvPr/>
        </p:nvSpPr>
        <p:spPr>
          <a:xfrm>
            <a:off x="9248775" y="3810000"/>
            <a:ext cx="1533525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00" b="1">
                <a:solidFill>
                  <a:srgbClr val="0E8C7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E8C7F"/>
                </a:solidFill>
                <a:latin typeface="Aptos"/>
                <a:ea typeface="Aptos"/>
                <a:cs typeface="Aptos"/>
              </a:rPr>
              <a:t>YES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1121D63F-329E-4C68-B8C0-0B336E717F9B}"/>
              </a:ext>
            </a:extLst>
          </p:cNvPr>
          <p:cNvSpPr>
            <a:spLocks noGrp="1"/>
          </p:cNvSpPr>
          <p:nvPr/>
        </p:nvSpPr>
        <p:spPr>
          <a:xfrm>
            <a:off x="685800" y="4076700"/>
            <a:ext cx="2781300" cy="381000"/>
          </a:xfrm>
          <a:prstGeom prst="rect">
            <a:avLst/>
          </a:prstGeom>
          <a:solidFill>
            <a:srgbClr val="FBFAF7"/>
          </a:solidFill>
          <a:ln w="9525">
            <a:solidFill>
              <a:srgbClr val="D8D2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834C95A2-0304-4700-BD60-4BB134E5F4DB}"/>
              </a:ext>
            </a:extLst>
          </p:cNvPr>
          <p:cNvSpPr>
            <a:spLocks noGrp="1"/>
          </p:cNvSpPr>
          <p:nvPr/>
        </p:nvSpPr>
        <p:spPr>
          <a:xfrm>
            <a:off x="800100" y="4191000"/>
            <a:ext cx="2552700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1B2430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B2430"/>
                </a:solidFill>
                <a:latin typeface="Aptos"/>
                <a:ea typeface="Aptos"/>
                <a:cs typeface="Aptos"/>
              </a:rPr>
              <a:t>Document verification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3FEFC741-3CBB-4CCD-888C-FECBB0335BBA}"/>
              </a:ext>
            </a:extLst>
          </p:cNvPr>
          <p:cNvSpPr>
            <a:spLocks noGrp="1"/>
          </p:cNvSpPr>
          <p:nvPr/>
        </p:nvSpPr>
        <p:spPr>
          <a:xfrm>
            <a:off x="3467100" y="4076700"/>
            <a:ext cx="1714500" cy="381000"/>
          </a:xfrm>
          <a:prstGeom prst="rect">
            <a:avLst/>
          </a:prstGeom>
          <a:solidFill>
            <a:srgbClr val="FBFAF7"/>
          </a:solidFill>
          <a:ln w="9525">
            <a:solidFill>
              <a:srgbClr val="D8D2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0FF57EC9-FDD1-4DE4-9DF9-4B57BE214550}"/>
              </a:ext>
            </a:extLst>
          </p:cNvPr>
          <p:cNvSpPr>
            <a:spLocks noGrp="1"/>
          </p:cNvSpPr>
          <p:nvPr/>
        </p:nvSpPr>
        <p:spPr>
          <a:xfrm>
            <a:off x="3581400" y="4191000"/>
            <a:ext cx="1485900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00" b="1">
                <a:solidFill>
                  <a:srgbClr val="0E8C7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E8C7F"/>
                </a:solidFill>
                <a:latin typeface="Aptos"/>
                <a:ea typeface="Aptos"/>
                <a:cs typeface="Aptos"/>
              </a:rPr>
              <a:t>YES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9F913A5F-00B6-41B9-A404-3B44BEC6C104}"/>
              </a:ext>
            </a:extLst>
          </p:cNvPr>
          <p:cNvSpPr>
            <a:spLocks noGrp="1"/>
          </p:cNvSpPr>
          <p:nvPr/>
        </p:nvSpPr>
        <p:spPr>
          <a:xfrm>
            <a:off x="5181600" y="4076700"/>
            <a:ext cx="1952625" cy="381000"/>
          </a:xfrm>
          <a:prstGeom prst="rect">
            <a:avLst/>
          </a:prstGeom>
          <a:solidFill>
            <a:srgbClr val="FBFAF7"/>
          </a:solidFill>
          <a:ln w="9525">
            <a:solidFill>
              <a:srgbClr val="D8D2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D7EBA353-162F-433B-BDBF-A84339F40D1D}"/>
              </a:ext>
            </a:extLst>
          </p:cNvPr>
          <p:cNvSpPr>
            <a:spLocks noGrp="1"/>
          </p:cNvSpPr>
          <p:nvPr/>
        </p:nvSpPr>
        <p:spPr>
          <a:xfrm>
            <a:off x="5295900" y="4191000"/>
            <a:ext cx="1724025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00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NO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6B066AB2-5C01-4624-B8EF-DF8BB241EFA8}"/>
              </a:ext>
            </a:extLst>
          </p:cNvPr>
          <p:cNvSpPr>
            <a:spLocks noGrp="1"/>
          </p:cNvSpPr>
          <p:nvPr/>
        </p:nvSpPr>
        <p:spPr>
          <a:xfrm>
            <a:off x="7134225" y="4076700"/>
            <a:ext cx="2000250" cy="381000"/>
          </a:xfrm>
          <a:prstGeom prst="rect">
            <a:avLst/>
          </a:prstGeom>
          <a:solidFill>
            <a:srgbClr val="FBFAF7"/>
          </a:solidFill>
          <a:ln w="9525">
            <a:solidFill>
              <a:srgbClr val="D8D2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D73F190E-A4DF-47E0-B173-3DD31AD415BF}"/>
              </a:ext>
            </a:extLst>
          </p:cNvPr>
          <p:cNvSpPr>
            <a:spLocks noGrp="1"/>
          </p:cNvSpPr>
          <p:nvPr/>
        </p:nvSpPr>
        <p:spPr>
          <a:xfrm>
            <a:off x="7248525" y="4191000"/>
            <a:ext cx="1771650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00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NO</a:t>
            </a: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5472BBAA-F19C-4527-9232-D22B88EA449E}"/>
              </a:ext>
            </a:extLst>
          </p:cNvPr>
          <p:cNvSpPr>
            <a:spLocks noGrp="1"/>
          </p:cNvSpPr>
          <p:nvPr/>
        </p:nvSpPr>
        <p:spPr>
          <a:xfrm>
            <a:off x="9134475" y="4076700"/>
            <a:ext cx="1762125" cy="381000"/>
          </a:xfrm>
          <a:prstGeom prst="rect">
            <a:avLst/>
          </a:prstGeom>
          <a:solidFill>
            <a:srgbClr val="EAF6F3"/>
          </a:solidFill>
          <a:ln w="9525">
            <a:solidFill>
              <a:srgbClr val="D8D2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C7F14CEB-BF6B-4FD6-B3AC-2C6288657D45}"/>
              </a:ext>
            </a:extLst>
          </p:cNvPr>
          <p:cNvSpPr>
            <a:spLocks noGrp="1"/>
          </p:cNvSpPr>
          <p:nvPr/>
        </p:nvSpPr>
        <p:spPr>
          <a:xfrm>
            <a:off x="9248775" y="4191000"/>
            <a:ext cx="1533525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00" b="1">
                <a:solidFill>
                  <a:srgbClr val="0E8C7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E8C7F"/>
                </a:solidFill>
                <a:latin typeface="Aptos"/>
                <a:ea typeface="Aptos"/>
                <a:cs typeface="Aptos"/>
              </a:rPr>
              <a:t>YES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F309D7F7-6821-4370-B848-563FD0E04DBB}"/>
              </a:ext>
            </a:extLst>
          </p:cNvPr>
          <p:cNvSpPr>
            <a:spLocks noGrp="1"/>
          </p:cNvSpPr>
          <p:nvPr/>
        </p:nvSpPr>
        <p:spPr>
          <a:xfrm>
            <a:off x="685800" y="4457700"/>
            <a:ext cx="2781300" cy="3810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2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18DC0F48-C2C7-4612-B961-0509CC72A15A}"/>
              </a:ext>
            </a:extLst>
          </p:cNvPr>
          <p:cNvSpPr>
            <a:spLocks noGrp="1"/>
          </p:cNvSpPr>
          <p:nvPr/>
        </p:nvSpPr>
        <p:spPr>
          <a:xfrm>
            <a:off x="800100" y="4572000"/>
            <a:ext cx="2552700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1B2430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B2430"/>
                </a:solidFill>
                <a:latin typeface="Aptos"/>
                <a:ea typeface="Aptos"/>
                <a:cs typeface="Aptos"/>
              </a:rPr>
              <a:t>Defined dispute path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708F0D86-ABEB-4FB3-875D-50C93602416F}"/>
              </a:ext>
            </a:extLst>
          </p:cNvPr>
          <p:cNvSpPr>
            <a:spLocks noGrp="1"/>
          </p:cNvSpPr>
          <p:nvPr/>
        </p:nvSpPr>
        <p:spPr>
          <a:xfrm>
            <a:off x="3467100" y="4457700"/>
            <a:ext cx="1714500" cy="3810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2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B5ABFA5D-D691-4EDF-B35B-7C2647194AB9}"/>
              </a:ext>
            </a:extLst>
          </p:cNvPr>
          <p:cNvSpPr>
            <a:spLocks noGrp="1"/>
          </p:cNvSpPr>
          <p:nvPr/>
        </p:nvSpPr>
        <p:spPr>
          <a:xfrm>
            <a:off x="3581400" y="4572000"/>
            <a:ext cx="1485900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00" b="1">
                <a:solidFill>
                  <a:srgbClr val="0E8C7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E8C7F"/>
                </a:solidFill>
                <a:latin typeface="Aptos"/>
                <a:ea typeface="Aptos"/>
                <a:cs typeface="Aptos"/>
              </a:rPr>
              <a:t>YES</a:t>
            </a: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37B768BB-0C9F-48A3-ABE1-B2FEF98C386E}"/>
              </a:ext>
            </a:extLst>
          </p:cNvPr>
          <p:cNvSpPr>
            <a:spLocks noGrp="1"/>
          </p:cNvSpPr>
          <p:nvPr/>
        </p:nvSpPr>
        <p:spPr>
          <a:xfrm>
            <a:off x="5181600" y="4457700"/>
            <a:ext cx="1952625" cy="3810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2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AC44D7D5-AF3B-4778-AE64-1927A9D60850}"/>
              </a:ext>
            </a:extLst>
          </p:cNvPr>
          <p:cNvSpPr>
            <a:spLocks noGrp="1"/>
          </p:cNvSpPr>
          <p:nvPr/>
        </p:nvSpPr>
        <p:spPr>
          <a:xfrm>
            <a:off x="5295900" y="4572000"/>
            <a:ext cx="1724025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00" b="0">
                <a:solidFill>
                  <a:srgbClr val="C77D1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C77D18"/>
                </a:solidFill>
                <a:latin typeface="Aptos"/>
                <a:ea typeface="Aptos"/>
                <a:cs typeface="Aptos"/>
              </a:rPr>
              <a:t>PARTIAL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D03B3BEB-D65B-46F7-8F21-BA65AD602E8D}"/>
              </a:ext>
            </a:extLst>
          </p:cNvPr>
          <p:cNvSpPr>
            <a:spLocks noGrp="1"/>
          </p:cNvSpPr>
          <p:nvPr/>
        </p:nvSpPr>
        <p:spPr>
          <a:xfrm>
            <a:off x="7134225" y="4457700"/>
            <a:ext cx="2000250" cy="3810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2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CA566FCB-4D31-4D15-8F7C-0FEB45B31021}"/>
              </a:ext>
            </a:extLst>
          </p:cNvPr>
          <p:cNvSpPr>
            <a:spLocks noGrp="1"/>
          </p:cNvSpPr>
          <p:nvPr/>
        </p:nvSpPr>
        <p:spPr>
          <a:xfrm>
            <a:off x="7248525" y="4572000"/>
            <a:ext cx="1771650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00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NO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A1080A55-A6D4-432D-AE34-D6D82F162F12}"/>
              </a:ext>
            </a:extLst>
          </p:cNvPr>
          <p:cNvSpPr>
            <a:spLocks noGrp="1"/>
          </p:cNvSpPr>
          <p:nvPr/>
        </p:nvSpPr>
        <p:spPr>
          <a:xfrm>
            <a:off x="9134475" y="4457700"/>
            <a:ext cx="1762125" cy="381000"/>
          </a:xfrm>
          <a:prstGeom prst="rect">
            <a:avLst/>
          </a:prstGeom>
          <a:solidFill>
            <a:srgbClr val="EAF6F3"/>
          </a:solidFill>
          <a:ln w="9525">
            <a:solidFill>
              <a:srgbClr val="D8D2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07588FA9-5874-45D0-9224-DA0E752692D8}"/>
              </a:ext>
            </a:extLst>
          </p:cNvPr>
          <p:cNvSpPr>
            <a:spLocks noGrp="1"/>
          </p:cNvSpPr>
          <p:nvPr/>
        </p:nvSpPr>
        <p:spPr>
          <a:xfrm>
            <a:off x="9248775" y="4572000"/>
            <a:ext cx="1533525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00" b="1">
                <a:solidFill>
                  <a:srgbClr val="0E8C7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E8C7F"/>
                </a:solidFill>
                <a:latin typeface="Aptos"/>
                <a:ea typeface="Aptos"/>
                <a:cs typeface="Aptos"/>
              </a:rPr>
              <a:t>YES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96232FD8-7145-44A7-A2EA-4F74BDA92612}"/>
              </a:ext>
            </a:extLst>
          </p:cNvPr>
          <p:cNvSpPr>
            <a:spLocks noGrp="1"/>
          </p:cNvSpPr>
          <p:nvPr/>
        </p:nvSpPr>
        <p:spPr>
          <a:xfrm>
            <a:off x="685800" y="4838700"/>
            <a:ext cx="2781300" cy="381000"/>
          </a:xfrm>
          <a:prstGeom prst="rect">
            <a:avLst/>
          </a:prstGeom>
          <a:solidFill>
            <a:srgbClr val="FBFAF7"/>
          </a:solidFill>
          <a:ln w="9525">
            <a:solidFill>
              <a:srgbClr val="D8D2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3AC59F52-1BD1-449A-9229-9F0D9F9F88AD}"/>
              </a:ext>
            </a:extLst>
          </p:cNvPr>
          <p:cNvSpPr>
            <a:spLocks noGrp="1"/>
          </p:cNvSpPr>
          <p:nvPr/>
        </p:nvSpPr>
        <p:spPr>
          <a:xfrm>
            <a:off x="800100" y="4953000"/>
            <a:ext cx="2552700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1B2430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B2430"/>
                </a:solidFill>
                <a:latin typeface="Aptos"/>
                <a:ea typeface="Aptos"/>
                <a:cs typeface="Aptos"/>
              </a:rPr>
              <a:t>Gulf regulatory fit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85E5A800-A5DA-485C-B47D-9DB29523B948}"/>
              </a:ext>
            </a:extLst>
          </p:cNvPr>
          <p:cNvSpPr>
            <a:spLocks noGrp="1"/>
          </p:cNvSpPr>
          <p:nvPr/>
        </p:nvSpPr>
        <p:spPr>
          <a:xfrm>
            <a:off x="3467100" y="4838700"/>
            <a:ext cx="1714500" cy="381000"/>
          </a:xfrm>
          <a:prstGeom prst="rect">
            <a:avLst/>
          </a:prstGeom>
          <a:solidFill>
            <a:srgbClr val="FBFAF7"/>
          </a:solidFill>
          <a:ln w="9525">
            <a:solidFill>
              <a:srgbClr val="D8D2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4C95CFAC-D23E-453D-97B0-D5EDBCDE9D54}"/>
              </a:ext>
            </a:extLst>
          </p:cNvPr>
          <p:cNvSpPr>
            <a:spLocks noGrp="1"/>
          </p:cNvSpPr>
          <p:nvPr/>
        </p:nvSpPr>
        <p:spPr>
          <a:xfrm>
            <a:off x="3581400" y="4953000"/>
            <a:ext cx="1485900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00" b="0">
                <a:solidFill>
                  <a:srgbClr val="C77D1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C77D18"/>
                </a:solidFill>
                <a:latin typeface="Aptos"/>
                <a:ea typeface="Aptos"/>
                <a:cs typeface="Aptos"/>
              </a:rPr>
              <a:t>PARTIAL</a:t>
            </a: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69F68A90-3612-40DA-94D2-E7339DD4C5BD}"/>
              </a:ext>
            </a:extLst>
          </p:cNvPr>
          <p:cNvSpPr>
            <a:spLocks noGrp="1"/>
          </p:cNvSpPr>
          <p:nvPr/>
        </p:nvSpPr>
        <p:spPr>
          <a:xfrm>
            <a:off x="5181600" y="4838700"/>
            <a:ext cx="1952625" cy="381000"/>
          </a:xfrm>
          <a:prstGeom prst="rect">
            <a:avLst/>
          </a:prstGeom>
          <a:solidFill>
            <a:srgbClr val="FBFAF7"/>
          </a:solidFill>
          <a:ln w="9525">
            <a:solidFill>
              <a:srgbClr val="D8D2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3F6DF618-B84A-4121-A413-830BE941A6D8}"/>
              </a:ext>
            </a:extLst>
          </p:cNvPr>
          <p:cNvSpPr>
            <a:spLocks noGrp="1"/>
          </p:cNvSpPr>
          <p:nvPr/>
        </p:nvSpPr>
        <p:spPr>
          <a:xfrm>
            <a:off x="5295900" y="4953000"/>
            <a:ext cx="1724025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00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NO</a:t>
            </a: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B5C9862B-76F0-4901-A528-596A91693C84}"/>
              </a:ext>
            </a:extLst>
          </p:cNvPr>
          <p:cNvSpPr>
            <a:spLocks noGrp="1"/>
          </p:cNvSpPr>
          <p:nvPr/>
        </p:nvSpPr>
        <p:spPr>
          <a:xfrm>
            <a:off x="7134225" y="4838700"/>
            <a:ext cx="2000250" cy="381000"/>
          </a:xfrm>
          <a:prstGeom prst="rect">
            <a:avLst/>
          </a:prstGeom>
          <a:solidFill>
            <a:srgbClr val="FBFAF7"/>
          </a:solidFill>
          <a:ln w="9525">
            <a:solidFill>
              <a:srgbClr val="D8D2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1AA72416-3F15-45B4-A1EE-E3FAB89119AB}"/>
              </a:ext>
            </a:extLst>
          </p:cNvPr>
          <p:cNvSpPr>
            <a:spLocks noGrp="1"/>
          </p:cNvSpPr>
          <p:nvPr/>
        </p:nvSpPr>
        <p:spPr>
          <a:xfrm>
            <a:off x="7248525" y="4953000"/>
            <a:ext cx="1771650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00" b="0">
                <a:solidFill>
                  <a:srgbClr val="C77D1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C77D18"/>
                </a:solidFill>
                <a:latin typeface="Aptos"/>
                <a:ea typeface="Aptos"/>
                <a:cs typeface="Aptos"/>
              </a:rPr>
              <a:t>PARTIAL</a:t>
            </a: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E8CDFF45-D111-474F-9420-502CF3B9E180}"/>
              </a:ext>
            </a:extLst>
          </p:cNvPr>
          <p:cNvSpPr>
            <a:spLocks noGrp="1"/>
          </p:cNvSpPr>
          <p:nvPr/>
        </p:nvSpPr>
        <p:spPr>
          <a:xfrm>
            <a:off x="9134475" y="4838700"/>
            <a:ext cx="1762125" cy="381000"/>
          </a:xfrm>
          <a:prstGeom prst="rect">
            <a:avLst/>
          </a:prstGeom>
          <a:solidFill>
            <a:srgbClr val="EAF6F3"/>
          </a:solidFill>
          <a:ln w="9525">
            <a:solidFill>
              <a:srgbClr val="D8D2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73C049B1-FFB6-4ED3-B0FB-246A84674444}"/>
              </a:ext>
            </a:extLst>
          </p:cNvPr>
          <p:cNvSpPr>
            <a:spLocks noGrp="1"/>
          </p:cNvSpPr>
          <p:nvPr/>
        </p:nvSpPr>
        <p:spPr>
          <a:xfrm>
            <a:off x="9248775" y="4953000"/>
            <a:ext cx="1533525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00" b="1">
                <a:solidFill>
                  <a:srgbClr val="0E8C7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E8C7F"/>
                </a:solidFill>
                <a:latin typeface="Aptos"/>
                <a:ea typeface="Aptos"/>
                <a:cs typeface="Aptos"/>
              </a:rPr>
              <a:t>YES</a:t>
            </a: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5A93E6F1-82C5-4A72-B563-D97FCDB3B917}"/>
              </a:ext>
            </a:extLst>
          </p:cNvPr>
          <p:cNvSpPr>
            <a:spLocks noGrp="1"/>
          </p:cNvSpPr>
          <p:nvPr/>
        </p:nvSpPr>
        <p:spPr>
          <a:xfrm>
            <a:off x="685800" y="5219700"/>
            <a:ext cx="2781300" cy="3810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2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F5DEA1F8-7C6B-46CD-80E6-79145362BCBB}"/>
              </a:ext>
            </a:extLst>
          </p:cNvPr>
          <p:cNvSpPr>
            <a:spLocks noGrp="1"/>
          </p:cNvSpPr>
          <p:nvPr/>
        </p:nvSpPr>
        <p:spPr>
          <a:xfrm>
            <a:off x="800100" y="5334000"/>
            <a:ext cx="2552700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1B2430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B2430"/>
                </a:solidFill>
                <a:latin typeface="Aptos"/>
                <a:ea typeface="Aptos"/>
                <a:cs typeface="Aptos"/>
              </a:rPr>
              <a:t>eBL speed option</a:t>
            </a: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88934611-A835-4EBE-8D96-E6B4ECCE576D}"/>
              </a:ext>
            </a:extLst>
          </p:cNvPr>
          <p:cNvSpPr>
            <a:spLocks noGrp="1"/>
          </p:cNvSpPr>
          <p:nvPr/>
        </p:nvSpPr>
        <p:spPr>
          <a:xfrm>
            <a:off x="3467100" y="5219700"/>
            <a:ext cx="1714500" cy="3810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2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F908A8AB-7775-44A0-B444-E02F2B0EA489}"/>
              </a:ext>
            </a:extLst>
          </p:cNvPr>
          <p:cNvSpPr>
            <a:spLocks noGrp="1"/>
          </p:cNvSpPr>
          <p:nvPr/>
        </p:nvSpPr>
        <p:spPr>
          <a:xfrm>
            <a:off x="3581400" y="5334000"/>
            <a:ext cx="1485900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00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NO</a:t>
            </a: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47E13A0C-9687-499C-9D43-5DBF04F55EEF}"/>
              </a:ext>
            </a:extLst>
          </p:cNvPr>
          <p:cNvSpPr>
            <a:spLocks noGrp="1"/>
          </p:cNvSpPr>
          <p:nvPr/>
        </p:nvSpPr>
        <p:spPr>
          <a:xfrm>
            <a:off x="5181600" y="5219700"/>
            <a:ext cx="1952625" cy="3810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2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24AAADD9-317E-4E29-8D4B-DB0403F0FA72}"/>
              </a:ext>
            </a:extLst>
          </p:cNvPr>
          <p:cNvSpPr>
            <a:spLocks noGrp="1"/>
          </p:cNvSpPr>
          <p:nvPr/>
        </p:nvSpPr>
        <p:spPr>
          <a:xfrm>
            <a:off x="5295900" y="5334000"/>
            <a:ext cx="1724025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00" b="1">
                <a:solidFill>
                  <a:srgbClr val="0E8C7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E8C7F"/>
                </a:solidFill>
                <a:latin typeface="Aptos"/>
                <a:ea typeface="Aptos"/>
                <a:cs typeface="Aptos"/>
              </a:rPr>
              <a:t>YES</a:t>
            </a:r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8434E748-8A87-4798-98B5-E60165E05EBF}"/>
              </a:ext>
            </a:extLst>
          </p:cNvPr>
          <p:cNvSpPr>
            <a:spLocks noGrp="1"/>
          </p:cNvSpPr>
          <p:nvPr/>
        </p:nvSpPr>
        <p:spPr>
          <a:xfrm>
            <a:off x="7134225" y="5219700"/>
            <a:ext cx="2000250" cy="3810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2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7A836010-3173-46F4-8B77-7EFC77D8E41C}"/>
              </a:ext>
            </a:extLst>
          </p:cNvPr>
          <p:cNvSpPr>
            <a:spLocks noGrp="1"/>
          </p:cNvSpPr>
          <p:nvPr/>
        </p:nvSpPr>
        <p:spPr>
          <a:xfrm>
            <a:off x="7248525" y="5334000"/>
            <a:ext cx="1771650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00" b="1">
                <a:solidFill>
                  <a:srgbClr val="0E8C7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E8C7F"/>
                </a:solidFill>
                <a:latin typeface="Aptos"/>
                <a:ea typeface="Aptos"/>
                <a:cs typeface="Aptos"/>
              </a:rPr>
              <a:t>YES</a:t>
            </a:r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6E8608B9-43E3-49D4-BDB4-D4FF883E7A74}"/>
              </a:ext>
            </a:extLst>
          </p:cNvPr>
          <p:cNvSpPr>
            <a:spLocks noGrp="1"/>
          </p:cNvSpPr>
          <p:nvPr/>
        </p:nvSpPr>
        <p:spPr>
          <a:xfrm>
            <a:off x="9134475" y="5219700"/>
            <a:ext cx="1762125" cy="381000"/>
          </a:xfrm>
          <a:prstGeom prst="rect">
            <a:avLst/>
          </a:prstGeom>
          <a:solidFill>
            <a:srgbClr val="EAF6F3"/>
          </a:solidFill>
          <a:ln w="9525">
            <a:solidFill>
              <a:srgbClr val="D8D2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F102A1F3-6B15-4DE0-A04A-DBB2E5053227}"/>
              </a:ext>
            </a:extLst>
          </p:cNvPr>
          <p:cNvSpPr>
            <a:spLocks noGrp="1"/>
          </p:cNvSpPr>
          <p:nvPr/>
        </p:nvSpPr>
        <p:spPr>
          <a:xfrm>
            <a:off x="9248775" y="5334000"/>
            <a:ext cx="1533525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00" b="1">
                <a:solidFill>
                  <a:srgbClr val="0E8C7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E8C7F"/>
                </a:solidFill>
                <a:latin typeface="Aptos"/>
                <a:ea typeface="Aptos"/>
                <a:cs typeface="Aptos"/>
              </a:rPr>
              <a:t>YES</a:t>
            </a: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05555CA4-C132-4FD5-8551-B123D1A3716D}"/>
              </a:ext>
            </a:extLst>
          </p:cNvPr>
          <p:cNvSpPr>
            <a:spLocks noGrp="1"/>
          </p:cNvSpPr>
          <p:nvPr/>
        </p:nvSpPr>
        <p:spPr>
          <a:xfrm>
            <a:off x="1600200" y="5829300"/>
            <a:ext cx="8629650" cy="381000"/>
          </a:xfrm>
          <a:prstGeom prst="rect">
            <a:avLst/>
          </a:prstGeom>
          <a:solidFill>
            <a:srgbClr val="EEF6F4"/>
          </a:solidFill>
          <a:ln w="9525">
            <a:solidFill>
              <a:srgbClr val="0E8C7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788F9677-CADA-4B8D-ADEF-6D2AE43DDB6A}"/>
              </a:ext>
            </a:extLst>
          </p:cNvPr>
          <p:cNvSpPr>
            <a:spLocks noGrp="1"/>
          </p:cNvSpPr>
          <p:nvPr/>
        </p:nvSpPr>
        <p:spPr>
          <a:xfrm>
            <a:off x="1866900" y="5943600"/>
            <a:ext cx="80010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125" b="1">
                <a:solidFill>
                  <a:srgbClr val="0B1B3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B1B3A"/>
                </a:solidFill>
                <a:latin typeface="Aptos"/>
                <a:ea typeface="Aptos"/>
                <a:cs typeface="Aptos"/>
              </a:rPr>
              <a:t>Competitive advantage: documentary release logic + stablecoin prefunding + SME economics + six-layer document governance.</a:t>
            </a:r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DF4783F8-DC2B-4A98-853D-ADAD03488F6C}"/>
              </a:ext>
            </a:extLst>
          </p:cNvPr>
          <p:cNvSpPr>
            <a:spLocks noGrp="1"/>
          </p:cNvSpPr>
          <p:nvPr/>
        </p:nvSpPr>
        <p:spPr>
          <a:xfrm>
            <a:off x="11106150" y="6438900"/>
            <a:ext cx="5524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900" b="1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B7280"/>
                </a:solidFill>
                <a:latin typeface="Aptos"/>
                <a:ea typeface="Aptos"/>
                <a:cs typeface="Aptos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96381104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Rectangle 49">
            <a:extLst>
              <a:ext uri="{FF2B5EF4-FFF2-40B4-BE49-F238E27FC236}">
                <a16:creationId xmlns:a16="http://schemas.microsoft.com/office/drawing/2014/main" id="{C4837CB6-6E06-48CD-BFA6-D1F09525E6D0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4E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" name="kicker-11-marker">
            <a:extLst>
              <a:ext uri="{FF2B5EF4-FFF2-40B4-BE49-F238E27FC236}">
                <a16:creationId xmlns:a16="http://schemas.microsoft.com/office/drawing/2014/main" id="{C41C138C-5F33-44BE-9202-2EC74B53D8BF}"/>
              </a:ext>
            </a:extLst>
          </p:cNvPr>
          <p:cNvSpPr>
            <a:spLocks noGrp="1"/>
          </p:cNvSpPr>
          <p:nvPr/>
        </p:nvSpPr>
        <p:spPr>
          <a:xfrm>
            <a:off x="533400" y="438150"/>
            <a:ext cx="76200" cy="76200"/>
          </a:xfrm>
          <a:prstGeom prst="rect">
            <a:avLst/>
          </a:prstGeom>
          <a:solidFill>
            <a:srgbClr val="0B1B3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kicker-11-label">
            <a:extLst>
              <a:ext uri="{FF2B5EF4-FFF2-40B4-BE49-F238E27FC236}">
                <a16:creationId xmlns:a16="http://schemas.microsoft.com/office/drawing/2014/main" id="{9678FDA4-D756-49DA-8686-A2480D127B46}"/>
              </a:ext>
            </a:extLst>
          </p:cNvPr>
          <p:cNvSpPr>
            <a:spLocks noGrp="1"/>
          </p:cNvSpPr>
          <p:nvPr/>
        </p:nvSpPr>
        <p:spPr>
          <a:xfrm>
            <a:off x="723900" y="361950"/>
            <a:ext cx="5334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900" b="1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B7280"/>
                </a:solidFill>
                <a:latin typeface="Aptos"/>
                <a:ea typeface="Aptos"/>
                <a:cs typeface="Aptos"/>
              </a:rPr>
              <a:t>FINANCIAL PATH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7698C5A-5AC1-4F16-B719-CAE7D16F4D2F}"/>
              </a:ext>
            </a:extLst>
          </p:cNvPr>
          <p:cNvSpPr>
            <a:spLocks noGrp="1"/>
          </p:cNvSpPr>
          <p:nvPr/>
        </p:nvSpPr>
        <p:spPr>
          <a:xfrm>
            <a:off x="533400" y="685800"/>
            <a:ext cx="8191500" cy="876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3000" b="1">
                <a:solidFill>
                  <a:srgbClr val="0B1B3A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0B1B3A"/>
                </a:solidFill>
                <a:latin typeface="Aptos Display"/>
                <a:ea typeface="Aptos Display"/>
                <a:cs typeface="Aptos Display"/>
              </a:rPr>
              <a:t>The base case is conservative: prove repeat usage before scaling overhead.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90738B7-5D3F-48A5-8E8A-70167E7B209E}"/>
              </a:ext>
            </a:extLst>
          </p:cNvPr>
          <p:cNvSpPr>
            <a:spLocks noGrp="1"/>
          </p:cNvSpPr>
          <p:nvPr/>
        </p:nvSpPr>
        <p:spPr>
          <a:xfrm>
            <a:off x="571500" y="1638300"/>
            <a:ext cx="8953500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00" b="0">
                <a:solidFill>
                  <a:srgbClr val="1B2430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B2430"/>
                </a:solidFill>
                <a:latin typeface="Aptos"/>
                <a:ea typeface="Aptos"/>
                <a:cs typeface="Aptos"/>
              </a:rPr>
              <a:t>The model was revised downward after a customer-volume math check. That makes the story more investable: low early revenue, controlled burn, and a clear break-even window.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C0896C8-E2D1-436F-9C37-D91D557C1386}"/>
              </a:ext>
            </a:extLst>
          </p:cNvPr>
          <p:cNvSpPr>
            <a:spLocks noGrp="1"/>
          </p:cNvSpPr>
          <p:nvPr/>
        </p:nvSpPr>
        <p:spPr>
          <a:xfrm>
            <a:off x="704850" y="2514600"/>
            <a:ext cx="2419350" cy="1085850"/>
          </a:xfrm>
          <a:prstGeom prst="rect">
            <a:avLst/>
          </a:prstGeom>
          <a:solidFill>
            <a:srgbClr val="FFFFFF"/>
          </a:solidFill>
          <a:ln w="9525">
            <a:solidFill>
              <a:srgbClr val="D8D2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F113DC9-AFC4-4984-8B7B-EF02790DB51E}"/>
              </a:ext>
            </a:extLst>
          </p:cNvPr>
          <p:cNvSpPr>
            <a:spLocks noGrp="1"/>
          </p:cNvSpPr>
          <p:nvPr/>
        </p:nvSpPr>
        <p:spPr>
          <a:xfrm>
            <a:off x="704850" y="2514600"/>
            <a:ext cx="47625" cy="1085850"/>
          </a:xfrm>
          <a:prstGeom prst="rect">
            <a:avLst/>
          </a:prstGeom>
          <a:solidFill>
            <a:srgbClr val="2C7A33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FD81102-E896-4017-B810-62AB0C079AEC}"/>
              </a:ext>
            </a:extLst>
          </p:cNvPr>
          <p:cNvSpPr>
            <a:spLocks noGrp="1"/>
          </p:cNvSpPr>
          <p:nvPr/>
        </p:nvSpPr>
        <p:spPr>
          <a:xfrm>
            <a:off x="914400" y="2657475"/>
            <a:ext cx="200025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250" b="1">
                <a:solidFill>
                  <a:srgbClr val="0B1B3A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0B1B3A"/>
                </a:solidFill>
                <a:latin typeface="Aptos"/>
                <a:ea typeface="Aptos"/>
                <a:cs typeface="Aptos"/>
              </a:rPr>
              <a:t>$390K-$990K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E34A5FF-016D-47EF-90A6-3FC081C2C9D2}"/>
              </a:ext>
            </a:extLst>
          </p:cNvPr>
          <p:cNvSpPr>
            <a:spLocks noGrp="1"/>
          </p:cNvSpPr>
          <p:nvPr/>
        </p:nvSpPr>
        <p:spPr>
          <a:xfrm>
            <a:off x="914400" y="3028950"/>
            <a:ext cx="20002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1">
                <a:solidFill>
                  <a:srgbClr val="1B2430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B2430"/>
                </a:solidFill>
                <a:latin typeface="Aptos"/>
                <a:ea typeface="Aptos"/>
                <a:cs typeface="Aptos"/>
              </a:rPr>
              <a:t>Y3 annual revenue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7E1DD05-7F2A-47B6-9799-3651FE2E78B6}"/>
              </a:ext>
            </a:extLst>
          </p:cNvPr>
          <p:cNvSpPr>
            <a:spLocks noGrp="1"/>
          </p:cNvSpPr>
          <p:nvPr/>
        </p:nvSpPr>
        <p:spPr>
          <a:xfrm>
            <a:off x="914400" y="3276600"/>
            <a:ext cx="200025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settlement + API + optional yield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9064EF7-7562-432B-9542-DEE2F214CD70}"/>
              </a:ext>
            </a:extLst>
          </p:cNvPr>
          <p:cNvSpPr>
            <a:spLocks noGrp="1"/>
          </p:cNvSpPr>
          <p:nvPr/>
        </p:nvSpPr>
        <p:spPr>
          <a:xfrm>
            <a:off x="3429000" y="2514600"/>
            <a:ext cx="2419350" cy="1085850"/>
          </a:xfrm>
          <a:prstGeom prst="rect">
            <a:avLst/>
          </a:prstGeom>
          <a:solidFill>
            <a:srgbClr val="FFFFFF"/>
          </a:solidFill>
          <a:ln w="9525">
            <a:solidFill>
              <a:srgbClr val="D8D2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C618428-F10D-41AB-A616-9C8D7129854B}"/>
              </a:ext>
            </a:extLst>
          </p:cNvPr>
          <p:cNvSpPr>
            <a:spLocks noGrp="1"/>
          </p:cNvSpPr>
          <p:nvPr/>
        </p:nvSpPr>
        <p:spPr>
          <a:xfrm>
            <a:off x="3429000" y="2514600"/>
            <a:ext cx="47625" cy="1085850"/>
          </a:xfrm>
          <a:prstGeom prst="rect">
            <a:avLst/>
          </a:prstGeom>
          <a:solidFill>
            <a:srgbClr val="0E8C7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20328B8-EA0A-4C97-A041-3D3060F3C871}"/>
              </a:ext>
            </a:extLst>
          </p:cNvPr>
          <p:cNvSpPr>
            <a:spLocks noGrp="1"/>
          </p:cNvSpPr>
          <p:nvPr/>
        </p:nvSpPr>
        <p:spPr>
          <a:xfrm>
            <a:off x="3638550" y="2657475"/>
            <a:ext cx="200025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250" b="1">
                <a:solidFill>
                  <a:srgbClr val="0B1B3A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0B1B3A"/>
                </a:solidFill>
                <a:latin typeface="Aptos"/>
                <a:ea typeface="Aptos"/>
                <a:cs typeface="Aptos"/>
              </a:rPr>
              <a:t>250-450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285A877-C983-43FD-BEBF-1DB550D18B1B}"/>
              </a:ext>
            </a:extLst>
          </p:cNvPr>
          <p:cNvSpPr>
            <a:spLocks noGrp="1"/>
          </p:cNvSpPr>
          <p:nvPr/>
        </p:nvSpPr>
        <p:spPr>
          <a:xfrm>
            <a:off x="3638550" y="3028950"/>
            <a:ext cx="20002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1">
                <a:solidFill>
                  <a:srgbClr val="1B2430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B2430"/>
                </a:solidFill>
                <a:latin typeface="Aptos"/>
                <a:ea typeface="Aptos"/>
                <a:cs typeface="Aptos"/>
              </a:rPr>
              <a:t>Y3 active customers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1A649CE-9E85-45AE-8238-15C085AAF195}"/>
              </a:ext>
            </a:extLst>
          </p:cNvPr>
          <p:cNvSpPr>
            <a:spLocks noGrp="1"/>
          </p:cNvSpPr>
          <p:nvPr/>
        </p:nvSpPr>
        <p:spPr>
          <a:xfrm>
            <a:off x="3638550" y="3276600"/>
            <a:ext cx="200025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EOY range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0CA0DC0-43C5-4B19-9CDA-D729966D1D47}"/>
              </a:ext>
            </a:extLst>
          </p:cNvPr>
          <p:cNvSpPr>
            <a:spLocks noGrp="1"/>
          </p:cNvSpPr>
          <p:nvPr/>
        </p:nvSpPr>
        <p:spPr>
          <a:xfrm>
            <a:off x="6153150" y="2514600"/>
            <a:ext cx="2419350" cy="1085850"/>
          </a:xfrm>
          <a:prstGeom prst="rect">
            <a:avLst/>
          </a:prstGeom>
          <a:solidFill>
            <a:srgbClr val="FFFFFF"/>
          </a:solidFill>
          <a:ln w="9525">
            <a:solidFill>
              <a:srgbClr val="D8D2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DDEA11F-96DB-4FA7-8CC8-1A76D1A18957}"/>
              </a:ext>
            </a:extLst>
          </p:cNvPr>
          <p:cNvSpPr>
            <a:spLocks noGrp="1"/>
          </p:cNvSpPr>
          <p:nvPr/>
        </p:nvSpPr>
        <p:spPr>
          <a:xfrm>
            <a:off x="6153150" y="2514600"/>
            <a:ext cx="47625" cy="1085850"/>
          </a:xfrm>
          <a:prstGeom prst="rect">
            <a:avLst/>
          </a:prstGeom>
          <a:solidFill>
            <a:srgbClr val="5A4FB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31DDD7D-A9D0-4533-954E-A6759A8B06EB}"/>
              </a:ext>
            </a:extLst>
          </p:cNvPr>
          <p:cNvSpPr>
            <a:spLocks noGrp="1"/>
          </p:cNvSpPr>
          <p:nvPr/>
        </p:nvSpPr>
        <p:spPr>
          <a:xfrm>
            <a:off x="6362700" y="2657475"/>
            <a:ext cx="200025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250" b="1">
                <a:solidFill>
                  <a:srgbClr val="0B1B3A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0B1B3A"/>
                </a:solidFill>
                <a:latin typeface="Aptos"/>
                <a:ea typeface="Aptos"/>
                <a:cs typeface="Aptos"/>
              </a:rPr>
              <a:t>M36-M48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EE95D9F-CECF-4553-B1E6-0D2C27D7BF86}"/>
              </a:ext>
            </a:extLst>
          </p:cNvPr>
          <p:cNvSpPr>
            <a:spLocks noGrp="1"/>
          </p:cNvSpPr>
          <p:nvPr/>
        </p:nvSpPr>
        <p:spPr>
          <a:xfrm>
            <a:off x="6362700" y="3028950"/>
            <a:ext cx="20002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1">
                <a:solidFill>
                  <a:srgbClr val="1B2430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B2430"/>
                </a:solidFill>
                <a:latin typeface="Aptos"/>
                <a:ea typeface="Aptos"/>
                <a:cs typeface="Aptos"/>
              </a:rPr>
              <a:t>break-even target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D5C591F-6634-48B1-85AB-39B506B61133}"/>
              </a:ext>
            </a:extLst>
          </p:cNvPr>
          <p:cNvSpPr>
            <a:spLocks noGrp="1"/>
          </p:cNvSpPr>
          <p:nvPr/>
        </p:nvSpPr>
        <p:spPr>
          <a:xfrm>
            <a:off x="6362700" y="3276600"/>
            <a:ext cx="200025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Q3 2029 to Q1 2030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9F97402-411D-4712-A716-89A1CF72C96B}"/>
              </a:ext>
            </a:extLst>
          </p:cNvPr>
          <p:cNvSpPr>
            <a:spLocks noGrp="1"/>
          </p:cNvSpPr>
          <p:nvPr/>
        </p:nvSpPr>
        <p:spPr>
          <a:xfrm>
            <a:off x="8877300" y="2514600"/>
            <a:ext cx="2419350" cy="1085850"/>
          </a:xfrm>
          <a:prstGeom prst="rect">
            <a:avLst/>
          </a:prstGeom>
          <a:solidFill>
            <a:srgbClr val="FFFFFF"/>
          </a:solidFill>
          <a:ln w="9525">
            <a:solidFill>
              <a:srgbClr val="D8D2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1189E399-6663-4A5C-8ECD-6C13455CB248}"/>
              </a:ext>
            </a:extLst>
          </p:cNvPr>
          <p:cNvSpPr>
            <a:spLocks noGrp="1"/>
          </p:cNvSpPr>
          <p:nvPr/>
        </p:nvSpPr>
        <p:spPr>
          <a:xfrm>
            <a:off x="8877300" y="2514600"/>
            <a:ext cx="47625" cy="1085850"/>
          </a:xfrm>
          <a:prstGeom prst="rect">
            <a:avLst/>
          </a:prstGeom>
          <a:solidFill>
            <a:srgbClr val="C77D1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6DE22802-0306-42EE-926A-7BB776B59D49}"/>
              </a:ext>
            </a:extLst>
          </p:cNvPr>
          <p:cNvSpPr>
            <a:spLocks noGrp="1"/>
          </p:cNvSpPr>
          <p:nvPr/>
        </p:nvSpPr>
        <p:spPr>
          <a:xfrm>
            <a:off x="9086850" y="2657475"/>
            <a:ext cx="200025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250" b="1">
                <a:solidFill>
                  <a:srgbClr val="0B1B3A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0B1B3A"/>
                </a:solidFill>
                <a:latin typeface="Aptos"/>
                <a:ea typeface="Aptos"/>
                <a:cs typeface="Aptos"/>
              </a:rPr>
              <a:t>$1M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29640183-CEF1-44FE-B28B-D0C472AE5608}"/>
              </a:ext>
            </a:extLst>
          </p:cNvPr>
          <p:cNvSpPr>
            <a:spLocks noGrp="1"/>
          </p:cNvSpPr>
          <p:nvPr/>
        </p:nvSpPr>
        <p:spPr>
          <a:xfrm>
            <a:off x="9086850" y="3028950"/>
            <a:ext cx="20002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1">
                <a:solidFill>
                  <a:srgbClr val="1B2430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B2430"/>
                </a:solidFill>
                <a:latin typeface="Aptos"/>
                <a:ea typeface="Aptos"/>
                <a:cs typeface="Aptos"/>
              </a:rPr>
              <a:t>seed ask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83ED7773-2ED2-469E-BD0A-239D4F990F73}"/>
              </a:ext>
            </a:extLst>
          </p:cNvPr>
          <p:cNvSpPr>
            <a:spLocks noGrp="1"/>
          </p:cNvSpPr>
          <p:nvPr/>
        </p:nvSpPr>
        <p:spPr>
          <a:xfrm>
            <a:off x="9086850" y="3276600"/>
            <a:ext cx="200025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MVP, pilots + next-round proof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D3314116-0FF7-4086-8237-75AE3272C2BC}"/>
              </a:ext>
            </a:extLst>
          </p:cNvPr>
          <p:cNvSpPr>
            <a:spLocks noGrp="1"/>
          </p:cNvSpPr>
          <p:nvPr/>
        </p:nvSpPr>
        <p:spPr>
          <a:xfrm>
            <a:off x="704850" y="4171950"/>
            <a:ext cx="5124450" cy="1847850"/>
          </a:xfrm>
          <a:prstGeom prst="rect">
            <a:avLst/>
          </a:prstGeom>
          <a:solidFill>
            <a:srgbClr val="FFFFFF"/>
          </a:solidFill>
          <a:ln w="9525">
            <a:solidFill>
              <a:srgbClr val="D8D2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3AB488C4-099C-457E-BFD5-01C0CCA5FCC0}"/>
              </a:ext>
            </a:extLst>
          </p:cNvPr>
          <p:cNvSpPr>
            <a:spLocks noGrp="1"/>
          </p:cNvSpPr>
          <p:nvPr/>
        </p:nvSpPr>
        <p:spPr>
          <a:xfrm>
            <a:off x="1066800" y="4305300"/>
            <a:ext cx="20955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0B1B3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B1B3A"/>
                </a:solidFill>
                <a:latin typeface="Aptos"/>
                <a:ea typeface="Aptos"/>
                <a:cs typeface="Aptos"/>
              </a:rPr>
              <a:t>Deals processed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C1EB0F0-4FA9-470F-B030-3BE3F9DE9F1E}"/>
              </a:ext>
            </a:extLst>
          </p:cNvPr>
          <p:cNvSpPr>
            <a:spLocks noGrp="1"/>
          </p:cNvSpPr>
          <p:nvPr/>
        </p:nvSpPr>
        <p:spPr>
          <a:xfrm>
            <a:off x="1066800" y="5943600"/>
            <a:ext cx="495300" cy="95250"/>
          </a:xfrm>
          <a:prstGeom prst="rect">
            <a:avLst/>
          </a:prstGeom>
          <a:solidFill>
            <a:srgbClr val="0E8C7F"/>
          </a:solidFill>
          <a:ln w="9525">
            <a:solidFill>
              <a:srgbClr val="0E8C7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461EA15E-DBAE-469C-8817-7E80824CDE7A}"/>
              </a:ext>
            </a:extLst>
          </p:cNvPr>
          <p:cNvSpPr>
            <a:spLocks noGrp="1"/>
          </p:cNvSpPr>
          <p:nvPr/>
        </p:nvSpPr>
        <p:spPr>
          <a:xfrm>
            <a:off x="1047750" y="6172200"/>
            <a:ext cx="5334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00" b="1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B7280"/>
                </a:solidFill>
                <a:latin typeface="Aptos"/>
                <a:ea typeface="Aptos"/>
                <a:cs typeface="Aptos"/>
              </a:rPr>
              <a:t>Y1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65D0CD14-B46E-4946-BBA3-675888BA382A}"/>
              </a:ext>
            </a:extLst>
          </p:cNvPr>
          <p:cNvSpPr>
            <a:spLocks noGrp="1"/>
          </p:cNvSpPr>
          <p:nvPr/>
        </p:nvSpPr>
        <p:spPr>
          <a:xfrm>
            <a:off x="952500" y="5562600"/>
            <a:ext cx="7239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00" b="1">
                <a:solidFill>
                  <a:srgbClr val="0E8C7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E8C7F"/>
                </a:solidFill>
                <a:latin typeface="Aptos"/>
                <a:ea typeface="Aptos"/>
                <a:cs typeface="Aptos"/>
              </a:rPr>
              <a:t>55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8B915DBD-F087-45F8-AD26-A30B1919B81D}"/>
              </a:ext>
            </a:extLst>
          </p:cNvPr>
          <p:cNvSpPr>
            <a:spLocks noGrp="1"/>
          </p:cNvSpPr>
          <p:nvPr/>
        </p:nvSpPr>
        <p:spPr>
          <a:xfrm>
            <a:off x="1885950" y="5705475"/>
            <a:ext cx="495300" cy="333375"/>
          </a:xfrm>
          <a:prstGeom prst="rect">
            <a:avLst/>
          </a:prstGeom>
          <a:solidFill>
            <a:srgbClr val="0E8C7F"/>
          </a:solidFill>
          <a:ln w="9525">
            <a:solidFill>
              <a:srgbClr val="0E8C7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80B7BC36-CA77-4D27-A761-7FB810A306BF}"/>
              </a:ext>
            </a:extLst>
          </p:cNvPr>
          <p:cNvSpPr>
            <a:spLocks noGrp="1"/>
          </p:cNvSpPr>
          <p:nvPr/>
        </p:nvSpPr>
        <p:spPr>
          <a:xfrm>
            <a:off x="1866900" y="6172200"/>
            <a:ext cx="5334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00" b="1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B7280"/>
                </a:solidFill>
                <a:latin typeface="Aptos"/>
                <a:ea typeface="Aptos"/>
                <a:cs typeface="Aptos"/>
              </a:rPr>
              <a:t>Y2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8F49C337-0BF6-4692-B8DF-66439527A05A}"/>
              </a:ext>
            </a:extLst>
          </p:cNvPr>
          <p:cNvSpPr>
            <a:spLocks noGrp="1"/>
          </p:cNvSpPr>
          <p:nvPr/>
        </p:nvSpPr>
        <p:spPr>
          <a:xfrm>
            <a:off x="1771650" y="5562600"/>
            <a:ext cx="7239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00" b="1">
                <a:solidFill>
                  <a:srgbClr val="0E8C7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E8C7F"/>
                </a:solidFill>
                <a:latin typeface="Aptos"/>
                <a:ea typeface="Aptos"/>
                <a:cs typeface="Aptos"/>
              </a:rPr>
              <a:t>400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35469347-2347-4311-8B95-1D5AF85ACDED}"/>
              </a:ext>
            </a:extLst>
          </p:cNvPr>
          <p:cNvSpPr>
            <a:spLocks noGrp="1"/>
          </p:cNvSpPr>
          <p:nvPr/>
        </p:nvSpPr>
        <p:spPr>
          <a:xfrm>
            <a:off x="2705100" y="4705350"/>
            <a:ext cx="495300" cy="1333500"/>
          </a:xfrm>
          <a:prstGeom prst="rect">
            <a:avLst/>
          </a:prstGeom>
          <a:solidFill>
            <a:srgbClr val="0E8C7F"/>
          </a:solidFill>
          <a:ln w="9525">
            <a:solidFill>
              <a:srgbClr val="0E8C7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C56CEFFE-6CC4-4A21-ACB3-638C7C9A3806}"/>
              </a:ext>
            </a:extLst>
          </p:cNvPr>
          <p:cNvSpPr>
            <a:spLocks noGrp="1"/>
          </p:cNvSpPr>
          <p:nvPr/>
        </p:nvSpPr>
        <p:spPr>
          <a:xfrm>
            <a:off x="2686050" y="6172200"/>
            <a:ext cx="5334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00" b="1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B7280"/>
                </a:solidFill>
                <a:latin typeface="Aptos"/>
                <a:ea typeface="Aptos"/>
                <a:cs typeface="Aptos"/>
              </a:rPr>
              <a:t>Y3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A28EFE54-57ED-451A-8BAB-2F1565B6789D}"/>
              </a:ext>
            </a:extLst>
          </p:cNvPr>
          <p:cNvSpPr>
            <a:spLocks noGrp="1"/>
          </p:cNvSpPr>
          <p:nvPr/>
        </p:nvSpPr>
        <p:spPr>
          <a:xfrm>
            <a:off x="2590800" y="4781550"/>
            <a:ext cx="7239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1600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E51E3DF9-7E76-4BA0-B641-9C8285A0E5DC}"/>
              </a:ext>
            </a:extLst>
          </p:cNvPr>
          <p:cNvSpPr>
            <a:spLocks noGrp="1"/>
          </p:cNvSpPr>
          <p:nvPr/>
        </p:nvSpPr>
        <p:spPr>
          <a:xfrm>
            <a:off x="3543300" y="4305300"/>
            <a:ext cx="20955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0B1B3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B1B3A"/>
                </a:solidFill>
                <a:latin typeface="Aptos"/>
                <a:ea typeface="Aptos"/>
                <a:cs typeface="Aptos"/>
              </a:rPr>
              <a:t>Revenue high case ($K)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72E2E9F5-9EB1-4F4C-BC1A-94A30661DB7D}"/>
              </a:ext>
            </a:extLst>
          </p:cNvPr>
          <p:cNvSpPr>
            <a:spLocks noGrp="1"/>
          </p:cNvSpPr>
          <p:nvPr/>
        </p:nvSpPr>
        <p:spPr>
          <a:xfrm>
            <a:off x="3543300" y="5943600"/>
            <a:ext cx="495300" cy="95250"/>
          </a:xfrm>
          <a:prstGeom prst="rect">
            <a:avLst/>
          </a:prstGeom>
          <a:solidFill>
            <a:srgbClr val="2C7A33"/>
          </a:solidFill>
          <a:ln w="9525">
            <a:solidFill>
              <a:srgbClr val="2C7A3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3324EB80-AF0E-4065-A7A6-60938C1C105F}"/>
              </a:ext>
            </a:extLst>
          </p:cNvPr>
          <p:cNvSpPr>
            <a:spLocks noGrp="1"/>
          </p:cNvSpPr>
          <p:nvPr/>
        </p:nvSpPr>
        <p:spPr>
          <a:xfrm>
            <a:off x="3524250" y="6172200"/>
            <a:ext cx="5334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00" b="1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B7280"/>
                </a:solidFill>
                <a:latin typeface="Aptos"/>
                <a:ea typeface="Aptos"/>
                <a:cs typeface="Aptos"/>
              </a:rPr>
              <a:t>Y1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1AEAC009-49DD-4817-9B33-BCA31DABFA9B}"/>
              </a:ext>
            </a:extLst>
          </p:cNvPr>
          <p:cNvSpPr>
            <a:spLocks noGrp="1"/>
          </p:cNvSpPr>
          <p:nvPr/>
        </p:nvSpPr>
        <p:spPr>
          <a:xfrm>
            <a:off x="3429000" y="5562600"/>
            <a:ext cx="7239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00" b="1">
                <a:solidFill>
                  <a:srgbClr val="2C7A33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C7A33"/>
                </a:solidFill>
                <a:latin typeface="Aptos"/>
                <a:ea typeface="Aptos"/>
                <a:cs typeface="Aptos"/>
              </a:rPr>
              <a:t>35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0EE42DA8-7576-4983-89AA-2F317E19515C}"/>
              </a:ext>
            </a:extLst>
          </p:cNvPr>
          <p:cNvSpPr>
            <a:spLocks noGrp="1"/>
          </p:cNvSpPr>
          <p:nvPr/>
        </p:nvSpPr>
        <p:spPr>
          <a:xfrm>
            <a:off x="4362450" y="5776191"/>
            <a:ext cx="495300" cy="262659"/>
          </a:xfrm>
          <a:prstGeom prst="rect">
            <a:avLst/>
          </a:prstGeom>
          <a:solidFill>
            <a:srgbClr val="2C7A33"/>
          </a:solidFill>
          <a:ln w="9525">
            <a:solidFill>
              <a:srgbClr val="2C7A3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55BF1A42-AA5A-47A9-855E-94171A56C33D}"/>
              </a:ext>
            </a:extLst>
          </p:cNvPr>
          <p:cNvSpPr>
            <a:spLocks noGrp="1"/>
          </p:cNvSpPr>
          <p:nvPr/>
        </p:nvSpPr>
        <p:spPr>
          <a:xfrm>
            <a:off x="4343400" y="6172200"/>
            <a:ext cx="5334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00" b="1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B7280"/>
                </a:solidFill>
                <a:latin typeface="Aptos"/>
                <a:ea typeface="Aptos"/>
                <a:cs typeface="Aptos"/>
              </a:rPr>
              <a:t>Y2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94015E4C-69F2-4712-844B-D00D02258196}"/>
              </a:ext>
            </a:extLst>
          </p:cNvPr>
          <p:cNvSpPr>
            <a:spLocks noGrp="1"/>
          </p:cNvSpPr>
          <p:nvPr/>
        </p:nvSpPr>
        <p:spPr>
          <a:xfrm>
            <a:off x="4248150" y="5562600"/>
            <a:ext cx="7239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00" b="1">
                <a:solidFill>
                  <a:srgbClr val="2C7A33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C7A33"/>
                </a:solidFill>
                <a:latin typeface="Aptos"/>
                <a:ea typeface="Aptos"/>
                <a:cs typeface="Aptos"/>
              </a:rPr>
              <a:t>195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C203732D-BBBF-44FE-AD2A-54C4CD179C12}"/>
              </a:ext>
            </a:extLst>
          </p:cNvPr>
          <p:cNvSpPr>
            <a:spLocks noGrp="1"/>
          </p:cNvSpPr>
          <p:nvPr/>
        </p:nvSpPr>
        <p:spPr>
          <a:xfrm>
            <a:off x="5181600" y="4705350"/>
            <a:ext cx="495300" cy="1333500"/>
          </a:xfrm>
          <a:prstGeom prst="rect">
            <a:avLst/>
          </a:prstGeom>
          <a:solidFill>
            <a:srgbClr val="2C7A33"/>
          </a:solidFill>
          <a:ln w="9525">
            <a:solidFill>
              <a:srgbClr val="2C7A3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4FF71A96-F9B3-4BE2-A46B-A12E8150DA15}"/>
              </a:ext>
            </a:extLst>
          </p:cNvPr>
          <p:cNvSpPr>
            <a:spLocks noGrp="1"/>
          </p:cNvSpPr>
          <p:nvPr/>
        </p:nvSpPr>
        <p:spPr>
          <a:xfrm>
            <a:off x="5162550" y="6172200"/>
            <a:ext cx="5334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00" b="1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B7280"/>
                </a:solidFill>
                <a:latin typeface="Aptos"/>
                <a:ea typeface="Aptos"/>
                <a:cs typeface="Aptos"/>
              </a:rPr>
              <a:t>Y3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9DFE55B4-FD0A-4466-8D59-E943F38126CB}"/>
              </a:ext>
            </a:extLst>
          </p:cNvPr>
          <p:cNvSpPr>
            <a:spLocks noGrp="1"/>
          </p:cNvSpPr>
          <p:nvPr/>
        </p:nvSpPr>
        <p:spPr>
          <a:xfrm>
            <a:off x="5067300" y="4781550"/>
            <a:ext cx="7239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990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9C0E21F1-10F1-4A3B-AB49-2DD719481B69}"/>
              </a:ext>
            </a:extLst>
          </p:cNvPr>
          <p:cNvSpPr>
            <a:spLocks noGrp="1"/>
          </p:cNvSpPr>
          <p:nvPr/>
        </p:nvSpPr>
        <p:spPr>
          <a:xfrm>
            <a:off x="6286500" y="4171950"/>
            <a:ext cx="5010150" cy="1847850"/>
          </a:xfrm>
          <a:prstGeom prst="rect">
            <a:avLst/>
          </a:prstGeom>
          <a:solidFill>
            <a:srgbClr val="FFFFFF"/>
          </a:solidFill>
          <a:ln w="9525">
            <a:solidFill>
              <a:srgbClr val="D8D2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AF4A9A09-95E8-4A0B-80FA-3C61CE42D946}"/>
              </a:ext>
            </a:extLst>
          </p:cNvPr>
          <p:cNvSpPr>
            <a:spLocks noGrp="1"/>
          </p:cNvSpPr>
          <p:nvPr/>
        </p:nvSpPr>
        <p:spPr>
          <a:xfrm>
            <a:off x="6629400" y="4438650"/>
            <a:ext cx="2476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75" b="1">
                <a:solidFill>
                  <a:srgbClr val="0B1B3A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0B1B3A"/>
                </a:solidFill>
                <a:latin typeface="Aptos"/>
                <a:ea typeface="Aptos"/>
                <a:cs typeface="Aptos"/>
              </a:rPr>
              <a:t>Key assumptions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98CE4508-53A4-4576-AAE0-80566056D3D5}"/>
              </a:ext>
            </a:extLst>
          </p:cNvPr>
          <p:cNvSpPr>
            <a:spLocks noGrp="1"/>
          </p:cNvSpPr>
          <p:nvPr/>
        </p:nvSpPr>
        <p:spPr>
          <a:xfrm>
            <a:off x="6629400" y="4800600"/>
            <a:ext cx="3905250" cy="933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1B243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B2430"/>
                </a:solidFill>
                <a:latin typeface="Aptos"/>
                <a:ea typeface="Aptos"/>
                <a:cs typeface="Aptos"/>
              </a:rPr>
              <a:t>- 0.7% blended settlement-fee take rate</a:t>
            </a:r>
          </a:p>
          <a:p>
            <a:pPr algn="l">
              <a:defRPr sz="1125" b="0">
                <a:solidFill>
                  <a:srgbClr val="1B243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B2430"/>
                </a:solidFill>
                <a:latin typeface="Aptos"/>
                <a:ea typeface="Aptos"/>
                <a:cs typeface="Aptos"/>
              </a:rPr>
              <a:t>- Avg ticket grows from $25K to $50K</a:t>
            </a:r>
          </a:p>
          <a:p>
            <a:pPr algn="l">
              <a:defRPr sz="1125" b="0">
                <a:solidFill>
                  <a:srgbClr val="1B243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B2430"/>
                </a:solidFill>
                <a:latin typeface="Aptos"/>
                <a:ea typeface="Aptos"/>
                <a:cs typeface="Aptos"/>
              </a:rPr>
              <a:t>- Tier A eBL mix rises from 30% to 60%</a:t>
            </a:r>
          </a:p>
          <a:p>
            <a:pPr algn="l">
              <a:defRPr sz="1125" b="0">
                <a:solidFill>
                  <a:srgbClr val="1B243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B2430"/>
                </a:solidFill>
                <a:latin typeface="Aptos"/>
                <a:ea typeface="Aptos"/>
                <a:cs typeface="Aptos"/>
              </a:rPr>
              <a:t>- Headcount grows from 6 founders to 12</a:t>
            </a:r>
          </a:p>
          <a:p>
            <a:pPr algn="l">
              <a:defRPr sz="1125" b="0">
                <a:solidFill>
                  <a:srgbClr val="1B243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B2430"/>
                </a:solidFill>
                <a:latin typeface="Aptos"/>
                <a:ea typeface="Aptos"/>
                <a:cs typeface="Aptos"/>
              </a:rPr>
              <a:t>- Yield share is upside, not core dependency</a:t>
            </a: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221981F6-EEE9-4E84-A577-4C54199027D5}"/>
              </a:ext>
            </a:extLst>
          </p:cNvPr>
          <p:cNvSpPr>
            <a:spLocks noGrp="1"/>
          </p:cNvSpPr>
          <p:nvPr/>
        </p:nvSpPr>
        <p:spPr>
          <a:xfrm>
            <a:off x="11106150" y="6438900"/>
            <a:ext cx="5524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900" b="1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B7280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69728419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33095" y="437997"/>
            <a:ext cx="75895" cy="75895"/>
          </a:xfrm>
          <a:prstGeom prst="rect">
            <a:avLst/>
          </a:prstGeom>
          <a:solidFill>
            <a:srgbClr val="0B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24204" y="362102"/>
            <a:ext cx="68580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 spc="140">
                <a:solidFill>
                  <a:srgbClr val="6B7280"/>
                </a:solidFill>
                <a:latin typeface="Aptos"/>
              </a:rPr>
              <a:t>TEAM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095" y="722376"/>
            <a:ext cx="10789920" cy="8778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000" b="0">
                <a:solidFill>
                  <a:srgbClr val="0B1B3A"/>
                </a:solidFill>
                <a:latin typeface="Aptos Display"/>
              </a:rPr>
              <a:t>Six co-founders, six mandates, one rail to build.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06302" y="6439204"/>
            <a:ext cx="552297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Aptos"/>
              </a:rP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0702" y="1481328"/>
            <a:ext cx="1060704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0">
                <a:solidFill>
                  <a:srgbClr val="1B2430"/>
                </a:solidFill>
                <a:latin typeface="Aptos"/>
              </a:rPr>
              <a:t>A complete founding team across product, risk, finance, operations, compliance, and revenue — the functions a regulated settlement venture has to own from day one.</a:t>
            </a:r>
          </a:p>
        </p:txBody>
      </p:sp>
      <p:sp>
        <p:nvSpPr>
          <p:cNvPr id="8" name="Rectangle 7"/>
          <p:cNvSpPr/>
          <p:nvPr/>
        </p:nvSpPr>
        <p:spPr>
          <a:xfrm>
            <a:off x="590702" y="2286000"/>
            <a:ext cx="3465576" cy="1417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90702" y="2286000"/>
            <a:ext cx="54864" cy="1417320"/>
          </a:xfrm>
          <a:prstGeom prst="rect">
            <a:avLst/>
          </a:prstGeom>
          <a:solidFill>
            <a:srgbClr val="0E8C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791870" y="2487168"/>
            <a:ext cx="868680" cy="365760"/>
          </a:xfrm>
          <a:prstGeom prst="rect">
            <a:avLst/>
          </a:prstGeom>
          <a:solidFill>
            <a:srgbClr val="0E8C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91870" y="2532888"/>
            <a:ext cx="8686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CEO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97710" y="2523744"/>
            <a:ext cx="2093976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50" b="1">
                <a:solidFill>
                  <a:srgbClr val="0B1B3A"/>
                </a:solidFill>
                <a:latin typeface="Aptos"/>
              </a:rPr>
              <a:t>Chief Executive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1870" y="2962656"/>
            <a:ext cx="306324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0">
                <a:solidFill>
                  <a:srgbClr val="6B7280"/>
                </a:solidFill>
                <a:latin typeface="Aptos"/>
              </a:rPr>
              <a:t>Vision, fundraising, corridor BD and investor relationships.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20870" y="2286000"/>
            <a:ext cx="3465576" cy="1417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220870" y="2286000"/>
            <a:ext cx="54864" cy="1417320"/>
          </a:xfrm>
          <a:prstGeom prst="rect">
            <a:avLst/>
          </a:prstGeom>
          <a:solidFill>
            <a:srgbClr val="5A4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422038" y="2487168"/>
            <a:ext cx="868680" cy="365760"/>
          </a:xfrm>
          <a:prstGeom prst="rect">
            <a:avLst/>
          </a:prstGeom>
          <a:solidFill>
            <a:srgbClr val="5A4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422038" y="2532888"/>
            <a:ext cx="8686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CTO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27878" y="2523744"/>
            <a:ext cx="2093976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50" b="1">
                <a:solidFill>
                  <a:srgbClr val="0B1B3A"/>
                </a:solidFill>
                <a:latin typeface="Aptos"/>
              </a:rPr>
              <a:t>Chief Technology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22038" y="2962656"/>
            <a:ext cx="306324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0">
                <a:solidFill>
                  <a:srgbClr val="6B7280"/>
                </a:solidFill>
                <a:latin typeface="Aptos"/>
              </a:rPr>
              <a:t>Smart-contract escrow, verification stack, settlement architecture.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851038" y="2286000"/>
            <a:ext cx="3465576" cy="1417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7851038" y="2286000"/>
            <a:ext cx="54864" cy="141732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8052206" y="2487168"/>
            <a:ext cx="868680" cy="36576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052206" y="2532888"/>
            <a:ext cx="8686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CFO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58046" y="2523744"/>
            <a:ext cx="2093976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50" b="1">
                <a:solidFill>
                  <a:srgbClr val="0B1B3A"/>
                </a:solidFill>
                <a:latin typeface="Aptos"/>
              </a:rPr>
              <a:t>Chief Financial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52206" y="2962656"/>
            <a:ext cx="306324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0">
                <a:solidFill>
                  <a:srgbClr val="6B7280"/>
                </a:solidFill>
                <a:latin typeface="Aptos"/>
              </a:rPr>
              <a:t>Unit economics, treasury, USDC flows, financial model.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90702" y="3867912"/>
            <a:ext cx="3465576" cy="1417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590702" y="3867912"/>
            <a:ext cx="54864" cy="1417320"/>
          </a:xfrm>
          <a:prstGeom prst="rect">
            <a:avLst/>
          </a:prstGeom>
          <a:solidFill>
            <a:srgbClr val="C77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791870" y="4069080"/>
            <a:ext cx="868680" cy="365760"/>
          </a:xfrm>
          <a:prstGeom prst="rect">
            <a:avLst/>
          </a:prstGeom>
          <a:solidFill>
            <a:srgbClr val="C77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791870" y="4114800"/>
            <a:ext cx="8686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COO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797710" y="4105656"/>
            <a:ext cx="2093976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50" b="1">
                <a:solidFill>
                  <a:srgbClr val="0B1B3A"/>
                </a:solidFill>
                <a:latin typeface="Aptos"/>
              </a:rPr>
              <a:t>Chief Operating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91870" y="4544568"/>
            <a:ext cx="306324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0">
                <a:solidFill>
                  <a:srgbClr val="6B7280"/>
                </a:solidFill>
                <a:latin typeface="Aptos"/>
              </a:rPr>
              <a:t>Examiner operations, document review process, partner onboarding.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220870" y="3867912"/>
            <a:ext cx="3465576" cy="1417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4220870" y="3867912"/>
            <a:ext cx="54864" cy="1417320"/>
          </a:xfrm>
          <a:prstGeom prst="rect">
            <a:avLst/>
          </a:prstGeom>
          <a:solidFill>
            <a:srgbClr val="2C7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4422038" y="4069080"/>
            <a:ext cx="868680" cy="365760"/>
          </a:xfrm>
          <a:prstGeom prst="rect">
            <a:avLst/>
          </a:prstGeom>
          <a:solidFill>
            <a:srgbClr val="2C7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4422038" y="4114800"/>
            <a:ext cx="8686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CCO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27878" y="4105656"/>
            <a:ext cx="2093976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50" b="1">
                <a:solidFill>
                  <a:srgbClr val="0B1B3A"/>
                </a:solidFill>
                <a:latin typeface="Aptos"/>
              </a:rPr>
              <a:t>Chief Compliance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422038" y="4544568"/>
            <a:ext cx="306324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0">
                <a:solidFill>
                  <a:srgbClr val="6B7280"/>
                </a:solidFill>
                <a:latin typeface="Aptos"/>
              </a:rPr>
              <a:t>KYB/KYC, sanctions screening, Gulf regulatory fit.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851038" y="3867912"/>
            <a:ext cx="3465576" cy="1417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7851038" y="3867912"/>
            <a:ext cx="54864" cy="1417320"/>
          </a:xfrm>
          <a:prstGeom prst="rect">
            <a:avLst/>
          </a:prstGeom>
          <a:solidFill>
            <a:srgbClr val="B03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8052206" y="4069080"/>
            <a:ext cx="868680" cy="365760"/>
          </a:xfrm>
          <a:prstGeom prst="rect">
            <a:avLst/>
          </a:prstGeom>
          <a:solidFill>
            <a:srgbClr val="B03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8052206" y="4114800"/>
            <a:ext cx="8686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CRO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058046" y="4105656"/>
            <a:ext cx="2093976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50" b="1">
                <a:solidFill>
                  <a:srgbClr val="0B1B3A"/>
                </a:solidFill>
                <a:latin typeface="Aptos"/>
              </a:rPr>
              <a:t>Chief Revenue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052206" y="4544568"/>
            <a:ext cx="306324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0">
                <a:solidFill>
                  <a:srgbClr val="6B7280"/>
                </a:solidFill>
                <a:latin typeface="Aptos"/>
              </a:rPr>
              <a:t>Forwarder channels, pricing, repeat-deal growth motion.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90702" y="5943600"/>
            <a:ext cx="105156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75" b="0">
                <a:solidFill>
                  <a:srgbClr val="6B7280"/>
                </a:solidFill>
                <a:latin typeface="Aptos"/>
              </a:rPr>
              <a:t>Founder names and bios are placeholders in the source deck — fill in before the live pitch.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33095" y="437997"/>
            <a:ext cx="75895" cy="75895"/>
          </a:xfrm>
          <a:prstGeom prst="rect">
            <a:avLst/>
          </a:prstGeom>
          <a:solidFill>
            <a:srgbClr val="0B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24204" y="362102"/>
            <a:ext cx="68580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 spc="140">
                <a:solidFill>
                  <a:srgbClr val="6B7280"/>
                </a:solidFill>
                <a:latin typeface="Aptos"/>
              </a:rPr>
              <a:t>USE OF FUNDS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095" y="722376"/>
            <a:ext cx="10789920" cy="8778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000" b="0">
                <a:solidFill>
                  <a:srgbClr val="0B1B3A"/>
                </a:solidFill>
                <a:latin typeface="Aptos Display"/>
              </a:rPr>
              <a:t>Where the $1M goes: build first, then prove the corridor.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06302" y="6439204"/>
            <a:ext cx="552297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Aptos"/>
              </a:rP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0702" y="1481328"/>
            <a:ext cx="1060704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0">
                <a:solidFill>
                  <a:srgbClr val="1B2430"/>
                </a:solidFill>
                <a:latin typeface="Aptos"/>
              </a:rPr>
              <a:t>The raise is weighted to engineering and compliance — the two things that turn documentary escrow from a demo into something investors can underwrite.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0702" y="2523744"/>
            <a:ext cx="329184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50" b="0">
                <a:solidFill>
                  <a:srgbClr val="0B1B3A"/>
                </a:solidFill>
                <a:latin typeface="Aptos"/>
              </a:rPr>
              <a:t>Engineering &amp; product</a:t>
            </a:r>
          </a:p>
        </p:txBody>
      </p:sp>
      <p:sp>
        <p:nvSpPr>
          <p:cNvPr id="9" name="Rectangle 8"/>
          <p:cNvSpPr/>
          <p:nvPr/>
        </p:nvSpPr>
        <p:spPr>
          <a:xfrm>
            <a:off x="4023360" y="2542032"/>
            <a:ext cx="6035040" cy="292608"/>
          </a:xfrm>
          <a:prstGeom prst="rect">
            <a:avLst/>
          </a:prstGeom>
          <a:solidFill>
            <a:srgbClr val="EAE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023360" y="2542032"/>
            <a:ext cx="6035040" cy="292608"/>
          </a:xfrm>
          <a:prstGeom prst="rect">
            <a:avLst/>
          </a:prstGeom>
          <a:solidFill>
            <a:srgbClr val="0E8C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241280" y="2487168"/>
            <a:ext cx="128016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50" b="1">
                <a:solidFill>
                  <a:srgbClr val="0B1B3A"/>
                </a:solidFill>
                <a:latin typeface="Aptos"/>
              </a:rPr>
              <a:t>40%   $400K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0702" y="3090672"/>
            <a:ext cx="329184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50" b="0">
                <a:solidFill>
                  <a:srgbClr val="0B1B3A"/>
                </a:solidFill>
                <a:latin typeface="Aptos"/>
              </a:rPr>
              <a:t>Operations, people &amp; G&amp;A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023360" y="3108960"/>
            <a:ext cx="6035040" cy="292608"/>
          </a:xfrm>
          <a:prstGeom prst="rect">
            <a:avLst/>
          </a:prstGeom>
          <a:solidFill>
            <a:srgbClr val="EAE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023360" y="3108960"/>
            <a:ext cx="3319272" cy="29260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241280" y="3054096"/>
            <a:ext cx="128016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50" b="1">
                <a:solidFill>
                  <a:srgbClr val="0B1B3A"/>
                </a:solidFill>
                <a:latin typeface="Aptos"/>
              </a:rPr>
              <a:t>22%   $220K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0702" y="3657600"/>
            <a:ext cx="329184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50" b="0">
                <a:solidFill>
                  <a:srgbClr val="0B1B3A"/>
                </a:solidFill>
                <a:latin typeface="Aptos"/>
              </a:rPr>
              <a:t>Compliance, legal &amp; regulatory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023360" y="3675888"/>
            <a:ext cx="6035040" cy="292608"/>
          </a:xfrm>
          <a:prstGeom prst="rect">
            <a:avLst/>
          </a:prstGeom>
          <a:solidFill>
            <a:srgbClr val="EAE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4023360" y="3675888"/>
            <a:ext cx="2715768" cy="292608"/>
          </a:xfrm>
          <a:prstGeom prst="rect">
            <a:avLst/>
          </a:prstGeom>
          <a:solidFill>
            <a:srgbClr val="5A4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241280" y="3621024"/>
            <a:ext cx="128016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50" b="1">
                <a:solidFill>
                  <a:srgbClr val="0B1B3A"/>
                </a:solidFill>
                <a:latin typeface="Aptos"/>
              </a:rPr>
              <a:t>18%   $180K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0702" y="4224528"/>
            <a:ext cx="329184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50" b="0">
                <a:solidFill>
                  <a:srgbClr val="0B1B3A"/>
                </a:solidFill>
                <a:latin typeface="Aptos"/>
              </a:rPr>
              <a:t>GTM &amp; acquisition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023360" y="4242816"/>
            <a:ext cx="6035040" cy="292608"/>
          </a:xfrm>
          <a:prstGeom prst="rect">
            <a:avLst/>
          </a:prstGeom>
          <a:solidFill>
            <a:srgbClr val="EAE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4023360" y="4242816"/>
            <a:ext cx="2263139" cy="292608"/>
          </a:xfrm>
          <a:prstGeom prst="rect">
            <a:avLst/>
          </a:prstGeom>
          <a:solidFill>
            <a:srgbClr val="C77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0241280" y="4187952"/>
            <a:ext cx="128016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50" b="1">
                <a:solidFill>
                  <a:srgbClr val="0B1B3A"/>
                </a:solidFill>
                <a:latin typeface="Aptos"/>
              </a:rPr>
              <a:t>15%   $150K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0702" y="4791456"/>
            <a:ext cx="329184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50" b="0">
                <a:solidFill>
                  <a:srgbClr val="0B1B3A"/>
                </a:solidFill>
                <a:latin typeface="Aptos"/>
              </a:rPr>
              <a:t>Working capital + contingency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023360" y="4809744"/>
            <a:ext cx="6035040" cy="292608"/>
          </a:xfrm>
          <a:prstGeom prst="rect">
            <a:avLst/>
          </a:prstGeom>
          <a:solidFill>
            <a:srgbClr val="EAE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4023360" y="4809744"/>
            <a:ext cx="754380" cy="292608"/>
          </a:xfrm>
          <a:prstGeom prst="rect">
            <a:avLst/>
          </a:prstGeom>
          <a:solidFill>
            <a:srgbClr val="2C7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10241280" y="4754880"/>
            <a:ext cx="128016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50" b="1">
                <a:solidFill>
                  <a:srgbClr val="0B1B3A"/>
                </a:solidFill>
                <a:latin typeface="Aptos"/>
              </a:rPr>
              <a:t>5%   $50K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90702" y="5394960"/>
            <a:ext cx="10707624" cy="640080"/>
          </a:xfrm>
          <a:prstGeom prst="rect">
            <a:avLst/>
          </a:prstGeom>
          <a:solidFill>
            <a:srgbClr val="1028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68680" y="5559552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50" b="0">
                <a:solidFill>
                  <a:srgbClr val="BFEAE5"/>
                </a:solidFill>
                <a:latin typeface="Aptos"/>
              </a:rPr>
              <a:t>Total seed raise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0" y="5504688"/>
            <a:ext cx="274320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2200" b="0">
                <a:solidFill>
                  <a:srgbClr val="FFFFFF"/>
                </a:solidFill>
                <a:latin typeface="Aptos Display"/>
              </a:rPr>
              <a:t>$1.0M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0702" y="5943600"/>
            <a:ext cx="105156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75" b="0">
                <a:solidFill>
                  <a:srgbClr val="6B7280"/>
                </a:solidFill>
                <a:latin typeface="Aptos"/>
              </a:rPr>
              <a:t>Allocation is indicative for an 18-month runway to MVP, pilots, and seed-plus proof.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33095" y="437997"/>
            <a:ext cx="75895" cy="75895"/>
          </a:xfrm>
          <a:prstGeom prst="rect">
            <a:avLst/>
          </a:prstGeom>
          <a:solidFill>
            <a:srgbClr val="0E8C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24204" y="362102"/>
            <a:ext cx="68580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 spc="140">
                <a:solidFill>
                  <a:srgbClr val="BFEAE5"/>
                </a:solidFill>
                <a:latin typeface="Aptos"/>
              </a:rPr>
              <a:t>ASK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095" y="722376"/>
            <a:ext cx="10789920" cy="8778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000" b="0">
                <a:solidFill>
                  <a:srgbClr val="FFFFFF"/>
                </a:solidFill>
                <a:latin typeface="Aptos Display"/>
              </a:rPr>
              <a:t>$1M seed to prove the documentary credit rail for Gulf SMEs.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06302" y="6439204"/>
            <a:ext cx="552297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Aptos"/>
              </a:rP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0702" y="1810512"/>
            <a:ext cx="86868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50" b="0">
                <a:solidFill>
                  <a:srgbClr val="BFEAE5"/>
                </a:solidFill>
                <a:latin typeface="Aptos"/>
              </a:rPr>
              <a:t>$1M seed round   |   ~$10M post-money   |   10% equity offered</a:t>
            </a:r>
          </a:p>
        </p:txBody>
      </p:sp>
      <p:sp>
        <p:nvSpPr>
          <p:cNvPr id="8" name="Rectangle 7"/>
          <p:cNvSpPr/>
          <p:nvPr/>
        </p:nvSpPr>
        <p:spPr>
          <a:xfrm>
            <a:off x="590702" y="2606040"/>
            <a:ext cx="3465576" cy="1783080"/>
          </a:xfrm>
          <a:prstGeom prst="rect">
            <a:avLst/>
          </a:prstGeom>
          <a:solidFill>
            <a:srgbClr val="1028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90702" y="2606040"/>
            <a:ext cx="45720" cy="1783080"/>
          </a:xfrm>
          <a:prstGeom prst="rect">
            <a:avLst/>
          </a:prstGeom>
          <a:solidFill>
            <a:srgbClr val="0E8C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46734" y="2852928"/>
            <a:ext cx="3008376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400" b="0">
                <a:solidFill>
                  <a:srgbClr val="FFFFFF"/>
                </a:solidFill>
                <a:latin typeface="Aptos Display"/>
              </a:rPr>
              <a:t>$1M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6734" y="3611880"/>
            <a:ext cx="3008376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0">
                <a:solidFill>
                  <a:srgbClr val="BFEAE5"/>
                </a:solidFill>
                <a:latin typeface="Aptos"/>
              </a:rPr>
              <a:t>seed round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6734" y="3931920"/>
            <a:ext cx="3008376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>
                <a:solidFill>
                  <a:srgbClr val="90A2B8"/>
                </a:solidFill>
                <a:latin typeface="Aptos"/>
              </a:rPr>
              <a:t>primary raise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20870" y="2606040"/>
            <a:ext cx="3465576" cy="1783080"/>
          </a:xfrm>
          <a:prstGeom prst="rect">
            <a:avLst/>
          </a:prstGeom>
          <a:solidFill>
            <a:srgbClr val="1028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220870" y="2606040"/>
            <a:ext cx="45720" cy="178308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476902" y="2852928"/>
            <a:ext cx="3008376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400" b="0">
                <a:solidFill>
                  <a:srgbClr val="FFFFFF"/>
                </a:solidFill>
                <a:latin typeface="Aptos Display"/>
              </a:rPr>
              <a:t>~$10M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76902" y="3611880"/>
            <a:ext cx="3008376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0">
                <a:solidFill>
                  <a:srgbClr val="BFEAE5"/>
                </a:solidFill>
                <a:latin typeface="Aptos"/>
              </a:rPr>
              <a:t>post-money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76902" y="3931920"/>
            <a:ext cx="3008376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>
                <a:solidFill>
                  <a:srgbClr val="90A2B8"/>
                </a:solidFill>
                <a:latin typeface="Aptos"/>
              </a:rPr>
              <a:t>valuation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851038" y="2606040"/>
            <a:ext cx="3465576" cy="1783080"/>
          </a:xfrm>
          <a:prstGeom prst="rect">
            <a:avLst/>
          </a:prstGeom>
          <a:solidFill>
            <a:srgbClr val="1028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7851038" y="2606040"/>
            <a:ext cx="45720" cy="1783080"/>
          </a:xfrm>
          <a:prstGeom prst="rect">
            <a:avLst/>
          </a:prstGeom>
          <a:solidFill>
            <a:srgbClr val="C77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107070" y="2852928"/>
            <a:ext cx="3008376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400" b="0">
                <a:solidFill>
                  <a:srgbClr val="FFFFFF"/>
                </a:solidFill>
                <a:latin typeface="Aptos Display"/>
              </a:rPr>
              <a:t>10%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07070" y="3611880"/>
            <a:ext cx="3008376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0">
                <a:solidFill>
                  <a:srgbClr val="BFEAE5"/>
                </a:solidFill>
                <a:latin typeface="Aptos"/>
              </a:rPr>
              <a:t>equity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07070" y="3931920"/>
            <a:ext cx="3008376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>
                <a:solidFill>
                  <a:srgbClr val="90A2B8"/>
                </a:solidFill>
                <a:latin typeface="Aptos"/>
              </a:rPr>
              <a:t>offered to investors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90702" y="4800600"/>
            <a:ext cx="10707624" cy="914400"/>
          </a:xfrm>
          <a:prstGeom prst="rect">
            <a:avLst/>
          </a:prstGeom>
          <a:solidFill>
            <a:srgbClr val="1028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68680" y="4983480"/>
            <a:ext cx="101498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50" b="0">
                <a:solidFill>
                  <a:srgbClr val="BFEAE5"/>
                </a:solidFill>
                <a:latin typeface="Aptos"/>
              </a:rPr>
              <a:t>What the raise buys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" y="5285232"/>
            <a:ext cx="101498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0">
                <a:solidFill>
                  <a:srgbClr val="D6E1EF"/>
                </a:solidFill>
                <a:latin typeface="Aptos"/>
              </a:rPr>
              <a:t>A demoed MVP, first corridor pilots, compliance scaffolding, and the traction proof needed to open a priced seed-plus round.</a:t>
            </a:r>
          </a:p>
        </p:txBody>
      </p:sp>
    </p:spTree>
    <p:extLst>
      <p:ext uri="{BB962C8B-B14F-4D97-AF65-F5344CB8AC3E}">
        <p14:creationId xmlns:p14="http://schemas.microsoft.com/office/powerpoint/2010/main" val="98097032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33095" y="437997"/>
            <a:ext cx="75895" cy="75895"/>
          </a:xfrm>
          <a:prstGeom prst="rect">
            <a:avLst/>
          </a:prstGeom>
          <a:solidFill>
            <a:srgbClr val="0E8C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24204" y="362102"/>
            <a:ext cx="68580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 spc="140">
                <a:solidFill>
                  <a:srgbClr val="BFEAE5"/>
                </a:solidFill>
                <a:latin typeface="Aptos"/>
              </a:rPr>
              <a:t>CONTACT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095" y="722376"/>
            <a:ext cx="10789920" cy="8778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000" b="0">
                <a:solidFill>
                  <a:srgbClr val="FFFFFF"/>
                </a:solidFill>
                <a:latin typeface="Aptos Display"/>
              </a:rPr>
              <a:t>Let's build the documentary credit rail for SME trade.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06302" y="6439204"/>
            <a:ext cx="552297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Aptos"/>
              </a:rP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0702" y="1810512"/>
            <a:ext cx="96012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50" b="0">
                <a:solidFill>
                  <a:srgbClr val="BFEAE5"/>
                </a:solidFill>
                <a:latin typeface="Aptos"/>
              </a:rPr>
              <a:t>We're raising a $1M seed and looking for investors and pilot partners in Gulf SME trade.</a:t>
            </a:r>
          </a:p>
        </p:txBody>
      </p:sp>
      <p:sp>
        <p:nvSpPr>
          <p:cNvPr id="8" name="Rectangle 7"/>
          <p:cNvSpPr/>
          <p:nvPr/>
        </p:nvSpPr>
        <p:spPr>
          <a:xfrm>
            <a:off x="590702" y="2743200"/>
            <a:ext cx="3465576" cy="1463040"/>
          </a:xfrm>
          <a:prstGeom prst="rect">
            <a:avLst/>
          </a:prstGeom>
          <a:solidFill>
            <a:srgbClr val="1028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90702" y="2743200"/>
            <a:ext cx="45720" cy="1463040"/>
          </a:xfrm>
          <a:prstGeom prst="rect">
            <a:avLst/>
          </a:prstGeom>
          <a:solidFill>
            <a:srgbClr val="0E8C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46734" y="2962656"/>
            <a:ext cx="3008376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spc="100">
                <a:solidFill>
                  <a:srgbClr val="BFEAE5"/>
                </a:solidFill>
                <a:latin typeface="Aptos"/>
              </a:rPr>
              <a:t>EMAIL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6734" y="3310128"/>
            <a:ext cx="3008376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ptos"/>
              </a:rPr>
              <a:t>founders@blockmediary.example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6734" y="3767328"/>
            <a:ext cx="3008376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0">
                <a:solidFill>
                  <a:srgbClr val="90A2B8"/>
                </a:solidFill>
                <a:latin typeface="Aptos"/>
              </a:rPr>
              <a:t>[ add real address ]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20870" y="2743200"/>
            <a:ext cx="3465576" cy="1463040"/>
          </a:xfrm>
          <a:prstGeom prst="rect">
            <a:avLst/>
          </a:prstGeom>
          <a:solidFill>
            <a:srgbClr val="1028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220870" y="2743200"/>
            <a:ext cx="45720" cy="146304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476902" y="2962656"/>
            <a:ext cx="3008376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spc="100">
                <a:solidFill>
                  <a:srgbClr val="BFEAE5"/>
                </a:solidFill>
                <a:latin typeface="Aptos"/>
              </a:rPr>
              <a:t>WEBSITE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76902" y="3310128"/>
            <a:ext cx="3008376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ptos"/>
              </a:rPr>
              <a:t>blockmediary.example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76902" y="3767328"/>
            <a:ext cx="3008376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0">
                <a:solidFill>
                  <a:srgbClr val="90A2B8"/>
                </a:solidFill>
                <a:latin typeface="Aptos"/>
              </a:rPr>
              <a:t>[ add real URL ]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851038" y="2743200"/>
            <a:ext cx="3465576" cy="1463040"/>
          </a:xfrm>
          <a:prstGeom prst="rect">
            <a:avLst/>
          </a:prstGeom>
          <a:solidFill>
            <a:srgbClr val="1028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7851038" y="2743200"/>
            <a:ext cx="45720" cy="1463040"/>
          </a:xfrm>
          <a:prstGeom prst="rect">
            <a:avLst/>
          </a:prstGeom>
          <a:solidFill>
            <a:srgbClr val="5A4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107070" y="2962656"/>
            <a:ext cx="3008376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spc="100">
                <a:solidFill>
                  <a:srgbClr val="BFEAE5"/>
                </a:solidFill>
                <a:latin typeface="Aptos"/>
              </a:rPr>
              <a:t>LINKEDIN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07070" y="3310128"/>
            <a:ext cx="3008376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ptos"/>
              </a:rPr>
              <a:t>/company/blockmediary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07070" y="3767328"/>
            <a:ext cx="3008376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0">
                <a:solidFill>
                  <a:srgbClr val="90A2B8"/>
                </a:solidFill>
                <a:latin typeface="Aptos"/>
              </a:rPr>
              <a:t>[ add real handle ]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90702" y="4572000"/>
            <a:ext cx="10707624" cy="1051560"/>
          </a:xfrm>
          <a:prstGeom prst="rect">
            <a:avLst/>
          </a:prstGeom>
          <a:solidFill>
            <a:srgbClr val="1028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68680" y="475488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50" b="0">
                <a:solidFill>
                  <a:srgbClr val="BFEAE5"/>
                </a:solidFill>
                <a:latin typeface="Aptos"/>
              </a:rPr>
              <a:t>Founding team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68680" y="5120640"/>
            <a:ext cx="1627632" cy="384048"/>
          </a:xfrm>
          <a:prstGeom prst="rect">
            <a:avLst/>
          </a:prstGeom>
          <a:solidFill>
            <a:srgbClr val="0B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68680" y="5193792"/>
            <a:ext cx="1627632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50" b="0">
                <a:solidFill>
                  <a:srgbClr val="FFFFFF"/>
                </a:solidFill>
                <a:latin typeface="Aptos"/>
              </a:rPr>
              <a:t>CEO  ·  [Name]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587752" y="5120640"/>
            <a:ext cx="1627632" cy="384048"/>
          </a:xfrm>
          <a:prstGeom prst="rect">
            <a:avLst/>
          </a:prstGeom>
          <a:solidFill>
            <a:srgbClr val="0B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2587752" y="5193792"/>
            <a:ext cx="1627632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50" b="0">
                <a:solidFill>
                  <a:srgbClr val="FFFFFF"/>
                </a:solidFill>
                <a:latin typeface="Aptos"/>
              </a:rPr>
              <a:t>CTO  ·  [Name]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306824" y="5120640"/>
            <a:ext cx="1627632" cy="384048"/>
          </a:xfrm>
          <a:prstGeom prst="rect">
            <a:avLst/>
          </a:prstGeom>
          <a:solidFill>
            <a:srgbClr val="0B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4306824" y="5193792"/>
            <a:ext cx="1627632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50" b="0">
                <a:solidFill>
                  <a:srgbClr val="FFFFFF"/>
                </a:solidFill>
                <a:latin typeface="Aptos"/>
              </a:rPr>
              <a:t>CFO  ·  [Name]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025896" y="5120640"/>
            <a:ext cx="1627632" cy="384048"/>
          </a:xfrm>
          <a:prstGeom prst="rect">
            <a:avLst/>
          </a:prstGeom>
          <a:solidFill>
            <a:srgbClr val="0B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025896" y="5193792"/>
            <a:ext cx="1627632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50" b="0">
                <a:solidFill>
                  <a:srgbClr val="FFFFFF"/>
                </a:solidFill>
                <a:latin typeface="Aptos"/>
              </a:rPr>
              <a:t>COO  ·  [Name]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744968" y="5120640"/>
            <a:ext cx="1627632" cy="384048"/>
          </a:xfrm>
          <a:prstGeom prst="rect">
            <a:avLst/>
          </a:prstGeom>
          <a:solidFill>
            <a:srgbClr val="0B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7744968" y="5193792"/>
            <a:ext cx="1627632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50" b="0">
                <a:solidFill>
                  <a:srgbClr val="FFFFFF"/>
                </a:solidFill>
                <a:latin typeface="Aptos"/>
              </a:rPr>
              <a:t>CCO  ·  [Name]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464040" y="5120640"/>
            <a:ext cx="1627632" cy="384048"/>
          </a:xfrm>
          <a:prstGeom prst="rect">
            <a:avLst/>
          </a:prstGeom>
          <a:solidFill>
            <a:srgbClr val="0B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9464040" y="5193792"/>
            <a:ext cx="1627632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50" b="0">
                <a:solidFill>
                  <a:srgbClr val="FFFFFF"/>
                </a:solidFill>
                <a:latin typeface="Aptos"/>
              </a:rPr>
              <a:t>CRO  ·  [Name]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0702" y="5943600"/>
            <a:ext cx="105156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75" b="0">
                <a:solidFill>
                  <a:srgbClr val="90A2B8"/>
                </a:solidFill>
                <a:latin typeface="Aptos"/>
              </a:rPr>
              <a:t>Replace all placeholder contact details and founder names before sending or presenting.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30352" y="438912"/>
            <a:ext cx="73152" cy="73152"/>
          </a:xfrm>
          <a:prstGeom prst="rect">
            <a:avLst/>
          </a:prstGeom>
          <a:solidFill>
            <a:srgbClr val="0B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22376" y="365760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 spc="150">
                <a:solidFill>
                  <a:srgbClr val="6B7280"/>
                </a:solidFill>
                <a:latin typeface="Aptos"/>
              </a:rPr>
              <a:t>APPENDIX · BUILD 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58368"/>
            <a:ext cx="1078992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000" b="0">
                <a:solidFill>
                  <a:srgbClr val="0B1B3A"/>
                </a:solidFill>
                <a:latin typeface="Aptos Display"/>
              </a:rPr>
              <a:t>From hackathon MVP to funded roadmap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481328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0">
                <a:solidFill>
                  <a:srgbClr val="1B2430"/>
                </a:solidFill>
                <a:latin typeface="Aptos"/>
              </a:rPr>
              <a:t>Calendar timeline sized from the effort breakdown — bar length = duration across the 5-person team. The MVP ships inside the ~10-week build window; the roadmap follows.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286000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1" spc="120">
                <a:solidFill>
                  <a:srgbClr val="6B7280"/>
                </a:solidFill>
                <a:latin typeface="Aptos"/>
              </a:rPr>
              <a:t>MVP  ·  ACADEMIC BUILD  ·  ~10 WEEKS  ·  106 TEAM-DAYS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578608"/>
            <a:ext cx="2331720" cy="2514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0B1B3A"/>
                </a:solidFill>
                <a:latin typeface="Aptos"/>
              </a:rPr>
              <a:t>Setup &amp; Infra</a:t>
            </a:r>
          </a:p>
        </p:txBody>
      </p:sp>
      <p:sp>
        <p:nvSpPr>
          <p:cNvPr id="9" name="Rectangle 8"/>
          <p:cNvSpPr/>
          <p:nvPr/>
        </p:nvSpPr>
        <p:spPr>
          <a:xfrm>
            <a:off x="3035808" y="2606039"/>
            <a:ext cx="8439912" cy="160020"/>
          </a:xfrm>
          <a:prstGeom prst="rect">
            <a:avLst/>
          </a:prstGeom>
          <a:solidFill>
            <a:srgbClr val="EAE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035808" y="2606039"/>
            <a:ext cx="557352" cy="16002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035808" y="2596896"/>
            <a:ext cx="557352" cy="1783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>
                <a:solidFill>
                  <a:srgbClr val="FFFFFF"/>
                </a:solidFill>
                <a:latin typeface="Aptos"/>
              </a:rPr>
              <a:t>~1w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2862072"/>
            <a:ext cx="2331720" cy="2514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0B1B3A"/>
                </a:solidFill>
                <a:latin typeface="Aptos"/>
              </a:rPr>
              <a:t>Frontend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35808" y="2889503"/>
            <a:ext cx="8439912" cy="160020"/>
          </a:xfrm>
          <a:prstGeom prst="rect">
            <a:avLst/>
          </a:prstGeom>
          <a:solidFill>
            <a:srgbClr val="EAE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3593160" y="2889503"/>
            <a:ext cx="2229410" cy="160020"/>
          </a:xfrm>
          <a:prstGeom prst="rect">
            <a:avLst/>
          </a:prstGeom>
          <a:solidFill>
            <a:srgbClr val="5A4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593160" y="2880360"/>
            <a:ext cx="2229410" cy="1783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>
                <a:solidFill>
                  <a:srgbClr val="FFFFFF"/>
                </a:solidFill>
                <a:latin typeface="Aptos"/>
              </a:rPr>
              <a:t>~4w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3145536"/>
            <a:ext cx="2331720" cy="2514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0B1B3A"/>
                </a:solidFill>
                <a:latin typeface="Aptos"/>
              </a:rPr>
              <a:t>Smart Contract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035808" y="3172968"/>
            <a:ext cx="8439912" cy="160020"/>
          </a:xfrm>
          <a:prstGeom prst="rect">
            <a:avLst/>
          </a:prstGeom>
          <a:solidFill>
            <a:srgbClr val="EAE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3593160" y="3172968"/>
            <a:ext cx="1910923" cy="160020"/>
          </a:xfrm>
          <a:prstGeom prst="rect">
            <a:avLst/>
          </a:prstGeom>
          <a:solidFill>
            <a:srgbClr val="0E8C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593160" y="3163824"/>
            <a:ext cx="1910923" cy="1783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>
                <a:solidFill>
                  <a:srgbClr val="FFFFFF"/>
                </a:solidFill>
                <a:latin typeface="Aptos"/>
              </a:rPr>
              <a:t>~3w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3429000"/>
            <a:ext cx="2331720" cy="2514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0B1B3A"/>
                </a:solidFill>
                <a:latin typeface="Aptos"/>
              </a:rPr>
              <a:t>Doc Verification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035808" y="3456432"/>
            <a:ext cx="8439912" cy="160020"/>
          </a:xfrm>
          <a:prstGeom prst="rect">
            <a:avLst/>
          </a:prstGeom>
          <a:solidFill>
            <a:srgbClr val="EAE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5504084" y="3456432"/>
            <a:ext cx="2547897" cy="160020"/>
          </a:xfrm>
          <a:prstGeom prst="rect">
            <a:avLst/>
          </a:prstGeom>
          <a:solidFill>
            <a:srgbClr val="C77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504084" y="3447288"/>
            <a:ext cx="2547897" cy="1783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>
                <a:solidFill>
                  <a:srgbClr val="FFFFFF"/>
                </a:solidFill>
                <a:latin typeface="Aptos"/>
              </a:rPr>
              <a:t>~4w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3712463"/>
            <a:ext cx="2331720" cy="2514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0B1B3A"/>
                </a:solidFill>
                <a:latin typeface="Aptos"/>
              </a:rPr>
              <a:t>Deal Intake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035808" y="3739896"/>
            <a:ext cx="8439912" cy="160020"/>
          </a:xfrm>
          <a:prstGeom prst="rect">
            <a:avLst/>
          </a:prstGeom>
          <a:solidFill>
            <a:srgbClr val="EAE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5822571" y="3739896"/>
            <a:ext cx="636974" cy="16002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822571" y="3730752"/>
            <a:ext cx="636974" cy="1783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>
                <a:solidFill>
                  <a:srgbClr val="FFFFFF"/>
                </a:solidFill>
                <a:latin typeface="Aptos"/>
              </a:rPr>
              <a:t>~1w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6928" y="3995927"/>
            <a:ext cx="2331720" cy="2514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0B1B3A"/>
                </a:solidFill>
                <a:latin typeface="Aptos"/>
              </a:rPr>
              <a:t>Demo &amp; Deliverables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035808" y="4023359"/>
            <a:ext cx="8439912" cy="160020"/>
          </a:xfrm>
          <a:prstGeom prst="rect">
            <a:avLst/>
          </a:prstGeom>
          <a:solidFill>
            <a:srgbClr val="EAE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8051982" y="4023359"/>
            <a:ext cx="557352" cy="160020"/>
          </a:xfrm>
          <a:prstGeom prst="rect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051982" y="4014215"/>
            <a:ext cx="557352" cy="1783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>
                <a:solidFill>
                  <a:srgbClr val="FFFFFF"/>
                </a:solidFill>
                <a:latin typeface="Aptos"/>
              </a:rPr>
              <a:t>~1w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4334256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1" spc="120">
                <a:solidFill>
                  <a:srgbClr val="6B7280"/>
                </a:solidFill>
                <a:latin typeface="Aptos"/>
              </a:rPr>
              <a:t>ROADMAP  ·  POST-MVP  ·  ~5 WEEKS  ·  73 TEAM-DAYS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6928" y="4626864"/>
            <a:ext cx="2331720" cy="2514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0B1B3A"/>
                </a:solidFill>
                <a:latin typeface="Aptos"/>
              </a:rPr>
              <a:t>Frontend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035808" y="4654296"/>
            <a:ext cx="8439912" cy="160020"/>
          </a:xfrm>
          <a:prstGeom prst="rect">
            <a:avLst/>
          </a:prstGeom>
          <a:solidFill>
            <a:srgbClr val="EAE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8609334" y="4654296"/>
            <a:ext cx="1512814" cy="160020"/>
          </a:xfrm>
          <a:prstGeom prst="rect">
            <a:avLst/>
          </a:prstGeom>
          <a:solidFill>
            <a:srgbClr val="5A4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8609334" y="4645152"/>
            <a:ext cx="1512814" cy="1783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>
                <a:solidFill>
                  <a:srgbClr val="FFFFFF"/>
                </a:solidFill>
                <a:latin typeface="Aptos"/>
              </a:rPr>
              <a:t>~3w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66928" y="4910327"/>
            <a:ext cx="2331720" cy="2514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0B1B3A"/>
                </a:solidFill>
                <a:latin typeface="Aptos"/>
              </a:rPr>
              <a:t>Smart Contract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035808" y="4937759"/>
            <a:ext cx="8439912" cy="160020"/>
          </a:xfrm>
          <a:prstGeom prst="rect">
            <a:avLst/>
          </a:prstGeom>
          <a:solidFill>
            <a:srgbClr val="EAE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8609334" y="4937759"/>
            <a:ext cx="1035083" cy="160020"/>
          </a:xfrm>
          <a:prstGeom prst="rect">
            <a:avLst/>
          </a:prstGeom>
          <a:solidFill>
            <a:srgbClr val="0E8C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8609334" y="4928616"/>
            <a:ext cx="1035083" cy="1783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>
                <a:solidFill>
                  <a:srgbClr val="FFFFFF"/>
                </a:solidFill>
                <a:latin typeface="Aptos"/>
              </a:rPr>
              <a:t>~2w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8" y="5193792"/>
            <a:ext cx="2331720" cy="2514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0B1B3A"/>
                </a:solidFill>
                <a:latin typeface="Aptos"/>
              </a:rPr>
              <a:t>Compliance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035808" y="5221224"/>
            <a:ext cx="8439912" cy="160020"/>
          </a:xfrm>
          <a:prstGeom prst="rect">
            <a:avLst/>
          </a:prstGeom>
          <a:solidFill>
            <a:srgbClr val="EAE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8609334" y="5221224"/>
            <a:ext cx="796218" cy="160020"/>
          </a:xfrm>
          <a:prstGeom prst="rect">
            <a:avLst/>
          </a:prstGeom>
          <a:solidFill>
            <a:srgbClr val="C77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8609334" y="5212080"/>
            <a:ext cx="796218" cy="1783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>
                <a:solidFill>
                  <a:srgbClr val="FFFFFF"/>
                </a:solidFill>
                <a:latin typeface="Aptos"/>
              </a:rPr>
              <a:t>~1w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6928" y="5477256"/>
            <a:ext cx="2331720" cy="2514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0B1B3A"/>
                </a:solidFill>
                <a:latin typeface="Aptos"/>
              </a:rPr>
              <a:t>Dispute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035808" y="5504688"/>
            <a:ext cx="8439912" cy="160020"/>
          </a:xfrm>
          <a:prstGeom prst="rect">
            <a:avLst/>
          </a:prstGeom>
          <a:solidFill>
            <a:srgbClr val="EAE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ectangle 46"/>
          <p:cNvSpPr/>
          <p:nvPr/>
        </p:nvSpPr>
        <p:spPr>
          <a:xfrm>
            <a:off x="9644418" y="5504688"/>
            <a:ext cx="1114705" cy="160020"/>
          </a:xfrm>
          <a:prstGeom prst="rect">
            <a:avLst/>
          </a:prstGeom>
          <a:solidFill>
            <a:srgbClr val="5A4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9644418" y="5495544"/>
            <a:ext cx="1114705" cy="1783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>
                <a:solidFill>
                  <a:srgbClr val="FFFFFF"/>
                </a:solidFill>
                <a:latin typeface="Aptos"/>
              </a:rPr>
              <a:t>~2w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66928" y="5760720"/>
            <a:ext cx="2331720" cy="2514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0B1B3A"/>
                </a:solidFill>
                <a:latin typeface="Aptos"/>
              </a:rPr>
              <a:t>Orchestration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035808" y="5788152"/>
            <a:ext cx="8439912" cy="160020"/>
          </a:xfrm>
          <a:prstGeom prst="rect">
            <a:avLst/>
          </a:prstGeom>
          <a:solidFill>
            <a:srgbClr val="EAE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ectangle 50"/>
          <p:cNvSpPr/>
          <p:nvPr/>
        </p:nvSpPr>
        <p:spPr>
          <a:xfrm>
            <a:off x="10122149" y="5788152"/>
            <a:ext cx="1353570" cy="160020"/>
          </a:xfrm>
          <a:prstGeom prst="rect">
            <a:avLst/>
          </a:prstGeom>
          <a:solidFill>
            <a:srgbClr val="0E8C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10122149" y="5779008"/>
            <a:ext cx="1353570" cy="1783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>
                <a:solidFill>
                  <a:srgbClr val="FFFFFF"/>
                </a:solidFill>
                <a:latin typeface="Aptos"/>
              </a:rPr>
              <a:t>~2w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609334" y="2560320"/>
            <a:ext cx="10972" cy="3328416"/>
          </a:xfrm>
          <a:prstGeom prst="rect">
            <a:avLst/>
          </a:prstGeom>
          <a:solidFill>
            <a:srgbClr val="C9C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Rectangle 53"/>
          <p:cNvSpPr/>
          <p:nvPr/>
        </p:nvSpPr>
        <p:spPr>
          <a:xfrm>
            <a:off x="566928" y="6373368"/>
            <a:ext cx="10908792" cy="10972"/>
          </a:xfrm>
          <a:prstGeom prst="rect">
            <a:avLst/>
          </a:prstGeom>
          <a:solidFill>
            <a:srgbClr val="D8D2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566928" y="6437376"/>
            <a:ext cx="100584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Aptos"/>
              </a:rPr>
              <a:t>Source: effort T-shirt-sized per Tony Wood, BEEM063. Calendar weeks assume 5 people × ~2.5 effective days/wk (≈7.3 team-days/wk).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109960" y="6437376"/>
            <a:ext cx="54864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Aptos"/>
              </a:rPr>
              <a:t>17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1746</Words>
  <Application>Microsoft Macintosh PowerPoint</Application>
  <DocSecurity>0</DocSecurity>
  <PresentationFormat>Widescreen</PresentationFormat>
  <Paragraphs>341</Paragraphs>
  <Slides>15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9" baseType="lpstr">
      <vt:lpstr>Aptos</vt:lpstr>
      <vt:lpstr>Aptos Display</vt:lpstr>
      <vt:lpstr>Calibri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Daniel Price</cp:lastModifiedBy>
  <cp:revision>1</cp:revision>
  <dcterms:created xsi:type="dcterms:W3CDTF">2026-05-29T09:09:00Z</dcterms:created>
  <dcterms:modified xsi:type="dcterms:W3CDTF">2026-05-29T12:30:30Z</dcterms:modified>
</cp:coreProperties>
</file>