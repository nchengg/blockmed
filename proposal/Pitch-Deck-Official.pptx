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57" r:id="rId4"/>
    <p:sldId id="258" r:id="rId5"/>
    <p:sldId id="277" r:id="rId6"/>
    <p:sldId id="260" r:id="rId7"/>
    <p:sldId id="259" r:id="rId8"/>
    <p:sldId id="263" r:id="rId9"/>
    <p:sldId id="273" r:id="rId10"/>
    <p:sldId id="268" r:id="rId11"/>
    <p:sldId id="264" r:id="rId12"/>
    <p:sldId id="265" r:id="rId13"/>
    <p:sldId id="274" r:id="rId14"/>
    <p:sldId id="275" r:id="rId15"/>
    <p:sldId id="266" r:id="rId16"/>
    <p:sldId id="269" r:id="rId17"/>
    <p:sldId id="270" r:id="rId18"/>
    <p:sldId id="267" r:id="rId19"/>
    <p:sldId id="272" r:id="rId20"/>
    <p:sldId id="271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80"/>
  </p:normalViewPr>
  <p:slideViewPr>
    <p:cSldViewPr snapToGrid="0">
      <p:cViewPr varScale="1">
        <p:scale>
          <a:sx n="113" d="100"/>
          <a:sy n="113" d="100"/>
        </p:scale>
        <p:origin x="17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9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5923A26-19A4-49AD-B3D0-4CFD6697E2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E0F1F-DA3F-417A-AE09-627EB7BB437C}"/>
              </a:ext>
            </a:extLst>
          </p:cNvPr>
          <p:cNvSpPr>
            <a:spLocks noGrp="1"/>
          </p:cNvSpPr>
          <p:nvPr/>
        </p:nvSpPr>
        <p:spPr>
          <a:xfrm>
            <a:off x="571500" y="514350"/>
            <a:ext cx="160973" cy="160973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4303D-BBF9-47F4-BDF4-4A9C7FC66C89}"/>
              </a:ext>
            </a:extLst>
          </p:cNvPr>
          <p:cNvSpPr>
            <a:spLocks noGrp="1"/>
          </p:cNvSpPr>
          <p:nvPr/>
        </p:nvSpPr>
        <p:spPr>
          <a:xfrm>
            <a:off x="571500" y="737235"/>
            <a:ext cx="160973" cy="160973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CEF41-A1BB-4C54-8D74-241D9C9A12A7}"/>
              </a:ext>
            </a:extLst>
          </p:cNvPr>
          <p:cNvSpPr>
            <a:spLocks noGrp="1"/>
          </p:cNvSpPr>
          <p:nvPr/>
        </p:nvSpPr>
        <p:spPr>
          <a:xfrm>
            <a:off x="876300" y="4381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Blockmediary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6A799-3810-4F95-A896-0303E3DF2FDE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7239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Settlement rails for global trade.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0B49AF-8CB6-4A71-9682-757484CF8E97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C9D6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D6E5"/>
                </a:solidFill>
                <a:latin typeface="Aptos"/>
                <a:ea typeface="Aptos"/>
                <a:cs typeface="Aptos"/>
              </a:rPr>
              <a:t>UCP 600-style documentary release, stablecoin prefunding, and a compliance-controlled verification layer for SME cross-border trade.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64711-CC78-4703-A67C-F8237D97DF2D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5334000" cy="19050"/>
          </a:xfrm>
          <a:prstGeom prst="rect">
            <a:avLst/>
          </a:prstGeom>
          <a:solidFill>
            <a:srgbClr val="2946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06BCA5-A471-4AAB-8490-86A44223FADA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2381250" cy="1085850"/>
          </a:xfrm>
          <a:prstGeom prst="rect">
            <a:avLst/>
          </a:prstGeom>
          <a:solidFill>
            <a:srgbClr val="10284E"/>
          </a:solidFill>
          <a:ln w="9525">
            <a:solidFill>
              <a:srgbClr val="294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CC9030-48F4-4FAC-9D07-5BF986D9A1C1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82264A-183B-46B1-8A7F-11B74A854632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$1M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335AE-49F7-4C2D-B005-2A4DAAB7B156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E5"/>
                </a:solidFill>
                <a:latin typeface="Aptos"/>
                <a:ea typeface="Aptos"/>
                <a:cs typeface="Aptos"/>
              </a:rPr>
              <a:t>seed round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950B75-FFC0-4B44-9A74-81A5D9014E7F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6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6D7"/>
                </a:solidFill>
                <a:latin typeface="Aptos"/>
                <a:ea typeface="Aptos"/>
                <a:cs typeface="Aptos"/>
              </a:rPr>
              <a:t>~$10M post-money / 10% equity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8E33E4-7E44-4762-BC9E-1D9F809166DA}"/>
              </a:ext>
            </a:extLst>
          </p:cNvPr>
          <p:cNvSpPr>
            <a:spLocks noGrp="1"/>
          </p:cNvSpPr>
          <p:nvPr/>
        </p:nvSpPr>
        <p:spPr>
          <a:xfrm>
            <a:off x="3143250" y="3733800"/>
            <a:ext cx="2381250" cy="1085850"/>
          </a:xfrm>
          <a:prstGeom prst="rect">
            <a:avLst/>
          </a:prstGeom>
          <a:solidFill>
            <a:srgbClr val="10284E"/>
          </a:solidFill>
          <a:ln w="9525">
            <a:solidFill>
              <a:srgbClr val="294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E305C9-4A9B-4E6A-BD81-075CD7084D7E}"/>
              </a:ext>
            </a:extLst>
          </p:cNvPr>
          <p:cNvSpPr>
            <a:spLocks noGrp="1"/>
          </p:cNvSpPr>
          <p:nvPr/>
        </p:nvSpPr>
        <p:spPr>
          <a:xfrm>
            <a:off x="3143250" y="37338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C7D49-51B7-4E52-ADB4-287FCAEB0D50}"/>
              </a:ext>
            </a:extLst>
          </p:cNvPr>
          <p:cNvSpPr>
            <a:spLocks noGrp="1"/>
          </p:cNvSpPr>
          <p:nvPr/>
        </p:nvSpPr>
        <p:spPr>
          <a:xfrm>
            <a:off x="3352800" y="3876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$5K-$250K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C28428-870A-4D8A-9A17-0234EDD5E9BE}"/>
              </a:ext>
            </a:extLst>
          </p:cNvPr>
          <p:cNvSpPr>
            <a:spLocks noGrp="1"/>
          </p:cNvSpPr>
          <p:nvPr/>
        </p:nvSpPr>
        <p:spPr>
          <a:xfrm>
            <a:off x="3352800" y="4248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E5"/>
                </a:solidFill>
                <a:latin typeface="Aptos"/>
                <a:ea typeface="Aptos"/>
                <a:cs typeface="Aptos"/>
              </a:rPr>
              <a:t>target wedge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5B27EB-DAF7-40CF-AFDA-E9D01A46DBBB}"/>
              </a:ext>
            </a:extLst>
          </p:cNvPr>
          <p:cNvSpPr>
            <a:spLocks noGrp="1"/>
          </p:cNvSpPr>
          <p:nvPr/>
        </p:nvSpPr>
        <p:spPr>
          <a:xfrm>
            <a:off x="3352800" y="4495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6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6D7"/>
                </a:solidFill>
                <a:latin typeface="Aptos"/>
                <a:ea typeface="Aptos"/>
                <a:cs typeface="Aptos"/>
              </a:rPr>
              <a:t>SME cross-border shipment values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F3C80-F6FD-4835-9EEA-F80844CF56E1}"/>
              </a:ext>
            </a:extLst>
          </p:cNvPr>
          <p:cNvSpPr>
            <a:spLocks noGrp="1"/>
          </p:cNvSpPr>
          <p:nvPr/>
        </p:nvSpPr>
        <p:spPr>
          <a:xfrm>
            <a:off x="5715000" y="3733800"/>
            <a:ext cx="2381250" cy="1085850"/>
          </a:xfrm>
          <a:prstGeom prst="rect">
            <a:avLst/>
          </a:prstGeom>
          <a:solidFill>
            <a:srgbClr val="10284E"/>
          </a:solidFill>
          <a:ln w="9525">
            <a:solidFill>
              <a:srgbClr val="294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26CDBE-CF0A-44DD-8F47-2EC62FF05FEB}"/>
              </a:ext>
            </a:extLst>
          </p:cNvPr>
          <p:cNvSpPr>
            <a:spLocks noGrp="1"/>
          </p:cNvSpPr>
          <p:nvPr/>
        </p:nvSpPr>
        <p:spPr>
          <a:xfrm>
            <a:off x="5715000" y="3733800"/>
            <a:ext cx="47625" cy="10858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8E74BE-A2FF-402F-B410-C55E2D911770}"/>
              </a:ext>
            </a:extLst>
          </p:cNvPr>
          <p:cNvSpPr>
            <a:spLocks noGrp="1"/>
          </p:cNvSpPr>
          <p:nvPr/>
        </p:nvSpPr>
        <p:spPr>
          <a:xfrm>
            <a:off x="5924550" y="3876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82FE3D-0716-458C-98C2-014C54E59000}"/>
              </a:ext>
            </a:extLst>
          </p:cNvPr>
          <p:cNvSpPr>
            <a:spLocks noGrp="1"/>
          </p:cNvSpPr>
          <p:nvPr/>
        </p:nvSpPr>
        <p:spPr>
          <a:xfrm>
            <a:off x="5924550" y="4248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E5"/>
                </a:solidFill>
                <a:latin typeface="Aptos"/>
                <a:ea typeface="Aptos"/>
                <a:cs typeface="Aptos"/>
              </a:rPr>
              <a:t>market gap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45DD1B-ABF4-46E2-9C3C-41BB5EC076EE}"/>
              </a:ext>
            </a:extLst>
          </p:cNvPr>
          <p:cNvSpPr>
            <a:spLocks noGrp="1"/>
          </p:cNvSpPr>
          <p:nvPr/>
        </p:nvSpPr>
        <p:spPr>
          <a:xfrm>
            <a:off x="5924550" y="4495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6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6D7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D54B4-00D4-483C-81F8-BD4DA3E4AA17}"/>
              </a:ext>
            </a:extLst>
          </p:cNvPr>
          <p:cNvSpPr>
            <a:spLocks noGrp="1"/>
          </p:cNvSpPr>
          <p:nvPr/>
        </p:nvSpPr>
        <p:spPr>
          <a:xfrm>
            <a:off x="8286750" y="3733800"/>
            <a:ext cx="2381250" cy="1085850"/>
          </a:xfrm>
          <a:prstGeom prst="rect">
            <a:avLst/>
          </a:prstGeom>
          <a:solidFill>
            <a:srgbClr val="10284E"/>
          </a:solidFill>
          <a:ln w="9525">
            <a:solidFill>
              <a:srgbClr val="294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648ADB-50B1-4C44-92C1-9AAE0CF0B9D3}"/>
              </a:ext>
            </a:extLst>
          </p:cNvPr>
          <p:cNvSpPr>
            <a:spLocks noGrp="1"/>
          </p:cNvSpPr>
          <p:nvPr/>
        </p:nvSpPr>
        <p:spPr>
          <a:xfrm>
            <a:off x="8286750" y="37338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0DCC81-C9D5-4A45-9F7A-D5F1A0689FD0}"/>
              </a:ext>
            </a:extLst>
          </p:cNvPr>
          <p:cNvSpPr>
            <a:spLocks noGrp="1"/>
          </p:cNvSpPr>
          <p:nvPr/>
        </p:nvSpPr>
        <p:spPr>
          <a:xfrm>
            <a:off x="8496300" y="3876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 months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085EFF-7B45-4230-8CFD-D7A66A397C2B}"/>
              </a:ext>
            </a:extLst>
          </p:cNvPr>
          <p:cNvSpPr>
            <a:spLocks noGrp="1"/>
          </p:cNvSpPr>
          <p:nvPr/>
        </p:nvSpPr>
        <p:spPr>
          <a:xfrm>
            <a:off x="8496300" y="4248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EA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E5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B2D8F6-61FD-4D55-B081-7DA8D0FD5A03}"/>
              </a:ext>
            </a:extLst>
          </p:cNvPr>
          <p:cNvSpPr>
            <a:spLocks noGrp="1"/>
          </p:cNvSpPr>
          <p:nvPr/>
        </p:nvSpPr>
        <p:spPr>
          <a:xfrm>
            <a:off x="8496300" y="4495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6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6D7"/>
                </a:solidFill>
                <a:latin typeface="Aptos"/>
                <a:ea typeface="Aptos"/>
                <a:cs typeface="Aptos"/>
              </a:rPr>
              <a:t>MVP + pilot proof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FA614D-DE37-4561-A37A-AD98705D28EB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0A2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0A2B8"/>
                </a:solidFill>
                <a:latin typeface="Aptos"/>
                <a:ea typeface="Aptos"/>
                <a:cs typeface="Aptos"/>
              </a:rPr>
              <a:t>Funding deck | University of Exeter MSc FinTech Hackathon | 30 May 2026</a:t>
            </a:r>
          </a:p>
        </p:txBody>
      </p:sp>
    </p:spTree>
    <p:extLst>
      <p:ext uri="{BB962C8B-B14F-4D97-AF65-F5344CB8AC3E}">
        <p14:creationId xmlns:p14="http://schemas.microsoft.com/office/powerpoint/2010/main" val="125524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spc="200">
                <a:solidFill>
                  <a:srgbClr val="6B7280"/>
                </a:solidFill>
                <a:latin typeface="Aptos"/>
              </a:rPr>
              <a:t>MISSION, VISION &amp;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What we build. The world we build it for. What we hold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150000"/>
            <a:ext cx="3508400" cy="3850000"/>
          </a:xfrm>
          <a:prstGeom prst="rect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150000"/>
            <a:ext cx="57150" cy="385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34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0B1B3A"/>
                </a:solidFill>
                <a:latin typeface="Aptos"/>
              </a:rPr>
              <a:t>MISSION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Build the trust layer for global trade.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1800" y="2150000"/>
            <a:ext cx="3508400" cy="3850000"/>
          </a:xfrm>
          <a:prstGeom prst="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1800" y="2150000"/>
            <a:ext cx="57150" cy="385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18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0E8C7F"/>
                </a:solidFill>
                <a:latin typeface="Aptos"/>
              </a:rPr>
              <a:t>VISION</a:t>
            </a:r>
          </a:p>
          <a:p>
            <a:pPr algn="l">
              <a:spcBef>
                <a:spcPts val="1600"/>
              </a:spcBef>
            </a:pPr>
            <a:r>
              <a:rPr sz="2200" b="1">
                <a:solidFill>
                  <a:srgbClr val="0B1B3A"/>
                </a:solidFill>
                <a:latin typeface="Aptos Display"/>
              </a:rPr>
              <a:t>Global trade, settled safely — at every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0200" y="2150000"/>
            <a:ext cx="3508400" cy="3850000"/>
          </a:xfrm>
          <a:prstGeom prst="rect">
            <a:avLst/>
          </a:prstGeom>
          <a:solidFill>
            <a:srgbClr val="F5E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50200" y="2150000"/>
            <a:ext cx="57150" cy="3850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0200" y="2470000"/>
            <a:ext cx="2868400" cy="321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600">
                <a:solidFill>
                  <a:srgbClr val="C77D18"/>
                </a:solidFill>
                <a:latin typeface="Aptos"/>
              </a:rPr>
              <a:t>VALUES</a:t>
            </a:r>
          </a:p>
          <a:p>
            <a:pPr algn="l">
              <a:spcBef>
                <a:spcPts val="16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Verifiable.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Universal.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0B1B3A"/>
                </a:solidFill>
                <a:latin typeface="Aptos Display"/>
              </a:rPr>
              <a:t>Disciplined.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6150" y="643890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01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EEF4816-F554-440A-B816-D75345B68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85561F03-945A-4B55-9A1C-B9DFA5EB5F6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8A464077-A52E-4439-8A74-66928730F100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9565B-A766-4B12-AB15-96ED5E293E9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SMEs are priced out of the instrument that made global trade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4A6DD-D7B8-451D-A7D5-33AF8CF34C00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Documentary credit solved trust in trade. But the same KYB, sanctions, document examination, and capital work sits behind a $10K shipment and a $5M shipment. Banks choose the economics.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178FA-9E39-4667-95B6-3958E9FA8241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5143500" cy="19050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2F30B-9D0B-4175-9D49-241802DA174F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Result: low-value cross-border trade still depends on cash in advance, informal trust, or deals that never happen.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7CFD0-1F22-4DB6-A413-46DDFC13887C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BD3602-C59E-4C2C-B3A3-392443948C5B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2C8472-A69D-4A15-B8E8-EF899E6B2E9E}"/>
              </a:ext>
            </a:extLst>
          </p:cNvPr>
          <p:cNvSpPr>
            <a:spLocks noGrp="1"/>
          </p:cNvSpPr>
          <p:nvPr/>
        </p:nvSpPr>
        <p:spPr>
          <a:xfrm>
            <a:off x="6972300" y="17811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C4673-E562-437A-A793-7DCA18DEB1A9}"/>
              </a:ext>
            </a:extLst>
          </p:cNvPr>
          <p:cNvSpPr>
            <a:spLocks noGrp="1"/>
          </p:cNvSpPr>
          <p:nvPr/>
        </p:nvSpPr>
        <p:spPr>
          <a:xfrm>
            <a:off x="6972300" y="21526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6EEC02-B591-4C69-BED3-5823119BF745}"/>
              </a:ext>
            </a:extLst>
          </p:cNvPr>
          <p:cNvSpPr>
            <a:spLocks noGrp="1"/>
          </p:cNvSpPr>
          <p:nvPr/>
        </p:nvSpPr>
        <p:spPr>
          <a:xfrm>
            <a:off x="6972300" y="24003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ADB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4B0DA-E3E9-4B78-BC31-7237EC8E9AE4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71E21-9F83-4F6A-8654-896EC3310A5E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D83D6-DFFF-416E-9FD4-8F677CEF3653}"/>
              </a:ext>
            </a:extLst>
          </p:cNvPr>
          <p:cNvSpPr>
            <a:spLocks noGrp="1"/>
          </p:cNvSpPr>
          <p:nvPr/>
        </p:nvSpPr>
        <p:spPr>
          <a:xfrm>
            <a:off x="6972300" y="30765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~45%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B93100-17B9-4DFF-AD18-CBD12EE4DBBE}"/>
              </a:ext>
            </a:extLst>
          </p:cNvPr>
          <p:cNvSpPr>
            <a:spLocks noGrp="1"/>
          </p:cNvSpPr>
          <p:nvPr/>
        </p:nvSpPr>
        <p:spPr>
          <a:xfrm>
            <a:off x="6972300" y="34480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SME rejection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F79197-1D24-457D-9CC6-58BE64A68982}"/>
              </a:ext>
            </a:extLst>
          </p:cNvPr>
          <p:cNvSpPr>
            <a:spLocks noGrp="1"/>
          </p:cNvSpPr>
          <p:nvPr/>
        </p:nvSpPr>
        <p:spPr>
          <a:xfrm>
            <a:off x="6972300" y="36957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trade finance access pain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544E5-5526-4D82-874D-96D74C828031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3429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312E7D-4283-444A-8D37-8AD0557AEC4D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E7D5A-1251-40FD-A690-27E85C587554}"/>
              </a:ext>
            </a:extLst>
          </p:cNvPr>
          <p:cNvSpPr>
            <a:spLocks noGrp="1"/>
          </p:cNvSpPr>
          <p:nvPr/>
        </p:nvSpPr>
        <p:spPr>
          <a:xfrm>
            <a:off x="6972300" y="4371975"/>
            <a:ext cx="3009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$10K-$50K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126CC8-DD2B-48CC-9644-51572166B6EF}"/>
              </a:ext>
            </a:extLst>
          </p:cNvPr>
          <p:cNvSpPr>
            <a:spLocks noGrp="1"/>
          </p:cNvSpPr>
          <p:nvPr/>
        </p:nvSpPr>
        <p:spPr>
          <a:xfrm>
            <a:off x="6972300" y="47434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LC dead zone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D85144-044A-4D7B-8173-47CA7883409F}"/>
              </a:ext>
            </a:extLst>
          </p:cNvPr>
          <p:cNvSpPr>
            <a:spLocks noGrp="1"/>
          </p:cNvSpPr>
          <p:nvPr/>
        </p:nvSpPr>
        <p:spPr>
          <a:xfrm>
            <a:off x="6972300" y="4991100"/>
            <a:ext cx="300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too large for trust, too small for banks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433A89-89B6-450C-BE1E-D41BF959CEE3}"/>
              </a:ext>
            </a:extLst>
          </p:cNvPr>
          <p:cNvSpPr>
            <a:spLocks noGrp="1"/>
          </p:cNvSpPr>
          <p:nvPr/>
        </p:nvSpPr>
        <p:spPr>
          <a:xfrm>
            <a:off x="571500" y="4887625"/>
            <a:ext cx="5334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12C5B5-2CD8-46D2-BA8D-518C1683B0F9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Investor question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249D5D-0844-4129-ABEF-6290C94DD070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Who can make seller certainty and buyer control economical at SME deal sizes?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0A1264-C9E6-4341-82B8-44833A7AC56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997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521EB4B-85DF-49F2-8107-3036D578E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9C2C98F4-0761-4F59-91CB-45C1DA9BA235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15C181B9-C90D-460F-BF9A-7BE1FC2ACA5D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AB53E-F0F5-4DDB-9FF1-D7301434A95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Blockmediary turns documentary credit into a programmable escrow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704DD-A436-4BED-8ABA-4E0A8C6153EB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933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product does not replace trade law. It converts agreed, payment-relevant terms into a signed escrow specification, then releases funds when submitted documents are apparently compliant.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8C4D81-DCBC-4B95-BDC1-EA46A7C10DE9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BFC3E-B13F-49A8-90FA-539D0394E171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790700" cy="571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BED5D-DFD7-4063-81C1-066E369E1C62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4F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A4F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85FE9-CD43-4A34-AB98-05B2EC041576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Agree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A37AA-F330-459C-AAC0-9AEC2016A38D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and seller approve a structured Escrow Specification.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E53D0-2AB3-42D2-AAEB-87AC6D4E6A84}"/>
              </a:ext>
            </a:extLst>
          </p:cNvPr>
          <p:cNvSpPr>
            <a:spLocks noGrp="1"/>
          </p:cNvSpPr>
          <p:nvPr/>
        </p:nvSpPr>
        <p:spPr>
          <a:xfrm>
            <a:off x="27813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15C935-7E7D-4E24-82A3-BE665FEBEA50}"/>
              </a:ext>
            </a:extLst>
          </p:cNvPr>
          <p:cNvSpPr>
            <a:spLocks noGrp="1"/>
          </p:cNvSpPr>
          <p:nvPr/>
        </p:nvSpPr>
        <p:spPr>
          <a:xfrm>
            <a:off x="2781300" y="2933700"/>
            <a:ext cx="1790700" cy="571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F894A-5476-4383-A8A4-0CD79EA38843}"/>
              </a:ext>
            </a:extLst>
          </p:cNvPr>
          <p:cNvSpPr>
            <a:spLocks noGrp="1"/>
          </p:cNvSpPr>
          <p:nvPr/>
        </p:nvSpPr>
        <p:spPr>
          <a:xfrm>
            <a:off x="29527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4F3C52-DFB3-47AC-BB75-64126E24E0B7}"/>
              </a:ext>
            </a:extLst>
          </p:cNvPr>
          <p:cNvSpPr>
            <a:spLocks noGrp="1"/>
          </p:cNvSpPr>
          <p:nvPr/>
        </p:nvSpPr>
        <p:spPr>
          <a:xfrm>
            <a:off x="33718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Fund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454CA3-0BA8-4A45-B9F0-362BF14593A1}"/>
              </a:ext>
            </a:extLst>
          </p:cNvPr>
          <p:cNvSpPr>
            <a:spLocks noGrp="1"/>
          </p:cNvSpPr>
          <p:nvPr/>
        </p:nvSpPr>
        <p:spPr>
          <a:xfrm>
            <a:off x="29527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locks USDC in smart-contract escrow or partner custody.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9325F-0CB9-47E5-8187-7CF073C1DDDD}"/>
              </a:ext>
            </a:extLst>
          </p:cNvPr>
          <p:cNvSpPr>
            <a:spLocks noGrp="1"/>
          </p:cNvSpPr>
          <p:nvPr/>
        </p:nvSpPr>
        <p:spPr>
          <a:xfrm>
            <a:off x="49911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2AF10-1DDE-4370-BBFF-C3028528A5FF}"/>
              </a:ext>
            </a:extLst>
          </p:cNvPr>
          <p:cNvSpPr>
            <a:spLocks noGrp="1"/>
          </p:cNvSpPr>
          <p:nvPr/>
        </p:nvSpPr>
        <p:spPr>
          <a:xfrm>
            <a:off x="4991100" y="2933700"/>
            <a:ext cx="1790700" cy="571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05DAF-95D2-49B1-828A-BE282993DBA2}"/>
              </a:ext>
            </a:extLst>
          </p:cNvPr>
          <p:cNvSpPr>
            <a:spLocks noGrp="1"/>
          </p:cNvSpPr>
          <p:nvPr/>
        </p:nvSpPr>
        <p:spPr>
          <a:xfrm>
            <a:off x="51625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2672B-E744-4949-940E-37C66ED67471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Ship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39883-694C-4091-BA53-6CEE07009D52}"/>
              </a:ext>
            </a:extLst>
          </p:cNvPr>
          <p:cNvSpPr>
            <a:spLocks noGrp="1"/>
          </p:cNvSpPr>
          <p:nvPr/>
        </p:nvSpPr>
        <p:spPr>
          <a:xfrm>
            <a:off x="51625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Seller ships goods and submits the agreed documents.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747589-7D7B-462B-9F32-48AA2ADFB757}"/>
              </a:ext>
            </a:extLst>
          </p:cNvPr>
          <p:cNvSpPr>
            <a:spLocks noGrp="1"/>
          </p:cNvSpPr>
          <p:nvPr/>
        </p:nvSpPr>
        <p:spPr>
          <a:xfrm>
            <a:off x="72009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1F3288-3914-440B-BADF-996E098B0701}"/>
              </a:ext>
            </a:extLst>
          </p:cNvPr>
          <p:cNvSpPr>
            <a:spLocks noGrp="1"/>
          </p:cNvSpPr>
          <p:nvPr/>
        </p:nvSpPr>
        <p:spPr>
          <a:xfrm>
            <a:off x="7200900" y="2933700"/>
            <a:ext cx="1790700" cy="571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6B292D-BCBA-433C-9668-6EA89A629550}"/>
              </a:ext>
            </a:extLst>
          </p:cNvPr>
          <p:cNvSpPr>
            <a:spLocks noGrp="1"/>
          </p:cNvSpPr>
          <p:nvPr/>
        </p:nvSpPr>
        <p:spPr>
          <a:xfrm>
            <a:off x="73723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7D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EEFD16-DDC3-481D-8296-4A379FAC6FB6}"/>
              </a:ext>
            </a:extLst>
          </p:cNvPr>
          <p:cNvSpPr>
            <a:spLocks noGrp="1"/>
          </p:cNvSpPr>
          <p:nvPr/>
        </p:nvSpPr>
        <p:spPr>
          <a:xfrm>
            <a:off x="77914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D76419-D17B-4541-9135-D7E267DE978A}"/>
              </a:ext>
            </a:extLst>
          </p:cNvPr>
          <p:cNvSpPr>
            <a:spLocks noGrp="1"/>
          </p:cNvSpPr>
          <p:nvPr/>
        </p:nvSpPr>
        <p:spPr>
          <a:xfrm>
            <a:off x="73723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Rules engine and examiner check document compliance.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B17DD8-57D1-4647-AE61-B0363D6A6BCA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17907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4E668F-AB33-4BC4-A7EC-6352175D6C38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1790700" cy="571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3AA5A2-6296-4850-9603-45337F4DCF33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F727E9-75FE-4191-AE1D-4DF0C1EE4627}"/>
              </a:ext>
            </a:extLst>
          </p:cNvPr>
          <p:cNvSpPr>
            <a:spLocks noGrp="1"/>
          </p:cNvSpPr>
          <p:nvPr/>
        </p:nvSpPr>
        <p:spPr>
          <a:xfrm>
            <a:off x="10001250" y="31242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8E6228-2F60-4B83-8BC5-E9AA07EE8FD6}"/>
              </a:ext>
            </a:extLst>
          </p:cNvPr>
          <p:cNvSpPr>
            <a:spLocks noGrp="1"/>
          </p:cNvSpPr>
          <p:nvPr/>
        </p:nvSpPr>
        <p:spPr>
          <a:xfrm>
            <a:off x="9582150" y="3486150"/>
            <a:ext cx="1409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Funds release, refund, or move to dispute path.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E542BE-C526-4E3F-A507-92B88CCD444F}"/>
              </a:ext>
            </a:extLst>
          </p:cNvPr>
          <p:cNvSpPr>
            <a:spLocks noGrp="1"/>
          </p:cNvSpPr>
          <p:nvPr/>
        </p:nvSpPr>
        <p:spPr>
          <a:xfrm>
            <a:off x="23622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FFD9C2E9-EFE3-4A7D-9D74-E07DBD40EDAC}"/>
              </a:ext>
            </a:extLst>
          </p:cNvPr>
          <p:cNvSpPr>
            <a:spLocks noGrp="1"/>
          </p:cNvSpPr>
          <p:nvPr/>
        </p:nvSpPr>
        <p:spPr>
          <a:xfrm>
            <a:off x="27241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5C9F73-2272-4D3B-A9B9-24516D116BD0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9ACE5066-C9AA-40E0-A97C-9E15A9F7602F}"/>
              </a:ext>
            </a:extLst>
          </p:cNvPr>
          <p:cNvSpPr>
            <a:spLocks noGrp="1"/>
          </p:cNvSpPr>
          <p:nvPr/>
        </p:nvSpPr>
        <p:spPr>
          <a:xfrm>
            <a:off x="49339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C39DDD-0A35-4F5F-9879-1C08385FD7E7}"/>
              </a:ext>
            </a:extLst>
          </p:cNvPr>
          <p:cNvSpPr>
            <a:spLocks noGrp="1"/>
          </p:cNvSpPr>
          <p:nvPr/>
        </p:nvSpPr>
        <p:spPr>
          <a:xfrm>
            <a:off x="67818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15162A05-22B8-4B55-916F-58A3311F1E96}"/>
              </a:ext>
            </a:extLst>
          </p:cNvPr>
          <p:cNvSpPr>
            <a:spLocks noGrp="1"/>
          </p:cNvSpPr>
          <p:nvPr/>
        </p:nvSpPr>
        <p:spPr>
          <a:xfrm>
            <a:off x="71437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9AA44D-25F1-4FAB-AA49-29C11D227F4E}"/>
              </a:ext>
            </a:extLst>
          </p:cNvPr>
          <p:cNvSpPr>
            <a:spLocks noGrp="1"/>
          </p:cNvSpPr>
          <p:nvPr/>
        </p:nvSpPr>
        <p:spPr>
          <a:xfrm>
            <a:off x="8991600" y="3543300"/>
            <a:ext cx="4191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B33658CF-13AF-4927-BA83-9C15578F8F6C}"/>
              </a:ext>
            </a:extLst>
          </p:cNvPr>
          <p:cNvSpPr>
            <a:spLocks noGrp="1"/>
          </p:cNvSpPr>
          <p:nvPr/>
        </p:nvSpPr>
        <p:spPr>
          <a:xfrm>
            <a:off x="9353550" y="3495675"/>
            <a:ext cx="95250" cy="95250"/>
          </a:xfrm>
          <a:prstGeom prst="triangl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713A5F-046B-48D6-9487-8C0D61CBE7C0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8FF858-BF37-4AE8-A683-95BE34A2A42E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57150" cy="323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891BA2-0134-436F-8B3B-7AC8121EA16C}"/>
              </a:ext>
            </a:extLst>
          </p:cNvPr>
          <p:cNvSpPr>
            <a:spLocks noGrp="1"/>
          </p:cNvSpPr>
          <p:nvPr/>
        </p:nvSpPr>
        <p:spPr>
          <a:xfrm>
            <a:off x="1295400" y="4772025"/>
            <a:ext cx="3467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Seller certainty: funds are visibly locked before shipment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8619BD-5D9F-45A9-89AA-058DFD0DA365}"/>
              </a:ext>
            </a:extLst>
          </p:cNvPr>
          <p:cNvSpPr>
            <a:spLocks noGrp="1"/>
          </p:cNvSpPr>
          <p:nvPr/>
        </p:nvSpPr>
        <p:spPr>
          <a:xfrm>
            <a:off x="5086350" y="4705350"/>
            <a:ext cx="3333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6A6C55-BAD9-4C51-9AB7-975A38924057}"/>
              </a:ext>
            </a:extLst>
          </p:cNvPr>
          <p:cNvSpPr>
            <a:spLocks noGrp="1"/>
          </p:cNvSpPr>
          <p:nvPr/>
        </p:nvSpPr>
        <p:spPr>
          <a:xfrm>
            <a:off x="5086350" y="4705350"/>
            <a:ext cx="57150" cy="323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7BEFB3-4888-49D9-BD2B-8140D822FABD}"/>
              </a:ext>
            </a:extLst>
          </p:cNvPr>
          <p:cNvSpPr>
            <a:spLocks noGrp="1"/>
          </p:cNvSpPr>
          <p:nvPr/>
        </p:nvSpPr>
        <p:spPr>
          <a:xfrm>
            <a:off x="5238750" y="4772025"/>
            <a:ext cx="3105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Buyer control: release is bound to agreed documents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1331AC-64E9-49FF-B905-17A6ECA78864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2571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791212-A9C8-4F8A-B317-6088A226CEC6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57150" cy="323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5E2C8B-1ED4-4DCB-B8B9-F0152408F402}"/>
              </a:ext>
            </a:extLst>
          </p:cNvPr>
          <p:cNvSpPr>
            <a:spLocks noGrp="1"/>
          </p:cNvSpPr>
          <p:nvPr/>
        </p:nvSpPr>
        <p:spPr>
          <a:xfrm>
            <a:off x="8820150" y="4772025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Blockmediary boundary: document review, not goods quality guarantee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632BF3-210E-4E95-8E57-671F97F9CBD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174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Aptos"/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5800"/>
            <a:ext cx="111252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B3A"/>
                </a:solidFill>
                <a:latin typeface="Aptos Display"/>
              </a:rPr>
              <a:t>Three trust tiers — narrow on-chain, smart off-chain, one bridge between.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70000"/>
            <a:ext cx="11125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B2430"/>
                </a:solidFill>
                <a:latin typeface="Aptos"/>
              </a:rPr>
              <a:t>The smart contract never sees a document — it holds funds and enforces state. All verification is off-chain; one authorised releaser key is the only path to on-chain money.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20000"/>
            <a:ext cx="6300000" cy="980000"/>
          </a:xfrm>
          <a:prstGeom prst="rect">
            <a:avLst/>
          </a:prstGeom>
          <a:solidFill>
            <a:srgbClr val="DDEAF5"/>
          </a:solidFill>
          <a:ln w="9525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120000"/>
            <a:ext cx="57150" cy="98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2240000"/>
            <a:ext cx="59595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CLIENT TIER  ·  Buyer · Seller · Reviewer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Aptos"/>
              </a:rPr>
              <a:t>Every read/write goes through one authenticated API. Wallets sign deposit / release straight to the chain.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0000" y="3130000"/>
            <a:ext cx="228600" cy="240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0000" y="3150000"/>
            <a:ext cx="54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Aptos"/>
              </a:rPr>
              <a:t>HTTPS · all app data via the authenticated API  (full API integration)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400000"/>
            <a:ext cx="6300000" cy="1330000"/>
          </a:xfrm>
          <a:prstGeom prst="rect">
            <a:avLst/>
          </a:prstGeom>
          <a:solidFill>
            <a:srgbClr val="DCEFEB"/>
          </a:solidFill>
          <a:ln w="9525">
            <a:solidFill>
              <a:srgbClr val="0E8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400000"/>
            <a:ext cx="57150" cy="1330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3900" y="3520000"/>
            <a:ext cx="5959500" cy="11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OFF-CHAIN ORCHESTRATION + VERIFICATION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B7280"/>
                </a:solidFill>
                <a:latin typeface="Aptos"/>
              </a:rPr>
              <a:t>deal-intake · KYC / sanctions · document-checker + rules engine · dispute · settlement. AI reads, deterministic code computes the money, a human signs off. The append-only audit ledger is the regulator-facing source of truth.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0000" y="4760000"/>
            <a:ext cx="300000" cy="310000"/>
          </a:xfrm>
          <a:prstGeom prst="downArrow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0000" y="4790000"/>
            <a:ext cx="53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B3A"/>
                </a:solidFill>
                <a:latin typeface="Aptos"/>
              </a:rPr>
              <a:t>releaser key — the ONE bridge:  off-chain verdict → recordVerdict on-chain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5090000"/>
            <a:ext cx="6300000" cy="980000"/>
          </a:xfrm>
          <a:prstGeom prst="rect">
            <a:avLst/>
          </a:prstGeom>
          <a:solidFill>
            <a:srgbClr val="0B1B3A"/>
          </a:solidFill>
          <a:ln w="9525">
            <a:solidFill>
              <a:srgbClr val="0B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5090000"/>
            <a:ext cx="57150" cy="980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900" y="5210000"/>
            <a:ext cx="59595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ON-CHAIN TIER  ·  narrow Escrow contract  ·  Base Sepolia (EVM L2)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CADCFC"/>
                </a:solidFill>
                <a:latin typeface="Aptos"/>
              </a:rPr>
              <a:t>Holds USDC · enforces the state machine · emits events. It never sees a trade document.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00" y="2120000"/>
            <a:ext cx="4608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Aptos"/>
              </a:rPr>
              <a:t>DESIGN DECISIONS — WHY THE BUILD HOLDS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00" y="250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50000" y="2500000"/>
            <a:ext cx="57150" cy="815000"/>
          </a:xfrm>
          <a:prstGeom prst="rect">
            <a:avLst/>
          </a:prstGeom>
          <a:solidFill>
            <a:srgbClr val="0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0500" y="261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Narrow contract   </a:t>
            </a:r>
            <a:r>
              <a:rPr sz="900" b="1">
                <a:solidFill>
                  <a:srgbClr val="0B1B3A"/>
                </a:solidFill>
                <a:latin typeface="Aptos"/>
              </a:rPr>
              <a:t>AP-1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On-chain code holds funds + state only — no document logic, no money math. Small attack surface, chain-portable.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0000" y="341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50000" y="3410000"/>
            <a:ext cx="57150" cy="815000"/>
          </a:xfrm>
          <a:prstGeom prst="rect">
            <a:avLst/>
          </a:prstGeom>
          <a:solidFill>
            <a:srgbClr val="0E8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40500" y="352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Permissionless release   </a:t>
            </a:r>
            <a:r>
              <a:rPr sz="900" b="1">
                <a:solidFill>
                  <a:srgbClr val="0E8C7F"/>
                </a:solidFill>
                <a:latin typeface="Aptos"/>
              </a:rPr>
              <a:t>AP-7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Release isn't gated on our key — a cleared seller can always be paid. Liveness without trusting the operator.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000" y="432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0000" y="4320000"/>
            <a:ext cx="57150" cy="815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0500" y="443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Audit around every action   </a:t>
            </a:r>
            <a:r>
              <a:rPr sz="900" b="1">
                <a:solidFill>
                  <a:srgbClr val="1F6FB2"/>
                </a:solidFill>
                <a:latin typeface="Aptos"/>
              </a:rPr>
              <a:t>AP-4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Intent logged before the tx, reconciliation after. The ledger — not the chain — is the source of truth.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0000" y="5230000"/>
            <a:ext cx="4608600" cy="8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5230000"/>
            <a:ext cx="57150" cy="815000"/>
          </a:xfrm>
          <a:prstGeom prst="rect">
            <a:avLst/>
          </a:prstGeom>
          <a:solidFill>
            <a:srgbClr val="C7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40500" y="5340000"/>
            <a:ext cx="42681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B3A"/>
                </a:solidFill>
                <a:latin typeface="Aptos"/>
              </a:rPr>
              <a:t>Money in code, human above the line   </a:t>
            </a:r>
            <a:r>
              <a:rPr sz="900" b="1">
                <a:solidFill>
                  <a:srgbClr val="C77D18"/>
                </a:solidFill>
                <a:latin typeface="Aptos"/>
              </a:rPr>
              <a:t>AP-5 / 7</a:t>
            </a:r>
          </a:p>
          <a:p>
            <a:pPr algn="l">
              <a:spcBef>
                <a:spcPts val="300"/>
              </a:spcBef>
            </a:pPr>
            <a:r>
              <a:rPr sz="950" b="0">
                <a:solidFill>
                  <a:srgbClr val="6B7280"/>
                </a:solidFill>
                <a:latin typeface="Aptos"/>
              </a:rPr>
              <a:t>All arithmetic is deterministic code; anything outside the autonomy thresholds escalates to a human sign-off.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6150" y="6483950"/>
            <a:ext cx="55245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04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F527E48-7C3F-4134-B177-CAE6BAA691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DB21B6CC-1904-4F91-B45E-4090B2065634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26993B88-157F-46AD-854B-0DF5E534682C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59BFF0-9D04-4E24-9284-AED08DB7959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MVP is governed documentary escrow, not a generic admin release button.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66352-FB2D-4AEC-A481-659F7255E98D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048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Blockmediary makes the release rules explicit before funds move. The signed Escrow Specification becomes the operational source of truth.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91D52C-7145-4AA0-9014-E2BD9B997EBA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2333625" cy="876300"/>
          </a:xfrm>
          <a:prstGeom prst="rect">
            <a:avLst/>
          </a:prstGeom>
          <a:solidFill>
            <a:srgbClr val="E8E5F8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A52728-5221-43AC-B438-C8CCAFBA1734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57150" cy="87630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D500E-97C7-422F-B02D-F7CB22068ACD}"/>
              </a:ext>
            </a:extLst>
          </p:cNvPr>
          <p:cNvSpPr>
            <a:spLocks noGrp="1"/>
          </p:cNvSpPr>
          <p:nvPr/>
        </p:nvSpPr>
        <p:spPr>
          <a:xfrm>
            <a:off x="857250" y="28194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1. Escrow Specification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129E90-3155-4A06-AF1D-9E3812B3206E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Structured trade terms, required documents, objection window, release rules.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363E27-A425-4D6D-AA20-C36A44B02799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2333625" cy="876300"/>
          </a:xfrm>
          <a:prstGeom prst="rect">
            <a:avLst/>
          </a:prstGeom>
          <a:solidFill>
            <a:srgbClr val="DCEFEB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45E463-9069-4BC5-8E63-AE909E46C09D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57150" cy="87630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52CB99-0B7F-4E77-965C-3D6638F7ECCD}"/>
              </a:ext>
            </a:extLst>
          </p:cNvPr>
          <p:cNvSpPr>
            <a:spLocks noGrp="1"/>
          </p:cNvSpPr>
          <p:nvPr/>
        </p:nvSpPr>
        <p:spPr>
          <a:xfrm>
            <a:off x="3619500" y="28194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2. Trade Escrow Agreement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74D830-9A9D-49D7-8194-B82350217F97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Buyer and seller accept the payment-release workflow and dispute path.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55A71B-0C0B-4F9C-8D0B-6F0E548C39D9}"/>
              </a:ext>
            </a:extLst>
          </p:cNvPr>
          <p:cNvSpPr>
            <a:spLocks noGrp="1"/>
          </p:cNvSpPr>
          <p:nvPr/>
        </p:nvSpPr>
        <p:spPr>
          <a:xfrm>
            <a:off x="6191250" y="2686050"/>
            <a:ext cx="2333625" cy="876300"/>
          </a:xfrm>
          <a:prstGeom prst="rect">
            <a:avLst/>
          </a:prstGeom>
          <a:solidFill>
            <a:srgbClr val="DDEAF5"/>
          </a:solidFill>
          <a:ln w="9525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82483-E0A2-4A16-89FC-C7BA9D143129}"/>
              </a:ext>
            </a:extLst>
          </p:cNvPr>
          <p:cNvSpPr>
            <a:spLocks noGrp="1"/>
          </p:cNvSpPr>
          <p:nvPr/>
        </p:nvSpPr>
        <p:spPr>
          <a:xfrm>
            <a:off x="6191250" y="2686050"/>
            <a:ext cx="57150" cy="8763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E970C4-0FBD-44E1-95B2-01B86BF60772}"/>
              </a:ext>
            </a:extLst>
          </p:cNvPr>
          <p:cNvSpPr>
            <a:spLocks noGrp="1"/>
          </p:cNvSpPr>
          <p:nvPr/>
        </p:nvSpPr>
        <p:spPr>
          <a:xfrm>
            <a:off x="6381750" y="28194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3. Submitted Documents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C92CAA-524D-42C8-BF3C-1CF88A37564D}"/>
              </a:ext>
            </a:extLst>
          </p:cNvPr>
          <p:cNvSpPr>
            <a:spLocks noGrp="1"/>
          </p:cNvSpPr>
          <p:nvPr/>
        </p:nvSpPr>
        <p:spPr>
          <a:xfrm>
            <a:off x="6381750" y="30861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Invoice, packing list, transport document, certificate where needed.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442F47-59E6-4BF6-BE5D-1ACAFA42D8C3}"/>
              </a:ext>
            </a:extLst>
          </p:cNvPr>
          <p:cNvSpPr>
            <a:spLocks noGrp="1"/>
          </p:cNvSpPr>
          <p:nvPr/>
        </p:nvSpPr>
        <p:spPr>
          <a:xfrm>
            <a:off x="8953500" y="2686050"/>
            <a:ext cx="2333625" cy="876300"/>
          </a:xfrm>
          <a:prstGeom prst="rect">
            <a:avLst/>
          </a:prstGeom>
          <a:solidFill>
            <a:srgbClr val="F4E8D2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C5EF57-433C-4671-B0BD-96513395E522}"/>
              </a:ext>
            </a:extLst>
          </p:cNvPr>
          <p:cNvSpPr>
            <a:spLocks noGrp="1"/>
          </p:cNvSpPr>
          <p:nvPr/>
        </p:nvSpPr>
        <p:spPr>
          <a:xfrm>
            <a:off x="8953500" y="2686050"/>
            <a:ext cx="57150" cy="87630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25EC64-7D55-4BBC-A80B-A135E0A91E34}"/>
              </a:ext>
            </a:extLst>
          </p:cNvPr>
          <p:cNvSpPr>
            <a:spLocks noGrp="1"/>
          </p:cNvSpPr>
          <p:nvPr/>
        </p:nvSpPr>
        <p:spPr>
          <a:xfrm>
            <a:off x="9144000" y="28194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4. Audit Trail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A93EB0-FA1F-4BDB-923B-5E898D970B37}"/>
              </a:ext>
            </a:extLst>
          </p:cNvPr>
          <p:cNvSpPr>
            <a:spLocks noGrp="1"/>
          </p:cNvSpPr>
          <p:nvPr/>
        </p:nvSpPr>
        <p:spPr>
          <a:xfrm>
            <a:off x="9144000" y="30861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Reviewer notes, buyer notice, objection clock, release instruction.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6611C4-599F-454C-BBB0-8D4626054743}"/>
              </a:ext>
            </a:extLst>
          </p:cNvPr>
          <p:cNvSpPr>
            <a:spLocks noGrp="1"/>
          </p:cNvSpPr>
          <p:nvPr/>
        </p:nvSpPr>
        <p:spPr>
          <a:xfrm>
            <a:off x="3028950" y="3114675"/>
            <a:ext cx="3619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1D796B-F4AC-47A2-945A-21EDBEE54B53}"/>
              </a:ext>
            </a:extLst>
          </p:cNvPr>
          <p:cNvSpPr>
            <a:spLocks noGrp="1"/>
          </p:cNvSpPr>
          <p:nvPr/>
        </p:nvSpPr>
        <p:spPr>
          <a:xfrm>
            <a:off x="5791200" y="3114675"/>
            <a:ext cx="3619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4A901D-02FE-4794-A58A-373F35120E20}"/>
              </a:ext>
            </a:extLst>
          </p:cNvPr>
          <p:cNvSpPr>
            <a:spLocks noGrp="1"/>
          </p:cNvSpPr>
          <p:nvPr/>
        </p:nvSpPr>
        <p:spPr>
          <a:xfrm>
            <a:off x="8553450" y="3114675"/>
            <a:ext cx="3619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43F194-E45D-40B4-86E8-66C1C36D5C67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43624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F4E5C7-1612-41BF-9EDD-8B3932341C6C}"/>
              </a:ext>
            </a:extLst>
          </p:cNvPr>
          <p:cNvSpPr>
            <a:spLocks noGrp="1"/>
          </p:cNvSpPr>
          <p:nvPr/>
        </p:nvSpPr>
        <p:spPr>
          <a:xfrm>
            <a:off x="1276350" y="43624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On-chain state stays narrow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4A9006-EC23-4449-903E-94443393FC3D}"/>
              </a:ext>
            </a:extLst>
          </p:cNvPr>
          <p:cNvSpPr>
            <a:spLocks noGrp="1"/>
          </p:cNvSpPr>
          <p:nvPr/>
        </p:nvSpPr>
        <p:spPr>
          <a:xfrm>
            <a:off x="1276350" y="46672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Created -&gt; Funded -&gt; ReleasePending -&gt; Released / Refunded / Disputed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740E81-F192-41AD-83C2-2627500D4C12}"/>
              </a:ext>
            </a:extLst>
          </p:cNvPr>
          <p:cNvSpPr>
            <a:spLocks noGrp="1"/>
          </p:cNvSpPr>
          <p:nvPr/>
        </p:nvSpPr>
        <p:spPr>
          <a:xfrm>
            <a:off x="5829300" y="4171950"/>
            <a:ext cx="43624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A59945-495B-4304-9CAF-99EC9EC01D7C}"/>
              </a:ext>
            </a:extLst>
          </p:cNvPr>
          <p:cNvSpPr>
            <a:spLocks noGrp="1"/>
          </p:cNvSpPr>
          <p:nvPr/>
        </p:nvSpPr>
        <p:spPr>
          <a:xfrm>
            <a:off x="6057900" y="43624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Off-chain review carries the nuance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A092C1-077B-4627-BA3A-47BDFC9888E6}"/>
              </a:ext>
            </a:extLst>
          </p:cNvPr>
          <p:cNvSpPr>
            <a:spLocks noGrp="1"/>
          </p:cNvSpPr>
          <p:nvPr/>
        </p:nvSpPr>
        <p:spPr>
          <a:xfrm>
            <a:off x="6057900" y="4667250"/>
            <a:ext cx="3562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Document intake, apparent compliance, sanctions checks, buyer objection validity, examiner escalation.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55769E-B3A0-449A-AF4F-F8182976ED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541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B039E0A-E4D4-494C-ABC6-4F5432DE3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6E86F81D-01C9-4E23-B17B-936807DB3964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545F81B6-0B2E-43F8-B4D1-A0D5C06EF221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6E336-C804-441C-AEF3-0819D2DFD556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dirty="0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wedge is narrow, but the gap behind it is enormous.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4BD7CE-439A-42CA-B607-68ADAC0E7EE3}"/>
              </a:ext>
            </a:extLst>
          </p:cNvPr>
          <p:cNvSpPr>
            <a:spLocks noGrp="1"/>
          </p:cNvSpPr>
          <p:nvPr/>
        </p:nvSpPr>
        <p:spPr>
          <a:xfrm>
            <a:off x="1238250" y="1559719"/>
            <a:ext cx="4953000" cy="4767262"/>
          </a:xfrm>
          <a:prstGeom prst="ellipse">
            <a:avLst/>
          </a:prstGeom>
          <a:solidFill>
            <a:srgbClr val="E3EEF5"/>
          </a:solidFill>
          <a:ln w="19050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46051D-70B9-4856-A116-0D5F7E926D6C}"/>
              </a:ext>
            </a:extLst>
          </p:cNvPr>
          <p:cNvSpPr>
            <a:spLocks noGrp="1"/>
          </p:cNvSpPr>
          <p:nvPr/>
        </p:nvSpPr>
        <p:spPr>
          <a:xfrm>
            <a:off x="1905000" y="2457449"/>
            <a:ext cx="3619500" cy="3337869"/>
          </a:xfrm>
          <a:prstGeom prst="ellipse">
            <a:avLst/>
          </a:prstGeom>
          <a:solidFill>
            <a:srgbClr val="DCEFEB"/>
          </a:solidFill>
          <a:ln w="19050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2E7BFF-7381-47EE-8C0E-8754006D1F2B}"/>
              </a:ext>
            </a:extLst>
          </p:cNvPr>
          <p:cNvSpPr>
            <a:spLocks noGrp="1"/>
          </p:cNvSpPr>
          <p:nvPr/>
        </p:nvSpPr>
        <p:spPr>
          <a:xfrm>
            <a:off x="2571750" y="3395663"/>
            <a:ext cx="2286000" cy="1752600"/>
          </a:xfrm>
          <a:prstGeom prst="ellipse">
            <a:avLst/>
          </a:prstGeom>
          <a:solidFill>
            <a:srgbClr val="F4E8D2"/>
          </a:solidFill>
          <a:ln w="19050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E8892-31EC-419B-8D73-E4AB66FBD806}"/>
              </a:ext>
            </a:extLst>
          </p:cNvPr>
          <p:cNvSpPr>
            <a:spLocks noGrp="1"/>
          </p:cNvSpPr>
          <p:nvPr/>
        </p:nvSpPr>
        <p:spPr>
          <a:xfrm>
            <a:off x="3152775" y="16002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F6FB2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09F0F-DBB8-48CF-B493-9D8937CD090A}"/>
              </a:ext>
            </a:extLst>
          </p:cNvPr>
          <p:cNvSpPr>
            <a:spLocks noGrp="1"/>
          </p:cNvSpPr>
          <p:nvPr/>
        </p:nvSpPr>
        <p:spPr>
          <a:xfrm>
            <a:off x="2905125" y="1847850"/>
            <a:ext cx="1638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$2.5T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D11A5-E0ED-4C0B-9747-0A4D531BF49C}"/>
              </a:ext>
            </a:extLst>
          </p:cNvPr>
          <p:cNvSpPr>
            <a:spLocks noGrp="1"/>
          </p:cNvSpPr>
          <p:nvPr/>
        </p:nvSpPr>
        <p:spPr>
          <a:xfrm>
            <a:off x="2657475" y="22860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global SME trade finance gap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327DE-FF5A-4F5A-81A6-BF83ECFF30BF}"/>
              </a:ext>
            </a:extLst>
          </p:cNvPr>
          <p:cNvSpPr>
            <a:spLocks noGrp="1"/>
          </p:cNvSpPr>
          <p:nvPr/>
        </p:nvSpPr>
        <p:spPr>
          <a:xfrm>
            <a:off x="3200400" y="250507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CAC0C-87C6-42AD-ABBE-9088536C5D10}"/>
              </a:ext>
            </a:extLst>
          </p:cNvPr>
          <p:cNvSpPr>
            <a:spLocks noGrp="1"/>
          </p:cNvSpPr>
          <p:nvPr/>
        </p:nvSpPr>
        <p:spPr>
          <a:xfrm>
            <a:off x="3086100" y="2752725"/>
            <a:ext cx="1257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$5B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25B80A-28A4-4FC3-B2F7-FF4CC335BB48}"/>
              </a:ext>
            </a:extLst>
          </p:cNvPr>
          <p:cNvSpPr>
            <a:spLocks noGrp="1"/>
          </p:cNvSpPr>
          <p:nvPr/>
        </p:nvSpPr>
        <p:spPr>
          <a:xfrm>
            <a:off x="2857500" y="31337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UAE SME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FE3B2-2B10-44F1-B786-DEC314A95D1E}"/>
              </a:ext>
            </a:extLst>
          </p:cNvPr>
          <p:cNvSpPr>
            <a:spLocks noGrp="1"/>
          </p:cNvSpPr>
          <p:nvPr/>
        </p:nvSpPr>
        <p:spPr>
          <a:xfrm>
            <a:off x="3162300" y="3857625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C77D18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9A6F2A-D7A2-49BA-A03B-89990691CB1C}"/>
              </a:ext>
            </a:extLst>
          </p:cNvPr>
          <p:cNvSpPr>
            <a:spLocks noGrp="1"/>
          </p:cNvSpPr>
          <p:nvPr/>
        </p:nvSpPr>
        <p:spPr>
          <a:xfrm>
            <a:off x="2686050" y="40481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$100-250M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2B73F2-298E-4193-97A0-923DF9E3CBC6}"/>
              </a:ext>
            </a:extLst>
          </p:cNvPr>
          <p:cNvSpPr>
            <a:spLocks noGrp="1"/>
          </p:cNvSpPr>
          <p:nvPr/>
        </p:nvSpPr>
        <p:spPr>
          <a:xfrm>
            <a:off x="7334250" y="2000250"/>
            <a:ext cx="33528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09C08-5214-445C-914E-003045391AF1}"/>
              </a:ext>
            </a:extLst>
          </p:cNvPr>
          <p:cNvSpPr>
            <a:spLocks noGrp="1"/>
          </p:cNvSpPr>
          <p:nvPr/>
        </p:nvSpPr>
        <p:spPr>
          <a:xfrm>
            <a:off x="7581900" y="22479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Beachhead logic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ECA5E6-BA8D-4B41-90E2-479DBF1D2270}"/>
              </a:ext>
            </a:extLst>
          </p:cNvPr>
          <p:cNvSpPr>
            <a:spLocks noGrp="1"/>
          </p:cNvSpPr>
          <p:nvPr/>
        </p:nvSpPr>
        <p:spPr>
          <a:xfrm>
            <a:off x="7581900" y="2686050"/>
            <a:ext cx="27432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1. UAE importers of Indian and Turkish textiles, garments, and consumer goods.</a:t>
            </a:r>
          </a:p>
          <a:p>
            <a:endParaRPr sz="1200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2. $10K-$50K shipments: too small for bank LCs, too large for trust-only payment.</a:t>
            </a:r>
          </a:p>
          <a:p>
            <a:endParaRPr sz="1200" b="0">
              <a:solidFill>
                <a:srgbClr val="1B2430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3. Repeat trade pattern creates retention surface.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80CFF7-9A9F-4E10-9949-5126A8087404}"/>
              </a:ext>
            </a:extLst>
          </p:cNvPr>
          <p:cNvSpPr>
            <a:spLocks noGrp="1"/>
          </p:cNvSpPr>
          <p:nvPr/>
        </p:nvSpPr>
        <p:spPr>
          <a:xfrm>
            <a:off x="7581900" y="44767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Where the gap bites hardest, and where regulators are most ready.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1FF3E9-3378-471E-9514-2286B763D86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5697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3095" y="365760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01752"/>
            <a:ext cx="685800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900" spc="140">
                <a:solidFill>
                  <a:srgbClr val="6B7280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548640"/>
            <a:ext cx="8686800" cy="4114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2200">
                <a:solidFill>
                  <a:srgbClr val="0B1B3A"/>
                </a:solidFill>
                <a:latin typeface="Aptos Display"/>
              </a:rPr>
              <a:t>Business Model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03504"/>
            <a:ext cx="3520440" cy="27432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sz="1000" i="1">
                <a:solidFill>
                  <a:srgbClr val="6B7280"/>
                </a:solidFill>
                <a:latin typeface="Aptos"/>
              </a:rPr>
              <a:t>Transakt — Pitch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095" y="1024128"/>
            <a:ext cx="11128248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2841498" cy="36576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1 · The Business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Where is the market gap, and how will you fill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The Problem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$2.5T global SME trade-finance gap (ADB 2025); ~45% rejected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Same fixed compliance cost on a $10K trade as a $5M trade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 ticket sizes uneconomic for banks at scale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Your Solution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UCP 600 documentary credit + stablecoin settlement, no issuing bank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Buyer escrow → seller documents → release on compliance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Six-layer document verification as the operational moat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7258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7258" y="1170432"/>
            <a:ext cx="2841498" cy="36576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6986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2 · Business 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6986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Brief outline of your 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6986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Regulated centralised operator: escrow + verification + settlement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Smart-contract escrow holds stablecoins vs documentary release rules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Mirrors UCP 600 Article 14 strict-compliance logic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Settles on USDC rails, not bank correspondent networks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Not a bank (no deposits/lending); not DeFi (compliance by design)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P1: escrow + KYB/KYC + dispute + 6-layer verification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P2: matching + reputation + bank white-label + yield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196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0196" y="1170432"/>
            <a:ext cx="2841498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924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3 · Target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9924" y="14630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Sector &amp; geography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 importers/exporters: UAE (primary) + KSA (parallel)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Corridors: UAE–India (CEPA), UAE–Türkiye, KSA–Pakistan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Ticket size $5K–$250K; repeatable low-to-medium value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Pain points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LC pricing + access barrier at SME tickets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Pre-shipment payment-trust gap; document fraud risk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Manual, paper-heavy, opaque; corridor FX friction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3134" y="11704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73134" y="1170432"/>
            <a:ext cx="2841498" cy="3657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2862" y="12618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4 · USPs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2862" y="14630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What makes you unique?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2862" y="1627632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Only UCP 600-aligned documentary credit on stablecoin rails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6-layer verification moat: intake→OCR→carrier→human→fraud DB→forensics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Self-pricing tiered model (speed vs cost-of-trust)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Gulf-native, regulator-ready (VARA, ADGM, DIFC, PTSR 2024)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SME-first pricing $5K–$250K, not $1M+ bank LCs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Regulated CeFi: not a bank, not DeFi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913632"/>
            <a:ext cx="2841498" cy="36576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5 ·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2062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C7A33"/>
                </a:solidFill>
                <a:latin typeface="Aptos"/>
              </a:rPr>
              <a:t>Streams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A. Settlement fee 0.5–1.0% per trade (tier-dependent)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B. SaaS/API: verification API (P1); bank white-label (P2)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C. Yield share on idle escrow (P2; BUIDL, Ondo)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2C7A33"/>
                </a:solidFill>
                <a:latin typeface="Aptos"/>
              </a:rPr>
              <a:t>Projected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Year 3 revenue: $400K–$1.0M (revised — see Slide 10)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Gross margin ~94% Tier A / ~36% Tier C / 60–70% blended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7258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7258" y="3913632"/>
            <a:ext cx="2841498" cy="36576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6986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6 ·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6986" y="4206240"/>
            <a:ext cx="2622041" cy="230428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7D18"/>
                </a:solidFill>
                <a:latin typeface="Aptos"/>
              </a:rPr>
              <a:t>Fixed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Engineering (contracts, review console, intake UI)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Compliance retainers (KYB/KYC, sanctions, DIFC/ADGM counsel)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Custody + security; forensics partner retainer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Carrier API integrations (DCSA: Maersk, MSC, CMA CGM…)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C77D18"/>
                </a:solidFill>
                <a:latin typeface="Aptos"/>
              </a:rPr>
              <a:t>Variable / deal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Examiner time; courier + forensics (Tier C)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On-chain gas; KYB/KYC per-onboarding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0196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40196" y="3913632"/>
            <a:ext cx="2841498" cy="365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9924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7 · Channels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9924" y="42062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How will you promote it?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9924" y="4370831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Direct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Gulf chambers (Dubai, Sharjah, Saudi Federation)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Freight forwarder referrals; DIFC Hive / ADGM RegLab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Trade events: Gulfood, GITEX, Dubai FinTech Summit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1F6FB2"/>
                </a:solidFill>
                <a:latin typeface="Aptos"/>
              </a:rPr>
              <a:t>Indirect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Fintech wallet integrations (white-label API)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VARA exchange merchant programmes; logistics API partners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3134" y="3913632"/>
            <a:ext cx="28414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73134" y="3913632"/>
            <a:ext cx="2841498" cy="36576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2862" y="4005072"/>
            <a:ext cx="2622041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1050" b="1">
                <a:solidFill>
                  <a:srgbClr val="0B1B3A"/>
                </a:solidFill>
                <a:latin typeface="Aptos"/>
              </a:rPr>
              <a:t>8 · Competition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2862" y="4206240"/>
            <a:ext cx="2622041" cy="182880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50" i="1">
                <a:solidFill>
                  <a:srgbClr val="6B7280"/>
                </a:solidFill>
                <a:latin typeface="Aptos"/>
              </a:rPr>
              <a:t>Competitors and their USPs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2862" y="4370831"/>
            <a:ext cx="2622041" cy="21396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Banks issuing LCs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HSBC, Emirates NBD, StanChart — trust, regulation, networks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Programmable escrow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XREX BitCheck (MAS-licensed, $400M+) — escrow + KYC, fast release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750" b="1">
                <a:solidFill>
                  <a:srgbClr val="0B1B3A"/>
                </a:solidFill>
                <a:latin typeface="Aptos"/>
              </a:rPr>
              <a:t>Stablecoin rails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333333"/>
                </a:solidFill>
                <a:latin typeface="Aptos"/>
              </a:rPr>
              <a:t>• Fasset ($51M Series B), Circle CPN — scale, clarity, 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37376"/>
            <a:ext cx="10058400" cy="201168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r>
              <a:rPr sz="600">
                <a:solidFill>
                  <a:srgbClr val="6B7280"/>
                </a:solidFill>
                <a:latin typeface="Aptos"/>
              </a:rPr>
              <a:t>Sources: ADB (2025); ICC UCP 600 (2007); ICC UAE Trade Finance Gap (2020); CBUAE PTSR (2024); XREX (2025); Fintech Global (2026).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046" y="6408604"/>
            <a:ext cx="552297" cy="138499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r"/>
            <a:r>
              <a:rPr lang="en-US" sz="900" b="1" dirty="0">
                <a:solidFill>
                  <a:srgbClr val="6B7280"/>
                </a:solidFill>
                <a:latin typeface="Aptos"/>
              </a:rPr>
              <a:t>07</a:t>
            </a:r>
            <a:endParaRPr sz="900" b="1" dirty="0">
              <a:solidFill>
                <a:srgbClr val="6B728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99263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CFC7245-F426-4B7C-A90B-95E5DFDB9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32ECFFE6-CDF4-4BB5-9EE0-AF6F59704513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2B0E90CB-A161-46E8-8901-876F0547EB9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A7FC7-C48E-4E87-A9E6-E18BAB9D841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Revenue starts transactional, then expands into APIs and verified-trade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364A7-8494-419B-B1E9-62ADEDE12A3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model is intentionally boring for Phase 1: charge for settlement orchestration and document review. Higher-margin partner APIs and yield share come only after the transaction base exists.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7CCC04-12C7-486A-A263-1957D9CE1398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FCE09-77C6-47CD-AC06-92CCEBF07563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48000" cy="66675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0165D-54DE-482A-93CB-8DC144596CF3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2F6ED-A722-4B51-A8D3-7EA342EDFDB2}"/>
              </a:ext>
            </a:extLst>
          </p:cNvPr>
          <p:cNvSpPr>
            <a:spLocks noGrp="1"/>
          </p:cNvSpPr>
          <p:nvPr/>
        </p:nvSpPr>
        <p:spPr>
          <a:xfrm>
            <a:off x="146685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Settlement fees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BFF95-CF35-4488-8D0F-3F041872F328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0.5%-1.0% per trade, tier-dependent. First deal discount only; standard pricing from deal two.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9FC3AC-22EE-4360-8D92-2E6F526D28AF}"/>
              </a:ext>
            </a:extLst>
          </p:cNvPr>
          <p:cNvSpPr>
            <a:spLocks noGrp="1"/>
          </p:cNvSpPr>
          <p:nvPr/>
        </p:nvSpPr>
        <p:spPr>
          <a:xfrm>
            <a:off x="97155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core revenue from day 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3FC44-9425-4C1E-B670-FD279C8BB48B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04B204-F192-44E6-88A4-0020F0267FB5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66675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B5CF2-CA99-4E10-8F95-B9DC57AEE403}"/>
              </a:ext>
            </a:extLst>
          </p:cNvPr>
          <p:cNvSpPr>
            <a:spLocks noGrp="1"/>
          </p:cNvSpPr>
          <p:nvPr/>
        </p:nvSpPr>
        <p:spPr>
          <a:xfrm>
            <a:off x="478155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D6D00-4112-4D7F-9A00-AE17163976EA}"/>
              </a:ext>
            </a:extLst>
          </p:cNvPr>
          <p:cNvSpPr>
            <a:spLocks noGrp="1"/>
          </p:cNvSpPr>
          <p:nvPr/>
        </p:nvSpPr>
        <p:spPr>
          <a:xfrm>
            <a:off x="529590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SaaS /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78E5CF-CDE6-4F12-B38C-946C3D13D755}"/>
              </a:ext>
            </a:extLst>
          </p:cNvPr>
          <p:cNvSpPr>
            <a:spLocks noGrp="1"/>
          </p:cNvSpPr>
          <p:nvPr/>
        </p:nvSpPr>
        <p:spPr>
          <a:xfrm>
            <a:off x="480060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Verification API and bank white-label rail once templates and review operations mature.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645EB8-38D7-4F2E-8E03-799A98398BCF}"/>
              </a:ext>
            </a:extLst>
          </p:cNvPr>
          <p:cNvSpPr>
            <a:spLocks noGrp="1"/>
          </p:cNvSpPr>
          <p:nvPr/>
        </p:nvSpPr>
        <p:spPr>
          <a:xfrm>
            <a:off x="480060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B2"/>
                </a:solidFill>
                <a:latin typeface="Aptos"/>
                <a:ea typeface="Aptos"/>
                <a:cs typeface="Aptos"/>
              </a:rPr>
              <a:t>partner revenue in Y1-Y3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CC2A0B-9ACC-469F-8279-5F8F67EB2DB7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3048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AD9F5-6FC2-4E64-90E7-67DFE3B7E31D}"/>
              </a:ext>
            </a:extLst>
          </p:cNvPr>
          <p:cNvSpPr>
            <a:spLocks noGrp="1"/>
          </p:cNvSpPr>
          <p:nvPr/>
        </p:nvSpPr>
        <p:spPr>
          <a:xfrm>
            <a:off x="8401050" y="2609850"/>
            <a:ext cx="3048000" cy="66675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1170D6-62F7-4B12-B63B-EF6FB3DDE9B5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419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CD84A-FA67-425B-98DC-15B987B137F6}"/>
              </a:ext>
            </a:extLst>
          </p:cNvPr>
          <p:cNvSpPr>
            <a:spLocks noGrp="1"/>
          </p:cNvSpPr>
          <p:nvPr/>
        </p:nvSpPr>
        <p:spPr>
          <a:xfrm>
            <a:off x="9124950" y="289560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Yield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A16E95-5115-42D3-86DC-A175C215E485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457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Optional later share on idle escrow via regulated yield infrastructure.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0A658F-88C7-4947-94D6-AF2CC16302B3}"/>
              </a:ext>
            </a:extLst>
          </p:cNvPr>
          <p:cNvSpPr>
            <a:spLocks noGrp="1"/>
          </p:cNvSpPr>
          <p:nvPr/>
        </p:nvSpPr>
        <p:spPr>
          <a:xfrm>
            <a:off x="8629650" y="39052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future upside, not base dependency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29439F-AA1B-479F-9713-F803AF3F0A88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87088B-50B6-4E74-B1D9-1258469B22F1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A54834-7861-4A9E-9835-E531018790F5}"/>
              </a:ext>
            </a:extLst>
          </p:cNvPr>
          <p:cNvSpPr>
            <a:spLocks noGrp="1"/>
          </p:cNvSpPr>
          <p:nvPr/>
        </p:nvSpPr>
        <p:spPr>
          <a:xfrm>
            <a:off x="112395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60%-70%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0E6FF2-C7F3-45AE-8595-52F357934042}"/>
              </a:ext>
            </a:extLst>
          </p:cNvPr>
          <p:cNvSpPr>
            <a:spLocks noGrp="1"/>
          </p:cNvSpPr>
          <p:nvPr/>
        </p:nvSpPr>
        <p:spPr>
          <a:xfrm>
            <a:off x="112395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blended gross margin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6D793F-9A01-41BE-837F-2F3AD6EA4C5E}"/>
              </a:ext>
            </a:extLst>
          </p:cNvPr>
          <p:cNvSpPr>
            <a:spLocks noGrp="1"/>
          </p:cNvSpPr>
          <p:nvPr/>
        </p:nvSpPr>
        <p:spPr>
          <a:xfrm>
            <a:off x="112395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rises as Tier A grows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DE4ABE-D574-48E1-B0EF-7E73187AD4CE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41DA7C-ACBA-423C-9BAC-3BBA721894CE}"/>
              </a:ext>
            </a:extLst>
          </p:cNvPr>
          <p:cNvSpPr>
            <a:spLocks noGrp="1"/>
          </p:cNvSpPr>
          <p:nvPr/>
        </p:nvSpPr>
        <p:spPr>
          <a:xfrm>
            <a:off x="3638550" y="48768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9A16C0-7D2B-47C4-A305-179DAB429F55}"/>
              </a:ext>
            </a:extLst>
          </p:cNvPr>
          <p:cNvSpPr>
            <a:spLocks noGrp="1"/>
          </p:cNvSpPr>
          <p:nvPr/>
        </p:nvSpPr>
        <p:spPr>
          <a:xfrm>
            <a:off x="384810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$25K-&gt;$50K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515AFD-455A-4E64-8D85-AD10FD0EA2A1}"/>
              </a:ext>
            </a:extLst>
          </p:cNvPr>
          <p:cNvSpPr>
            <a:spLocks noGrp="1"/>
          </p:cNvSpPr>
          <p:nvPr/>
        </p:nvSpPr>
        <p:spPr>
          <a:xfrm>
            <a:off x="384810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average ticket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075592-4F8D-42ED-8FC5-6B2DA5DB5F30}"/>
              </a:ext>
            </a:extLst>
          </p:cNvPr>
          <p:cNvSpPr>
            <a:spLocks noGrp="1"/>
          </p:cNvSpPr>
          <p:nvPr/>
        </p:nvSpPr>
        <p:spPr>
          <a:xfrm>
            <a:off x="384810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Y1 to Y3 base case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C75684-954F-42A1-B907-A321D2B887E1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23812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689177-35DC-4A56-8449-AFB8E88044F3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9A9E4E-7710-4B71-80EB-561B360FCE45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25-&gt;1,600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2F5600-65C1-4652-9F40-9883DE0BC48D}"/>
              </a:ext>
            </a:extLst>
          </p:cNvPr>
          <p:cNvSpPr>
            <a:spLocks noGrp="1"/>
          </p:cNvSpPr>
          <p:nvPr/>
        </p:nvSpPr>
        <p:spPr>
          <a:xfrm>
            <a:off x="6572250" y="53911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processed deals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ED317A-558B-4998-9194-61A59EAB520A}"/>
              </a:ext>
            </a:extLst>
          </p:cNvPr>
          <p:cNvSpPr>
            <a:spLocks noGrp="1"/>
          </p:cNvSpPr>
          <p:nvPr/>
        </p:nvSpPr>
        <p:spPr>
          <a:xfrm>
            <a:off x="6572250" y="56388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Y1 to Y3 range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9FE867-CA34-4B10-89F8-78674E57F654}"/>
              </a:ext>
            </a:extLst>
          </p:cNvPr>
          <p:cNvSpPr>
            <a:spLocks noGrp="1"/>
          </p:cNvSpPr>
          <p:nvPr/>
        </p:nvSpPr>
        <p:spPr>
          <a:xfrm>
            <a:off x="8991600" y="4876800"/>
            <a:ext cx="2095500" cy="1085850"/>
          </a:xfrm>
          <a:prstGeom prst="rect">
            <a:avLst/>
          </a:prstGeom>
          <a:solidFill>
            <a:srgbClr val="EEF6F4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6257C5-79CD-4162-8D48-9FB910FF96BD}"/>
              </a:ext>
            </a:extLst>
          </p:cNvPr>
          <p:cNvSpPr>
            <a:spLocks noGrp="1"/>
          </p:cNvSpPr>
          <p:nvPr/>
        </p:nvSpPr>
        <p:spPr>
          <a:xfrm>
            <a:off x="9163050" y="5029200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Product-to-financial linkage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2A123-768E-4D45-B6A9-8DAEE716AC70}"/>
              </a:ext>
            </a:extLst>
          </p:cNvPr>
          <p:cNvSpPr>
            <a:spLocks noGrp="1"/>
          </p:cNvSpPr>
          <p:nvPr/>
        </p:nvSpPr>
        <p:spPr>
          <a:xfrm>
            <a:off x="9163050" y="5276850"/>
            <a:ext cx="1657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Repeat deals lower onboarding friction and move customers toward faster, higher-margin document tiers.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AE3A3D-8539-47DC-BA99-C2C5F42F064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Pre-revenue, but the proof path is concrete and underway.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09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As a hackathon-stage venture the milestones are build-and-validation, not revenue. Each one de-risks the next funding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331720"/>
            <a:ext cx="45720" cy="12344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870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documentary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working on Base testnet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1334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1334" y="2331720"/>
            <a:ext cx="45720" cy="1234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2502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502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beachhead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502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UAE textile imports scoped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1966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31966" y="2331720"/>
            <a:ext cx="45720" cy="12344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3134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134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founding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134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mandates mapped &amp; owned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598" y="233172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02598" y="2331720"/>
            <a:ext cx="45720" cy="123444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03766" y="2487168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50" b="0">
                <a:solidFill>
                  <a:srgbClr val="0B1B3A"/>
                </a:solidFill>
                <a:latin typeface="Aptos Display"/>
              </a:rPr>
              <a:t>$2.5T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3766" y="2926080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1B2430"/>
                </a:solidFill>
                <a:latin typeface="Aptos"/>
              </a:rPr>
              <a:t>gap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3766" y="317296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ADB 2025 source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" y="3886200"/>
            <a:ext cx="10707624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702" y="40690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20">
                <a:solidFill>
                  <a:srgbClr val="6B7280"/>
                </a:solidFill>
                <a:latin typeface="Aptos"/>
              </a:rPr>
              <a:t>VALIDATION MILESTONES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0702" y="4434840"/>
            <a:ext cx="45720" cy="12344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1870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0E8C7F"/>
                </a:solidFill>
                <a:latin typeface="Aptos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Escrow spec + state model defined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1334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61334" y="4434840"/>
            <a:ext cx="45720" cy="1234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2502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1F6FB2"/>
                </a:solidFill>
                <a:latin typeface="Aptos"/>
              </a:rPr>
              <a:t>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2502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Testnet escrow + review console 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1966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31966" y="4434840"/>
            <a:ext cx="45720" cy="12344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3134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5A4FBF"/>
                </a:solidFill>
                <a:latin typeface="Aptos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3134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First forwarder-introduced pilot deal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02598" y="4434840"/>
            <a:ext cx="26334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02598" y="4434840"/>
            <a:ext cx="45720" cy="123444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03766" y="4590288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80">
                <a:solidFill>
                  <a:srgbClr val="C77D18"/>
                </a:solidFill>
                <a:latin typeface="Aptos"/>
              </a:rPr>
              <a:t>THEN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3766" y="4864608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0B1B3A"/>
                </a:solidFill>
                <a:latin typeface="Aptos"/>
              </a:rPr>
              <a:t>Repeat deal with reused KYB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702" y="594360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  <a:latin typeface="Aptos"/>
              </a:rPr>
              <a:t>Hackathon-stage venture: traction = build, validation, and beachhead readiness rather than booked revenue.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7EBD3C1-DEE0-42D2-83AF-9DC37D8F7A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A0DC87CB-FE9C-43E1-BEE4-CC8766D59A95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DB8D40D3-2287-491F-8065-85EEC1A58DC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54A5A-4352-46A0-8E20-630EF946AFA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Start with one corridor wedge, then let repeated trade compound trust.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FD2F09-A829-4078-9C52-02D790E949A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Founder-led BD is the right motion at Day 0: freight forwarders see the trust gap before banks do, and repeat shipments create a natural retention loop.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01F06-A583-4389-BFBE-3BEE3325999A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1F6F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863BC-BAA6-4CE9-90FE-023C74E518F8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Forwarder intro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7E854C-DF50-460D-AC16-EDDAD50A3AD9}"/>
              </a:ext>
            </a:extLst>
          </p:cNvPr>
          <p:cNvSpPr>
            <a:spLocks noGrp="1"/>
          </p:cNvSpPr>
          <p:nvPr/>
        </p:nvSpPr>
        <p:spPr>
          <a:xfrm>
            <a:off x="106680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warm lead from shipment friction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9359D-4C41-4793-8523-158F3C9644C7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0E412F-07F1-48B4-B828-B2BFB31F0146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First deal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B2420-8D41-4D3B-A026-001E2CFB6BF8}"/>
              </a:ext>
            </a:extLst>
          </p:cNvPr>
          <p:cNvSpPr>
            <a:spLocks noGrp="1"/>
          </p:cNvSpPr>
          <p:nvPr/>
        </p:nvSpPr>
        <p:spPr>
          <a:xfrm>
            <a:off x="356235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50% discount and white-glove onboarding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95702-9682-4681-8843-6A2DABC647CB}"/>
              </a:ext>
            </a:extLst>
          </p:cNvPr>
          <p:cNvSpPr>
            <a:spLocks noGrp="1"/>
          </p:cNvSpPr>
          <p:nvPr/>
        </p:nvSpPr>
        <p:spPr>
          <a:xfrm>
            <a:off x="588645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5A4F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78494-8C44-416A-AAC5-30CB8665D74F}"/>
              </a:ext>
            </a:extLst>
          </p:cNvPr>
          <p:cNvSpPr>
            <a:spLocks noGrp="1"/>
          </p:cNvSpPr>
          <p:nvPr/>
        </p:nvSpPr>
        <p:spPr>
          <a:xfrm>
            <a:off x="605790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KYB reused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76EBA-D3A7-4B74-AFDD-5755D612567F}"/>
              </a:ext>
            </a:extLst>
          </p:cNvPr>
          <p:cNvSpPr>
            <a:spLocks noGrp="1"/>
          </p:cNvSpPr>
          <p:nvPr/>
        </p:nvSpPr>
        <p:spPr>
          <a:xfrm>
            <a:off x="605790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deal two starts with lower friction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027EF3-9F4F-41EE-97C0-A3607BA29E05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A513E2-BEA4-4550-82EA-69D5833FAC04}"/>
              </a:ext>
            </a:extLst>
          </p:cNvPr>
          <p:cNvSpPr>
            <a:spLocks noGrp="1"/>
          </p:cNvSpPr>
          <p:nvPr/>
        </p:nvSpPr>
        <p:spPr>
          <a:xfrm>
            <a:off x="8553450" y="2990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Verified 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DD4E12-2143-43BE-A21A-B207F3521D7F}"/>
              </a:ext>
            </a:extLst>
          </p:cNvPr>
          <p:cNvSpPr>
            <a:spLocks noGrp="1"/>
          </p:cNvSpPr>
          <p:nvPr/>
        </p:nvSpPr>
        <p:spPr>
          <a:xfrm>
            <a:off x="8553450" y="32385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counterparty reputation travels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FED9B2-F0D8-439C-AA92-1445DDE1BB42}"/>
              </a:ext>
            </a:extLst>
          </p:cNvPr>
          <p:cNvSpPr>
            <a:spLocks noGrp="1"/>
          </p:cNvSpPr>
          <p:nvPr/>
        </p:nvSpPr>
        <p:spPr>
          <a:xfrm>
            <a:off x="270510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CD4B4-7B2C-4EB4-A919-6C40530BCFA4}"/>
              </a:ext>
            </a:extLst>
          </p:cNvPr>
          <p:cNvSpPr>
            <a:spLocks noGrp="1"/>
          </p:cNvSpPr>
          <p:nvPr/>
        </p:nvSpPr>
        <p:spPr>
          <a:xfrm>
            <a:off x="520065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FDEE8-405A-4EE2-A66D-C78BDCB4DB82}"/>
              </a:ext>
            </a:extLst>
          </p:cNvPr>
          <p:cNvSpPr>
            <a:spLocks noGrp="1"/>
          </p:cNvSpPr>
          <p:nvPr/>
        </p:nvSpPr>
        <p:spPr>
          <a:xfrm>
            <a:off x="7696200" y="3248025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F8B61-F718-43D1-BBC4-A58A539841C4}"/>
              </a:ext>
            </a:extLst>
          </p:cNvPr>
          <p:cNvSpPr>
            <a:spLocks noGrp="1"/>
          </p:cNvSpPr>
          <p:nvPr/>
        </p:nvSpPr>
        <p:spPr>
          <a:xfrm>
            <a:off x="9286875" y="3657600"/>
            <a:ext cx="19050" cy="7048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F0B92C-D8F9-4E79-A7F3-260E23934F64}"/>
              </a:ext>
            </a:extLst>
          </p:cNvPr>
          <p:cNvSpPr>
            <a:spLocks noGrp="1"/>
          </p:cNvSpPr>
          <p:nvPr/>
        </p:nvSpPr>
        <p:spPr>
          <a:xfrm>
            <a:off x="1809750" y="4362450"/>
            <a:ext cx="7477125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AE51B3-0FD5-4DD3-9AAB-994430179CC8}"/>
              </a:ext>
            </a:extLst>
          </p:cNvPr>
          <p:cNvSpPr>
            <a:spLocks noGrp="1"/>
          </p:cNvSpPr>
          <p:nvPr/>
        </p:nvSpPr>
        <p:spPr>
          <a:xfrm>
            <a:off x="1809750" y="3657600"/>
            <a:ext cx="19050" cy="7048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18434F-AC5E-4367-B7AB-97B62BEF1AAB}"/>
              </a:ext>
            </a:extLst>
          </p:cNvPr>
          <p:cNvSpPr>
            <a:spLocks noGrp="1"/>
          </p:cNvSpPr>
          <p:nvPr/>
        </p:nvSpPr>
        <p:spPr>
          <a:xfrm>
            <a:off x="1485900" y="4819650"/>
            <a:ext cx="73342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77D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2370B-1A2D-4798-98D1-93F3464191D2}"/>
              </a:ext>
            </a:extLst>
          </p:cNvPr>
          <p:cNvSpPr>
            <a:spLocks noGrp="1"/>
          </p:cNvSpPr>
          <p:nvPr/>
        </p:nvSpPr>
        <p:spPr>
          <a:xfrm>
            <a:off x="1485900" y="4819650"/>
            <a:ext cx="57150" cy="323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4C432E-D2C9-49B6-B2CA-25950A595328}"/>
              </a:ext>
            </a:extLst>
          </p:cNvPr>
          <p:cNvSpPr>
            <a:spLocks noGrp="1"/>
          </p:cNvSpPr>
          <p:nvPr/>
        </p:nvSpPr>
        <p:spPr>
          <a:xfrm>
            <a:off x="1638300" y="4886325"/>
            <a:ext cx="7105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Beachhead: UAE importers of Indian and Turkish textiles, garments, and consumer goods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F7CFAC-2A31-445D-B753-655BC53D270A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98679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D87BFF-2039-4423-8984-2A300CA9134E}"/>
              </a:ext>
            </a:extLst>
          </p:cNvPr>
          <p:cNvSpPr>
            <a:spLocks noGrp="1"/>
          </p:cNvSpPr>
          <p:nvPr/>
        </p:nvSpPr>
        <p:spPr>
          <a:xfrm>
            <a:off x="1066800" y="5791200"/>
            <a:ext cx="923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Why it works: repeat shipments, same documents, warm intros, stablecoin familiarity, and SME LC pain.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0E6365-50B1-4350-89D2-D2E5BE22BF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99862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69E0E56C-B126-4990-BEF3-DE207479F9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BCA4E40-34F9-4E2C-95A1-AEED5C432C7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E7D461EE-F642-4F07-AA5E-17B2B93B7C34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COMPETITION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33E29-5C1C-45AC-9332-510A78F43AB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Blockmediary combines categories competitors leave separate.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400EED-C797-4C6E-9E1B-A2A687D2E377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Banks understand documents but cannot serve the SME dead zone economically. Stablecoin rails move funds quickly but do not govern documentary release.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993F8-E473-421A-85F5-365130ACD308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781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C0720-CD18-43F2-BF34-274864A22349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25527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C6DE5A-B19E-4EDD-A578-CA214071CBEA}"/>
              </a:ext>
            </a:extLst>
          </p:cNvPr>
          <p:cNvSpPr>
            <a:spLocks noGrp="1"/>
          </p:cNvSpPr>
          <p:nvPr/>
        </p:nvSpPr>
        <p:spPr>
          <a:xfrm>
            <a:off x="3467100" y="2533650"/>
            <a:ext cx="1714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E73996-91B7-4169-B5F9-DB1A472270A8}"/>
              </a:ext>
            </a:extLst>
          </p:cNvPr>
          <p:cNvSpPr>
            <a:spLocks noGrp="1"/>
          </p:cNvSpPr>
          <p:nvPr/>
        </p:nvSpPr>
        <p:spPr>
          <a:xfrm>
            <a:off x="3581400" y="2657475"/>
            <a:ext cx="14859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Banks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03947-2136-40FA-91D1-C0B22B6E6CFC}"/>
              </a:ext>
            </a:extLst>
          </p:cNvPr>
          <p:cNvSpPr>
            <a:spLocks noGrp="1"/>
          </p:cNvSpPr>
          <p:nvPr/>
        </p:nvSpPr>
        <p:spPr>
          <a:xfrm>
            <a:off x="5181600" y="2533650"/>
            <a:ext cx="1952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8037E-935E-41D2-8D34-6824FC103198}"/>
              </a:ext>
            </a:extLst>
          </p:cNvPr>
          <p:cNvSpPr>
            <a:spLocks noGrp="1"/>
          </p:cNvSpPr>
          <p:nvPr/>
        </p:nvSpPr>
        <p:spPr>
          <a:xfrm>
            <a:off x="5295900" y="265747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Programmable escrow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70DBA-3DC3-4E69-B4FB-5492986CFB33}"/>
              </a:ext>
            </a:extLst>
          </p:cNvPr>
          <p:cNvSpPr>
            <a:spLocks noGrp="1"/>
          </p:cNvSpPr>
          <p:nvPr/>
        </p:nvSpPr>
        <p:spPr>
          <a:xfrm>
            <a:off x="7134225" y="253365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D3BEB-E866-4DF3-8849-2EDCC74B2497}"/>
              </a:ext>
            </a:extLst>
          </p:cNvPr>
          <p:cNvSpPr>
            <a:spLocks noGrp="1"/>
          </p:cNvSpPr>
          <p:nvPr/>
        </p:nvSpPr>
        <p:spPr>
          <a:xfrm>
            <a:off x="7248525" y="2657475"/>
            <a:ext cx="1771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Stablecoin rails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B7EF4-5115-4A02-9EFC-240ADAADE62D}"/>
              </a:ext>
            </a:extLst>
          </p:cNvPr>
          <p:cNvSpPr>
            <a:spLocks noGrp="1"/>
          </p:cNvSpPr>
          <p:nvPr/>
        </p:nvSpPr>
        <p:spPr>
          <a:xfrm>
            <a:off x="9134475" y="2533650"/>
            <a:ext cx="1762125" cy="400050"/>
          </a:xfrm>
          <a:prstGeom prst="rect">
            <a:avLst/>
          </a:prstGeom>
          <a:solidFill>
            <a:srgbClr val="0B1B3A"/>
          </a:solidFill>
          <a:ln w="9525">
            <a:solidFill>
              <a:srgbClr val="0B1B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9EC04-C05B-4F1E-95A3-00F92CF1C42C}"/>
              </a:ext>
            </a:extLst>
          </p:cNvPr>
          <p:cNvSpPr>
            <a:spLocks noGrp="1"/>
          </p:cNvSpPr>
          <p:nvPr/>
        </p:nvSpPr>
        <p:spPr>
          <a:xfrm>
            <a:off x="9248775" y="2657475"/>
            <a:ext cx="15335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Blockmediary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3D1A1A-7AC1-4D9A-9D84-62674CF3A112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C2FED-5B88-4D49-B71A-B4659C2D97AE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Documentary release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6A1D3-B0C6-4C6D-BEEA-1B292EFB4C87}"/>
              </a:ext>
            </a:extLst>
          </p:cNvPr>
          <p:cNvSpPr>
            <a:spLocks noGrp="1"/>
          </p:cNvSpPr>
          <p:nvPr/>
        </p:nvSpPr>
        <p:spPr>
          <a:xfrm>
            <a:off x="3467100" y="2933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432A1C-5A4E-4466-A640-BF44FDC86E1B}"/>
              </a:ext>
            </a:extLst>
          </p:cNvPr>
          <p:cNvSpPr>
            <a:spLocks noGrp="1"/>
          </p:cNvSpPr>
          <p:nvPr/>
        </p:nvSpPr>
        <p:spPr>
          <a:xfrm>
            <a:off x="3581400" y="3048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D6B03A-ECC3-4933-97A4-0E0820B4F115}"/>
              </a:ext>
            </a:extLst>
          </p:cNvPr>
          <p:cNvSpPr>
            <a:spLocks noGrp="1"/>
          </p:cNvSpPr>
          <p:nvPr/>
        </p:nvSpPr>
        <p:spPr>
          <a:xfrm>
            <a:off x="5181600" y="2933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8CA2DA-3E43-424A-9F86-F4293FDC2F1F}"/>
              </a:ext>
            </a:extLst>
          </p:cNvPr>
          <p:cNvSpPr>
            <a:spLocks noGrp="1"/>
          </p:cNvSpPr>
          <p:nvPr/>
        </p:nvSpPr>
        <p:spPr>
          <a:xfrm>
            <a:off x="5295900" y="3048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8EDFDC-9AE7-4EE2-BCE6-D7046ACF5E5E}"/>
              </a:ext>
            </a:extLst>
          </p:cNvPr>
          <p:cNvSpPr>
            <a:spLocks noGrp="1"/>
          </p:cNvSpPr>
          <p:nvPr/>
        </p:nvSpPr>
        <p:spPr>
          <a:xfrm>
            <a:off x="7134225" y="2933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EB5BD3-7E9F-4ADB-9282-E533E9401C5B}"/>
              </a:ext>
            </a:extLst>
          </p:cNvPr>
          <p:cNvSpPr>
            <a:spLocks noGrp="1"/>
          </p:cNvSpPr>
          <p:nvPr/>
        </p:nvSpPr>
        <p:spPr>
          <a:xfrm>
            <a:off x="7248525" y="3048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73CAF-8FDB-448E-972C-1F9960794FEA}"/>
              </a:ext>
            </a:extLst>
          </p:cNvPr>
          <p:cNvSpPr>
            <a:spLocks noGrp="1"/>
          </p:cNvSpPr>
          <p:nvPr/>
        </p:nvSpPr>
        <p:spPr>
          <a:xfrm>
            <a:off x="9134475" y="2933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B8C862-41E8-41F1-8839-1EB0D2700108}"/>
              </a:ext>
            </a:extLst>
          </p:cNvPr>
          <p:cNvSpPr>
            <a:spLocks noGrp="1"/>
          </p:cNvSpPr>
          <p:nvPr/>
        </p:nvSpPr>
        <p:spPr>
          <a:xfrm>
            <a:off x="9248775" y="3048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841F9C-E750-4C02-9950-E0A45292FB24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7CC358-76DC-40F4-950C-AC19D0A4C840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Stablecoin settlement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D20D4C-8706-4523-8714-C45255F680B9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A2F7F5-1EF3-417C-9C91-383A59E9881E}"/>
              </a:ext>
            </a:extLst>
          </p:cNvPr>
          <p:cNvSpPr>
            <a:spLocks noGrp="1"/>
          </p:cNvSpPr>
          <p:nvPr/>
        </p:nvSpPr>
        <p:spPr>
          <a:xfrm>
            <a:off x="3581400" y="3429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4D97C1-6447-43C9-B935-F1DF4FDA4CC4}"/>
              </a:ext>
            </a:extLst>
          </p:cNvPr>
          <p:cNvSpPr>
            <a:spLocks noGrp="1"/>
          </p:cNvSpPr>
          <p:nvPr/>
        </p:nvSpPr>
        <p:spPr>
          <a:xfrm>
            <a:off x="5181600" y="3314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716932-7016-4F0D-B093-A66656EE0A19}"/>
              </a:ext>
            </a:extLst>
          </p:cNvPr>
          <p:cNvSpPr>
            <a:spLocks noGrp="1"/>
          </p:cNvSpPr>
          <p:nvPr/>
        </p:nvSpPr>
        <p:spPr>
          <a:xfrm>
            <a:off x="5295900" y="3429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BEB3F-89A1-4308-80D6-C7B1CB045195}"/>
              </a:ext>
            </a:extLst>
          </p:cNvPr>
          <p:cNvSpPr>
            <a:spLocks noGrp="1"/>
          </p:cNvSpPr>
          <p:nvPr/>
        </p:nvSpPr>
        <p:spPr>
          <a:xfrm>
            <a:off x="7134225" y="3314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53920-15A7-46E9-8D04-2E6545D9374B}"/>
              </a:ext>
            </a:extLst>
          </p:cNvPr>
          <p:cNvSpPr>
            <a:spLocks noGrp="1"/>
          </p:cNvSpPr>
          <p:nvPr/>
        </p:nvSpPr>
        <p:spPr>
          <a:xfrm>
            <a:off x="7248525" y="3429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4249A4-6CB4-4897-92C2-1BA6393F91D7}"/>
              </a:ext>
            </a:extLst>
          </p:cNvPr>
          <p:cNvSpPr>
            <a:spLocks noGrp="1"/>
          </p:cNvSpPr>
          <p:nvPr/>
        </p:nvSpPr>
        <p:spPr>
          <a:xfrm>
            <a:off x="9134475" y="3314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ECF69C-0B0A-4E47-9B9F-5FC08618C998}"/>
              </a:ext>
            </a:extLst>
          </p:cNvPr>
          <p:cNvSpPr>
            <a:spLocks noGrp="1"/>
          </p:cNvSpPr>
          <p:nvPr/>
        </p:nvSpPr>
        <p:spPr>
          <a:xfrm>
            <a:off x="9248775" y="3429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41D469-27FD-4CB0-8F20-4D908432D3DE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DAAC9E-FA4C-4365-9A05-83CE1A6C95E6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SME ticket sizes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A4ACB7-1973-4B05-A106-563B12DCB62B}"/>
              </a:ext>
            </a:extLst>
          </p:cNvPr>
          <p:cNvSpPr>
            <a:spLocks noGrp="1"/>
          </p:cNvSpPr>
          <p:nvPr/>
        </p:nvSpPr>
        <p:spPr>
          <a:xfrm>
            <a:off x="3467100" y="3695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0079E9-C1C8-4A3A-A045-917076F96083}"/>
              </a:ext>
            </a:extLst>
          </p:cNvPr>
          <p:cNvSpPr>
            <a:spLocks noGrp="1"/>
          </p:cNvSpPr>
          <p:nvPr/>
        </p:nvSpPr>
        <p:spPr>
          <a:xfrm>
            <a:off x="3581400" y="3810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98A9D7-7B6F-4F2B-BD7D-6A68E322DE7B}"/>
              </a:ext>
            </a:extLst>
          </p:cNvPr>
          <p:cNvSpPr>
            <a:spLocks noGrp="1"/>
          </p:cNvSpPr>
          <p:nvPr/>
        </p:nvSpPr>
        <p:spPr>
          <a:xfrm>
            <a:off x="5181600" y="3695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7A2292-AA6A-460D-B80E-1329737C6A25}"/>
              </a:ext>
            </a:extLst>
          </p:cNvPr>
          <p:cNvSpPr>
            <a:spLocks noGrp="1"/>
          </p:cNvSpPr>
          <p:nvPr/>
        </p:nvSpPr>
        <p:spPr>
          <a:xfrm>
            <a:off x="5295900" y="3810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912DCE-BA5C-4D59-BA02-EF4974792EDE}"/>
              </a:ext>
            </a:extLst>
          </p:cNvPr>
          <p:cNvSpPr>
            <a:spLocks noGrp="1"/>
          </p:cNvSpPr>
          <p:nvPr/>
        </p:nvSpPr>
        <p:spPr>
          <a:xfrm>
            <a:off x="7134225" y="3695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4A83F0-DB4A-4B5D-B6B5-F16F2F90EA2F}"/>
              </a:ext>
            </a:extLst>
          </p:cNvPr>
          <p:cNvSpPr>
            <a:spLocks noGrp="1"/>
          </p:cNvSpPr>
          <p:nvPr/>
        </p:nvSpPr>
        <p:spPr>
          <a:xfrm>
            <a:off x="7248525" y="3810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5B5783-2333-4C5B-BFD0-95A0488A4A54}"/>
              </a:ext>
            </a:extLst>
          </p:cNvPr>
          <p:cNvSpPr>
            <a:spLocks noGrp="1"/>
          </p:cNvSpPr>
          <p:nvPr/>
        </p:nvSpPr>
        <p:spPr>
          <a:xfrm>
            <a:off x="9134475" y="3695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5A040F-711A-4D29-B67B-E5DAE5CE9B14}"/>
              </a:ext>
            </a:extLst>
          </p:cNvPr>
          <p:cNvSpPr>
            <a:spLocks noGrp="1"/>
          </p:cNvSpPr>
          <p:nvPr/>
        </p:nvSpPr>
        <p:spPr>
          <a:xfrm>
            <a:off x="9248775" y="3810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21D63F-329E-4C68-B8C0-0B336E717F9B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4C95A2-0304-4700-BD60-4BB134E5F4DB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Document verification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EFC741-3CBB-4CCD-888C-FECBB0335BBA}"/>
              </a:ext>
            </a:extLst>
          </p:cNvPr>
          <p:cNvSpPr>
            <a:spLocks noGrp="1"/>
          </p:cNvSpPr>
          <p:nvPr/>
        </p:nvSpPr>
        <p:spPr>
          <a:xfrm>
            <a:off x="3467100" y="4076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F57EC9-FDD1-4DE4-9DF9-4B57BE214550}"/>
              </a:ext>
            </a:extLst>
          </p:cNvPr>
          <p:cNvSpPr>
            <a:spLocks noGrp="1"/>
          </p:cNvSpPr>
          <p:nvPr/>
        </p:nvSpPr>
        <p:spPr>
          <a:xfrm>
            <a:off x="3581400" y="4191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913A5F-00B6-41B9-A404-3B44BEC6C104}"/>
              </a:ext>
            </a:extLst>
          </p:cNvPr>
          <p:cNvSpPr>
            <a:spLocks noGrp="1"/>
          </p:cNvSpPr>
          <p:nvPr/>
        </p:nvSpPr>
        <p:spPr>
          <a:xfrm>
            <a:off x="5181600" y="4076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EBA353-162F-433B-BDBF-A84339F40D1D}"/>
              </a:ext>
            </a:extLst>
          </p:cNvPr>
          <p:cNvSpPr>
            <a:spLocks noGrp="1"/>
          </p:cNvSpPr>
          <p:nvPr/>
        </p:nvSpPr>
        <p:spPr>
          <a:xfrm>
            <a:off x="5295900" y="4191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066AB2-5C01-4624-B8EF-DF8BB241EFA8}"/>
              </a:ext>
            </a:extLst>
          </p:cNvPr>
          <p:cNvSpPr>
            <a:spLocks noGrp="1"/>
          </p:cNvSpPr>
          <p:nvPr/>
        </p:nvSpPr>
        <p:spPr>
          <a:xfrm>
            <a:off x="7134225" y="4076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3F190E-A4DF-47E0-B173-3DD31AD415BF}"/>
              </a:ext>
            </a:extLst>
          </p:cNvPr>
          <p:cNvSpPr>
            <a:spLocks noGrp="1"/>
          </p:cNvSpPr>
          <p:nvPr/>
        </p:nvSpPr>
        <p:spPr>
          <a:xfrm>
            <a:off x="7248525" y="4191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72BBAA-F19C-4527-9232-D22B88EA449E}"/>
              </a:ext>
            </a:extLst>
          </p:cNvPr>
          <p:cNvSpPr>
            <a:spLocks noGrp="1"/>
          </p:cNvSpPr>
          <p:nvPr/>
        </p:nvSpPr>
        <p:spPr>
          <a:xfrm>
            <a:off x="9134475" y="4076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F14CEB-BF6B-4FD6-B3AC-2C6288657D45}"/>
              </a:ext>
            </a:extLst>
          </p:cNvPr>
          <p:cNvSpPr>
            <a:spLocks noGrp="1"/>
          </p:cNvSpPr>
          <p:nvPr/>
        </p:nvSpPr>
        <p:spPr>
          <a:xfrm>
            <a:off x="9248775" y="4191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09D7F7-6821-4370-B848-563FD0E04DBB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DC0F48-C2C7-4612-B961-0509CC72A15A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Defined dispute path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8F0D86-ABEB-4FB3-875D-50C93602416F}"/>
              </a:ext>
            </a:extLst>
          </p:cNvPr>
          <p:cNvSpPr>
            <a:spLocks noGrp="1"/>
          </p:cNvSpPr>
          <p:nvPr/>
        </p:nvSpPr>
        <p:spPr>
          <a:xfrm>
            <a:off x="3467100" y="4457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5ABFA5D-D691-4EDF-B35B-7C2647194AB9}"/>
              </a:ext>
            </a:extLst>
          </p:cNvPr>
          <p:cNvSpPr>
            <a:spLocks noGrp="1"/>
          </p:cNvSpPr>
          <p:nvPr/>
        </p:nvSpPr>
        <p:spPr>
          <a:xfrm>
            <a:off x="3581400" y="4572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7B768BB-0C9F-48A3-ABE1-B2FEF98C386E}"/>
              </a:ext>
            </a:extLst>
          </p:cNvPr>
          <p:cNvSpPr>
            <a:spLocks noGrp="1"/>
          </p:cNvSpPr>
          <p:nvPr/>
        </p:nvSpPr>
        <p:spPr>
          <a:xfrm>
            <a:off x="5181600" y="4457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44D7D5-AF3B-4778-AE64-1927A9D60850}"/>
              </a:ext>
            </a:extLst>
          </p:cNvPr>
          <p:cNvSpPr>
            <a:spLocks noGrp="1"/>
          </p:cNvSpPr>
          <p:nvPr/>
        </p:nvSpPr>
        <p:spPr>
          <a:xfrm>
            <a:off x="5295900" y="4572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3B3BEB-D65B-46F7-8F21-BA65AD602E8D}"/>
              </a:ext>
            </a:extLst>
          </p:cNvPr>
          <p:cNvSpPr>
            <a:spLocks noGrp="1"/>
          </p:cNvSpPr>
          <p:nvPr/>
        </p:nvSpPr>
        <p:spPr>
          <a:xfrm>
            <a:off x="7134225" y="4457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566FCB-4D31-4D15-8F7C-0FEB45B31021}"/>
              </a:ext>
            </a:extLst>
          </p:cNvPr>
          <p:cNvSpPr>
            <a:spLocks noGrp="1"/>
          </p:cNvSpPr>
          <p:nvPr/>
        </p:nvSpPr>
        <p:spPr>
          <a:xfrm>
            <a:off x="7248525" y="4572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080A55-A6D4-432D-AE34-D6D82F162F12}"/>
              </a:ext>
            </a:extLst>
          </p:cNvPr>
          <p:cNvSpPr>
            <a:spLocks noGrp="1"/>
          </p:cNvSpPr>
          <p:nvPr/>
        </p:nvSpPr>
        <p:spPr>
          <a:xfrm>
            <a:off x="9134475" y="4457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7588FA9-5874-45D0-9224-DA0E752692D8}"/>
              </a:ext>
            </a:extLst>
          </p:cNvPr>
          <p:cNvSpPr>
            <a:spLocks noGrp="1"/>
          </p:cNvSpPr>
          <p:nvPr/>
        </p:nvSpPr>
        <p:spPr>
          <a:xfrm>
            <a:off x="9248775" y="4572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232FD8-7145-44A7-A2EA-4F74BDA92612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27813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AC59F52-1BD1-449A-9229-9F0D9F9F88AD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Gulf regulatory fit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E5A800-A5DA-485C-B47D-9DB29523B948}"/>
              </a:ext>
            </a:extLst>
          </p:cNvPr>
          <p:cNvSpPr>
            <a:spLocks noGrp="1"/>
          </p:cNvSpPr>
          <p:nvPr/>
        </p:nvSpPr>
        <p:spPr>
          <a:xfrm>
            <a:off x="3467100" y="4838700"/>
            <a:ext cx="171450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95CFAC-D23E-453D-97B0-D5EDBCDE9D54}"/>
              </a:ext>
            </a:extLst>
          </p:cNvPr>
          <p:cNvSpPr>
            <a:spLocks noGrp="1"/>
          </p:cNvSpPr>
          <p:nvPr/>
        </p:nvSpPr>
        <p:spPr>
          <a:xfrm>
            <a:off x="3581400" y="4953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F68A90-3612-40DA-94D2-E7339DD4C5BD}"/>
              </a:ext>
            </a:extLst>
          </p:cNvPr>
          <p:cNvSpPr>
            <a:spLocks noGrp="1"/>
          </p:cNvSpPr>
          <p:nvPr/>
        </p:nvSpPr>
        <p:spPr>
          <a:xfrm>
            <a:off x="5181600" y="4838700"/>
            <a:ext cx="1952625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F6DF618-B84A-4121-A413-830BE941A6D8}"/>
              </a:ext>
            </a:extLst>
          </p:cNvPr>
          <p:cNvSpPr>
            <a:spLocks noGrp="1"/>
          </p:cNvSpPr>
          <p:nvPr/>
        </p:nvSpPr>
        <p:spPr>
          <a:xfrm>
            <a:off x="5295900" y="4953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5C9862B-76F0-4901-A528-596A91693C84}"/>
              </a:ext>
            </a:extLst>
          </p:cNvPr>
          <p:cNvSpPr>
            <a:spLocks noGrp="1"/>
          </p:cNvSpPr>
          <p:nvPr/>
        </p:nvSpPr>
        <p:spPr>
          <a:xfrm>
            <a:off x="7134225" y="4838700"/>
            <a:ext cx="2000250" cy="3810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AA72416-3F15-45B4-A1EE-E3FAB89119AB}"/>
              </a:ext>
            </a:extLst>
          </p:cNvPr>
          <p:cNvSpPr>
            <a:spLocks noGrp="1"/>
          </p:cNvSpPr>
          <p:nvPr/>
        </p:nvSpPr>
        <p:spPr>
          <a:xfrm>
            <a:off x="7248525" y="4953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C77D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77D1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8CDFF45-D111-474F-9420-502CF3B9E180}"/>
              </a:ext>
            </a:extLst>
          </p:cNvPr>
          <p:cNvSpPr>
            <a:spLocks noGrp="1"/>
          </p:cNvSpPr>
          <p:nvPr/>
        </p:nvSpPr>
        <p:spPr>
          <a:xfrm>
            <a:off x="9134475" y="4838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3C049B1-FFB6-4ED3-B0FB-246A84674444}"/>
              </a:ext>
            </a:extLst>
          </p:cNvPr>
          <p:cNvSpPr>
            <a:spLocks noGrp="1"/>
          </p:cNvSpPr>
          <p:nvPr/>
        </p:nvSpPr>
        <p:spPr>
          <a:xfrm>
            <a:off x="9248775" y="4953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A93E6F1-82C5-4A72-B563-D97FCDB3B917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27813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5DEA1F8-7C6B-46CD-80E6-79145362BCBB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eBL speed option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8934611-A835-4EBE-8D96-E6B4ECCE576D}"/>
              </a:ext>
            </a:extLst>
          </p:cNvPr>
          <p:cNvSpPr>
            <a:spLocks noGrp="1"/>
          </p:cNvSpPr>
          <p:nvPr/>
        </p:nvSpPr>
        <p:spPr>
          <a:xfrm>
            <a:off x="3467100" y="5219700"/>
            <a:ext cx="1714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08A8AB-7775-44A0-B444-E02F2B0EA489}"/>
              </a:ext>
            </a:extLst>
          </p:cNvPr>
          <p:cNvSpPr>
            <a:spLocks noGrp="1"/>
          </p:cNvSpPr>
          <p:nvPr/>
        </p:nvSpPr>
        <p:spPr>
          <a:xfrm>
            <a:off x="3581400" y="53340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7E13A0C-9687-499C-9D43-5DBF04F55EEF}"/>
              </a:ext>
            </a:extLst>
          </p:cNvPr>
          <p:cNvSpPr>
            <a:spLocks noGrp="1"/>
          </p:cNvSpPr>
          <p:nvPr/>
        </p:nvSpPr>
        <p:spPr>
          <a:xfrm>
            <a:off x="5181600" y="5219700"/>
            <a:ext cx="195262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4AAADD9-317E-4E29-8D4B-DB0403F0FA72}"/>
              </a:ext>
            </a:extLst>
          </p:cNvPr>
          <p:cNvSpPr>
            <a:spLocks noGrp="1"/>
          </p:cNvSpPr>
          <p:nvPr/>
        </p:nvSpPr>
        <p:spPr>
          <a:xfrm>
            <a:off x="5295900" y="5334000"/>
            <a:ext cx="1724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34E748-8A87-4798-98B5-E60165E05EBF}"/>
              </a:ext>
            </a:extLst>
          </p:cNvPr>
          <p:cNvSpPr>
            <a:spLocks noGrp="1"/>
          </p:cNvSpPr>
          <p:nvPr/>
        </p:nvSpPr>
        <p:spPr>
          <a:xfrm>
            <a:off x="7134225" y="521970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6010-3173-46F4-8B77-7EFC77D8E41C}"/>
              </a:ext>
            </a:extLst>
          </p:cNvPr>
          <p:cNvSpPr>
            <a:spLocks noGrp="1"/>
          </p:cNvSpPr>
          <p:nvPr/>
        </p:nvSpPr>
        <p:spPr>
          <a:xfrm>
            <a:off x="7248525" y="53340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E8608B9-43E3-49D4-BDB4-D4FF883E7A74}"/>
              </a:ext>
            </a:extLst>
          </p:cNvPr>
          <p:cNvSpPr>
            <a:spLocks noGrp="1"/>
          </p:cNvSpPr>
          <p:nvPr/>
        </p:nvSpPr>
        <p:spPr>
          <a:xfrm>
            <a:off x="9134475" y="5219700"/>
            <a:ext cx="1762125" cy="381000"/>
          </a:xfrm>
          <a:prstGeom prst="rect">
            <a:avLst/>
          </a:prstGeom>
          <a:solidFill>
            <a:srgbClr val="EAF6F3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102A1F3-6B15-4DE0-A04A-DBB2E5053227}"/>
              </a:ext>
            </a:extLst>
          </p:cNvPr>
          <p:cNvSpPr>
            <a:spLocks noGrp="1"/>
          </p:cNvSpPr>
          <p:nvPr/>
        </p:nvSpPr>
        <p:spPr>
          <a:xfrm>
            <a:off x="9248775" y="5334000"/>
            <a:ext cx="15335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5555CA4-C132-4FD5-8551-B123D1A3716D}"/>
              </a:ext>
            </a:extLst>
          </p:cNvPr>
          <p:cNvSpPr>
            <a:spLocks noGrp="1"/>
          </p:cNvSpPr>
          <p:nvPr/>
        </p:nvSpPr>
        <p:spPr>
          <a:xfrm>
            <a:off x="1600200" y="5829300"/>
            <a:ext cx="8629650" cy="381000"/>
          </a:xfrm>
          <a:prstGeom prst="rect">
            <a:avLst/>
          </a:prstGeom>
          <a:solidFill>
            <a:srgbClr val="EEF6F4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88F9677-CADA-4B8D-ADEF-6D2AE43DDB6A}"/>
              </a:ext>
            </a:extLst>
          </p:cNvPr>
          <p:cNvSpPr>
            <a:spLocks noGrp="1"/>
          </p:cNvSpPr>
          <p:nvPr/>
        </p:nvSpPr>
        <p:spPr>
          <a:xfrm>
            <a:off x="1866900" y="59436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Competitive advantage: documentary release logic + stablecoin prefunding + SME economics + six-layer document governance.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F4783F8-DC2B-4A98-853D-ADAD03488F6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6381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defTabSz="914400" rtl="0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4204" y="362102"/>
            <a:ext cx="731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Aptos Display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640080"/>
            <a:ext cx="1051560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500" b="1" i="0">
                <a:solidFill>
                  <a:srgbClr val="0B1B3A"/>
                </a:solidFill>
                <a:latin typeface="Aptos Display"/>
              </a:rPr>
              <a:t>Buyer-discretion release is the industry default. Blockmediary is the only documentary-compliance alternative.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33271"/>
            <a:ext cx="1051560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Contour (2019–Nov 2023) was the most-funded LC-replacement attempt — backed by HSBC, Standard Chartered, Citi. It wound down after processing just 60–70 deals/month. The market gap is wide open.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2084831" cy="38404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993391" cy="29260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481328"/>
            <a:ext cx="1618488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06624" y="154533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Tazapay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81328"/>
            <a:ext cx="1408176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54533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Truzo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96712" y="1481328"/>
            <a:ext cx="1481328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9864" y="154533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XREX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8" y="1481328"/>
            <a:ext cx="1508760" cy="384048"/>
          </a:xfrm>
          <a:prstGeom prst="rect">
            <a:avLst/>
          </a:prstGeom>
          <a:solidFill>
            <a:srgbClr val="29466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54533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B9C6D7"/>
                </a:solidFill>
                <a:latin typeface="Aptos"/>
              </a:rPr>
              <a:t>Komgo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481328"/>
            <a:ext cx="2487168" cy="38404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96528" y="154533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Blockmediary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1865376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1938528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Release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3472" y="1865376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06624" y="1938528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Buyer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865376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1938528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Delivery confirm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865376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9864" y="1938528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Buyer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6328" y="1865376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9480" y="1938528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LC 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3376" y="1865376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96528" y="1938528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Doc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2249424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2322576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Stablecoin / on-chain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3472" y="2249424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06624" y="232257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 (fiat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2249424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232257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 (fiat only)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96712" y="2249424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9864" y="232257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Yes (USDC/USDT)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96328" y="2249424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69480" y="232257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Partial (Quorum)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2249424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96528" y="232257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(USDC, Base)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2633472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2706624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SME-focused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33472" y="2633472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06624" y="2706624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0248" y="2633472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43400" y="2706624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Corridor-focused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96712" y="2633472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9864" y="2706624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96328" y="2633472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69480" y="2706624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 — commodity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23376" y="2633472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96528" y="2706624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 $5K–$250K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017520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3090672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UK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33472" y="3017520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06624" y="3090672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(SG,CA,AU,US)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3017520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3400" y="3090672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FCA-approved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96712" y="3017520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69864" y="3090672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MSB (US)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96328" y="3017520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69480" y="3090672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EU banks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23376" y="3017520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96528" y="3090672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Seeking FCA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3401568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" y="3474720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UAE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33472" y="3401568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06624" y="3474720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Pending (applied)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70248" y="3401568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3400" y="3474720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96712" y="3401568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9864" y="3474720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96328" y="3401568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69480" y="3474720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23376" y="3401568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96528" y="3474720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ADGM / DIFC path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" y="3785616"/>
            <a:ext cx="2084831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1792" y="3858768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Licensed: EU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33472" y="3785616"/>
            <a:ext cx="161848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06624" y="3858768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Pending (applied)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70248" y="3785616"/>
            <a:ext cx="1408176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343400" y="3858768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3785616"/>
            <a:ext cx="1481328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9864" y="3858768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Via Lithuania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96328" y="3785616"/>
            <a:ext cx="1508760" cy="384048"/>
          </a:xfrm>
          <a:prstGeom prst="rect">
            <a:avLst/>
          </a:prstGeom>
          <a:solidFill>
            <a:srgbClr val="FBFAF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269480" y="3858768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23376" y="3785616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96528" y="3858768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Seeking MiCA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352" y="4169664"/>
            <a:ext cx="2084831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" y="4242816"/>
            <a:ext cx="1947672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0" i="0">
                <a:solidFill>
                  <a:srgbClr val="1B2430"/>
                </a:solidFill>
                <a:latin typeface="Aptos"/>
              </a:rPr>
              <a:t>Documentary compliance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33472" y="4169664"/>
            <a:ext cx="161848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706624" y="4242816"/>
            <a:ext cx="152704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4169664"/>
            <a:ext cx="1408176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43400" y="4242816"/>
            <a:ext cx="1316736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96712" y="4169664"/>
            <a:ext cx="1481328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69864" y="4242816"/>
            <a:ext cx="138988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96328" y="4169664"/>
            <a:ext cx="1508760" cy="384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269480" y="4242816"/>
            <a:ext cx="1417319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C77D18"/>
                </a:solidFill>
                <a:latin typeface="Aptos"/>
              </a:rPr>
              <a:t>Partial (LC wrap)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23376" y="4169664"/>
            <a:ext cx="248716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96528" y="4242816"/>
            <a:ext cx="2395728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ctr"/>
            <a:r>
              <a:rPr sz="900" b="0" i="0">
                <a:solidFill>
                  <a:srgbClr val="0E8C7F"/>
                </a:solidFill>
                <a:latin typeface="Aptos"/>
              </a:rPr>
              <a:t>Yes — UCP 600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0352" y="4645152"/>
            <a:ext cx="11128248" cy="384048"/>
          </a:xfrm>
          <a:prstGeom prst="rect">
            <a:avLst/>
          </a:prstGeom>
          <a:solidFill>
            <a:srgbClr val="EAF6F3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1792" y="4690872"/>
            <a:ext cx="10945368" cy="3383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00" b="1" i="0">
                <a:solidFill>
                  <a:srgbClr val="0B1B3A"/>
                </a:solidFill>
                <a:latin typeface="Aptos"/>
              </a:rPr>
              <a:t>Blockmediary's defensible edge: the only platform combining on-chain stablecoin escrow + UCP 600-inspired documentary release + active UK / EU / UAE regulatory pathway.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06302" y="6439204"/>
            <a:ext cx="552297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Aptos"/>
              </a:rPr>
              <a:t>12</a:t>
            </a:r>
            <a:endParaRPr sz="900" b="0" i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 defTabSz="914400" rtl="0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4204" y="362102"/>
            <a:ext cx="7315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300" b="0" i="0">
                <a:solidFill>
                  <a:srgbClr val="6B7280"/>
                </a:solidFill>
                <a:latin typeface="Aptos Display"/>
              </a:rPr>
              <a:t>LEGAL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095" y="640080"/>
            <a:ext cx="10241280" cy="3017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500" b="1" i="0">
                <a:solidFill>
                  <a:srgbClr val="0B1B3A"/>
                </a:solidFill>
                <a:latin typeface="Aptos Display"/>
              </a:rPr>
              <a:t>Turkey excluded. Targeting UAE / Dubai, UK, and EU. All personal data stays off-chain.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05840"/>
            <a:ext cx="10241280" cy="2743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950" b="0" i="0">
                <a:solidFill>
                  <a:srgbClr val="6B7280"/>
                </a:solidFill>
                <a:latin typeface="Aptos"/>
              </a:rPr>
              <a:t>Off-chain KYB/KYC architecture resolves the GDPR right-to-erasure vs blockchain immutability conflict — our core data-by-design commitment.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371600"/>
            <a:ext cx="2880360" cy="50292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🇦🇪  UAE / Dubai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2651760" cy="173736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ADGM / DIFC pathway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CBUAE Payment Token Reg. (Aug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VARA Rulebook v2.0 (June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Federal DL No.6/2025 (DeFi/Web3)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PDPL Federal DL No.45/2021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2152" y="1371600"/>
            <a:ext cx="2880360" cy="50292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🇬🇧  United Kingdom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673352"/>
            <a:ext cx="2651760" cy="173736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Seeking FCA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FCA CP25/40 — CASP licensing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FCA CP25/14 — stablecoin custody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UK MLR 2017 — AML / VASP obligations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UK GDPR — 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1371600"/>
            <a:ext cx="2880360" cy="2331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73952" y="1371600"/>
            <a:ext cx="2880360" cy="50292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35608"/>
            <a:ext cx="2697479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B1B3A"/>
                </a:solidFill>
                <a:latin typeface="Aptos Display"/>
              </a:rPr>
              <a:t>🇪🇺  European Union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673352"/>
            <a:ext cx="2651760" cy="173736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1691640"/>
            <a:ext cx="2624328" cy="1554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Seeking MiCA CASP auth.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892807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MiCA Title V — CASP authorisation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061972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MiCA Title IV — USDC as EMT (Circle)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31136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6AMLD — AML obligations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00300"/>
            <a:ext cx="2679191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· EU GDPR — data 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1371600"/>
            <a:ext cx="2194560" cy="1024128"/>
          </a:xfrm>
          <a:prstGeom prst="rect">
            <a:avLst/>
          </a:prstGeom>
          <a:solidFill>
            <a:srgbClr val="FDE8E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4040" y="1371600"/>
            <a:ext cx="2194560" cy="50292"/>
          </a:xfrm>
          <a:prstGeom prst="rect">
            <a:avLst/>
          </a:prstGeom>
          <a:solidFill>
            <a:srgbClr val="B03A5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1435608"/>
            <a:ext cx="201168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000" b="1" i="0">
                <a:solidFill>
                  <a:srgbClr val="B03A5B"/>
                </a:solidFill>
                <a:latin typeface="Aptos Display"/>
              </a:rPr>
              <a:t>🚫  Turkey — Excluded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1664208"/>
            <a:ext cx="201168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00" b="0" i="0">
                <a:solidFill>
                  <a:srgbClr val="1B2430"/>
                </a:solidFill>
                <a:latin typeface="Aptos"/>
              </a:rPr>
              <a:t>CBRT 2021 ban on stablecoin payments — core model conflict.
CMB CASP licence deadline Jun 2026.
Phase 2 market at earliest.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3840480"/>
            <a:ext cx="5212080" cy="202996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0352" y="3840480"/>
            <a:ext cx="5212080" cy="50292"/>
          </a:xfrm>
          <a:prstGeom prst="rect">
            <a:avLst/>
          </a:prstGeom>
          <a:solidFill>
            <a:srgbClr val="C77D1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904488"/>
            <a:ext cx="507492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C77D18"/>
                </a:solidFill>
                <a:latin typeface="Aptos Display"/>
              </a:rPr>
              <a:t>OFF-CHAIN  —  Personal &amp; Trade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6966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KYB / KYC identity documents (passport, registration)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434840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Beneficial ownership &amp; sanctions screening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700016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Trade documents (invoice, B/L, packing list, cert.)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965192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Deal terms, counterparty names, correspondence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230368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Stored encrypted, GDPR-compliant, erasable on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49554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Pseudonymised: on-chain sees only wallet + internal ref 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840480"/>
            <a:ext cx="5212080" cy="202996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0" y="3840480"/>
            <a:ext cx="5212080" cy="50292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53328" y="3904488"/>
            <a:ext cx="507492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1100" b="1" i="0">
                <a:solidFill>
                  <a:srgbClr val="0E8C7F"/>
                </a:solidFill>
                <a:latin typeface="Aptos Display"/>
              </a:rPr>
              <a:t>ON-CHAIN  —  Escrow State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169664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Wallet addresses (pseudonymous, not linked on-chain to PII)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4434840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USDC escrow amount + escrow contract address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4700016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Deal state transitions: Funded → Reviewing → Released / Refunded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4965192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Cryptographic hashes of submitted documents (not the docs)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5230368"/>
            <a:ext cx="5010912" cy="246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0" i="0">
                <a:solidFill>
                  <a:srgbClr val="1B2430"/>
                </a:solidFill>
                <a:latin typeface="Aptos"/>
              </a:rPr>
              <a:t>· No names, no IDs, no trade document content on-chain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961888"/>
            <a:ext cx="2670048" cy="475488"/>
          </a:xfrm>
          <a:prstGeom prst="rect">
            <a:avLst/>
          </a:prstGeom>
          <a:solidFill>
            <a:srgbClr val="0E8C7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AML / KYB / KYC gate before funding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10128" y="5961888"/>
            <a:ext cx="2670048" cy="475488"/>
          </a:xfrm>
          <a:prstGeom prst="rect">
            <a:avLst/>
          </a:prstGeom>
          <a:solidFill>
            <a:srgbClr val="1F6FB2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01568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Sanctions screening — OFAC, HMT, UN, UAE lists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9904" y="5961888"/>
            <a:ext cx="2670048" cy="475488"/>
          </a:xfrm>
          <a:prstGeom prst="rect">
            <a:avLst/>
          </a:prstGeom>
          <a:solidFill>
            <a:srgbClr val="0B1B3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81344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FATF Travel Rule — data collected at onboarding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5961888"/>
            <a:ext cx="2670048" cy="475488"/>
          </a:xfrm>
          <a:prstGeom prst="rect">
            <a:avLst/>
          </a:prstGeom>
          <a:solidFill>
            <a:srgbClr val="5A4FB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61120" y="6025896"/>
            <a:ext cx="2532888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UCP 600-inspired documentary release logic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6302" y="6439204"/>
            <a:ext cx="552297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noFill/>
          </a:ln>
        </p:spPr>
        <p:txBody>
          <a:bodyPr wrap="square"/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Aptos"/>
              </a:rPr>
              <a:t>13</a:t>
            </a:r>
            <a:endParaRPr sz="900" b="0" i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4837CB6-6E06-48CD-BFA6-D1F09525E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C41C138C-5F33-44BE-9202-2EC74B53D8BF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76200" cy="76200"/>
          </a:xfrm>
          <a:prstGeom prst="rect">
            <a:avLst/>
          </a:prstGeom>
          <a:solidFill>
            <a:srgbClr val="0B1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9678FDA4-D756-49DA-8686-A2480D127B46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FINANCIAL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98C5A-5AC1-4F16-B719-CAE7D16F4D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B3A"/>
                </a:solidFill>
                <a:latin typeface="Aptos Display"/>
                <a:ea typeface="Aptos Display"/>
                <a:cs typeface="Aptos Display"/>
              </a:rPr>
              <a:t>The base case is conservative: prove repeat usage before scaling overhead.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738B7-5D3F-48A5-8E8A-70167E7B209E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The model was revised downward after a customer-volume math check. That makes the story more investable: low early revenue, controlled burn, and a clear break-even window.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896C8-E2D1-436F-9C37-D91D557C1386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113DC9-AFC4-4984-8B7B-EF02790DB51E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47625" cy="1085850"/>
          </a:xfrm>
          <a:prstGeom prst="rect">
            <a:avLst/>
          </a:prstGeom>
          <a:solidFill>
            <a:srgbClr val="2C7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81102-E896-4017-B810-62AB0C079AEC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$390K-$990K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4A5FF-016D-47EF-90A6-3FC081C2C9D2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annual revenue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1DD05-7F2A-47B6-9799-3651FE2E78B6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settlement + API + optional yield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64EF7-7562-432B-9542-DEE2F214CD70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18428-F10D-41AB-A616-9C8D7129854B}"/>
              </a:ext>
            </a:extLst>
          </p:cNvPr>
          <p:cNvSpPr>
            <a:spLocks noGrp="1"/>
          </p:cNvSpPr>
          <p:nvPr/>
        </p:nvSpPr>
        <p:spPr>
          <a:xfrm>
            <a:off x="3429000" y="2514600"/>
            <a:ext cx="47625" cy="1085850"/>
          </a:xfrm>
          <a:prstGeom prst="rect">
            <a:avLst/>
          </a:prstGeom>
          <a:solidFill>
            <a:srgbClr val="0E8C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328B8-EA0A-4C97-A041-3D3060F3C871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250-450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85A877-C983-43FD-BEBF-1DB550D18B1B}"/>
              </a:ext>
            </a:extLst>
          </p:cNvPr>
          <p:cNvSpPr>
            <a:spLocks noGrp="1"/>
          </p:cNvSpPr>
          <p:nvPr/>
        </p:nvSpPr>
        <p:spPr>
          <a:xfrm>
            <a:off x="36385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Y3 active customers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649CE-9E85-45AE-8238-15C085AAF195}"/>
              </a:ext>
            </a:extLst>
          </p:cNvPr>
          <p:cNvSpPr>
            <a:spLocks noGrp="1"/>
          </p:cNvSpPr>
          <p:nvPr/>
        </p:nvSpPr>
        <p:spPr>
          <a:xfrm>
            <a:off x="36385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EOY range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A0DC0-43C5-4B19-9CDA-D729966D1D4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EA11F-96DB-4FA7-8CC8-1A76D1A18957}"/>
              </a:ext>
            </a:extLst>
          </p:cNvPr>
          <p:cNvSpPr>
            <a:spLocks noGrp="1"/>
          </p:cNvSpPr>
          <p:nvPr/>
        </p:nvSpPr>
        <p:spPr>
          <a:xfrm>
            <a:off x="6153150" y="2514600"/>
            <a:ext cx="47625" cy="1085850"/>
          </a:xfrm>
          <a:prstGeom prst="rect">
            <a:avLst/>
          </a:prstGeom>
          <a:solidFill>
            <a:srgbClr val="5A4F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1DDD7D-A9D0-4533-954E-A6759A8B06EB}"/>
              </a:ext>
            </a:extLst>
          </p:cNvPr>
          <p:cNvSpPr>
            <a:spLocks noGrp="1"/>
          </p:cNvSpPr>
          <p:nvPr/>
        </p:nvSpPr>
        <p:spPr>
          <a:xfrm>
            <a:off x="636270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M36-M48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5D9F-CECF-4553-B1E6-0D2C27D7BF86}"/>
              </a:ext>
            </a:extLst>
          </p:cNvPr>
          <p:cNvSpPr>
            <a:spLocks noGrp="1"/>
          </p:cNvSpPr>
          <p:nvPr/>
        </p:nvSpPr>
        <p:spPr>
          <a:xfrm>
            <a:off x="636270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break-even target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C591F-6634-48B1-85AB-39B506B61133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Q3 2029 to Q1 2030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F97402-411D-4712-A716-89A1CF72C96B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24193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89E399-6663-4A5C-8ECD-6C13455CB248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47625" cy="1085850"/>
          </a:xfrm>
          <a:prstGeom prst="rect">
            <a:avLst/>
          </a:prstGeom>
          <a:solidFill>
            <a:srgbClr val="C77D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22802-0306-42EE-926A-7BB776B59D49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$1M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640183-CEF1-44FE-B28B-D0C472AE5608}"/>
              </a:ext>
            </a:extLst>
          </p:cNvPr>
          <p:cNvSpPr>
            <a:spLocks noGrp="1"/>
          </p:cNvSpPr>
          <p:nvPr/>
        </p:nvSpPr>
        <p:spPr>
          <a:xfrm>
            <a:off x="9086850" y="3028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2430"/>
                </a:solidFill>
                <a:latin typeface="Aptos"/>
                <a:ea typeface="Aptos"/>
                <a:cs typeface="Aptos"/>
              </a:rPr>
              <a:t>seed 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ED7773-2ED2-469E-BD0A-239D4F990F73}"/>
              </a:ext>
            </a:extLst>
          </p:cNvPr>
          <p:cNvSpPr>
            <a:spLocks noGrp="1"/>
          </p:cNvSpPr>
          <p:nvPr/>
        </p:nvSpPr>
        <p:spPr>
          <a:xfrm>
            <a:off x="9086850" y="3276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MVP, pilots + next-round proof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314116-0FF7-4086-8237-75AE3272C2BC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51244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B488C4-099C-457E-BFD5-01C0CCA5FCC0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Deals processed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1EB0F0-4FA9-470F-B030-3BE3F9DE9F1E}"/>
              </a:ext>
            </a:extLst>
          </p:cNvPr>
          <p:cNvSpPr>
            <a:spLocks noGrp="1"/>
          </p:cNvSpPr>
          <p:nvPr/>
        </p:nvSpPr>
        <p:spPr>
          <a:xfrm>
            <a:off x="1066800" y="5943600"/>
            <a:ext cx="495300" cy="9525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1EA15E-DBAE-469C-8817-7E80824CDE7A}"/>
              </a:ext>
            </a:extLst>
          </p:cNvPr>
          <p:cNvSpPr>
            <a:spLocks noGrp="1"/>
          </p:cNvSpPr>
          <p:nvPr/>
        </p:nvSpPr>
        <p:spPr>
          <a:xfrm>
            <a:off x="10477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D0CD14-B46E-4946-BBA3-675888BA382A}"/>
              </a:ext>
            </a:extLst>
          </p:cNvPr>
          <p:cNvSpPr>
            <a:spLocks noGrp="1"/>
          </p:cNvSpPr>
          <p:nvPr/>
        </p:nvSpPr>
        <p:spPr>
          <a:xfrm>
            <a:off x="95250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915DBD-F087-45F8-AD26-A30B1919B81D}"/>
              </a:ext>
            </a:extLst>
          </p:cNvPr>
          <p:cNvSpPr>
            <a:spLocks noGrp="1"/>
          </p:cNvSpPr>
          <p:nvPr/>
        </p:nvSpPr>
        <p:spPr>
          <a:xfrm>
            <a:off x="1885950" y="5705475"/>
            <a:ext cx="495300" cy="333375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B7BC36-CA77-4D27-A761-7FB810A306BF}"/>
              </a:ext>
            </a:extLst>
          </p:cNvPr>
          <p:cNvSpPr>
            <a:spLocks noGrp="1"/>
          </p:cNvSpPr>
          <p:nvPr/>
        </p:nvSpPr>
        <p:spPr>
          <a:xfrm>
            <a:off x="18669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49C337-0BF6-4692-B8DF-66439527A05A}"/>
              </a:ext>
            </a:extLst>
          </p:cNvPr>
          <p:cNvSpPr>
            <a:spLocks noGrp="1"/>
          </p:cNvSpPr>
          <p:nvPr/>
        </p:nvSpPr>
        <p:spPr>
          <a:xfrm>
            <a:off x="177165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E8C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C7F"/>
                </a:solidFill>
                <a:latin typeface="Aptos"/>
                <a:ea typeface="Aptos"/>
                <a:cs typeface="Aptos"/>
              </a:rPr>
              <a:t>400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469347-2347-4311-8B95-1D5AF85ACDED}"/>
              </a:ext>
            </a:extLst>
          </p:cNvPr>
          <p:cNvSpPr>
            <a:spLocks noGrp="1"/>
          </p:cNvSpPr>
          <p:nvPr/>
        </p:nvSpPr>
        <p:spPr>
          <a:xfrm>
            <a:off x="2705100" y="4705350"/>
            <a:ext cx="495300" cy="1333500"/>
          </a:xfrm>
          <a:prstGeom prst="rect">
            <a:avLst/>
          </a:prstGeom>
          <a:solidFill>
            <a:srgbClr val="0E8C7F"/>
          </a:solidFill>
          <a:ln w="9525">
            <a:solidFill>
              <a:srgbClr val="0E8C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6CEFFE-6CC4-4A21-ACB3-638C7C9A3806}"/>
              </a:ext>
            </a:extLst>
          </p:cNvPr>
          <p:cNvSpPr>
            <a:spLocks noGrp="1"/>
          </p:cNvSpPr>
          <p:nvPr/>
        </p:nvSpPr>
        <p:spPr>
          <a:xfrm>
            <a:off x="26860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8EFE54-57ED-451A-8BAB-2F1565B6789D}"/>
              </a:ext>
            </a:extLst>
          </p:cNvPr>
          <p:cNvSpPr>
            <a:spLocks noGrp="1"/>
          </p:cNvSpPr>
          <p:nvPr/>
        </p:nvSpPr>
        <p:spPr>
          <a:xfrm>
            <a:off x="2590800" y="47815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1600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1E3DF9-7E76-4BA0-B641-9C8285A0E5DC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Revenue high case ($K)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E2E9F5-9EB1-4F4C-BC1A-94A30661DB7D}"/>
              </a:ext>
            </a:extLst>
          </p:cNvPr>
          <p:cNvSpPr>
            <a:spLocks noGrp="1"/>
          </p:cNvSpPr>
          <p:nvPr/>
        </p:nvSpPr>
        <p:spPr>
          <a:xfrm>
            <a:off x="3543300" y="5943600"/>
            <a:ext cx="495300" cy="95250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24EB80-AF0E-4065-A7A6-60938C1C105F}"/>
              </a:ext>
            </a:extLst>
          </p:cNvPr>
          <p:cNvSpPr>
            <a:spLocks noGrp="1"/>
          </p:cNvSpPr>
          <p:nvPr/>
        </p:nvSpPr>
        <p:spPr>
          <a:xfrm>
            <a:off x="35242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EAC009-49DD-4817-9B33-BCA31DABFA9B}"/>
              </a:ext>
            </a:extLst>
          </p:cNvPr>
          <p:cNvSpPr>
            <a:spLocks noGrp="1"/>
          </p:cNvSpPr>
          <p:nvPr/>
        </p:nvSpPr>
        <p:spPr>
          <a:xfrm>
            <a:off x="342900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E42DA8-7576-4983-89AA-2F317E19515C}"/>
              </a:ext>
            </a:extLst>
          </p:cNvPr>
          <p:cNvSpPr>
            <a:spLocks noGrp="1"/>
          </p:cNvSpPr>
          <p:nvPr/>
        </p:nvSpPr>
        <p:spPr>
          <a:xfrm>
            <a:off x="4362450" y="5776191"/>
            <a:ext cx="495300" cy="262659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BF1A42-AA5A-47A9-855E-94171A56C33D}"/>
              </a:ext>
            </a:extLst>
          </p:cNvPr>
          <p:cNvSpPr>
            <a:spLocks noGrp="1"/>
          </p:cNvSpPr>
          <p:nvPr/>
        </p:nvSpPr>
        <p:spPr>
          <a:xfrm>
            <a:off x="434340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015E4C-69F2-4712-844B-D00D02258196}"/>
              </a:ext>
            </a:extLst>
          </p:cNvPr>
          <p:cNvSpPr>
            <a:spLocks noGrp="1"/>
          </p:cNvSpPr>
          <p:nvPr/>
        </p:nvSpPr>
        <p:spPr>
          <a:xfrm>
            <a:off x="4248150" y="5562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C7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33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03732D-BBBF-44FE-AD2A-54C4CD179C12}"/>
              </a:ext>
            </a:extLst>
          </p:cNvPr>
          <p:cNvSpPr>
            <a:spLocks noGrp="1"/>
          </p:cNvSpPr>
          <p:nvPr/>
        </p:nvSpPr>
        <p:spPr>
          <a:xfrm>
            <a:off x="5181600" y="4705350"/>
            <a:ext cx="495300" cy="1333500"/>
          </a:xfrm>
          <a:prstGeom prst="rect">
            <a:avLst/>
          </a:prstGeom>
          <a:solidFill>
            <a:srgbClr val="2C7A33"/>
          </a:solidFill>
          <a:ln w="9525">
            <a:solidFill>
              <a:srgbClr val="2C7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F71A96-F9B3-4BE2-A46B-A12E8150DA15}"/>
              </a:ext>
            </a:extLst>
          </p:cNvPr>
          <p:cNvSpPr>
            <a:spLocks noGrp="1"/>
          </p:cNvSpPr>
          <p:nvPr/>
        </p:nvSpPr>
        <p:spPr>
          <a:xfrm>
            <a:off x="5162550" y="6172200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Y3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FE55B4-FD0A-4466-8D59-E943F38126CB}"/>
              </a:ext>
            </a:extLst>
          </p:cNvPr>
          <p:cNvSpPr>
            <a:spLocks noGrp="1"/>
          </p:cNvSpPr>
          <p:nvPr/>
        </p:nvSpPr>
        <p:spPr>
          <a:xfrm>
            <a:off x="5067300" y="47815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990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0E21F1-10F1-4A3B-AB49-2DD719481B69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501015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4A9A09-95E8-4A0B-80FA-3C61CE42D946}"/>
              </a:ext>
            </a:extLst>
          </p:cNvPr>
          <p:cNvSpPr>
            <a:spLocks noGrp="1"/>
          </p:cNvSpPr>
          <p:nvPr/>
        </p:nvSpPr>
        <p:spPr>
          <a:xfrm>
            <a:off x="66294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1B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B3A"/>
                </a:solidFill>
                <a:latin typeface="Aptos"/>
                <a:ea typeface="Aptos"/>
                <a:cs typeface="Aptos"/>
              </a:rPr>
              <a:t>Key assumptions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CE4508-53A4-4576-AAE0-80566056D3D5}"/>
              </a:ext>
            </a:extLst>
          </p:cNvPr>
          <p:cNvSpPr>
            <a:spLocks noGrp="1"/>
          </p:cNvSpPr>
          <p:nvPr/>
        </p:nvSpPr>
        <p:spPr>
          <a:xfrm>
            <a:off x="6629400" y="4800600"/>
            <a:ext cx="3905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- 0.7% blended settlement-fee take rate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Avg ticket grows from $25K to $50K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Tier A eBL mix rises from 30% to 60%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Headcount grows from 6 founders to 12</a:t>
            </a:r>
          </a:p>
          <a:p>
            <a:pPr algn="l">
              <a:defRPr sz="1125" b="0">
                <a:solidFill>
                  <a:srgbClr val="1B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B2430"/>
                </a:solidFill>
                <a:latin typeface="Aptos"/>
                <a:ea typeface="Aptos"/>
                <a:cs typeface="Aptos"/>
              </a:rPr>
              <a:t>- Yield share is upside, not core dependency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1981F6-EEE9-4E84-A577-4C54199027D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  <a:endParaRPr sz="900" b="1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97284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Six co-founders, six mandates, one rail to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15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A complete founding team across product, risk, finance, operations, compliance, and revenue — the functions a regulated settlement venture has to own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286000"/>
            <a:ext cx="54864" cy="14173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1870" y="2487168"/>
            <a:ext cx="868680" cy="36576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1870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7710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Executive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Tamer Mostafa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870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Vision, fundraising, corridor BD and investor relationships.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0870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20870" y="2286000"/>
            <a:ext cx="54864" cy="14173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22038" y="2487168"/>
            <a:ext cx="868680" cy="36576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22038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7878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Technology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US" sz="1350" dirty="0">
                <a:solidFill>
                  <a:srgbClr val="0B1B3A"/>
                </a:solidFill>
                <a:latin typeface="Aptos"/>
              </a:rPr>
              <a:t>Nick Chung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22038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Smart-contract escrow, verification stack, settlement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1038" y="2286000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51038" y="2286000"/>
            <a:ext cx="54864" cy="1417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52206" y="2487168"/>
            <a:ext cx="868680" cy="3657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52206" y="2532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8046" y="2523744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Financial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Conrad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52206" y="2962656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Unit economics, treasury, USDC flows, financial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702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0702" y="3867912"/>
            <a:ext cx="54864" cy="14173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1870" y="4069080"/>
            <a:ext cx="868680" cy="36576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1870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7710" y="4105656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Operating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dirty="0">
                <a:solidFill>
                  <a:srgbClr val="0B1B3A"/>
                </a:solidFill>
                <a:latin typeface="Aptos"/>
              </a:rPr>
              <a:t>Daniel Price</a:t>
            </a:r>
            <a:endParaRPr sz="1350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1870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Examiner operations, document review process, partner onboarding.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0870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20870" y="3867912"/>
            <a:ext cx="54864" cy="141732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22038" y="4069080"/>
            <a:ext cx="868680" cy="36576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22038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7878" y="4105656"/>
            <a:ext cx="20939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Compliance</a:t>
            </a:r>
            <a:endParaRPr lang="en-US" sz="1350" b="1" dirty="0">
              <a:solidFill>
                <a:srgbClr val="0B1B3A"/>
              </a:solidFill>
              <a:latin typeface="Aptos"/>
            </a:endParaRPr>
          </a:p>
          <a:p>
            <a:pPr algn="l"/>
            <a:r>
              <a:rPr lang="en-AE" sz="1350" b="1" dirty="0">
                <a:solidFill>
                  <a:srgbClr val="0B1B3A"/>
                </a:solidFill>
                <a:latin typeface="Aptos"/>
              </a:rPr>
              <a:t>Badhri </a:t>
            </a:r>
            <a:endParaRPr sz="1350" b="1" dirty="0">
              <a:solidFill>
                <a:srgbClr val="0B1B3A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22038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KYB/KYC, sanctions screening, Gulf regulatory fit.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51038" y="3867912"/>
            <a:ext cx="3465576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51038" y="3867912"/>
            <a:ext cx="54864" cy="1417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52206" y="4069080"/>
            <a:ext cx="868680" cy="36576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52206" y="4114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8046" y="4105656"/>
            <a:ext cx="20939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0B1B3A"/>
                </a:solidFill>
                <a:latin typeface="Aptos"/>
              </a:rPr>
              <a:t>Chief 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2206" y="4544568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Forwarder channels, pricing, repeat-deal growth motion.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702" y="594360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6B7280"/>
                </a:solidFill>
                <a:latin typeface="Aptos"/>
              </a:rPr>
              <a:t>Founder names and bios are placeholders in the source deck — fill in before the live pitch.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6B7280"/>
                </a:solidFill>
                <a:latin typeface="Aptos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Where the $1M goes: build first, then prove the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16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48132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The raise is weighted to engineering and compliance — the two things that turn documentary escrow from a demo into something investors can underwrite.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702" y="252374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Engineering &amp;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0" y="2542032"/>
            <a:ext cx="6035040" cy="29260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0" y="248716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40%   $400K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" y="30906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Operations, people &amp; G&amp;A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108960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3108960"/>
            <a:ext cx="3319272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0" y="3054096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22%   $220K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" y="3657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Compliance, legal &amp; regulatory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3675888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0" y="3675888"/>
            <a:ext cx="2715768" cy="292608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3621024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18%   $180K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" y="4224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GTM &amp;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242816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4242816"/>
            <a:ext cx="2263139" cy="292608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0" y="418795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15%   $150K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" y="47914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0B1B3A"/>
                </a:solidFill>
                <a:latin typeface="Aptos"/>
              </a:rPr>
              <a:t>Working capital + contingency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809744"/>
            <a:ext cx="6035040" cy="292608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23360" y="4809744"/>
            <a:ext cx="754380" cy="292608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475488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1B3A"/>
                </a:solidFill>
                <a:latin typeface="Aptos"/>
              </a:rPr>
              <a:t>5%   $50K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702" y="5394960"/>
            <a:ext cx="10707624" cy="640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Total seed raise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0468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200" b="0">
                <a:solidFill>
                  <a:srgbClr val="FFFFFF"/>
                </a:solidFill>
                <a:latin typeface="Aptos Display"/>
              </a:rPr>
              <a:t>$1.0M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702" y="6241983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 dirty="0">
                <a:solidFill>
                  <a:srgbClr val="6B7280"/>
                </a:solidFill>
                <a:latin typeface="Aptos"/>
              </a:rPr>
              <a:t>Allocation is indicative for an 18-month runway to MVP, pilots, and seed-plus proof.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BFEAE5"/>
                </a:solidFill>
                <a:latin typeface="Aptos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Aptos Display"/>
              </a:rPr>
              <a:t>$1M seed to prove the documentary credit rail for Gulf SMEs.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17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81051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0">
                <a:solidFill>
                  <a:srgbClr val="BFEAE5"/>
                </a:solidFill>
                <a:latin typeface="Aptos"/>
              </a:rPr>
              <a:t>$1M seed round   |   ~$10M post-money   |   10% equity offered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606040"/>
            <a:ext cx="45720" cy="178308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" y="28529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Aptos Display"/>
              </a:rPr>
              <a:t>$1M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seed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primary raise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0870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0870" y="2606040"/>
            <a:ext cx="45720" cy="1783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902" y="28529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Aptos Display"/>
              </a:rPr>
              <a:t>~$10M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902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post-money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902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038" y="2606040"/>
            <a:ext cx="3465576" cy="178308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51038" y="2606040"/>
            <a:ext cx="45720" cy="178308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7070" y="28529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Aptos Display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070" y="361188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FEAE5"/>
                </a:solidFill>
                <a:latin typeface="Aptos"/>
              </a:rPr>
              <a:t>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070" y="393192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0A2B8"/>
                </a:solidFill>
                <a:latin typeface="Aptos"/>
              </a:rPr>
              <a:t>offered to investors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" y="4800600"/>
            <a:ext cx="10707624" cy="91440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What the raise buys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D6E1EF"/>
                </a:solidFill>
                <a:latin typeface="Aptos"/>
              </a:rPr>
              <a:t>A demoed MVP, first corridor pilots, compliance scaffolding, and the traction proof needed to open a priced seed-plus round.</a:t>
            </a:r>
          </a:p>
        </p:txBody>
      </p:sp>
    </p:spTree>
    <p:extLst>
      <p:ext uri="{BB962C8B-B14F-4D97-AF65-F5344CB8AC3E}">
        <p14:creationId xmlns:p14="http://schemas.microsoft.com/office/powerpoint/2010/main" val="980970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73152" cy="73152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2376" y="365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50">
                <a:solidFill>
                  <a:srgbClr val="6B7280"/>
                </a:solidFill>
                <a:latin typeface="Aptos"/>
              </a:rPr>
              <a:t>APPENDIX · BUILD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0B1B3A"/>
                </a:solidFill>
                <a:latin typeface="Aptos Display"/>
              </a:rPr>
              <a:t>From hackathon MVP to funded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B2430"/>
                </a:solidFill>
                <a:latin typeface="Aptos"/>
              </a:rPr>
              <a:t>Calendar timeline sized from the effort breakdown — bar length = duration across the 5-person team. The MVP ships inside the ~10-week build window; the roadmap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120">
                <a:solidFill>
                  <a:srgbClr val="6B7280"/>
                </a:solidFill>
                <a:latin typeface="Aptos"/>
              </a:rPr>
              <a:t>MVP  ·  ACADEMIC BUILD  ·  ~10 WEEKS  ·  106 TEAM-DAYS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78608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Setup &amp; Infra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260603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35808" y="2606039"/>
            <a:ext cx="557352" cy="1600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596896"/>
            <a:ext cx="557352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62072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889503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93160" y="2889503"/>
            <a:ext cx="2229410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160" y="2880360"/>
            <a:ext cx="2229410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~4w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45536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Smart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3172968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93160" y="3172968"/>
            <a:ext cx="1910923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160" y="3163824"/>
            <a:ext cx="1910923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~3w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29000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Doc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3456432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04084" y="3456432"/>
            <a:ext cx="2547897" cy="1600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084" y="3447288"/>
            <a:ext cx="2547897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~4w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Deal Intake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35808" y="3739896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22571" y="3739896"/>
            <a:ext cx="636974" cy="1600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22571" y="3730752"/>
            <a:ext cx="636974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995927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Demo &amp; Deliverables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808" y="402335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1982" y="4023359"/>
            <a:ext cx="557352" cy="1600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51982" y="4014215"/>
            <a:ext cx="557352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3425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120">
                <a:solidFill>
                  <a:srgbClr val="6B7280"/>
                </a:solidFill>
                <a:latin typeface="Aptos"/>
              </a:rPr>
              <a:t>ROADMAP  ·  POST-MVP  ·  ~5 WEEKS  ·  73 TEAM-DAYS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26864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Frontend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5808" y="4654296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09334" y="4654296"/>
            <a:ext cx="1512814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09334" y="4645152"/>
            <a:ext cx="1512814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~3w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910327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Smart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937759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09334" y="4937759"/>
            <a:ext cx="1035083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09334" y="4928616"/>
            <a:ext cx="1035083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193792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35808" y="5221224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09334" y="5221224"/>
            <a:ext cx="796218" cy="16002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9334" y="5212080"/>
            <a:ext cx="796218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~1w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477256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Dispute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5808" y="5504688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44418" y="5504688"/>
            <a:ext cx="1114705" cy="16002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44418" y="5495544"/>
            <a:ext cx="1114705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60720"/>
            <a:ext cx="233172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B3A"/>
                </a:solidFill>
                <a:latin typeface="Aptos"/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788152"/>
            <a:ext cx="8439912" cy="160020"/>
          </a:xfrm>
          <a:prstGeom prst="rect">
            <a:avLst/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122149" y="5788152"/>
            <a:ext cx="1353570" cy="16002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22149" y="5779008"/>
            <a:ext cx="1353570" cy="178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~2w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09334" y="2560320"/>
            <a:ext cx="10972" cy="3328416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6373368"/>
            <a:ext cx="10908792" cy="10972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6437376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ptos"/>
              </a:rPr>
              <a:t>Source: effort T-shirt-sized per Tony Wood, BEEM063. Calendar weeks assume 5 people × ~2.5 effective days/wk (≈7.3 team-days/wk).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37376"/>
            <a:ext cx="5486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18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095" y="437997"/>
            <a:ext cx="75895" cy="75895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4204" y="362102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spc="140">
                <a:solidFill>
                  <a:srgbClr val="BFEAE5"/>
                </a:solidFill>
                <a:latin typeface="Aptos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722376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Aptos Display"/>
              </a:rPr>
              <a:t>Let's build the documentary credit rail for SME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302" y="6439204"/>
            <a:ext cx="55229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Aptos"/>
              </a:rPr>
              <a:t>19</a:t>
            </a:r>
            <a:endParaRPr sz="90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0702" y="181051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0">
                <a:solidFill>
                  <a:srgbClr val="BFEAE5"/>
                </a:solidFill>
                <a:latin typeface="Aptos"/>
              </a:rPr>
              <a:t>We're raising a $1M seed and looking for investors and pilot partners in Gulf SME trade.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702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702" y="2743200"/>
            <a:ext cx="45720" cy="146304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founders@blockmediary.example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" y="3767328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0A2B8"/>
                </a:solidFill>
                <a:latin typeface="Aptos"/>
              </a:rPr>
              <a:t>[ add real address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0870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0870" y="2743200"/>
            <a:ext cx="45720" cy="1463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902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902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blockmediary.example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902" y="3767328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0A2B8"/>
                </a:solidFill>
                <a:latin typeface="Aptos"/>
              </a:rPr>
              <a:t>[ add real URL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038" y="2743200"/>
            <a:ext cx="3465576" cy="146304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51038" y="2743200"/>
            <a:ext cx="45720" cy="146304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7070" y="2962656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spc="100">
                <a:solidFill>
                  <a:srgbClr val="BFEAE5"/>
                </a:solidFill>
                <a:latin typeface="Aptos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070" y="3310128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/company/blockmediary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070" y="3767328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0A2B8"/>
                </a:solidFill>
                <a:latin typeface="Aptos"/>
              </a:rPr>
              <a:t>[ add real handle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" y="4572000"/>
            <a:ext cx="10707624" cy="1051560"/>
          </a:xfrm>
          <a:prstGeom prst="rect">
            <a:avLst/>
          </a:prstGeom>
          <a:solidFill>
            <a:srgbClr val="1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BFEAE5"/>
                </a:solidFill>
                <a:latin typeface="Aptos"/>
              </a:rPr>
              <a:t>Founding 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19379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CEO  ·  [Name]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87752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519379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CTO  ·  [Name]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6824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06824" y="519379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CFO  ·  [Name]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25896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25896" y="519379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COO  ·  [Name]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4968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44968" y="519379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CCO  ·  [Name]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4040" y="5120640"/>
            <a:ext cx="1627632" cy="384048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64040" y="5193792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CRO  ·  [Name]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702" y="594360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75" b="0">
                <a:solidFill>
                  <a:srgbClr val="90A2B8"/>
                </a:solidFill>
                <a:latin typeface="Aptos"/>
              </a:rPr>
              <a:t>Replace all placeholder contact details and founder names before sending or presenting.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3301</Words>
  <Application>Microsoft Macintosh PowerPoint</Application>
  <DocSecurity>0</DocSecurity>
  <PresentationFormat>Widescreen</PresentationFormat>
  <Paragraphs>547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Mostafa, Tamer Mostafa</cp:lastModifiedBy>
  <cp:revision>4</cp:revision>
  <dcterms:created xsi:type="dcterms:W3CDTF">2026-05-29T09:09:00Z</dcterms:created>
  <dcterms:modified xsi:type="dcterms:W3CDTF">2026-06-07T22:09:29Z</dcterms:modified>
</cp:coreProperties>
</file>