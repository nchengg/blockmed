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6c518759f46cd" /><Relationship Type="http://schemas.openxmlformats.org/officeDocument/2006/relationships/extended-properties" Target="/docProps/app.xml" Id="R264a82fcf4d74212" /><Relationship Type="http://schemas.openxmlformats.org/officeDocument/2006/relationships/officeDocument" Target="/ppt/presentation.xml" Id="R634eac08999f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04408500d4625"/>
  </p:sldMasterIdLst>
  <p:notesMasterIdLst>
    <p:notesMasterId xmlns:r="http://schemas.openxmlformats.org/officeDocument/2006/relationships" r:id="R5678055d43d64752"/>
  </p:notesMasterIdLst>
  <p:sldIdLst>
    <p:sldId xmlns:r="http://schemas.openxmlformats.org/officeDocument/2006/relationships" id="256" r:id="R907b614eb0674f7c"/>
    <p:sldId xmlns:r="http://schemas.openxmlformats.org/officeDocument/2006/relationships" id="257" r:id="R13f42dfca0834957"/>
    <p:sldId xmlns:r="http://schemas.openxmlformats.org/officeDocument/2006/relationships" id="258" r:id="Re4db2af02bfa42f6"/>
    <p:sldId xmlns:r="http://schemas.openxmlformats.org/officeDocument/2006/relationships" id="259" r:id="R5b36f29394b14187"/>
    <p:sldId xmlns:r="http://schemas.openxmlformats.org/officeDocument/2006/relationships" id="260" r:id="R6e388c7bfb694d8f"/>
    <p:sldId xmlns:r="http://schemas.openxmlformats.org/officeDocument/2006/relationships" id="261" r:id="R90dd48d8d41c4790"/>
    <p:sldId xmlns:r="http://schemas.openxmlformats.org/officeDocument/2006/relationships" id="262" r:id="Rb6da0f5a38874210"/>
    <p:sldId xmlns:r="http://schemas.openxmlformats.org/officeDocument/2006/relationships" id="263" r:id="R0d0c11619749455b"/>
    <p:sldId xmlns:r="http://schemas.openxmlformats.org/officeDocument/2006/relationships" id="264" r:id="R693a3d8793df42d0"/>
    <p:sldId xmlns:r="http://schemas.openxmlformats.org/officeDocument/2006/relationships" id="265" r:id="R75c358ea8488457a"/>
    <p:sldId xmlns:r="http://schemas.openxmlformats.org/officeDocument/2006/relationships" id="266" r:id="Rf4d95d0ee5bd4505"/>
    <p:sldId xmlns:r="http://schemas.openxmlformats.org/officeDocument/2006/relationships" id="267" r:id="R8da1c9636ec547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04408500d4625" /><Relationship Type="http://schemas.openxmlformats.org/officeDocument/2006/relationships/theme" Target="/ppt/theme/theme1.xml" Id="Rff261f4d045d41b4" /><Relationship Type="http://schemas.openxmlformats.org/officeDocument/2006/relationships/notesMaster" Target="/ppt/notesMasters/notesMaster1.xml" Id="R5678055d43d64752" /><Relationship Type="http://schemas.openxmlformats.org/officeDocument/2006/relationships/presProps" Target="/ppt/presProps.xml" Id="R16bfb519dec74bf8" /><Relationship Type="http://schemas.openxmlformats.org/officeDocument/2006/relationships/viewProps" Target="/ppt/viewProps.xml" Id="Re8a8ad7e64e748ce" /><Relationship Type="http://schemas.openxmlformats.org/officeDocument/2006/relationships/tableStyles" Target="/ppt/tableStyles.xml" Id="R486a4b4eb7644c55" /><Relationship Type="http://schemas.openxmlformats.org/officeDocument/2006/relationships/slide" Target="/ppt/slides/slide1.xml" Id="R907b614eb0674f7c" /><Relationship Type="http://schemas.openxmlformats.org/officeDocument/2006/relationships/slide" Target="/ppt/slides/slide2.xml" Id="R13f42dfca0834957" /><Relationship Type="http://schemas.openxmlformats.org/officeDocument/2006/relationships/slide" Target="/ppt/slides/slide3.xml" Id="Re4db2af02bfa42f6" /><Relationship Type="http://schemas.openxmlformats.org/officeDocument/2006/relationships/slide" Target="/ppt/slides/slide4.xml" Id="R5b36f29394b14187" /><Relationship Type="http://schemas.openxmlformats.org/officeDocument/2006/relationships/slide" Target="/ppt/slides/slide5.xml" Id="R6e388c7bfb694d8f" /><Relationship Type="http://schemas.openxmlformats.org/officeDocument/2006/relationships/slide" Target="/ppt/slides/slide6.xml" Id="R90dd48d8d41c4790" /><Relationship Type="http://schemas.openxmlformats.org/officeDocument/2006/relationships/slide" Target="/ppt/slides/slide7.xml" Id="Rb6da0f5a38874210" /><Relationship Type="http://schemas.openxmlformats.org/officeDocument/2006/relationships/slide" Target="/ppt/slides/slide8.xml" Id="R0d0c11619749455b" /><Relationship Type="http://schemas.openxmlformats.org/officeDocument/2006/relationships/slide" Target="/ppt/slides/slide9.xml" Id="R693a3d8793df42d0" /><Relationship Type="http://schemas.openxmlformats.org/officeDocument/2006/relationships/slide" Target="/ppt/slides/slide10.xml" Id="R75c358ea8488457a" /><Relationship Type="http://schemas.openxmlformats.org/officeDocument/2006/relationships/slide" Target="/ppt/slides/slide11.xml" Id="Rf4d95d0ee5bd4505" /><Relationship Type="http://schemas.openxmlformats.org/officeDocument/2006/relationships/slide" Target="/ppt/slides/slide12.xml" Id="R8da1c9636ec547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6167e16fac94f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1e4158d3d47fd" /><Relationship Type="http://schemas.openxmlformats.org/officeDocument/2006/relationships/notesMaster" Target="/ppt/notesMasters/notesMaster1.xml" Id="Rb49b31915e8342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d7ae75869d409b" /><Relationship Type="http://schemas.openxmlformats.org/officeDocument/2006/relationships/notesMaster" Target="/ppt/notesMasters/notesMaster1.xml" Id="R83f0b27f36644a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e9c6271164610" /><Relationship Type="http://schemas.openxmlformats.org/officeDocument/2006/relationships/notesMaster" Target="/ppt/notesMasters/notesMaster1.xml" Id="R6492e8d4980040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7cb1a92b8b4813" /><Relationship Type="http://schemas.openxmlformats.org/officeDocument/2006/relationships/notesMaster" Target="/ppt/notesMasters/notesMaster1.xml" Id="R15140485501a44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f27b190e1947cf" /><Relationship Type="http://schemas.openxmlformats.org/officeDocument/2006/relationships/notesMaster" Target="/ppt/notesMasters/notesMaster1.xml" Id="R83e29d209ea648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304aa2dad24a8c" /><Relationship Type="http://schemas.openxmlformats.org/officeDocument/2006/relationships/notesMaster" Target="/ppt/notesMasters/notesMaster1.xml" Id="Rf193cc3c674449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1b36739b774da7" /><Relationship Type="http://schemas.openxmlformats.org/officeDocument/2006/relationships/notesMaster" Target="/ppt/notesMasters/notesMaster1.xml" Id="Rd8523f665bcc41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ce598f632d47cc" /><Relationship Type="http://schemas.openxmlformats.org/officeDocument/2006/relationships/notesMaster" Target="/ppt/notesMasters/notesMaster1.xml" Id="R03353cfd007f4f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38e7fdd6344861" /><Relationship Type="http://schemas.openxmlformats.org/officeDocument/2006/relationships/notesMaster" Target="/ppt/notesMasters/notesMaster1.xml" Id="Re28cf7189a9d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2d9f3b42264bd3" /><Relationship Type="http://schemas.openxmlformats.org/officeDocument/2006/relationships/notesMaster" Target="/ppt/notesMasters/notesMaster1.xml" Id="R16ff4da4051049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572232269741c8" /><Relationship Type="http://schemas.openxmlformats.org/officeDocument/2006/relationships/notesMaster" Target="/ppt/notesMasters/notesMaster1.xml" Id="Rb29eaf12f06946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b11240a92741d2" /><Relationship Type="http://schemas.openxmlformats.org/officeDocument/2006/relationships/notesMaster" Target="/ppt/notesMasters/notesMaster1.xml" Id="Rc38fb6f3a89141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50a8107d546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31e9c741bf4f2e" /><Relationship Type="http://schemas.openxmlformats.org/officeDocument/2006/relationships/slideLayout" Target="/ppt/slideLayouts/slideLayout2.xml" Id="R35fdf68a2b9e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df68a2b9e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681bc454a4bd5" /><Relationship Type="http://schemas.openxmlformats.org/officeDocument/2006/relationships/notesSlide" Target="/ppt/notesSlides/notesSlide1.xml" Id="Re2fd13625ce84d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3ec95e374a49e1" /><Relationship Type="http://schemas.openxmlformats.org/officeDocument/2006/relationships/notesSlide" Target="/ppt/notesSlides/notesSlide2.xml" Id="R1884ca2ef2cd4f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8baf66f654855" /><Relationship Type="http://schemas.openxmlformats.org/officeDocument/2006/relationships/notesSlide" Target="/ppt/notesSlides/notesSlide3.xml" Id="R47b2aad419f943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75053e9b5a4c37" /><Relationship Type="http://schemas.openxmlformats.org/officeDocument/2006/relationships/notesSlide" Target="/ppt/notesSlides/notesSlide4.xml" Id="Rb0088f614a214e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ec5721cd64ec4" /><Relationship Type="http://schemas.openxmlformats.org/officeDocument/2006/relationships/notesSlide" Target="/ppt/notesSlides/notesSlide5.xml" Id="Rbd87652e97874f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823ef5de324989" /><Relationship Type="http://schemas.openxmlformats.org/officeDocument/2006/relationships/notesSlide" Target="/ppt/notesSlides/notesSlide6.xml" Id="R2bd482e60da644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d3f27c0f44b81" /><Relationship Type="http://schemas.openxmlformats.org/officeDocument/2006/relationships/notesSlide" Target="/ppt/notesSlides/notesSlide7.xml" Id="R13ba39cfb8db46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1393923414bb9" /><Relationship Type="http://schemas.openxmlformats.org/officeDocument/2006/relationships/notesSlide" Target="/ppt/notesSlides/notesSlide8.xml" Id="R240a68b7c5d34e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64304a22e4f5b" /><Relationship Type="http://schemas.openxmlformats.org/officeDocument/2006/relationships/notesSlide" Target="/ppt/notesSlides/notesSlide9.xml" Id="Rbb5600123dc543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056296bee496e" /><Relationship Type="http://schemas.openxmlformats.org/officeDocument/2006/relationships/notesSlide" Target="/ppt/notesSlides/notesSlide10.xml" Id="Rca2800d0501146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ab2f2e7564684" /><Relationship Type="http://schemas.openxmlformats.org/officeDocument/2006/relationships/notesSlide" Target="/ppt/notesSlides/notesSlide11.xml" Id="R518363f053374a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657c17a69f429d" /><Relationship Type="http://schemas.openxmlformats.org/officeDocument/2006/relationships/notesSlide" Target="/ppt/notesSlides/notesSlide12.xml" Id="R0e3c1fb6293b4c9a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55923A26-19A4-49AD-B3D0-4CFD6697E22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2DAE0F1F-DA3F-417A-AE09-627EB7BB437C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14350"/>
            <ns1:ext cx="160973" cy="160973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1C74303D-BBF9-47F4-BDF4-4A9C7FC66C89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737235"/>
            <ns1:ext cx="160973" cy="160973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5A4CEF41-A1BB-4C54-8D74-241D9C9A12A7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38150"/>
            <ns1:ext cx="4000500" cy="571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15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15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rPr>
              <ns1:t>Blockmediary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396A799-3810-4F95-A896-0303E3DF2FD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466850"/>
            <ns1:ext cx="7239000" cy="647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90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90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rPr>
              <ns1:t>Settlement rails for global trade.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60B49AF-8CB6-4A71-9682-757484CF8E97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2381250"/>
            <ns1:ext cx="7239000" cy="666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0">
                <ns1:solidFill>
                  <ns1:srgbClr val="C9D6E5"/>
                </ns1:solidFill>
                <ns1:latin typeface="Aptos"/>
                <ns1:ea typeface="Aptos"/>
                <ns1:cs typeface="Aptos"/>
              </ns1:defRPr>
            </ns1:pPr>
            <ns1:r>
              <ns1:rPr sz="1575" b="0">
                <ns1:solidFill>
                  <ns1:srgbClr val="C9D6E5"/>
                </ns1:solidFill>
                <ns1:latin typeface="Aptos"/>
                <ns1:ea typeface="Aptos"/>
                <ns1:cs typeface="Aptos"/>
              </ns1:rPr>
              <ns1:t>UCP 600-style documentary release, stablecoin prefunding, and a compliance-controlled verification layer for SME cross-border trade.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5A64711-CC78-4703-A67C-F8237D97DF2D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333750"/>
            <ns1:ext cx="5334000" cy="19050"/>
          </ns1:xfrm>
          <ns1:prstGeom prst="rect">
            <ns1:avLst/>
          </ns1:prstGeom>
          <ns1:solidFill>
            <ns1:srgbClr val="29466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1B06BCA5-A471-4AAB-8490-86A44223FADA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733800"/>
            <ns1:ext cx="2381250" cy="1085850"/>
          </ns1:xfrm>
          <ns1:prstGeom prst="rect">
            <ns1:avLst/>
          </ns1:prstGeom>
          <ns1:solidFill>
            <ns1:srgbClr val="10284E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EBCC9030-48F4-4FAC-9D07-5BF986D9A1C1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733800"/>
            <ns1:ext cx="47625" cy="108585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7182264A-183B-46B1-8A7F-11B74A854632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3876675"/>
            <ns1:ext cx="19621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$1M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6CC335AE-49F7-4C2D-B005-2A4DAAB7B156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4248150"/>
            <ns1:ext cx="19621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seed round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B3950B75-FFC0-4B44-9A74-81A5D9014E7F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4495800"/>
            <ns1:ext cx="19621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rPr>
              <ns1:t>~$10M post-money / 10% equity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68E33E4-7E44-4762-BC9E-1D9F809166DA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3733800"/>
            <ns1:ext cx="2381250" cy="1085850"/>
          </ns1:xfrm>
          <ns1:prstGeom prst="rect">
            <ns1:avLst/>
          </ns1:prstGeom>
          <ns1:solidFill>
            <ns1:srgbClr val="10284E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DDE305C9-4A9B-4E6A-BD81-075CD7084D7E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3733800"/>
            <ns1:ext cx="47625" cy="10858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482C7D49-51B7-4E52-ADB4-287FCAEB0D50}"/>
              </ns1:ext>
            </ns1:extLst>
          </ns0:cNvPr>
          <ns0:cNvSpPr>
            <ns1:spLocks noGrp="1"/>
          </ns0:cNvSpPr>
          <ns0:nvPr/>
        </ns0:nvSpPr>
        <ns0:spPr>
          <ns1:xfrm>
            <ns1:off x="3352800" y="3876675"/>
            <ns1:ext cx="19621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$5K-$250K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70C28428-870A-4D8A-9A17-0234EDD5E9BE}"/>
              </ns1:ext>
            </ns1:extLst>
          </ns0:cNvPr>
          <ns0:cNvSpPr>
            <ns1:spLocks noGrp="1"/>
          </ns0:cNvSpPr>
          <ns0:nvPr/>
        </ns0:nvSpPr>
        <ns0:spPr>
          <ns1:xfrm>
            <ns1:off x="3352800" y="4248150"/>
            <ns1:ext cx="19621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target wedge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785B27EB-DAF7-40CF-AFDA-E9D01A46DBBB}"/>
              </ns1:ext>
            </ns1:extLst>
          </ns0:cNvPr>
          <ns0:cNvSpPr>
            <ns1:spLocks noGrp="1"/>
          </ns0:cNvSpPr>
          <ns0:nvPr/>
        </ns0:nvSpPr>
        <ns0:spPr>
          <ns1:xfrm>
            <ns1:off x="3352800" y="4495800"/>
            <ns1:ext cx="19621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rPr>
              <ns1:t>SME cross-border shipment values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019F3C80-F6FD-4835-9EEA-F80844CF56E1}"/>
              </ns1:ext>
            </ns1:extLst>
          </ns0:cNvPr>
          <ns0:cNvSpPr>
            <ns1:spLocks noGrp="1"/>
          </ns0:cNvSpPr>
          <ns0:nvPr/>
        </ns0:nvSpPr>
        <ns0:spPr>
          <ns1:xfrm>
            <ns1:off x="5715000" y="3733800"/>
            <ns1:ext cx="2381250" cy="1085850"/>
          </ns1:xfrm>
          <ns1:prstGeom prst="rect">
            <ns1:avLst/>
          </ns1:prstGeom>
          <ns1:solidFill>
            <ns1:srgbClr val="10284E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8C26CDBE-CF0A-44DD-8F47-2EC62FF05FEB}"/>
              </ns1:ext>
            </ns1:extLst>
          </ns0:cNvPr>
          <ns0:cNvSpPr>
            <ns1:spLocks noGrp="1"/>
          </ns0:cNvSpPr>
          <ns0:nvPr/>
        </ns0:nvSpPr>
        <ns0:spPr>
          <ns1:xfrm>
            <ns1:off x="5715000" y="3733800"/>
            <ns1:ext cx="47625" cy="1085850"/>
          </ns1:xfrm>
          <ns1:prstGeom prst="rect">
            <ns1:avLst/>
          </ns1:prstGeom>
          <ns1:solidFill>
            <ns1:srgbClr val="1F6FB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C78E74BE-A2FF-402F-B410-C55E2D911770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3876675"/>
            <ns1:ext cx="19621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$2.5T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CC82FE3D-0716-458C-98C2-014C54E59000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4248150"/>
            <ns1:ext cx="19621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market gap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6A45DD1B-ABF4-46E2-9C3C-41BB5EC076EE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4495800"/>
            <ns1:ext cx="19621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rPr>
              <ns1:t>global SME trade finance gap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414D54B4-00D4-483C-81F8-BD4DA3E4AA17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3733800"/>
            <ns1:ext cx="2381250" cy="1085850"/>
          </ns1:xfrm>
          <ns1:prstGeom prst="rect">
            <ns1:avLst/>
          </ns1:prstGeom>
          <ns1:solidFill>
            <ns1:srgbClr val="10284E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23648ADB-50B1-4C44-92C1-9AAE0CF0B9D3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3733800"/>
            <ns1:ext cx="47625" cy="1085850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D00DCC81-C9D5-4A45-9F7A-D5F1A0689FD0}"/>
              </ns1:ext>
            </ns1:extLst>
          </ns0:cNvPr>
          <ns0:cNvSpPr>
            <ns1:spLocks noGrp="1"/>
          </ns0:cNvSpPr>
          <ns0:nvPr/>
        </ns0:nvSpPr>
        <ns0:spPr>
          <ns1:xfrm>
            <ns1:off x="8496300" y="3876675"/>
            <ns1:ext cx="19621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18 months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6B085EFF-7B45-4230-8CFD-D7A66A397C2B}"/>
              </ns1:ext>
            </ns1:extLst>
          </ns0:cNvPr>
          <ns0:cNvSpPr>
            <ns1:spLocks noGrp="1"/>
          </ns0:cNvSpPr>
          <ns0:nvPr/>
        </ns0:nvSpPr>
        <ns0:spPr>
          <ns1:xfrm>
            <ns1:off x="8496300" y="4248150"/>
            <ns1:ext cx="19621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runway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A4B2D8F6-61FD-4D55-B081-7DA8D0FD5A03}"/>
              </ns1:ext>
            </ns1:extLst>
          </ns0:cNvPr>
          <ns0:cNvSpPr>
            <ns1:spLocks noGrp="1"/>
          </ns0:cNvSpPr>
          <ns0:nvPr/>
        </ns0:nvSpPr>
        <ns0:spPr>
          <ns1:xfrm>
            <ns1:off x="8496300" y="4495800"/>
            <ns1:ext cx="19621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B9C6D7"/>
                </ns1:solidFill>
                <ns1:latin typeface="Aptos"/>
                <ns1:ea typeface="Aptos"/>
                <ns1:cs typeface="Aptos"/>
              </ns1:rPr>
              <ns1:t>MVP + pilot proof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57FA614D-DE37-4561-A37A-AD98705D28EB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6343650"/>
            <ns1:ext cx="8191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90A2B8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90A2B8"/>
                </ns1:solidFill>
                <ns1:latin typeface="Aptos"/>
                <ns1:ea typeface="Aptos"/>
                <ns1:cs typeface="Aptos"/>
              </ns1:rPr>
              <ns1:t>Funding deck | University of Exeter MSc FinTech Hackathon | 30 May 2026</ns1:t>
            </ns1:r>
          </ns1:p>
        </ns0:txBody>
      </ns0:sp>
    </ns0:spTree>
    <ns0:extLst>
      <ns0:ext uri="{BB962C8B-B14F-4D97-AF65-F5344CB8AC3E}">
        <ns3:creationId val="125524947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9EEF4816-F554-440A-B816-D75345B6812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2-marker">
            <ns1:extLst>
              <ns1:ext uri="{FF2B5EF4-FFF2-40B4-BE49-F238E27FC236}">
                <ns2:creationId id="{85561F03-945A-4B55-9A1C-B9DFA5EB5F66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2-label">
            <ns1:extLst>
              <ns1:ext uri="{FF2B5EF4-FFF2-40B4-BE49-F238E27FC236}">
                <ns2:creationId id="{8A464077-A52E-4439-8A74-66928730F100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PROBLEM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449565B-A766-4B12-AB15-96ED5E293E92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SMEs are priced out of the instrument that made global trade work.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9A84A6DD-D7B8-451D-A7D5-33AF8CF34C00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809750"/>
            <ns1:ext cx="5524500" cy="1104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72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72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Documentary credit solved trust in trade. But the same KYB, sanctions, document examination, and capital work sits behind a $10K shipment and a $5M shipment. Banks choose the economics.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1EE178FA-9E39-4667-95B6-3958E9FA8241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105150"/>
            <ns1:ext cx="5143500" cy="19050"/>
          </ns1:xfrm>
          <ns1:prstGeom prst="rect">
            <ns1:avLst/>
          </ns1:prstGeom>
          <ns1:solidFill>
            <ns1:srgbClr val="D8D2C7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B7A2F30B-9D0B-4175-9D49-241802DA174F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333750"/>
            <ns1:ext cx="4953000" cy="6858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Result: low-value cross-border trade still depends on cash in advance, informal trust, or deals that never happen.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3DD7CFD0-1F22-4DB6-A413-46DDFC13887C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1638300"/>
            <ns1:ext cx="342900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7ABD3602-C59E-4C2C-B3A3-392443948C5B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1638300"/>
            <ns1:ext cx="47625" cy="108585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292C8472-A69D-4A15-B8E8-EF899E6B2E9E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1781175"/>
            <ns1:ext cx="300990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$2.5T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72C4673-E562-437A-A793-7DCA18DEB1A9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2152650"/>
            <ns1:ext cx="30099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global SME trade finance gap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686EEC02-B591-4C69-BED3-5823119BF745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2400300"/>
            <ns1:ext cx="30099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ADB 2025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0E04B0DA-E3E9-4B78-BC31-7237EC8E9AE4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2933700"/>
            <ns1:ext cx="342900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83571E21-9F83-4F6A-8654-896EC3310A5E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2933700"/>
            <ns1:ext cx="47625" cy="108585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501D83D6-DFFF-416E-9FD4-8F677CEF3653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3076575"/>
            <ns1:ext cx="300990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~45%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AB93100-17B9-4DFF-AD18-CBD12EE4DBBE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3448050"/>
            <ns1:ext cx="30099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SME rejection rate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5FF79197-1D24-457D-9CC6-58BE64A68982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3695700"/>
            <ns1:ext cx="30099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trade finance access pain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59B544E5-5526-4D82-874D-96D74C828031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4229100"/>
            <ns1:ext cx="342900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4E312E7D-4283-444A-8D37-8AD0557AEC4D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4229100"/>
            <ns1:ext cx="47625" cy="10858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9B3E7D5A-1251-40FD-A690-27E85C587554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4371975"/>
            <ns1:ext cx="300990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$10K-$50K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D2126CC8-DD2B-48CC-9644-51572166B6EF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4743450"/>
            <ns1:ext cx="30099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LC dead zone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96D85144-044A-4D7B-8173-47CA7883409F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4991100"/>
            <ns1:ext cx="30099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too large for trust, too small for banks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69433A89-89B6-450C-BE1E-D41BF959CEE3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762500"/>
            <ns1:ext cx="5334000" cy="7810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D012C5B5-2CD8-46D2-BA8D-518C1683B0F9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4933950"/>
            <ns1:ext cx="1524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Investor question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15249D5D-0844-4129-ABEF-6290C94DD07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162550"/>
            <ns1:ext cx="47625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Who can make seller certainty and buyer control economical at SME deal sizes?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340A1264-C9E6-4341-82B8-44833A7AC560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02</ns1:t>
            </ns1:r>
          </ns1:p>
        </ns0:txBody>
      </ns0:sp>
    </ns0:spTree>
    <ns0:extLst>
      <ns0:ext uri="{BB962C8B-B14F-4D97-AF65-F5344CB8AC3E}">
        <ns3:creationId val="929977535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D521EB4B-85DF-49F2-8107-3036D578E47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3-marker">
            <ns1:extLst>
              <ns1:ext uri="{FF2B5EF4-FFF2-40B4-BE49-F238E27FC236}">
                <ns2:creationId id="{9C2C98F4-0761-4F59-91CB-45C1DA9BA235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3-label">
            <ns1:extLst>
              <ns1:ext uri="{FF2B5EF4-FFF2-40B4-BE49-F238E27FC236}">
                <ns2:creationId id="{15C181B9-C90D-460F-BF9A-7BE1FC2ACA5D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SOLUTION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EAAB53E-F0F5-4DDB-9FF1-D7301434A957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Blockmediary turns documentary credit into a programmable escrow workflow.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F5704DD-A436-4BED-8ABA-4E0A8C6153EB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95450"/>
            <ns1:ext cx="9334500" cy="552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The product does not replace trade law. It converts agreed, payment-relevant terms into a signed escrow specification, then releases funds when submitted documents are apparently compliant.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F8C4D81-DCBC-4B95-BDC1-EA46A7C10DE9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933700"/>
            <ns1:ext cx="1790700" cy="1219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DB2BFC3E-B13F-49A8-90FA-539D0394E171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933700"/>
            <ns1:ext cx="1790700" cy="5715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7AFBED5D-DFD7-4063-81C1-066E369E1C62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105150"/>
            <ns1:ext cx="400050" cy="285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5A4FBF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5A4FBF"/>
                </ns1:solidFill>
                <ns1:latin typeface="Aptos"/>
                <ns1:ea typeface="Aptos"/>
                <ns1:cs typeface="Aptos"/>
              </ns1:rPr>
              <ns1:t>01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03F85FE9-CD43-4A34-AB98-05B2EC041576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" y="3124200"/>
            <ns1:ext cx="9906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Agree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E3BA37AA-F330-459C-AAC0-9AEC2016A38D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486150"/>
            <ns1:ext cx="1409700" cy="4762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Buyer and seller approve a structured Escrow Specification.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31FE53D0-2AB3-42D2-AAEB-87AC6D4E6A84}"/>
              </ns1:ext>
            </ns1:extLst>
          </ns0:cNvPr>
          <ns0:cNvSpPr>
            <ns1:spLocks noGrp="1"/>
          </ns0:cNvSpPr>
          <ns0:nvPr/>
        </ns0:nvSpPr>
        <ns0:spPr>
          <ns1:xfrm>
            <ns1:off x="2781300" y="2933700"/>
            <ns1:ext cx="1790700" cy="1219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2815C935-7E7D-4E24-82A3-BE665FEBEA50}"/>
              </ns1:ext>
            </ns1:extLst>
          </ns0:cNvPr>
          <ns0:cNvSpPr>
            <ns1:spLocks noGrp="1"/>
          </ns0:cNvSpPr>
          <ns0:nvPr/>
        </ns0:nvSpPr>
        <ns0:spPr>
          <ns1:xfrm>
            <ns1:off x="2781300" y="2933700"/>
            <ns1:ext cx="1790700" cy="5715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DF4F894A-5476-4383-A8A4-0CD79EA38843}"/>
              </ns1:ext>
            </ns1:extLst>
          </ns0:cNvPr>
          <ns0:cNvSpPr>
            <ns1:spLocks noGrp="1"/>
          </ns0:cNvSpPr>
          <ns0:nvPr/>
        </ns0:nvSpPr>
        <ns0:spPr>
          <ns1:xfrm>
            <ns1:off x="2952750" y="3105150"/>
            <ns1:ext cx="400050" cy="285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02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64F3C52-DFB3-47AC-BB75-64126E24E0B7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3124200"/>
            <ns1:ext cx="9906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Fund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AC454CA3-0BA8-4A45-B9F0-362BF14593A1}"/>
              </ns1:ext>
            </ns1:extLst>
          </ns0:cNvPr>
          <ns0:cNvSpPr>
            <ns1:spLocks noGrp="1"/>
          </ns0:cNvSpPr>
          <ns0:nvPr/>
        </ns0:nvSpPr>
        <ns0:spPr>
          <ns1:xfrm>
            <ns1:off x="2952750" y="3486150"/>
            <ns1:ext cx="1409700" cy="4762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Buyer locks USDC in smart-contract escrow or partner custody.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0C29325F-0CB9-47E5-8187-7CF073C1DDDD}"/>
              </ns1:ext>
            </ns1:extLst>
          </ns0:cNvPr>
          <ns0:cNvSpPr>
            <ns1:spLocks noGrp="1"/>
          </ns0:cNvSpPr>
          <ns0:nvPr/>
        </ns0:nvSpPr>
        <ns0:spPr>
          <ns1:xfrm>
            <ns1:off x="4991100" y="2933700"/>
            <ns1:ext cx="1790700" cy="1219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0382AF10-1DDE-4370-BBFF-C3028528A5FF}"/>
              </ns1:ext>
            </ns1:extLst>
          </ns0:cNvPr>
          <ns0:cNvSpPr>
            <ns1:spLocks noGrp="1"/>
          </ns0:cNvSpPr>
          <ns0:nvPr/>
        </ns0:nvSpPr>
        <ns0:spPr>
          <ns1:xfrm>
            <ns1:off x="4991100" y="2933700"/>
            <ns1:ext cx="1790700" cy="57150"/>
          </ns1:xfrm>
          <ns1:prstGeom prst="rect">
            <ns1:avLst/>
          </ns1:prstGeom>
          <ns1:solidFill>
            <ns1:srgbClr val="1F6FB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0E405DAF-95D2-49B1-828A-BE282993DBA2}"/>
              </ns1:ext>
            </ns1:extLst>
          </ns0:cNvPr>
          <ns0:cNvSpPr>
            <ns1:spLocks noGrp="1"/>
          </ns0:cNvSpPr>
          <ns0:nvPr/>
        </ns0:nvSpPr>
        <ns0:spPr>
          <ns1:xfrm>
            <ns1:off x="5162550" y="3105150"/>
            <ns1:ext cx="400050" cy="285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F6FB2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1F6FB2"/>
                </ns1:solidFill>
                <ns1:latin typeface="Aptos"/>
                <ns1:ea typeface="Aptos"/>
                <ns1:cs typeface="Aptos"/>
              </ns1:rPr>
              <ns1:t>03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A8A2672B-E744-4949-940E-37C66ED67471}"/>
              </ns1:ext>
            </ns1:extLst>
          </ns0:cNvPr>
          <ns0:cNvSpPr>
            <ns1:spLocks noGrp="1"/>
          </ns0:cNvSpPr>
          <ns0:nvPr/>
        </ns0:nvSpPr>
        <ns0:spPr>
          <ns1:xfrm>
            <ns1:off x="5581650" y="3124200"/>
            <ns1:ext cx="9906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Ship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C1A39883-694C-4091-BA53-6CEE07009D52}"/>
              </ns1:ext>
            </ns1:extLst>
          </ns0:cNvPr>
          <ns0:cNvSpPr>
            <ns1:spLocks noGrp="1"/>
          </ns0:cNvSpPr>
          <ns0:nvPr/>
        </ns0:nvSpPr>
        <ns0:spPr>
          <ns1:xfrm>
            <ns1:off x="5162550" y="3486150"/>
            <ns1:ext cx="1409700" cy="4762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Seller ships goods and submits the agreed documents.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06747589-7D7B-462B-9F32-48AA2ADFB757}"/>
              </ns1:ext>
            </ns1:extLst>
          </ns0:cNvPr>
          <ns0:cNvSpPr>
            <ns1:spLocks noGrp="1"/>
          </ns0:cNvSpPr>
          <ns0:nvPr/>
        </ns0:nvSpPr>
        <ns0:spPr>
          <ns1:xfrm>
            <ns1:off x="7200900" y="2933700"/>
            <ns1:ext cx="1790700" cy="1219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D91F3288-3914-440B-BADF-996E098B0701}"/>
              </ns1:ext>
            </ns1:extLst>
          </ns0:cNvPr>
          <ns0:cNvSpPr>
            <ns1:spLocks noGrp="1"/>
          </ns0:cNvSpPr>
          <ns0:nvPr/>
        </ns0:nvSpPr>
        <ns0:spPr>
          <ns1:xfrm>
            <ns1:off x="7200900" y="2933700"/>
            <ns1:ext cx="1790700" cy="571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CA6B292D-BCBA-433C-9668-6EA89A629550}"/>
              </ns1:ext>
            </ns1:extLst>
          </ns0:cNvPr>
          <ns0:cNvSpPr>
            <ns1:spLocks noGrp="1"/>
          </ns0:cNvSpPr>
          <ns0:nvPr/>
        </ns0:nvSpPr>
        <ns0:spPr>
          <ns1:xfrm>
            <ns1:off x="7372350" y="3105150"/>
            <ns1:ext cx="400050" cy="285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C77D18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C77D18"/>
                </ns1:solidFill>
                <ns1:latin typeface="Aptos"/>
                <ns1:ea typeface="Aptos"/>
                <ns1:cs typeface="Aptos"/>
              </ns1:rPr>
              <ns1:t>04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F1EEFD16-DDC3-481D-8296-4A379FAC6FB6}"/>
              </ns1:ext>
            </ns1:extLst>
          </ns0:cNvPr>
          <ns0:cNvSpPr>
            <ns1:spLocks noGrp="1"/>
          </ns0:cNvSpPr>
          <ns0:nvPr/>
        </ns0:nvSpPr>
        <ns0:spPr>
          <ns1:xfrm>
            <ns1:off x="7791450" y="3124200"/>
            <ns1:ext cx="9906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Review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59D76419-D17B-4541-9135-D7E267DE978A}"/>
              </ns1:ext>
            </ns1:extLst>
          </ns0:cNvPr>
          <ns0:cNvSpPr>
            <ns1:spLocks noGrp="1"/>
          </ns0:cNvSpPr>
          <ns0:nvPr/>
        </ns0:nvSpPr>
        <ns0:spPr>
          <ns1:xfrm>
            <ns1:off x="7372350" y="3486150"/>
            <ns1:ext cx="1409700" cy="4762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Rules engine and examiner check document compliance.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20B17DD8-57D1-4647-AE61-B0363D6A6BCA}"/>
              </ns1:ext>
            </ns1:extLst>
          </ns0:cNvPr>
          <ns0:cNvSpPr>
            <ns1:spLocks noGrp="1"/>
          </ns0:cNvSpPr>
          <ns0:nvPr/>
        </ns0:nvSpPr>
        <ns0:spPr>
          <ns1:xfrm>
            <ns1:off x="9410700" y="2933700"/>
            <ns1:ext cx="1790700" cy="1219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634E668F-AB33-4BC4-A7EC-6352175D6C38}"/>
              </ns1:ext>
            </ns1:extLst>
          </ns0:cNvPr>
          <ns0:cNvSpPr>
            <ns1:spLocks noGrp="1"/>
          </ns0:cNvSpPr>
          <ns0:nvPr/>
        </ns0:nvSpPr>
        <ns0:spPr>
          <ns1:xfrm>
            <ns1:off x="9410700" y="2933700"/>
            <ns1:ext cx="1790700" cy="57150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8" name="">
            <ns1:extLst>
              <ns1:ext uri="{FF2B5EF4-FFF2-40B4-BE49-F238E27FC236}">
                <ns2:creationId id="{B93AA5A2-6296-4850-9603-45337F4DCF33}"/>
              </ns1:ext>
            </ns1:extLst>
          </ns0:cNvPr>
          <ns0:cNvSpPr>
            <ns1:spLocks noGrp="1"/>
          </ns0:cNvSpPr>
          <ns0:nvPr/>
        </ns0:nvSpPr>
        <ns0:spPr>
          <ns1:xfrm>
            <ns1:off x="9582150" y="3105150"/>
            <ns1:ext cx="400050" cy="285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2C7A33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2C7A33"/>
                </ns1:solidFill>
                <ns1:latin typeface="Aptos"/>
                <ns1:ea typeface="Aptos"/>
                <ns1:cs typeface="Aptos"/>
              </ns1:rPr>
              <ns1:t>05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0CF727E9-75FE-4191-AE1D-4DF0C1EE4627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3124200"/>
            <ns1:ext cx="9906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Release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4B8E6228-2F60-4B83-8BC5-E9AA07EE8FD6}"/>
              </ns1:ext>
            </ns1:extLst>
          </ns0:cNvPr>
          <ns0:cNvSpPr>
            <ns1:spLocks noGrp="1"/>
          </ns0:cNvSpPr>
          <ns0:nvPr/>
        </ns0:nvSpPr>
        <ns0:spPr>
          <ns1:xfrm>
            <ns1:off x="9582150" y="3486150"/>
            <ns1:ext cx="1409700" cy="4762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Funds release, refund, or move to dispute path.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DDE542BE-C526-4E3F-A507-92B88CCD444F}"/>
              </ns1:ext>
            </ns1:extLst>
          </ns0:cNvPr>
          <ns0:cNvSpPr>
            <ns1:spLocks noGrp="1"/>
          </ns0:cNvSpPr>
          <ns0:nvPr/>
        </ns0:nvSpPr>
        <ns0:spPr>
          <ns1:xfrm>
            <ns1:off x="2362200" y="3543300"/>
            <ns1:ext cx="41910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2" name="">
            <ns1:extLst>
              <ns1:ext uri="{FF2B5EF4-FFF2-40B4-BE49-F238E27FC236}">
                <ns2:creationId id="{FFD9C2E9-EFE3-4A7D-9D74-E07DBD40EDAC}"/>
              </ns1:ext>
            </ns1:extLst>
          </ns0:cNvPr>
          <ns0:cNvSpPr>
            <ns1:spLocks noGrp="1"/>
          </ns0:cNvSpPr>
          <ns0:nvPr/>
        </ns0:nvSpPr>
        <ns0:spPr>
          <ns1:xfrm>
            <ns1:off x="2724150" y="3495675"/>
            <ns1:ext cx="95250" cy="95250"/>
          </ns1:xfrm>
          <ns1:prstGeom prst="triangle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3" name="">
            <ns1:extLst>
              <ns1:ext uri="{FF2B5EF4-FFF2-40B4-BE49-F238E27FC236}">
                <ns2:creationId id="{9D5C9F73-2272-4D3B-A9B9-24516D116BD0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3543300"/>
            <ns1:ext cx="41910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4" name="">
            <ns1:extLst>
              <ns1:ext uri="{FF2B5EF4-FFF2-40B4-BE49-F238E27FC236}">
                <ns2:creationId id="{9ACE5066-C9AA-40E0-A97C-9E15A9F7602F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3495675"/>
            <ns1:ext cx="95250" cy="95250"/>
          </ns1:xfrm>
          <ns1:prstGeom prst="triangle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5" name="">
            <ns1:extLst>
              <ns1:ext uri="{FF2B5EF4-FFF2-40B4-BE49-F238E27FC236}">
                <ns2:creationId id="{A9C39DDD-0A35-4F5F-9879-1C08385FD7E7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3543300"/>
            <ns1:ext cx="41910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6" name="">
            <ns1:extLst>
              <ns1:ext uri="{FF2B5EF4-FFF2-40B4-BE49-F238E27FC236}">
                <ns2:creationId id="{15162A05-22B8-4B55-916F-58A3311F1E96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3495675"/>
            <ns1:ext cx="95250" cy="95250"/>
          </ns1:xfrm>
          <ns1:prstGeom prst="triangle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419AA44D-25F1-4FAB-AA49-29C11D227F4E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3543300"/>
            <ns1:ext cx="41910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8" name="">
            <ns1:extLst>
              <ns1:ext uri="{FF2B5EF4-FFF2-40B4-BE49-F238E27FC236}">
                <ns2:creationId id="{B33658CF-13AF-4927-BA83-9C15578F8F6C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495675"/>
            <ns1:ext cx="95250" cy="95250"/>
          </ns1:xfrm>
          <ns1:prstGeom prst="triangle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9" name="">
            <ns1:extLst>
              <ns1:ext uri="{FF2B5EF4-FFF2-40B4-BE49-F238E27FC236}">
                <ns2:creationId id="{02713A5F-046B-48D6-9487-8C0D61CBE7C0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705350"/>
            <ns1:ext cx="3695700" cy="323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40" name="">
            <ns1:extLst>
              <ns1:ext uri="{FF2B5EF4-FFF2-40B4-BE49-F238E27FC236}">
                <ns2:creationId id="{708FF858-BF37-4AE8-A683-95BE34A2A42E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705350"/>
            <ns1:ext cx="57150" cy="32385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1" name="">
            <ns1:extLst>
              <ns1:ext uri="{FF2B5EF4-FFF2-40B4-BE49-F238E27FC236}">
                <ns2:creationId id="{9B891BA2-0134-436F-8B3B-7AC8121EA16C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4772025"/>
            <ns1:ext cx="34671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Seller certainty: funds are visibly locked before shipment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CE8619BD-5D9F-45A9-89AA-058DFD0DA365}"/>
              </ns1:ext>
            </ns1:extLst>
          </ns0:cNvPr>
          <ns0:cNvSpPr>
            <ns1:spLocks noGrp="1"/>
          </ns0:cNvSpPr>
          <ns0:nvPr/>
        </ns0:nvSpPr>
        <ns0:spPr>
          <ns1:xfrm>
            <ns1:off x="5086350" y="4705350"/>
            <ns1:ext cx="3333750" cy="323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5A4FBF"/>
            </ns1:solidFill>
            <ns1:prstDash val="solid"/>
          </ns1:ln>
        </ns0:spPr>
      </ns0:sp>
      <ns0:sp>
        <ns0:nvSpPr>
          <ns0:cNvPr id="43" name="">
            <ns1:extLst>
              <ns1:ext uri="{FF2B5EF4-FFF2-40B4-BE49-F238E27FC236}">
                <ns2:creationId id="{166A6C55-BAD9-4C51-9AB7-975A38924057}"/>
              </ns1:ext>
            </ns1:extLst>
          </ns0:cNvPr>
          <ns0:cNvSpPr>
            <ns1:spLocks noGrp="1"/>
          </ns0:cNvSpPr>
          <ns0:nvPr/>
        </ns0:nvSpPr>
        <ns0:spPr>
          <ns1:xfrm>
            <ns1:off x="5086350" y="4705350"/>
            <ns1:ext cx="57150" cy="32385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4" name="">
            <ns1:extLst>
              <ns1:ext uri="{FF2B5EF4-FFF2-40B4-BE49-F238E27FC236}">
                <ns2:creationId id="{007BEFB3-4888-49D9-BD2B-8140D822FAB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0" y="4772025"/>
            <ns1:ext cx="31051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Buyer control: release is bound to agreed documents</ns1:t>
            </ns1:r>
          </ns1:p>
        </ns0:txBody>
      </ns0:sp>
      <ns0:sp>
        <ns0:nvSpPr>
          <ns0:cNvPr id="45" name="">
            <ns1:extLst>
              <ns1:ext uri="{FF2B5EF4-FFF2-40B4-BE49-F238E27FC236}">
                <ns2:creationId id="{1E1331AC-64E9-49FF-B905-17A6ECA78864}"/>
              </ns1:ext>
            </ns1:extLst>
          </ns0:cNvPr>
          <ns0:cNvSpPr>
            <ns1:spLocks noGrp="1"/>
          </ns0:cNvSpPr>
          <ns0:nvPr/>
        </ns0:nvSpPr>
        <ns0:spPr>
          <ns1:xfrm>
            <ns1:off x="8667750" y="4705350"/>
            <ns1:ext cx="2571750" cy="323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77D18"/>
            </ns1:solidFill>
            <ns1:prstDash val="solid"/>
          </ns1:ln>
        </ns0:spPr>
      </ns0:sp>
      <ns0:sp>
        <ns0:nvSpPr>
          <ns0:cNvPr id="46" name="">
            <ns1:extLst>
              <ns1:ext uri="{FF2B5EF4-FFF2-40B4-BE49-F238E27FC236}">
                <ns2:creationId id="{6C791212-A9C8-4F8A-B317-6088A226CEC6}"/>
              </ns1:ext>
            </ns1:extLst>
          </ns0:cNvPr>
          <ns0:cNvSpPr>
            <ns1:spLocks noGrp="1"/>
          </ns0:cNvSpPr>
          <ns0:nvPr/>
        </ns0:nvSpPr>
        <ns0:spPr>
          <ns1:xfrm>
            <ns1:off x="8667750" y="4705350"/>
            <ns1:ext cx="57150" cy="3238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7" name="">
            <ns1:extLst>
              <ns1:ext uri="{FF2B5EF4-FFF2-40B4-BE49-F238E27FC236}">
                <ns2:creationId id="{EB5E2C8B-1ED4-4DCB-B8B9-F0152408F402}"/>
              </ns1:ext>
            </ns1:extLst>
          </ns0:cNvPr>
          <ns0:cNvSpPr>
            <ns1:spLocks noGrp="1"/>
          </ns0:cNvSpPr>
          <ns0:nvPr/>
        </ns0:nvSpPr>
        <ns0:spPr>
          <ns1:xfrm>
            <ns1:off x="8820150" y="4772025"/>
            <ns1:ext cx="23431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Blockmediary boundary: document review, not goods quality guarantee</ns1:t>
            </ns1:r>
          </ns1:p>
        </ns0:txBody>
      </ns0:sp>
      <ns0:sp>
        <ns0:nvSpPr>
          <ns0:cNvPr id="49" name="">
            <ns1:extLst>
              <ns1:ext uri="{FF2B5EF4-FFF2-40B4-BE49-F238E27FC236}">
                <ns2:creationId id="{60632BF3-210E-4E95-8E57-671F97F9CBDE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03</ns1:t>
            </ns1:r>
          </ns1:p>
        </ns0:txBody>
      </ns0:sp>
    </ns0:spTree>
    <ns0:extLst>
      <ns0:ext uri="{BB962C8B-B14F-4D97-AF65-F5344CB8AC3E}">
        <ns3:creationId val="1281748835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9B039E0A-E4D4-494C-ABC6-4F5432DE34E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4-marker">
            <ns1:extLst>
              <ns1:ext uri="{FF2B5EF4-FFF2-40B4-BE49-F238E27FC236}">
                <ns2:creationId id="{6E86F81D-01C9-4E23-B17B-936807DB3964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4-label">
            <ns1:extLst>
              <ns1:ext uri="{FF2B5EF4-FFF2-40B4-BE49-F238E27FC236}">
                <ns2:creationId id="{545F81B6-0B2E-43F8-B4D1-A0D5C06EF221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MARKET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48C6E336-C804-441C-AEF3-0819D2DFD556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The wedge is narrow, but the gap behind it is enormous.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044BD7CE-439A-42CA-B607-68ADAC0E7EE3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1933575"/>
            <ns1:ext cx="4953000" cy="3905250"/>
          </ns1:xfrm>
          <ns1:prstGeom prst="ellipse">
            <ns1:avLst/>
          </ns1:prstGeom>
          <ns1:solidFill>
            <ns1:srgbClr val="E3EEF5"/>
          </ns1:solidFill>
          <ns1:ln w="19050">
            <ns1:solidFill>
              <ns1:srgbClr val="1F6FB2"/>
            </ns1:solidFill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8B46051D-70B9-4856-A116-0D5F7E926D6C}"/>
              </ns1:ext>
            </ns1:extLst>
          </ns0:cNvPr>
          <ns0:cNvSpPr>
            <ns1:spLocks noGrp="1"/>
          </ns0:cNvSpPr>
          <ns0:nvPr/>
        </ns0:nvSpPr>
        <ns0:spPr>
          <ns1:xfrm>
            <ns1:off x="1905000" y="2457450"/>
            <ns1:ext cx="3619500" cy="2857500"/>
          </ns1:xfrm>
          <ns1:prstGeom prst="ellipse">
            <ns1:avLst/>
          </ns1:prstGeom>
          <ns1:solidFill>
            <ns1:srgbClr val="DCEFEB"/>
          </ns1:solidFill>
          <ns1:ln w="19050">
            <ns1:solidFill>
              <ns1:srgbClr val="0E8C7F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562E7BFF-7381-47EE-8C0E-8754006D1F2B}"/>
              </ns1:ext>
            </ns1:extLst>
          </ns0:cNvPr>
          <ns0:cNvSpPr>
            <ns1:spLocks noGrp="1"/>
          </ns0:cNvSpPr>
          <ns0:nvPr/>
        </ns0:nvSpPr>
        <ns0:spPr>
          <ns1:xfrm>
            <ns1:off x="2571750" y="3009900"/>
            <ns1:ext cx="2286000" cy="1752600"/>
          </ns1:xfrm>
          <ns1:prstGeom prst="ellipse">
            <ns1:avLst/>
          </ns1:prstGeom>
          <ns1:solidFill>
            <ns1:srgbClr val="F4E8D2"/>
          </ns1:solidFill>
          <ns1:ln w="19050">
            <ns1:solidFill>
              <ns1:srgbClr val="C77D18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BC8E8892-31EC-419B-8D73-E4AB66FBD806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2571750"/>
            <ns1:ext cx="1143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1F6FB2"/>
                </ns1:solidFill>
                <ns1:latin typeface="Aptos"/>
                <ns1:ea typeface="Aptos"/>
                <ns1:cs typeface="Aptos"/>
              </ns1:defRPr>
            </ns1:pPr>
            <ns1:r>
              <ns1:rPr sz="1350" b="1">
                <ns1:solidFill>
                  <ns1:srgbClr val="1F6FB2"/>
                </ns1:solidFill>
                <ns1:latin typeface="Aptos"/>
                <ns1:ea typeface="Aptos"/>
                <ns1:cs typeface="Aptos"/>
              </ns1:rPr>
              <ns1:t>TAM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C009F0F-DBB8-48CF-B493-9D8937CD090A}"/>
              </ns1:ext>
            </ns1:extLst>
          </ns0:cNvPr>
          <ns0:cNvSpPr>
            <ns1:spLocks noGrp="1"/>
          </ns0:cNvSpPr>
          <ns0:nvPr/>
        </ns0:nvSpPr>
        <ns0:spPr>
          <ns1:xfrm>
            <ns1:off x="2895600" y="2819400"/>
            <ns1:ext cx="163830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7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7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$2.5T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D4D11A5-E0ED-4C0B-9747-0A4D531BF49C}"/>
              </ns1:ext>
            </ns1:extLst>
          </ns0:cNvPr>
          <ns0:cNvSpPr>
            <ns1:spLocks noGrp="1"/>
          </ns0:cNvSpPr>
          <ns0:nvPr/>
        </ns0:nvSpPr>
        <ns0:spPr>
          <ns1:xfrm>
            <ns1:off x="2647950" y="3257550"/>
            <ns1:ext cx="21336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global SME trade finance gap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E9327DE-FF5A-4F5A-81A6-BF83ECFF30BF}"/>
              </ns1:ext>
            </ns1:extLst>
          </ns0:cNvPr>
          <ns0:cNvSpPr>
            <ns1:spLocks noGrp="1"/>
          </ns0:cNvSpPr>
          <ns0:nvPr/>
        </ns0:nvSpPr>
        <ns0:spPr>
          <ns1:xfrm>
            <ns1:off x="3200400" y="3695700"/>
            <ns1:ext cx="10287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SAM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B96CAC0C-87C6-42AD-ABBE-9088536C5D10}"/>
              </ns1:ext>
            </ns1:extLst>
          </ns0:cNvPr>
          <ns0:cNvSpPr>
            <ns1:spLocks noGrp="1"/>
          </ns0:cNvSpPr>
          <ns0:nvPr/>
        </ns0:nvSpPr>
        <ns0:spPr>
          <ns1:xfrm>
            <ns1:off x="3086100" y="3943350"/>
            <ns1:ext cx="1257300" cy="3810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4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4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$5B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F25B80A-28A4-4FC3-B2F7-FF4CC335BB48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4324350"/>
            <ns1:ext cx="1714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UAE SME gap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EEEFE3B2-2B10-44F1-B786-DEC314A95D1E}"/>
              </ns1:ext>
            </ns1:extLst>
          </ns0:cNvPr>
          <ns0:cNvSpPr>
            <ns1:spLocks noGrp="1"/>
          </ns0:cNvSpPr>
          <ns0:nvPr/>
        </ns0:nvSpPr>
        <ns0:spPr>
          <ns1:xfrm>
            <ns1:off x="3200400" y="4762500"/>
            <ns1:ext cx="10287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C77D18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C77D18"/>
                </ns1:solidFill>
                <ns1:latin typeface="Aptos"/>
                <ns1:ea typeface="Aptos"/>
                <ns1:cs typeface="Aptos"/>
              </ns1:rPr>
              <ns1:t>SOM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19A6F2A-D7A2-49BA-A03B-89990691CB1C}"/>
              </ns1:ext>
            </ns1:extLst>
          </ns0:cNvPr>
          <ns0:cNvSpPr>
            <ns1:spLocks noGrp="1"/>
          </ns0:cNvSpPr>
          <ns0:nvPr/>
        </ns0:nvSpPr>
        <ns0:spPr>
          <ns1:xfrm>
            <ns1:off x="2724150" y="4953000"/>
            <ns1:ext cx="20002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6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$100-250M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562B73F2-298E-4193-97A0-923DF9E3CBC6}"/>
              </ns1:ext>
            </ns1:extLst>
          </ns0:cNvPr>
          <ns0:cNvSpPr>
            <ns1:spLocks noGrp="1"/>
          </ns0:cNvSpPr>
          <ns0:nvPr/>
        </ns0:nvSpPr>
        <ns0:spPr>
          <ns1:xfrm>
            <ns1:off x="7334250" y="2000250"/>
            <ns1:ext cx="3352800" cy="3105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A8D09C08-5214-445C-914E-003045391AF1}"/>
              </ns1:ext>
            </ns1:extLst>
          </ns0:cNvPr>
          <ns0:cNvSpPr>
            <ns1:spLocks noGrp="1"/>
          </ns0:cNvSpPr>
          <ns0:nvPr/>
        </ns0:nvSpPr>
        <ns0:spPr>
          <ns1:xfrm>
            <ns1:off x="7581900" y="2247900"/>
            <ns1:ext cx="25717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Beachhead logic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FAECA5E6-BA8D-4B41-90E2-479DBF1D2270}"/>
              </ns1:ext>
            </ns1:extLst>
          </ns0:cNvPr>
          <ns0:cNvSpPr>
            <ns1:spLocks noGrp="1"/>
          </ns0:cNvSpPr>
          <ns0:nvPr/>
        </ns0:nvSpPr>
        <ns0:spPr>
          <ns1:xfrm>
            <ns1:off x="7581900" y="2686050"/>
            <ns1:ext cx="2743200" cy="1390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2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1. UAE importers of Indian and Turkish textiles, garments, and consumer goods.</ns1:t>
            </ns1:r>
          </ns1:p>
          <ns1:p>
            <ns1:r>
              <ns1:t/>
            </ns1:r>
          </ns1:p>
          <ns1:p>
            <ns1:pPr algn="l">
              <ns1:defRPr sz="12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2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2. $10K-$50K shipments: too small for bank LCs, too large for trust-only payment.</ns1:t>
            </ns1:r>
          </ns1:p>
          <ns1:p>
            <ns1:r>
              <ns1:t/>
            </ns1:r>
          </ns1:p>
          <ns1:p>
            <ns1:pPr algn="l">
              <ns1:defRPr sz="12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2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3. Repeat trade pattern creates retention surface.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680CFF7-9A9F-4E10-9949-5126A8087404}"/>
              </ns1:ext>
            </ns1:extLst>
          </ns0:cNvPr>
          <ns0:cNvSpPr>
            <ns1:spLocks noGrp="1"/>
          </ns0:cNvSpPr>
          <ns0:nvPr/>
        </ns0:nvSpPr>
        <ns0:spPr>
          <ns1:xfrm>
            <ns1:off x="7581900" y="4476750"/>
            <ns1:ext cx="25717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Where the gap bites hardest, and where regulators are most ready.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EB1FF3E9-3378-471E-9514-2286B763D86B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04</ns1:t>
            </ns1:r>
          </ns1:p>
        </ns0:txBody>
      </ns0:sp>
    </ns0:spTree>
    <ns0:extLst>
      <ns0:ext uri="{BB962C8B-B14F-4D97-AF65-F5344CB8AC3E}">
        <ns3:creationId val="1756973094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DF527E48-7C3F-4134-B177-CAE6BAA6917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5-marker">
            <ns1:extLst>
              <ns1:ext uri="{FF2B5EF4-FFF2-40B4-BE49-F238E27FC236}">
                <ns2:creationId id="{DB21B6CC-1904-4F91-B45E-4090B2065634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5-label">
            <ns1:extLst>
              <ns1:ext uri="{FF2B5EF4-FFF2-40B4-BE49-F238E27FC236}">
                <ns2:creationId id="{26993B88-157F-46AD-854B-0DF5E534682C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PRODUCT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4459BFF0-9D04-4E24-9284-AED08DB7959C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The MVP is governed documentary escrow, not a generic admin release button.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03766352-FB2D-4AEC-A481-659F7255E98D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38300"/>
            <ns1:ext cx="7048500" cy="495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Blockmediary makes the release rules explicit before funds move. The signed Escrow Specification becomes the operational source of truth.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191D52C-7145-4AA0-9014-E2BD9B997EB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86050"/>
            <ns1:ext cx="2333625" cy="876300"/>
          </ns1:xfrm>
          <ns1:prstGeom prst="rect">
            <ns1:avLst/>
          </ns1:prstGeom>
          <ns1:solidFill>
            <ns1:srgbClr val="E8E5F8"/>
          </ns1:solidFill>
          <ns1:ln w="9525">
            <ns1:solidFill>
              <ns1:srgbClr val="5A4FBF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67A52728-5221-43AC-B438-C8CCAFBA173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86050"/>
            <ns1:ext cx="57150" cy="87630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BB7D500E-97C7-422F-B02D-F7CB22068ACD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819400"/>
            <ns1:ext cx="19050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1. Escrow Specification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C129E90-3155-4A06-AF1D-9E3812B3206E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086100"/>
            <ns1:ext cx="190500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Structured trade terms, required documents, objection window, release rules.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0A363E27-A425-4D6D-AA20-C36A44B02799}"/>
              </ns1:ext>
            </ns1:extLst>
          </ns0:cNvPr>
          <ns0:cNvSpPr>
            <ns1:spLocks noGrp="1"/>
          </ns0:cNvSpPr>
          <ns0:nvPr/>
        </ns0:nvSpPr>
        <ns0:spPr>
          <ns1:xfrm>
            <ns1:off x="3429000" y="2686050"/>
            <ns1:ext cx="2333625" cy="876300"/>
          </ns1:xfrm>
          <ns1:prstGeom prst="rect">
            <ns1:avLst/>
          </ns1:prstGeom>
          <ns1:solidFill>
            <ns1:srgbClr val="DCEFEB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2345E463-9069-4BC5-8E63-AE909E46C09D}"/>
              </ns1:ext>
            </ns1:extLst>
          </ns0:cNvPr>
          <ns0:cNvSpPr>
            <ns1:spLocks noGrp="1"/>
          </ns0:cNvSpPr>
          <ns0:nvPr/>
        </ns0:nvSpPr>
        <ns0:spPr>
          <ns1:xfrm>
            <ns1:off x="3429000" y="2686050"/>
            <ns1:ext cx="57150" cy="87630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3A52CB99-0B7F-4E77-965C-3D6638F7ECCD}"/>
              </ns1:ext>
            </ns1:extLst>
          </ns0:cNvPr>
          <ns0:cNvSpPr>
            <ns1:spLocks noGrp="1"/>
          </ns0:cNvSpPr>
          <ns0:nvPr/>
        </ns0:nvSpPr>
        <ns0:spPr>
          <ns1:xfrm>
            <ns1:off x="3619500" y="2819400"/>
            <ns1:ext cx="19050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2. Trade Escrow Agreement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F74D830-9A9D-49D7-8194-B82350217F97}"/>
              </ns1:ext>
            </ns1:extLst>
          </ns0:cNvPr>
          <ns0:cNvSpPr>
            <ns1:spLocks noGrp="1"/>
          </ns0:cNvSpPr>
          <ns0:nvPr/>
        </ns0:nvSpPr>
        <ns0:spPr>
          <ns1:xfrm>
            <ns1:off x="3619500" y="3086100"/>
            <ns1:ext cx="190500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Buyer and seller accept the payment-release workflow and dispute path.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D55A71B-0C0B-4F9C-8D0B-6F0E548C39D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2686050"/>
            <ns1:ext cx="2333625" cy="876300"/>
          </ns1:xfrm>
          <ns1:prstGeom prst="rect">
            <ns1:avLst/>
          </ns1:prstGeom>
          <ns1:solidFill>
            <ns1:srgbClr val="DDEAF5"/>
          </ns1:solidFill>
          <ns1:ln w="9525">
            <ns1:solidFill>
              <ns1:srgbClr val="1F6FB2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3A382483-E0A2-4A16-89FC-C7BA9D14312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2686050"/>
            <ns1:ext cx="57150" cy="876300"/>
          </ns1:xfrm>
          <ns1:prstGeom prst="rect">
            <ns1:avLst/>
          </ns1:prstGeom>
          <ns1:solidFill>
            <ns1:srgbClr val="1F6FB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48E970C4-0FBD-44E1-95B2-01B86BF60772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2819400"/>
            <ns1:ext cx="19050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3. Submitted Documents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4DC92CAA-524D-42C8-BF3C-1CF88A37564D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3086100"/>
            <ns1:ext cx="190500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Invoice, packing list, transport document, certificate where needed.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99442F47-59E6-4BF6-BE5D-1ACAFA42D8C3}"/>
              </ns1:ext>
            </ns1:extLst>
          </ns0:cNvPr>
          <ns0:cNvSpPr>
            <ns1:spLocks noGrp="1"/>
          </ns0:cNvSpPr>
          <ns0:nvPr/>
        </ns0:nvSpPr>
        <ns0:spPr>
          <ns1:xfrm>
            <ns1:off x="8953500" y="2686050"/>
            <ns1:ext cx="2333625" cy="876300"/>
          </ns1:xfrm>
          <ns1:prstGeom prst="rect">
            <ns1:avLst/>
          </ns1:prstGeom>
          <ns1:solidFill>
            <ns1:srgbClr val="F4E8D2"/>
          </ns1:solidFill>
          <ns1:ln w="9525">
            <ns1:solidFill>
              <ns1:srgbClr val="C77D18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4FC5EF57-433C-4671-B0BD-96513395E522}"/>
              </ns1:ext>
            </ns1:extLst>
          </ns0:cNvPr>
          <ns0:cNvSpPr>
            <ns1:spLocks noGrp="1"/>
          </ns0:cNvSpPr>
          <ns0:nvPr/>
        </ns0:nvSpPr>
        <ns0:spPr>
          <ns1:xfrm>
            <ns1:off x="8953500" y="2686050"/>
            <ns1:ext cx="57150" cy="87630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F125EC64-7D55-4BBC-A80B-A135E0A91E3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2819400"/>
            <ns1:ext cx="19050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4. Audit Trail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08A93EB0-FA1F-4BDB-923B-5E898D970B37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3086100"/>
            <ns1:ext cx="190500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Reviewer notes, buyer notice, objection clock, release instruction.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9E6611C4-599F-454C-BBB0-8D4626054743}"/>
              </ns1:ext>
            </ns1:extLst>
          </ns0:cNvPr>
          <ns0:cNvSpPr>
            <ns1:spLocks noGrp="1"/>
          </ns0:cNvSpPr>
          <ns0:nvPr/>
        </ns0:nvSpPr>
        <ns0:spPr>
          <ns1:xfrm>
            <ns1:off x="3028950" y="3114675"/>
            <ns1:ext cx="36195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D01D796B-F4AC-47A2-945A-21EDBEE54B53}"/>
              </ns1:ext>
            </ns1:extLst>
          </ns0:cNvPr>
          <ns0:cNvSpPr>
            <ns1:spLocks noGrp="1"/>
          </ns0:cNvSpPr>
          <ns0:nvPr/>
        </ns0:nvSpPr>
        <ns0:spPr>
          <ns1:xfrm>
            <ns1:off x="5791200" y="3114675"/>
            <ns1:ext cx="36195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014A901D-02FE-4794-A58A-373F35120E20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114675"/>
            <ns1:ext cx="36195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F943F194-E45D-40B4-86E8-66C1C36D5C67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4171950"/>
            <ns1:ext cx="4362450" cy="8953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72F4E5C7-1612-41BF-9EDD-8B3932341C6C}"/>
              </ns1:ext>
            </ns1:extLst>
          </ns0:cNvPr>
          <ns0:cNvSpPr>
            <ns1:spLocks noGrp="1"/>
          </ns0:cNvSpPr>
          <ns0:nvPr/>
        </ns0:nvSpPr>
        <ns0:spPr>
          <ns1:xfrm>
            <ns1:off x="1276350" y="4362450"/>
            <ns1:ext cx="2476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On-chain state stays narrow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7B4A9006-EC23-4449-903E-94443393FC3D}"/>
              </ns1:ext>
            </ns1:extLst>
          </ns0:cNvPr>
          <ns0:cNvSpPr>
            <ns1:spLocks noGrp="1"/>
          </ns0:cNvSpPr>
          <ns0:nvPr/>
        </ns0:nvSpPr>
        <ns0:spPr>
          <ns1:xfrm>
            <ns1:off x="1276350" y="4667250"/>
            <ns1:ext cx="36385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Created -&gt; Funded -&gt; ReleasePending -&gt; Released / Refunded / Disputed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E1740E81-F192-41AD-83C2-2627500D4C12}"/>
              </ns1:ext>
            </ns1:extLst>
          </ns0:cNvPr>
          <ns0:cNvSpPr>
            <ns1:spLocks noGrp="1"/>
          </ns0:cNvSpPr>
          <ns0:nvPr/>
        </ns0:nvSpPr>
        <ns0:spPr>
          <ns1:xfrm>
            <ns1:off x="5829300" y="4171950"/>
            <ns1:ext cx="4362450" cy="8953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9" name="">
            <ns1:extLst>
              <ns1:ext uri="{FF2B5EF4-FFF2-40B4-BE49-F238E27FC236}">
                <ns2:creationId id="{EFA59945-495B-4304-9CAF-99EC9EC01D7C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4362450"/>
            <ns1:ext cx="30480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Off-chain review carries the nuance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30A092C1-077B-4627-BA3A-47BDFC9888E6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4667250"/>
            <ns1:ext cx="35623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1125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Document intake, apparent compliance, sanctions checks, buyer objection validity, examiner escalation.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B255769E-B3A0-449A-AF4F-F8182976ED5B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05</ns1:t>
            </ns1:r>
          </ns1:p>
        </ns0:txBody>
      </ns0:sp>
    </ns0:spTree>
    <ns0:extLst>
      <ns0:ext uri="{BB962C8B-B14F-4D97-AF65-F5344CB8AC3E}">
        <ns3:creationId val="1005415741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F4FE2676-D053-4E14-BF04-0E7927AC0552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6-marker">
            <ns1:extLst>
              <ns1:ext uri="{FF2B5EF4-FFF2-40B4-BE49-F238E27FC236}">
                <ns2:creationId id="{55B8F663-A21F-47ED-AEDB-E3AE849E8C50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6-label">
            <ns1:extLst>
              <ns1:ext uri="{FF2B5EF4-FFF2-40B4-BE49-F238E27FC236}">
                <ns2:creationId id="{87CE9F7B-BEFC-4E57-83D5-DC87F695B3C2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MOAT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C7AC5C7-34BC-4617-8ADA-26B60EB8D23D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The verification stack is the operating system investors can underwrite.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0748E060-0EC9-4B3D-9B33-487354D546BF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38300"/>
            <ns1:ext cx="9334500" cy="5143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Escrow is easy to copy. The hard part is release governance: what documents count, who reviews them, when objections pause release, and how evidence is recorded.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0FC2797-AA48-4F50-AA57-AF33DB40978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514600"/>
            <ns1:ext cx="9867900" cy="438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10ADA81E-1341-4D17-ADFB-14C80CAB454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514600"/>
            <ns1:ext cx="76200" cy="43815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B7D20398-9D09-4AFA-9CC6-7C487B44D3FB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2628900"/>
            <ns1:ext cx="3048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5A4FBF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5A4FBF"/>
                </ns1:solidFill>
                <ns1:latin typeface="Aptos"/>
                <ns1:ea typeface="Aptos"/>
                <ns1:cs typeface="Aptos"/>
              </ns1:rPr>
              <ns1:t>1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8F90593F-0609-42D3-840A-13778208AEE6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2628900"/>
            <ns1:ext cx="2286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Tiered intake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00F8EDBE-8B2D-4374-8B6F-289E6675C104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2638425"/>
            <ns1:ext cx="61912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eBL, carrier-verified, or paper tier sets the risk and price.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0FF9DF52-6806-4AD9-A8CB-FFA42B2C16D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048000"/>
            <ns1:ext cx="9867900" cy="43815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4E688695-A4B2-4048-BF15-1F5FDF0AE967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048000"/>
            <ns1:ext cx="76200" cy="43815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9F2D635D-2995-4DFF-B94C-66A90D2264D8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3162300"/>
            <ns1:ext cx="3048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2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0538D844-BAA4-4A18-BBCD-8DD12A1315C3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3162300"/>
            <ns1:ext cx="2286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OCR + rules engine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E68F421D-EF5E-4ADE-8331-DB0D9EC394A1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171825"/>
            <ns1:ext cx="61912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AI-assisted extraction and cross-document consistency checks.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6AAD28C8-5984-45A3-A3F9-17107EA4F29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581400"/>
            <ns1:ext cx="9867900" cy="438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F224167A-1BC6-4078-B51E-D433FDB5465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581400"/>
            <ns1:ext cx="76200" cy="438150"/>
          </ns1:xfrm>
          <ns1:prstGeom prst="rect">
            <ns1:avLst/>
          </ns1:prstGeom>
          <ns1:solidFill>
            <ns1:srgbClr val="1F6FB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7C497141-A5A0-4FA4-B21D-BA6138E595E4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3695700"/>
            <ns1:ext cx="3048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1F6FB2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1F6FB2"/>
                </ns1:solidFill>
                <ns1:latin typeface="Aptos"/>
                <ns1:ea typeface="Aptos"/>
                <ns1:cs typeface="Aptos"/>
              </ns1:rPr>
              <ns1:t>3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F5C217BA-D225-4449-82BA-FEB17D215370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3695700"/>
            <ns1:ext cx="2286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Carrier-source check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CE70C7A3-05B5-431D-99C4-DCD53FF8B1D7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705225"/>
            <ns1:ext cx="61912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DCSA-style carrier data confirms shipment evidence where available.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68C91A8E-77C9-4345-B1A1-9C26FD15E02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114800"/>
            <ns1:ext cx="9867900" cy="43815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0D2C2847-CDD0-48EC-9DA3-9F467A09855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114800"/>
            <ns1:ext cx="76200" cy="4381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CCC3E881-0F03-47CE-A0FF-5487C4640869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4229100"/>
            <ns1:ext cx="3048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C77D18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C77D18"/>
                </ns1:solidFill>
                <ns1:latin typeface="Aptos"/>
                <ns1:ea typeface="Aptos"/>
                <ns1:cs typeface="Aptos"/>
              </ns1:rPr>
              <ns1:t>4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1E9A90A1-1654-465E-A383-D21FD6A00594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229100"/>
            <ns1:ext cx="2286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Human examiner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A9F1CAEC-A1D0-466E-A0CA-4DC12FA4FC74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4238625"/>
            <ns1:ext cx="61912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Ex-bank trade ops review apparent document compliance.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F3DEE57D-2416-42C4-B5DB-D3821ABEB64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48200"/>
            <ns1:ext cx="9867900" cy="438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0C3133BA-8025-4323-9766-9CE5802D4A0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48200"/>
            <ns1:ext cx="76200" cy="438150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8" name="">
            <ns1:extLst>
              <ns1:ext uri="{FF2B5EF4-FFF2-40B4-BE49-F238E27FC236}">
                <ns2:creationId id="{99AAEA53-FAF5-40E1-A833-9C9C3FD4E25D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4762500"/>
            <ns1:ext cx="3048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2C7A33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2C7A33"/>
                </ns1:solidFill>
                <ns1:latin typeface="Aptos"/>
                <ns1:ea typeface="Aptos"/>
                <ns1:cs typeface="Aptos"/>
              </ns1:rPr>
              <ns1:t>5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B28EACF1-FB0F-4FA1-9B05-5BBE22F5D4E9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762500"/>
            <ns1:ext cx="2286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Fraud memory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A56B33E2-6DCF-486D-ADC8-B82A33C90E6F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4772025"/>
            <ns1:ext cx="61912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BoL hashes and reuse attempts create network-level defence.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686761B1-4411-4559-ACDC-B17CEBEFCAE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181600"/>
            <ns1:ext cx="9867900" cy="43815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2" name="">
            <ns1:extLst>
              <ns1:ext uri="{FF2B5EF4-FFF2-40B4-BE49-F238E27FC236}">
                <ns2:creationId id="{CA970A54-A9CF-47FA-91D2-DD8B41367C2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181600"/>
            <ns1:ext cx="76200" cy="43815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3" name="">
            <ns1:extLst>
              <ns1:ext uri="{FF2B5EF4-FFF2-40B4-BE49-F238E27FC236}">
                <ns2:creationId id="{481DA107-532B-4D59-90FF-1B9CA62773F6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5295900"/>
            <ns1:ext cx="3048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6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6FBC07C5-613F-4158-8FE2-E63EAB346AB3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5295900"/>
            <ns1:ext cx="2286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Forensics escalation</ns1:t>
            </ns1:r>
          </ns1:p>
        </ns0:txBody>
      </ns0:sp>
      <ns0:sp>
        <ns0:nvSpPr>
          <ns0:cNvPr id="35" name="">
            <ns1:extLst>
              <ns1:ext uri="{FF2B5EF4-FFF2-40B4-BE49-F238E27FC236}">
                <ns2:creationId id="{3ED58F3D-6C6B-4263-B235-EC2CFE258F66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5305425"/>
            <ns1:ext cx="61912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Physical originals or partner forensics when paper risk is high.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68C13A01-6BE8-4273-9753-BEB68DD6966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924550"/>
            <ns1:ext cx="9867900" cy="323850"/>
          </ns1:xfrm>
          <ns1:prstGeom prst="rect">
            <ns1:avLst/>
          </ns1:prstGeom>
          <ns1:solidFill>
            <ns1:srgbClr val="EEF6F4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2A14A4D4-AAC2-43D6-9587-B912BB0B45FF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5991225"/>
            <ns1:ext cx="90678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10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Defensibility compounds as every reviewed transaction improves templates, fraud memory, and counterparty reputation.</ns1:t>
            </ns1:r>
          </ns1:p>
        </ns0:txBody>
      </ns0:sp>
      <ns0:sp>
        <ns0:nvSpPr>
          <ns0:cNvPr id="39" name="">
            <ns1:extLst>
              <ns1:ext uri="{FF2B5EF4-FFF2-40B4-BE49-F238E27FC236}">
                <ns2:creationId id="{EA068F28-4CA4-4DC7-A437-A03AA480E7DA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06</ns1:t>
            </ns1:r>
          </ns1:p>
        </ns0:txBody>
      </ns0:sp>
    </ns0:spTree>
    <ns0:extLst>
      <ns0:ext uri="{BB962C8B-B14F-4D97-AF65-F5344CB8AC3E}">
        <ns3:creationId val="1354283015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578F74CC-DE77-4ED7-AB8D-C871277AFF8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7-marker">
            <ns1:extLst>
              <ns1:ext uri="{FF2B5EF4-FFF2-40B4-BE49-F238E27FC236}">
                <ns2:creationId id="{6C94827C-D2A2-45B2-B67A-B075098689F3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7-label">
            <ns1:extLst>
              <ns1:ext uri="{FF2B5EF4-FFF2-40B4-BE49-F238E27FC236}">
                <ns2:creationId id="{5EC07A60-564D-4FFB-98D8-E925E7E07860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SETTLEMENT ARCHITECTURE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6935CF6D-E5CF-4DFB-8740-56177897E931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Base + USDC gives the MVP a credible rail without overloading the smart contract.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37087FB4-961A-4F97-92A4-3D73EC96A455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38300"/>
            <ns1:ext cx="8953500" cy="5143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The product is deliberately chain-abstracted, but Phase 1 should launch on Base: low-cost EVM contracts, USDC settlement, wallet support, and a route to regulated on/off-ramps.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5FCEFB6-35BA-46D5-BA11-F779B4C8A24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533650"/>
            <ns1:ext cx="3314700" cy="2647950"/>
          </ns1:xfrm>
          <ns1:prstGeom prst="rect">
            <ns1:avLst/>
          </ns1:prstGeom>
          <ns1:solidFill>
            <ns1:srgbClr val="EEF2F6"/>
          </ns1:solidFill>
          <ns1:ln w="9525">
            <ns1:solidFill>
              <ns1:srgbClr val="1F6FB2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34F07A51-3735-4E85-9FC6-B59871FD48BE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647950"/>
            <ns1:ext cx="29718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F6FB2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F6FB2"/>
                </ns1:solidFill>
                <ns1:latin typeface="Aptos"/>
                <ns1:ea typeface="Aptos"/>
                <ns1:cs typeface="Aptos"/>
              </ns1:rPr>
              <ns1:t>OFF-CHAIN OPERATING LAYER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F7EEB6A-A54C-4CE7-A2E5-5D3B5A15D190}"/>
              </ns1:ext>
            </ns1:extLst>
          </ns0:cNvPr>
          <ns0:cNvSpPr>
            <ns1:spLocks noGrp="1"/>
          </ns0:cNvSpPr>
          <ns0:nvPr/>
        </ns0:nvSpPr>
        <ns0:spPr>
          <ns1:xfrm>
            <ns1:off x="4400550" y="2533650"/>
            <ns1:ext cx="3314700" cy="2647950"/>
          </ns1:xfrm>
          <ns1:prstGeom prst="rect">
            <ns1:avLst/>
          </ns1:prstGeom>
          <ns1:solidFill>
            <ns1:srgbClr val="EEF6F4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6DE688E6-89F3-4175-9F27-C3F5AFCD2A1E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2647950"/>
            <ns1:ext cx="29718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ON-CHAIN ESCROW LAYER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403D7D90-C4F3-4A0A-A50F-C473A233D71D}"/>
              </ns1:ext>
            </ns1:extLst>
          </ns0:cNvPr>
          <ns0:cNvSpPr>
            <ns1:spLocks noGrp="1"/>
          </ns0:cNvSpPr>
          <ns0:nvPr/>
        </ns0:nvSpPr>
        <ns0:spPr>
          <ns1:xfrm>
            <ns1:off x="8191500" y="2533650"/>
            <ns1:ext cx="3314700" cy="2647950"/>
          </ns1:xfrm>
          <ns1:prstGeom prst="rect">
            <ns1:avLst/>
          </ns1:prstGeom>
          <ns1:solidFill>
            <ns1:srgbClr val="F6F0E6"/>
          </ns1:solidFill>
          <ns1:ln w="9525">
            <ns1:solidFill>
              <ns1:srgbClr val="C77D18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F1059F3C-A5A7-49AF-819F-86E9CDCECCCC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647950"/>
            <ns1:ext cx="29718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C77D18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C77D18"/>
                </ns1:solidFill>
                <ns1:latin typeface="Aptos"/>
                <ns1:ea typeface="Aptos"/>
                <ns1:cs typeface="Aptos"/>
              </ns1:rPr>
              <ns1:t>PARTNER / COMPLIANCE LAYER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55A81D06-5C9C-4315-BFAF-AA49B081167D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086100"/>
            <ns1:ext cx="2095500" cy="685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5A4FBF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BE50FCFD-501C-4091-B5B4-D467728477FF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086100"/>
            <ns1:ext cx="57150" cy="68580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EDA169D3-9942-481D-8812-FEC0B6ECFE25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3209925"/>
            <ns1:ext cx="1619250" cy="1809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Escrow spec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4D22898E-168F-437B-B2AF-66CF8E3098FE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3448050"/>
            <ns1:ext cx="16954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source of truth for release rules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0531C9B-EFCD-44E7-88BF-CF162876CE44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000500"/>
            <ns1:ext cx="2095500" cy="685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1F6FB2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0B177A8D-B555-4A6D-BEBC-0509C0EDC85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000500"/>
            <ns1:ext cx="57150" cy="685800"/>
          </ns1:xfrm>
          <ns1:prstGeom prst="rect">
            <ns1:avLst/>
          </ns1:prstGeom>
          <ns1:solidFill>
            <ns1:srgbClr val="1F6FB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40A6BD22-3A36-4BF7-8CF2-8583AF3E4809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4124325"/>
            <ns1:ext cx="1619250" cy="1809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Document review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BFFD364F-B4BC-45F3-9876-0BC1370C6F75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4362450"/>
            <ns1:ext cx="16954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apparent compliance and risk flags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5756EA98-72FD-4597-AE54-532F25946D09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3086100"/>
            <ns1:ext cx="2095500" cy="685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C8B32359-BA8F-4BE1-B0E1-C4518E3D0EDB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3086100"/>
            <ns1:ext cx="57150" cy="68580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82D84C9D-26F7-4161-9A70-3D7DEDC4E5D8}"/>
              </ns1:ext>
            </ns1:extLst>
          </ns0:cNvPr>
          <ns0:cNvSpPr>
            <ns1:spLocks noGrp="1"/>
          </ns0:cNvSpPr>
          <ns0:nvPr/>
        </ns0:nvSpPr>
        <ns0:spPr>
          <ns1:xfrm>
            <ns1:off x="4838700" y="3209925"/>
            <ns1:ext cx="1619250" cy="1809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USDC escrow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06AD7FB3-4A89-448F-9934-3E1E922EA2C5}"/>
              </ns1:ext>
            </ns1:extLst>
          </ns0:cNvPr>
          <ns0:cNvSpPr>
            <ns1:spLocks noGrp="1"/>
          </ns0:cNvSpPr>
          <ns0:nvPr/>
        </ns0:nvSpPr>
        <ns0:spPr>
          <ns1:xfrm>
            <ns1:off x="4838700" y="3448050"/>
            <ns1:ext cx="16954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funded, released, refunded, disputed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D23925CF-3F55-4B69-9040-3072F5557037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4000500"/>
            <ns1:ext cx="2095500" cy="685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2C7A33"/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503E6F19-1E94-448D-9161-DEE13713DAD3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4000500"/>
            <ns1:ext cx="57150" cy="685800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008EF1AC-AAE2-4A6D-A968-D4D58FB92CCC}"/>
              </ns1:ext>
            </ns1:extLst>
          </ns0:cNvPr>
          <ns0:cNvSpPr>
            <ns1:spLocks noGrp="1"/>
          </ns0:cNvSpPr>
          <ns0:nvPr/>
        </ns0:nvSpPr>
        <ns0:spPr>
          <ns1:xfrm>
            <ns1:off x="4838700" y="4124325"/>
            <ns1:ext cx="1619250" cy="1809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Audit state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0ACDD6D9-024A-4358-A6A6-576D1E8D794D}"/>
              </ns1:ext>
            </ns1:extLst>
          </ns0:cNvPr>
          <ns0:cNvSpPr>
            <ns1:spLocks noGrp="1"/>
          </ns0:cNvSpPr>
          <ns0:nvPr/>
        </ns0:nvSpPr>
        <ns0:spPr>
          <ns1:xfrm>
            <ns1:off x="4838700" y="4362450"/>
            <ns1:ext cx="16954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minimal state transitions on Base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0BA0981D-4AD9-4D90-897E-536B6A2C7D09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3086100"/>
            <ns1:ext cx="2095500" cy="685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77D18"/>
            </ns1:solidFill>
            <ns1:prstDash val="solid"/>
          </ns1:ln>
        </ns0:spPr>
      </ns0:sp>
      <ns0:sp>
        <ns0:nvSpPr>
          <ns0:cNvPr id="29" name="">
            <ns1:extLst>
              <ns1:ext uri="{FF2B5EF4-FFF2-40B4-BE49-F238E27FC236}">
                <ns2:creationId id="{7FFADE0C-BCBC-44AF-8DA1-FDE32480372D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3086100"/>
            <ns1:ext cx="57150" cy="68580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A748367A-19DF-498F-ADBA-B2D68348ECF4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3209925"/>
            <ns1:ext cx="1619250" cy="1809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KYB / KYC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5FCB0452-056C-4521-B8A7-78BCE970B518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3448050"/>
            <ns1:ext cx="16954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buyer, seller, wallet screening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1DCB8525-0F80-4B44-A4A8-2A0E0AC20029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4000500"/>
            <ns1:ext cx="2095500" cy="685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0B1B3A"/>
            </ns1:solidFill>
            <ns1:prstDash val="solid"/>
          </ns1:ln>
        </ns0:spPr>
      </ns0:sp>
      <ns0:sp>
        <ns0:nvSpPr>
          <ns0:cNvPr id="33" name="">
            <ns1:extLst>
              <ns1:ext uri="{FF2B5EF4-FFF2-40B4-BE49-F238E27FC236}">
                <ns2:creationId id="{3028A194-C57F-432C-9E82-1FBE958160A0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4000500"/>
            <ns1:ext cx="57150" cy="6858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4" name="">
            <ns1:extLst>
              <ns1:ext uri="{FF2B5EF4-FFF2-40B4-BE49-F238E27FC236}">
                <ns2:creationId id="{38217143-CCD7-4E4A-AAEA-E7F24DFF5007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4124325"/>
            <ns1:ext cx="1619250" cy="1809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Custody options</ns1:t>
            </ns1:r>
          </ns1:p>
        </ns0:txBody>
      </ns0:sp>
      <ns0:sp>
        <ns0:nvSpPr>
          <ns0:cNvPr id="35" name="">
            <ns1:extLst>
              <ns1:ext uri="{FF2B5EF4-FFF2-40B4-BE49-F238E27FC236}">
                <ns2:creationId id="{23E22009-F9C2-4FD0-98F9-EB8EDB54F3FF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4362450"/>
            <ns1:ext cx="16954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regulated partner path as volume grows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5F141B85-CEB0-4F35-8D17-3E5A6757D73A}"/>
              </ns1:ext>
            </ns1:extLst>
          </ns0:cNvPr>
          <ns0:cNvSpPr>
            <ns1:spLocks noGrp="1"/>
          </ns0:cNvSpPr>
          <ns0:nvPr/>
        </ns0:nvSpPr>
        <ns0:spPr>
          <ns1:xfrm>
            <ns1:off x="2971800" y="3429000"/>
            <ns1:ext cx="169545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908E8584-713A-4F6C-A2AE-532B592CA412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3429000"/>
            <ns1:ext cx="169545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8" name="">
            <ns1:extLst>
              <ns1:ext uri="{FF2B5EF4-FFF2-40B4-BE49-F238E27FC236}">
                <ns2:creationId id="{1F9C8B64-E572-46A1-8089-8F239C6AC04E}"/>
              </ns1:ext>
            </ns1:extLst>
          </ns0:cNvPr>
          <ns0:cNvSpPr>
            <ns1:spLocks noGrp="1"/>
          </ns0:cNvSpPr>
          <ns0:nvPr/>
        </ns0:nvSpPr>
        <ns0:spPr>
          <ns1:xfrm>
            <ns1:off x="1619250" y="5619750"/>
            <ns1:ext cx="8382000" cy="323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39" name="">
            <ns1:extLst>
              <ns1:ext uri="{FF2B5EF4-FFF2-40B4-BE49-F238E27FC236}">
                <ns2:creationId id="{404E53A7-B6D2-45A9-99FC-6A26A00CBED4}"/>
              </ns1:ext>
            </ns1:extLst>
          </ns0:cNvPr>
          <ns0:cNvSpPr>
            <ns1:spLocks noGrp="1"/>
          </ns0:cNvSpPr>
          <ns0:nvPr/>
        </ns0:nvSpPr>
        <ns0:spPr>
          <ns1:xfrm>
            <ns1:off x="1619250" y="5619750"/>
            <ns1:ext cx="57150" cy="32385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0" name="">
            <ns1:extLst>
              <ns1:ext uri="{FF2B5EF4-FFF2-40B4-BE49-F238E27FC236}">
                <ns2:creationId id="{9B2EE173-850B-45AC-A806-ED66A2A7372A}"/>
              </ns1:ext>
            </ns1:extLst>
          </ns0:cNvPr>
          <ns0:cNvSpPr>
            <ns1:spLocks noGrp="1"/>
          </ns0:cNvSpPr>
          <ns0:nvPr/>
        </ns0:nvSpPr>
        <ns0:spPr>
          <ns1:xfrm>
            <ns1:off x="1771650" y="5686425"/>
            <ns1:ext cx="81534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Blockchain is used for visible prefunding, programmable state, shared auditability, and stablecoin settlement.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F23B547E-B184-4E3E-8DCF-3BF507C14730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07</ns1:t>
            </ns1:r>
          </ns1:p>
        </ns0:txBody>
      </ns0:sp>
    </ns0:spTree>
    <ns0:extLst>
      <ns0:ext uri="{BB962C8B-B14F-4D97-AF65-F5344CB8AC3E}">
        <ns3:creationId val="511638250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5CFC7245-F426-4B7C-A90B-95E5DFDB986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8-marker">
            <ns1:extLst>
              <ns1:ext uri="{FF2B5EF4-FFF2-40B4-BE49-F238E27FC236}">
                <ns2:creationId id="{32ECFFE6-CDF4-4BB5-9EE0-AF6F59704513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8-label">
            <ns1:extLst>
              <ns1:ext uri="{FF2B5EF4-FFF2-40B4-BE49-F238E27FC236}">
                <ns2:creationId id="{2B0E90CB-A161-46E8-8901-876F0547EB95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BUSINESS MODEL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04FA7FC7-C48E-4E87-A9E6-E18BAB9D8419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Revenue starts transactional, then expands into APIs and verified-trade data.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F3364A7-8494-419B-B1E9-62ADEDE12A3C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38300"/>
            <ns1:ext cx="8953500" cy="5143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The model is intentionally boring for Phase 1: charge for settlement orchestration and document review. Higher-margin partner APIs and yield share come only after the transaction base exists.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17CCC04-12C7-486A-A263-1957D9CE1398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609850"/>
            <ns1:ext cx="3048000" cy="16764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87BFCE09-77C6-47CD-AC06-92CCEBF07563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609850"/>
            <ns1:ext cx="3048000" cy="66675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E930165D-54DE-482A-93CB-8DC144596CF3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41910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A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7C12F6ED-A722-4B51-A8D3-7EA342EDFDB2}"/>
              </ns1:ext>
            </ns1:extLst>
          </ns0:cNvPr>
          <ns0:cNvSpPr>
            <ns1:spLocks noGrp="1"/>
          </ns0:cNvSpPr>
          <ns0:nvPr/>
        </ns0:nvSpPr>
        <ns0:spPr>
          <ns1:xfrm>
            <ns1:off x="1466850" y="2895600"/>
            <ns1:ext cx="1943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Settlement fees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E1BFF95-CF35-4488-8D0F-3F041872F328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3352800"/>
            <ns1:ext cx="2457450" cy="4572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0.5%-1.0% per trade, tier-dependent. First deal discount only; standard pricing from deal two.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609FC3AC-22EE-4360-8D92-2E6F526D28AF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3905250"/>
            <ns1:ext cx="23622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core revenue from day one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3103FC44-9425-4C1E-B670-FD279C8BB48B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2609850"/>
            <ns1:ext cx="3048000" cy="16764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6104B204-F192-44E6-88A4-0020F0267FB5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2609850"/>
            <ns1:ext cx="3048000" cy="66675"/>
          </ns1:xfrm>
          <ns1:prstGeom prst="rect">
            <ns1:avLst/>
          </ns1:prstGeom>
          <ns1:solidFill>
            <ns1:srgbClr val="1F6FB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CA3B5CF2-CA99-4E10-8F95-B9DC57AEE403}"/>
              </ns1:ext>
            </ns1:extLst>
          </ns0:cNvPr>
          <ns0:cNvSpPr>
            <ns1:spLocks noGrp="1"/>
          </ns0:cNvSpPr>
          <ns0:nvPr/>
        </ns0:nvSpPr>
        <ns0:spPr>
          <ns1:xfrm>
            <ns1:off x="4781550" y="2857500"/>
            <ns1:ext cx="41910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1F6FB2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1F6FB2"/>
                </ns1:solidFill>
                <ns1:latin typeface="Aptos"/>
                <ns1:ea typeface="Aptos"/>
                <ns1:cs typeface="Aptos"/>
              </ns1:rPr>
              <ns1:t>B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9DD6D00-4112-4D7F-9A00-AE17163976EA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2895600"/>
            <ns1:ext cx="1943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SaaS / API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E278E5CF-CDE6-4F12-B38C-946C3D13D755}"/>
              </ns1:ext>
            </ns1:extLst>
          </ns0:cNvPr>
          <ns0:cNvSpPr>
            <ns1:spLocks noGrp="1"/>
          </ns0:cNvSpPr>
          <ns0:nvPr/>
        </ns0:nvSpPr>
        <ns0:spPr>
          <ns1:xfrm>
            <ns1:off x="4800600" y="3352800"/>
            <ns1:ext cx="2457450" cy="4572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Verification API and bank white-label rail once templates and review operations mature.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8C645EB8-38D7-4F2E-8E03-799A98398BCF}"/>
              </ns1:ext>
            </ns1:extLst>
          </ns0:cNvPr>
          <ns0:cNvSpPr>
            <ns1:spLocks noGrp="1"/>
          </ns0:cNvSpPr>
          <ns0:nvPr/>
        </ns0:nvSpPr>
        <ns0:spPr>
          <ns1:xfrm>
            <ns1:off x="4800600" y="3905250"/>
            <ns1:ext cx="23622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F6FB2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1F6FB2"/>
                </ns1:solidFill>
                <ns1:latin typeface="Aptos"/>
                <ns1:ea typeface="Aptos"/>
                <ns1:cs typeface="Aptos"/>
              </ns1:rPr>
              <ns1:t>partner revenue in Y1-Y3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0DCC2A0B-9ACC-469F-8279-5F8F67EB2DB7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2609850"/>
            <ns1:ext cx="3048000" cy="16764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751AD9F5-6FC2-4E64-90E7-67DFE3B7E31D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2609850"/>
            <ns1:ext cx="3048000" cy="66675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F01170D6-62F7-4B12-B63B-EF6FB3DDE9B5}"/>
              </ns1:ext>
            </ns1:extLst>
          </ns0:cNvPr>
          <ns0:cNvSpPr>
            <ns1:spLocks noGrp="1"/>
          </ns0:cNvSpPr>
          <ns0:nvPr/>
        </ns0:nvSpPr>
        <ns0:spPr>
          <ns1:xfrm>
            <ns1:off x="8610600" y="2857500"/>
            <ns1:ext cx="41910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2C7A33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2C7A33"/>
                </ns1:solidFill>
                <ns1:latin typeface="Aptos"/>
                <ns1:ea typeface="Aptos"/>
                <ns1:cs typeface="Aptos"/>
              </ns1:rPr>
              <ns1:t>C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766CD84A-FA67-425B-98DC-15B987B137F6}"/>
              </ns1:ext>
            </ns1:extLst>
          </ns0:cNvPr>
          <ns0:cNvSpPr>
            <ns1:spLocks noGrp="1"/>
          </ns0:cNvSpPr>
          <ns0:nvPr/>
        </ns0:nvSpPr>
        <ns0:spPr>
          <ns1:xfrm>
            <ns1:off x="9124950" y="2895600"/>
            <ns1:ext cx="1943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Yield share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8CA16E95-5115-42D3-86DC-A175C215E485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3352800"/>
            <ns1:ext cx="2457450" cy="4572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05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Optional later share on idle escrow via regulated yield infrastructure.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BE0A658F-88C7-4947-94D6-AF2CC16302B3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3905250"/>
            <ns1:ext cx="23622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2C7A33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2C7A33"/>
                </ns1:solidFill>
                <ns1:latin typeface="Aptos"/>
                <ns1:ea typeface="Aptos"/>
                <ns1:cs typeface="Aptos"/>
              </ns1:rPr>
              <ns1:t>future upside, not base dependency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F529439F-AA1B-479F-9713-F803AF3F0A88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876800"/>
            <ns1:ext cx="238125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9387088B-50B6-4E74-B1D9-1258469B22F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876800"/>
            <ns1:ext cx="47625" cy="1085850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76A54834-7861-4A9E-9835-E531018790F5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5019675"/>
            <ns1:ext cx="19621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60%-70%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C60E6FF2-C7F3-45AE-8595-52F357934042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5391150"/>
            <ns1:ext cx="19621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blended gross margin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8C6D793F-9A01-41BE-837F-2F3AD6EA4C5E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5638800"/>
            <ns1:ext cx="19621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rises as Tier A grows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5BDE4ABE-D574-48E1-B0EF-7E73187AD4CE}"/>
              </ns1:ext>
            </ns1:extLst>
          </ns0:cNvPr>
          <ns0:cNvSpPr>
            <ns1:spLocks noGrp="1"/>
          </ns0:cNvSpPr>
          <ns0:nvPr/>
        </ns0:nvSpPr>
        <ns0:spPr>
          <ns1:xfrm>
            <ns1:off x="3638550" y="4876800"/>
            <ns1:ext cx="238125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EC41DA7C-ACBA-423C-9BAC-3BBA721894CE}"/>
              </ns1:ext>
            </ns1:extLst>
          </ns0:cNvPr>
          <ns0:cNvSpPr>
            <ns1:spLocks noGrp="1"/>
          </ns0:cNvSpPr>
          <ns0:nvPr/>
        </ns0:nvSpPr>
        <ns0:spPr>
          <ns1:xfrm>
            <ns1:off x="3638550" y="4876800"/>
            <ns1:ext cx="47625" cy="10858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1" name="">
            <ns1:extLst>
              <ns1:ext uri="{FF2B5EF4-FFF2-40B4-BE49-F238E27FC236}">
                <ns2:creationId id="{9A9A16C0-7D2B-47C4-A305-179DAB429F55}"/>
              </ns1:ext>
            </ns1:extLst>
          </ns0:cNvPr>
          <ns0:cNvSpPr>
            <ns1:spLocks noGrp="1"/>
          </ns0:cNvSpPr>
          <ns0:nvPr/>
        </ns0:nvSpPr>
        <ns0:spPr>
          <ns1:xfrm>
            <ns1:off x="3848100" y="5019675"/>
            <ns1:ext cx="19621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$25K-&gt;$50K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11515AFD-455A-4E64-8D85-AD10FD0EA2A1}"/>
              </ns1:ext>
            </ns1:extLst>
          </ns0:cNvPr>
          <ns0:cNvSpPr>
            <ns1:spLocks noGrp="1"/>
          </ns0:cNvSpPr>
          <ns0:nvPr/>
        </ns0:nvSpPr>
        <ns0:spPr>
          <ns1:xfrm>
            <ns1:off x="3848100" y="5391150"/>
            <ns1:ext cx="19621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average ticket</ns1:t>
            </ns1:r>
          </ns1:p>
        </ns0:txBody>
      </ns0:sp>
      <ns0:sp>
        <ns0:nvSpPr>
          <ns0:cNvPr id="33" name="">
            <ns1:extLst>
              <ns1:ext uri="{FF2B5EF4-FFF2-40B4-BE49-F238E27FC236}">
                <ns2:creationId id="{21075592-4F8D-42ED-8FC5-6B2DA5DB5F30}"/>
              </ns1:ext>
            </ns1:extLst>
          </ns0:cNvPr>
          <ns0:cNvSpPr>
            <ns1:spLocks noGrp="1"/>
          </ns0:cNvSpPr>
          <ns0:nvPr/>
        </ns0:nvSpPr>
        <ns0:spPr>
          <ns1:xfrm>
            <ns1:off x="3848100" y="5638800"/>
            <ns1:ext cx="19621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Y1 to Y3 base case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3DC75684-954F-42A1-B907-A321D2B887E1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4876800"/>
            <ns1:ext cx="238125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5" name="">
            <ns1:extLst>
              <ns1:ext uri="{FF2B5EF4-FFF2-40B4-BE49-F238E27FC236}">
                <ns2:creationId id="{EF689177-35DC-4A56-8449-AFB8E88044F3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4876800"/>
            <ns1:ext cx="47625" cy="108585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6" name="">
            <ns1:extLst>
              <ns1:ext uri="{FF2B5EF4-FFF2-40B4-BE49-F238E27FC236}">
                <ns2:creationId id="{1A9A9E4E-7710-4B71-80EB-561B360FCE45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5019675"/>
            <ns1:ext cx="19621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25-&gt;1,600</ns1:t>
            </ns1:r>
          </ns1:p>
        </ns0:txBody>
      </ns0:sp>
      <ns0:sp>
        <ns0:nvSpPr>
          <ns0:cNvPr id="37" name="">
            <ns1:extLst>
              <ns1:ext uri="{FF2B5EF4-FFF2-40B4-BE49-F238E27FC236}">
                <ns2:creationId id="{D42F5600-65C1-4652-9F40-9883DE0BC48D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5391150"/>
            <ns1:ext cx="19621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processed deals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ECED317A-558B-4998-9194-61A59EAB520A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5638800"/>
            <ns1:ext cx="19621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Y1 to Y3 range</ns1:t>
            </ns1:r>
          </ns1:p>
        </ns0:txBody>
      </ns0:sp>
      <ns0:sp>
        <ns0:nvSpPr>
          <ns0:cNvPr id="39" name="">
            <ns1:extLst>
              <ns1:ext uri="{FF2B5EF4-FFF2-40B4-BE49-F238E27FC236}">
                <ns2:creationId id="{EA9FE867-CA34-4B10-89F8-78674E57F654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4876800"/>
            <ns1:ext cx="2095500" cy="1085850"/>
          </ns1:xfrm>
          <ns1:prstGeom prst="rect">
            <ns1:avLst/>
          </ns1:prstGeom>
          <ns1:solidFill>
            <ns1:srgbClr val="EEF6F4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40" name="">
            <ns1:extLst>
              <ns1:ext uri="{FF2B5EF4-FFF2-40B4-BE49-F238E27FC236}">
                <ns2:creationId id="{2B6257C5-79CD-4162-8D48-9FB910FF96BD}"/>
              </ns1:ext>
            </ns1:extLst>
          </ns0:cNvPr>
          <ns0:cNvSpPr>
            <ns1:spLocks noGrp="1"/>
          </ns0:cNvSpPr>
          <ns0:nvPr/>
        </ns0:nvSpPr>
        <ns0:spPr>
          <ns1:xfrm>
            <ns1:off x="9163050" y="5029200"/>
            <ns1:ext cx="16954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Product-to-financial linkage</ns1:t>
            </ns1:r>
          </ns1:p>
        </ns0:txBody>
      </ns0:sp>
      <ns0:sp>
        <ns0:nvSpPr>
          <ns0:cNvPr id="41" name="">
            <ns1:extLst>
              <ns1:ext uri="{FF2B5EF4-FFF2-40B4-BE49-F238E27FC236}">
                <ns2:creationId id="{5122A123-768E-4D45-B6A9-8DAEE716AC70}"/>
              </ns1:ext>
            </ns1:extLst>
          </ns0:cNvPr>
          <ns0:cNvSpPr>
            <ns1:spLocks noGrp="1"/>
          </ns0:cNvSpPr>
          <ns0:nvPr/>
        </ns0:nvSpPr>
        <ns0:spPr>
          <ns1:xfrm>
            <ns1:off x="9163050" y="5276850"/>
            <ns1:ext cx="165735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38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Repeat deals lower onboarding friction and move customers toward faster, higher-margin document tiers.</ns1:t>
            </ns1:r>
          </ns1:p>
        </ns0:txBody>
      </ns0:sp>
      <ns0:sp>
        <ns0:nvSpPr>
          <ns0:cNvPr id="43" name="">
            <ns1:extLst>
              <ns1:ext uri="{FF2B5EF4-FFF2-40B4-BE49-F238E27FC236}">
                <ns2:creationId id="{CDAE3A3D-8539-47DC-BA99-C2C5F42F0640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08</ns1:t>
            </ns1:r>
          </ns1:p>
        </ns0:txBody>
      </ns0:sp>
    </ns0:spTree>
    <ns0:extLst>
      <ns0:ext uri="{BB962C8B-B14F-4D97-AF65-F5344CB8AC3E}">
        <ns3:creationId val="1799263819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67EBD3C1-DEE0-42D2-83AF-9DC37D8F7A4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09-marker">
            <ns1:extLst>
              <ns1:ext uri="{FF2B5EF4-FFF2-40B4-BE49-F238E27FC236}">
                <ns2:creationId id="{A0DC87CB-FE9C-43E1-BEE4-CC8766D59A95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09-label">
            <ns1:extLst>
              <ns1:ext uri="{FF2B5EF4-FFF2-40B4-BE49-F238E27FC236}">
                <ns2:creationId id="{DB8D40D3-2287-491F-8065-85EEC1A58DC5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GO TO MARKET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CC54A5A-4352-46A0-8E20-630EF946AFA1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Start with one corridor wedge, then let repeated trade compound trust.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EFD2F09-A829-4078-9C52-02D790E949AC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38300"/>
            <ns1:ext cx="8953500" cy="5143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Founder-led BD is the right motion at Day 0: freight forwarders see the trust gap before banks do, and repeat shipments create a natural retention loop.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2A01F06-A583-4389-BFBE-3BEE3325999A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838450"/>
            <ns1:ext cx="1809750" cy="819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1F6FB2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C68863BC-BAA6-4CE9-90FE-023C74E518F8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2990850"/>
            <ns1:ext cx="14287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Forwarder intro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E97E854C-DF50-460D-AC16-EDDAD50A3AD9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3238500"/>
            <ns1:ext cx="13906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warm lead from shipment friction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2ED9359D-4C41-4793-8523-158F3C9644C7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2838450"/>
            <ns1:ext cx="1809750" cy="819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4B0E412F-07F1-48B4-B828-B2BFB31F0146}"/>
              </ns1:ext>
            </ns1:extLst>
          </ns0:cNvPr>
          <ns0:cNvSpPr>
            <ns1:spLocks noGrp="1"/>
          </ns0:cNvSpPr>
          <ns0:nvPr/>
        </ns0:nvSpPr>
        <ns0:spPr>
          <ns1:xfrm>
            <ns1:off x="3562350" y="2990850"/>
            <ns1:ext cx="14287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First deal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2CAB2420-8D41-4D3B-A026-001E2CFB6BF8}"/>
              </ns1:ext>
            </ns1:extLst>
          </ns0:cNvPr>
          <ns0:cNvSpPr>
            <ns1:spLocks noGrp="1"/>
          </ns0:cNvSpPr>
          <ns0:nvPr/>
        </ns0:nvSpPr>
        <ns0:spPr>
          <ns1:xfrm>
            <ns1:off x="3562350" y="3238500"/>
            <ns1:ext cx="13906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50% discount and white-glove onboarding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E2D95702-9682-4681-8843-6A2DABC647CB}"/>
              </ns1:ext>
            </ns1:extLst>
          </ns0:cNvPr>
          <ns0:cNvSpPr>
            <ns1:spLocks noGrp="1"/>
          </ns0:cNvSpPr>
          <ns0:nvPr/>
        </ns0:nvSpPr>
        <ns0:spPr>
          <ns1:xfrm>
            <ns1:off x="5886450" y="2838450"/>
            <ns1:ext cx="1809750" cy="819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5A4FBF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D4178494-8C44-416A-AAC5-30CB8665D74F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2990850"/>
            <ns1:ext cx="14287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KYB reused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BD76EBA-D3A7-4B74-AFDD-5755D612567F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3238500"/>
            <ns1:ext cx="13906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deal two starts with lower friction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EB027EF3-9F4F-41EE-97C0-A3607BA29E05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2838450"/>
            <ns1:ext cx="1809750" cy="819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2C7A33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27A513E2-BEA4-4550-82EA-69D5833FAC04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2990850"/>
            <ns1:ext cx="14287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Verified status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F8DD4E12-2143-43BE-A21A-B207F3521D7F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238500"/>
            <ns1:ext cx="13906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counterparty reputation travels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2CFED9B2-F0D8-439C-AA92-1445DDE1BB42}"/>
              </ns1:ext>
            </ns1:extLst>
          </ns0:cNvPr>
          <ns0:cNvSpPr>
            <ns1:spLocks noGrp="1"/>
          </ns0:cNvSpPr>
          <ns0:nvPr/>
        </ns0:nvSpPr>
        <ns0:spPr>
          <ns1:xfrm>
            <ns1:off x="2705100" y="3248025"/>
            <ns1:ext cx="68580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D59CD4B4-7B2C-4EB4-A919-6C40530BCFA4}"/>
              </ns1:ext>
            </ns1:extLst>
          </ns0:cNvPr>
          <ns0:cNvSpPr>
            <ns1:spLocks noGrp="1"/>
          </ns0:cNvSpPr>
          <ns0:nvPr/>
        </ns0:nvSpPr>
        <ns0:spPr>
          <ns1:xfrm>
            <ns1:off x="5200650" y="3248025"/>
            <ns1:ext cx="68580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C3EFDEE8-405A-4EE2-A66D-C78BDCB4DB82}"/>
              </ns1:ext>
            </ns1:extLst>
          </ns0:cNvPr>
          <ns0:cNvSpPr>
            <ns1:spLocks noGrp="1"/>
          </ns0:cNvSpPr>
          <ns0:nvPr/>
        </ns0:nvSpPr>
        <ns0:spPr>
          <ns1:xfrm>
            <ns1:off x="7696200" y="3248025"/>
            <ns1:ext cx="685800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994F8B61-F718-43D1-BBC4-A58A539841C4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3657600"/>
            <ns1:ext cx="19050" cy="7048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98F0B92C-D8F9-4E79-A7F3-260E23934F64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4362450"/>
            <ns1:ext cx="7477125" cy="190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61AE51B3-0FD5-4DD3-9AAB-994430179CC8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3657600"/>
            <ns1:ext cx="19050" cy="704850"/>
          </ns1:xfrm>
          <ns1:prstGeom prst="rect">
            <ns1:avLst/>
          </ns1:prstGeom>
          <ns1:solidFill>
            <ns1:srgbClr val="6B7280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5718434F-AC5E-4367-B7AB-97B62BEF1AAB}"/>
              </ns1:ext>
            </ns1:extLst>
          </ns0:cNvPr>
          <ns0:cNvSpPr>
            <ns1:spLocks noGrp="1"/>
          </ns0:cNvSpPr>
          <ns0:nvPr/>
        </ns0:nvSpPr>
        <ns0:spPr>
          <ns1:xfrm>
            <ns1:off x="1485900" y="4819650"/>
            <ns1:ext cx="7334250" cy="323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77D18"/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DD72370B-1A2D-4798-98D1-93F3464191D2}"/>
              </ns1:ext>
            </ns1:extLst>
          </ns0:cNvPr>
          <ns0:cNvSpPr>
            <ns1:spLocks noGrp="1"/>
          </ns0:cNvSpPr>
          <ns0:nvPr/>
        </ns0:nvSpPr>
        <ns0:spPr>
          <ns1:xfrm>
            <ns1:off x="1485900" y="4819650"/>
            <ns1:ext cx="57150" cy="3238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144C432E-D2C9-49B6-B2CA-25950A595328}"/>
              </ns1:ext>
            </ns1:extLst>
          </ns0:cNvPr>
          <ns0:cNvSpPr>
            <ns1:spLocks noGrp="1"/>
          </ns0:cNvSpPr>
          <ns0:nvPr/>
        </ns0:nvSpPr>
        <ns0:spPr>
          <ns1:xfrm>
            <ns1:off x="1638300" y="4886325"/>
            <ns1:ext cx="71056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Beachhead: UAE importers of Indian and Turkish textiles, garments, and consumer goods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EDF7CFAC-2A31-445D-B753-655BC53D270A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5657850"/>
            <ns1:ext cx="9867900" cy="4381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8" name="">
            <ns1:extLst>
              <ns1:ext uri="{FF2B5EF4-FFF2-40B4-BE49-F238E27FC236}">
                <ns2:creationId id="{5AD87BFF-2039-4423-8984-2A300CA9134E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5791200"/>
            <ns1:ext cx="92392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Why it works: repeat shipments, same documents, warm intros, stablecoin familiarity, and SME LC pain.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EF0E6365-50B1-4350-89D2-D2E5BE22BFD5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09</ns1:t>
            </ns1:r>
          </ns1:p>
        </ns0:txBody>
      </ns0:sp>
    </ns0:spTree>
    <ns0:extLst>
      <ns0:ext uri="{BB962C8B-B14F-4D97-AF65-F5344CB8AC3E}">
        <ns3:creationId val="599862188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69E0E56C-B126-4990-BEF3-DE207479F96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10-marker">
            <ns1:extLst>
              <ns1:ext uri="{FF2B5EF4-FFF2-40B4-BE49-F238E27FC236}">
                <ns2:creationId id="{0BCA4E40-34F9-4E2C-95A1-AEED5C432C76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10-label">
            <ns1:extLst>
              <ns1:ext uri="{FF2B5EF4-FFF2-40B4-BE49-F238E27FC236}">
                <ns2:creationId id="{E7D461EE-F642-4F07-AA5E-17B2B93B7C34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COMPETITION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9E33E29-5C1C-45AC-9332-510A78F43AB2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Blockmediary combines categories competitors leave separate.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E400EED-C797-4C6E-9E1B-A2A687D2E377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38300"/>
            <ns1:ext cx="8953500" cy="495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Banks understand documents but cannot serve the SME dead zone economically. Stablecoin rails move funds quickly but do not govern documentary release.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11993F8-E473-421A-85F5-365130ACD3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33650"/>
            <ns1:ext cx="2781300" cy="4000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274C0720-CD18-43F2-BF34-274864A22349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657475"/>
            <ns1:ext cx="2552700" cy="16192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Capability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CAC6DE5A-B19E-4EDD-A578-CA214071CBEA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2533650"/>
            <ns1:ext cx="1714500" cy="4000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47E73996-91B7-4169-B5F9-DB1A472270A8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2657475"/>
            <ns1:ext cx="1485900" cy="16192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Banks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11D03947-2136-40FA-91D1-C0B22B6E6CFC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2533650"/>
            <ns1:ext cx="1952625" cy="4000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F7F8037E-935E-41D2-8D34-6824FC103198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2657475"/>
            <ns1:ext cx="1724025" cy="16192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Programmable escrow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4C70DBA-3DC3-4E69-B4FB-5492986CFB33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2533650"/>
            <ns1:ext cx="2000250" cy="4000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4D2D3BEB-E866-4DF3-8849-2EDCC74B2497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2657475"/>
            <ns1:ext cx="1771650" cy="16192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Stablecoin rails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211B7EF4-5115-4A02-9EFC-240ADAADE62D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2533650"/>
            <ns1:ext cx="1762125" cy="400050"/>
          </ns1:xfrm>
          <ns1:prstGeom prst="rect">
            <ns1:avLst/>
          </ns1:prstGeom>
          <ns1:solidFill>
            <ns1:srgbClr val="0B1B3A"/>
          </ns1:solidFill>
          <ns1:ln w="9525">
            <ns1:solidFill>
              <ns1:srgbClr val="0B1B3A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7A59EC04-C05B-4F1E-95A3-00F92CF1C42C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2657475"/>
            <ns1:ext cx="1533525" cy="16192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Blockmediary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0F3D1A1A-7AC1-4D9A-9D84-62674CF3A1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933700"/>
            <ns1:ext cx="27813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445C2FED-5B88-4D49-B71A-B4659C2D97AE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3048000"/>
            <ns1:ext cx="25527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Documentary release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6D06A1D3-B0C6-4C6D-BEEA-1B292EFB4C87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2933700"/>
            <ns1:ext cx="17145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26432A1C-5A4E-4466-A640-BF44FDC86E1B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3048000"/>
            <ns1:ext cx="14859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2AD6B03A-ECC3-4933-97A4-0E0820B4F115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2933700"/>
            <ns1:ext cx="1952625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AF8CA2DA-3E43-424A-9F86-F4293FDC2F1F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3048000"/>
            <ns1:ext cx="17240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758EDFDC-9AE7-4EE2-BCE6-D7046ACF5E5E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2933700"/>
            <ns1:ext cx="200025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C1EB5BD3-7E9F-4ADB-9282-E533E9401C5B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3048000"/>
            <ns1:ext cx="17716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98873CAF-8FDB-448E-972C-1F9960794FEA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2933700"/>
            <ns1:ext cx="1762125" cy="381000"/>
          </ns1:xfrm>
          <ns1:prstGeom prst="rect">
            <ns1:avLst/>
          </ns1:prstGeom>
          <ns1:solidFill>
            <ns1:srgbClr val="EAF6F3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70B8C862-41E8-41F1-8839-1EB0D2700108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3048000"/>
            <ns1:ext cx="15335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CD841F9C-E750-4C02-9950-E0A45292FB2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14700"/>
            <ns1:ext cx="278130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4D7CC358-76DC-40F4-950C-AC19D0A4C840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3429000"/>
            <ns1:ext cx="25527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Stablecoin settlement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9FD20D4C-8706-4523-8714-C45255F680B9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3314700"/>
            <ns1:ext cx="171450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9" name="">
            <ns1:extLst>
              <ns1:ext uri="{FF2B5EF4-FFF2-40B4-BE49-F238E27FC236}">
                <ns2:creationId id="{70A2F7F5-1EF3-417C-9C91-383A59E9881E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3429000"/>
            <ns1:ext cx="14859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C64D97C1-6447-43C9-B935-F1DF4FDA4CC4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3314700"/>
            <ns1:ext cx="1952625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1" name="">
            <ns1:extLst>
              <ns1:ext uri="{FF2B5EF4-FFF2-40B4-BE49-F238E27FC236}">
                <ns2:creationId id="{0E716932-7016-4F0D-B093-A66656EE0A19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3429000"/>
            <ns1:ext cx="17240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1EEBEB3F-89A1-4308-80D6-C7B1CB045195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3314700"/>
            <ns1:ext cx="200025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3" name="">
            <ns1:extLst>
              <ns1:ext uri="{FF2B5EF4-FFF2-40B4-BE49-F238E27FC236}">
                <ns2:creationId id="{F4653920-15A7-46E9-8D04-2E6545D9374B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3429000"/>
            <ns1:ext cx="17716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2D4249A4-6CB4-4897-92C2-1BA6393F91D7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3314700"/>
            <ns1:ext cx="1762125" cy="381000"/>
          </ns1:xfrm>
          <ns1:prstGeom prst="rect">
            <ns1:avLst/>
          </ns1:prstGeom>
          <ns1:solidFill>
            <ns1:srgbClr val="EAF6F3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5" name="">
            <ns1:extLst>
              <ns1:ext uri="{FF2B5EF4-FFF2-40B4-BE49-F238E27FC236}">
                <ns2:creationId id="{B4ECF69C-0B0A-4E47-9B9F-5FC08618C998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3429000"/>
            <ns1:ext cx="15335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9C41D469-27FD-4CB0-8F20-4D908432D3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95700"/>
            <ns1:ext cx="27813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29DAAC9E-FA4C-4365-9A05-83CE1A6C95E6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3810000"/>
            <ns1:ext cx="25527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SME ticket sizes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CCA4ACB7-1973-4B05-A106-563B12DCB62B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3695700"/>
            <ns1:ext cx="17145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39" name="">
            <ns1:extLst>
              <ns1:ext uri="{FF2B5EF4-FFF2-40B4-BE49-F238E27FC236}">
                <ns2:creationId id="{8D0079E9-C1C8-4A3A-A045-917076F96083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3810000"/>
            <ns1:ext cx="14859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40" name="">
            <ns1:extLst>
              <ns1:ext uri="{FF2B5EF4-FFF2-40B4-BE49-F238E27FC236}">
                <ns2:creationId id="{D098A9D7-7B6F-4F2B-BD7D-6A68E322DE7B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3695700"/>
            <ns1:ext cx="1952625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41" name="">
            <ns1:extLst>
              <ns1:ext uri="{FF2B5EF4-FFF2-40B4-BE49-F238E27FC236}">
                <ns2:creationId id="{557A2292-AA6A-460D-B80E-1329737C6A25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3810000"/>
            <ns1:ext cx="17240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E3912DCE-BA5C-4D59-BA02-EF4974792EDE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3695700"/>
            <ns1:ext cx="200025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43" name="">
            <ns1:extLst>
              <ns1:ext uri="{FF2B5EF4-FFF2-40B4-BE49-F238E27FC236}">
                <ns2:creationId id="{9F4A83F0-DB4A-4B5D-B6B5-F16F2F90EA2F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3810000"/>
            <ns1:ext cx="17716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44" name="">
            <ns1:extLst>
              <ns1:ext uri="{FF2B5EF4-FFF2-40B4-BE49-F238E27FC236}">
                <ns2:creationId id="{1F5B5783-2333-4C5B-BFD0-95A0488A4A54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3695700"/>
            <ns1:ext cx="1762125" cy="381000"/>
          </ns1:xfrm>
          <ns1:prstGeom prst="rect">
            <ns1:avLst/>
          </ns1:prstGeom>
          <ns1:solidFill>
            <ns1:srgbClr val="EAF6F3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45" name="">
            <ns1:extLst>
              <ns1:ext uri="{FF2B5EF4-FFF2-40B4-BE49-F238E27FC236}">
                <ns2:creationId id="{915A040F-711A-4D29-B67B-E5DAE5CE9B14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3810000"/>
            <ns1:ext cx="15335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46" name="">
            <ns1:extLst>
              <ns1:ext uri="{FF2B5EF4-FFF2-40B4-BE49-F238E27FC236}">
                <ns2:creationId id="{1121D63F-329E-4C68-B8C0-0B336E717F9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76700"/>
            <ns1:ext cx="278130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47" name="">
            <ns1:extLst>
              <ns1:ext uri="{FF2B5EF4-FFF2-40B4-BE49-F238E27FC236}">
                <ns2:creationId id="{834C95A2-0304-4700-BD60-4BB134E5F4DB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191000"/>
            <ns1:ext cx="25527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Document verification</ns1:t>
            </ns1:r>
          </ns1:p>
        </ns0:txBody>
      </ns0:sp>
      <ns0:sp>
        <ns0:nvSpPr>
          <ns0:cNvPr id="48" name="">
            <ns1:extLst>
              <ns1:ext uri="{FF2B5EF4-FFF2-40B4-BE49-F238E27FC236}">
                <ns2:creationId id="{3FEFC741-3CBB-4CCD-888C-FECBB0335BBA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4076700"/>
            <ns1:ext cx="171450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49" name="">
            <ns1:extLst>
              <ns1:ext uri="{FF2B5EF4-FFF2-40B4-BE49-F238E27FC236}">
                <ns2:creationId id="{0FF57EC9-FDD1-4DE4-9DF9-4B57BE214550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4191000"/>
            <ns1:ext cx="14859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50" name="">
            <ns1:extLst>
              <ns1:ext uri="{FF2B5EF4-FFF2-40B4-BE49-F238E27FC236}">
                <ns2:creationId id="{9F913A5F-00B6-41B9-A404-3B44BEC6C104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4076700"/>
            <ns1:ext cx="1952625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51" name="">
            <ns1:extLst>
              <ns1:ext uri="{FF2B5EF4-FFF2-40B4-BE49-F238E27FC236}">
                <ns2:creationId id="{D7EBA353-162F-433B-BDBF-A84339F40D1D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4191000"/>
            <ns1:ext cx="17240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52" name="">
            <ns1:extLst>
              <ns1:ext uri="{FF2B5EF4-FFF2-40B4-BE49-F238E27FC236}">
                <ns2:creationId id="{6B066AB2-5C01-4624-B8EF-DF8BB241EFA8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4076700"/>
            <ns1:ext cx="200025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53" name="">
            <ns1:extLst>
              <ns1:ext uri="{FF2B5EF4-FFF2-40B4-BE49-F238E27FC236}">
                <ns2:creationId id="{D73F190E-A4DF-47E0-B173-3DD31AD415BF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4191000"/>
            <ns1:ext cx="17716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54" name="">
            <ns1:extLst>
              <ns1:ext uri="{FF2B5EF4-FFF2-40B4-BE49-F238E27FC236}">
                <ns2:creationId id="{5472BBAA-F19C-4527-9232-D22B88EA449E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4076700"/>
            <ns1:ext cx="1762125" cy="381000"/>
          </ns1:xfrm>
          <ns1:prstGeom prst="rect">
            <ns1:avLst/>
          </ns1:prstGeom>
          <ns1:solidFill>
            <ns1:srgbClr val="EAF6F3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55" name="">
            <ns1:extLst>
              <ns1:ext uri="{FF2B5EF4-FFF2-40B4-BE49-F238E27FC236}">
                <ns2:creationId id="{C7F14CEB-BF6B-4FD6-B3AC-2C6288657D45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4191000"/>
            <ns1:ext cx="15335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56" name="">
            <ns1:extLst>
              <ns1:ext uri="{FF2B5EF4-FFF2-40B4-BE49-F238E27FC236}">
                <ns2:creationId id="{F309D7F7-6821-4370-B848-563FD0E04DB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457700"/>
            <ns1:ext cx="27813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57" name="">
            <ns1:extLst>
              <ns1:ext uri="{FF2B5EF4-FFF2-40B4-BE49-F238E27FC236}">
                <ns2:creationId id="{18DC0F48-C2C7-4612-B961-0509CC72A15A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572000"/>
            <ns1:ext cx="25527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Defined dispute path</ns1:t>
            </ns1:r>
          </ns1:p>
        </ns0:txBody>
      </ns0:sp>
      <ns0:sp>
        <ns0:nvSpPr>
          <ns0:cNvPr id="58" name="">
            <ns1:extLst>
              <ns1:ext uri="{FF2B5EF4-FFF2-40B4-BE49-F238E27FC236}">
                <ns2:creationId id="{708F0D86-ABEB-4FB3-875D-50C93602416F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4457700"/>
            <ns1:ext cx="17145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59" name="">
            <ns1:extLst>
              <ns1:ext uri="{FF2B5EF4-FFF2-40B4-BE49-F238E27FC236}">
                <ns2:creationId id="{B5ABFA5D-D691-4EDF-B35B-7C2647194AB9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4572000"/>
            <ns1:ext cx="14859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60" name="">
            <ns1:extLst>
              <ns1:ext uri="{FF2B5EF4-FFF2-40B4-BE49-F238E27FC236}">
                <ns2:creationId id="{37B768BB-0C9F-48A3-ABE1-B2FEF98C386E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4457700"/>
            <ns1:ext cx="1952625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61" name="">
            <ns1:extLst>
              <ns1:ext uri="{FF2B5EF4-FFF2-40B4-BE49-F238E27FC236}">
                <ns2:creationId id="{AC44D7D5-AF3B-4778-AE64-1927A9D60850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4572000"/>
            <ns1:ext cx="17240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C77D18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C77D18"/>
                </ns1:solidFill>
                <ns1:latin typeface="Aptos"/>
                <ns1:ea typeface="Aptos"/>
                <ns1:cs typeface="Aptos"/>
              </ns1:rPr>
              <ns1:t>PARTIAL</ns1:t>
            </ns1:r>
          </ns1:p>
        </ns0:txBody>
      </ns0:sp>
      <ns0:sp>
        <ns0:nvSpPr>
          <ns0:cNvPr id="62" name="">
            <ns1:extLst>
              <ns1:ext uri="{FF2B5EF4-FFF2-40B4-BE49-F238E27FC236}">
                <ns2:creationId id="{D03B3BEB-D65B-46F7-8F21-BA65AD602E8D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4457700"/>
            <ns1:ext cx="200025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63" name="">
            <ns1:extLst>
              <ns1:ext uri="{FF2B5EF4-FFF2-40B4-BE49-F238E27FC236}">
                <ns2:creationId id="{CA566FCB-4D31-4D15-8F7C-0FEB45B31021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4572000"/>
            <ns1:ext cx="17716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64" name="">
            <ns1:extLst>
              <ns1:ext uri="{FF2B5EF4-FFF2-40B4-BE49-F238E27FC236}">
                <ns2:creationId id="{A1080A55-A6D4-432D-AE34-D6D82F162F12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4457700"/>
            <ns1:ext cx="1762125" cy="381000"/>
          </ns1:xfrm>
          <ns1:prstGeom prst="rect">
            <ns1:avLst/>
          </ns1:prstGeom>
          <ns1:solidFill>
            <ns1:srgbClr val="EAF6F3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65" name="">
            <ns1:extLst>
              <ns1:ext uri="{FF2B5EF4-FFF2-40B4-BE49-F238E27FC236}">
                <ns2:creationId id="{07588FA9-5874-45D0-9224-DA0E752692D8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4572000"/>
            <ns1:ext cx="15335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66" name="">
            <ns1:extLst>
              <ns1:ext uri="{FF2B5EF4-FFF2-40B4-BE49-F238E27FC236}">
                <ns2:creationId id="{96232FD8-7145-44A7-A2EA-4F74BDA926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838700"/>
            <ns1:ext cx="278130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67" name="">
            <ns1:extLst>
              <ns1:ext uri="{FF2B5EF4-FFF2-40B4-BE49-F238E27FC236}">
                <ns2:creationId id="{3AC59F52-1BD1-449A-9229-9F0D9F9F88AD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953000"/>
            <ns1:ext cx="25527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Gulf regulatory fit</ns1:t>
            </ns1:r>
          </ns1:p>
        </ns0:txBody>
      </ns0:sp>
      <ns0:sp>
        <ns0:nvSpPr>
          <ns0:cNvPr id="68" name="">
            <ns1:extLst>
              <ns1:ext uri="{FF2B5EF4-FFF2-40B4-BE49-F238E27FC236}">
                <ns2:creationId id="{85E5A800-A5DA-485C-B47D-9DB29523B948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4838700"/>
            <ns1:ext cx="171450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69" name="">
            <ns1:extLst>
              <ns1:ext uri="{FF2B5EF4-FFF2-40B4-BE49-F238E27FC236}">
                <ns2:creationId id="{4C95CFAC-D23E-453D-97B0-D5EDBCDE9D54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4953000"/>
            <ns1:ext cx="14859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C77D18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C77D18"/>
                </ns1:solidFill>
                <ns1:latin typeface="Aptos"/>
                <ns1:ea typeface="Aptos"/>
                <ns1:cs typeface="Aptos"/>
              </ns1:rPr>
              <ns1:t>PARTIAL</ns1:t>
            </ns1:r>
          </ns1:p>
        </ns0:txBody>
      </ns0:sp>
      <ns0:sp>
        <ns0:nvSpPr>
          <ns0:cNvPr id="70" name="">
            <ns1:extLst>
              <ns1:ext uri="{FF2B5EF4-FFF2-40B4-BE49-F238E27FC236}">
                <ns2:creationId id="{69F68A90-3612-40DA-94D2-E7339DD4C5BD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4838700"/>
            <ns1:ext cx="1952625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1" name="">
            <ns1:extLst>
              <ns1:ext uri="{FF2B5EF4-FFF2-40B4-BE49-F238E27FC236}">
                <ns2:creationId id="{3F6DF618-B84A-4121-A413-830BE941A6D8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4953000"/>
            <ns1:ext cx="17240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72" name="">
            <ns1:extLst>
              <ns1:ext uri="{FF2B5EF4-FFF2-40B4-BE49-F238E27FC236}">
                <ns2:creationId id="{B5C9862B-76F0-4901-A528-596A91693C84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4838700"/>
            <ns1:ext cx="2000250" cy="381000"/>
          </ns1:xfrm>
          <ns1:prstGeom prst="rect">
            <ns1:avLst/>
          </ns1:prstGeom>
          <ns1:solidFill>
            <ns1:srgbClr val="FBFAF7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3" name="">
            <ns1:extLst>
              <ns1:ext uri="{FF2B5EF4-FFF2-40B4-BE49-F238E27FC236}">
                <ns2:creationId id="{1AA72416-3F15-45B4-A1EE-E3FAB89119AB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4953000"/>
            <ns1:ext cx="17716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C77D18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C77D18"/>
                </ns1:solidFill>
                <ns1:latin typeface="Aptos"/>
                <ns1:ea typeface="Aptos"/>
                <ns1:cs typeface="Aptos"/>
              </ns1:rPr>
              <ns1:t>PARTIAL</ns1:t>
            </ns1:r>
          </ns1:p>
        </ns0:txBody>
      </ns0:sp>
      <ns0:sp>
        <ns0:nvSpPr>
          <ns0:cNvPr id="74" name="">
            <ns1:extLst>
              <ns1:ext uri="{FF2B5EF4-FFF2-40B4-BE49-F238E27FC236}">
                <ns2:creationId id="{E8CDFF45-D111-474F-9420-502CF3B9E180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4838700"/>
            <ns1:ext cx="1762125" cy="381000"/>
          </ns1:xfrm>
          <ns1:prstGeom prst="rect">
            <ns1:avLst/>
          </ns1:prstGeom>
          <ns1:solidFill>
            <ns1:srgbClr val="EAF6F3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5" name="">
            <ns1:extLst>
              <ns1:ext uri="{FF2B5EF4-FFF2-40B4-BE49-F238E27FC236}">
                <ns2:creationId id="{73C049B1-FFB6-4ED3-B0FB-246A84674444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4953000"/>
            <ns1:ext cx="15335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76" name="">
            <ns1:extLst>
              <ns1:ext uri="{FF2B5EF4-FFF2-40B4-BE49-F238E27FC236}">
                <ns2:creationId id="{5A93E6F1-82C5-4A72-B563-D97FCDB3B9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19700"/>
            <ns1:ext cx="27813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7" name="">
            <ns1:extLst>
              <ns1:ext uri="{FF2B5EF4-FFF2-40B4-BE49-F238E27FC236}">
                <ns2:creationId id="{F5DEA1F8-7C6B-46CD-80E6-79145362BCBB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5334000"/>
            <ns1:ext cx="25527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eBL speed option</ns1:t>
            </ns1:r>
          </ns1:p>
        </ns0:txBody>
      </ns0:sp>
      <ns0:sp>
        <ns0:nvSpPr>
          <ns0:cNvPr id="78" name="">
            <ns1:extLst>
              <ns1:ext uri="{FF2B5EF4-FFF2-40B4-BE49-F238E27FC236}">
                <ns2:creationId id="{88934611-A835-4EBE-8D96-E6B4ECCE576D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5219700"/>
            <ns1:ext cx="171450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9" name="">
            <ns1:extLst>
              <ns1:ext uri="{FF2B5EF4-FFF2-40B4-BE49-F238E27FC236}">
                <ns2:creationId id="{F908A8AB-7775-44A0-B444-E02F2B0EA489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5334000"/>
            <ns1:ext cx="14859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NO</ns1:t>
            </ns1:r>
          </ns1:p>
        </ns0:txBody>
      </ns0:sp>
      <ns0:sp>
        <ns0:nvSpPr>
          <ns0:cNvPr id="80" name="">
            <ns1:extLst>
              <ns1:ext uri="{FF2B5EF4-FFF2-40B4-BE49-F238E27FC236}">
                <ns2:creationId id="{47E13A0C-9687-499C-9D43-5DBF04F55EEF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5219700"/>
            <ns1:ext cx="1952625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81" name="">
            <ns1:extLst>
              <ns1:ext uri="{FF2B5EF4-FFF2-40B4-BE49-F238E27FC236}">
                <ns2:creationId id="{24AAADD9-317E-4E29-8D4B-DB0403F0FA72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5334000"/>
            <ns1:ext cx="17240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82" name="">
            <ns1:extLst>
              <ns1:ext uri="{FF2B5EF4-FFF2-40B4-BE49-F238E27FC236}">
                <ns2:creationId id="{8434E748-8A87-4798-98B5-E60165E05EBF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5219700"/>
            <ns1:ext cx="2000250" cy="3810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83" name="">
            <ns1:extLst>
              <ns1:ext uri="{FF2B5EF4-FFF2-40B4-BE49-F238E27FC236}">
                <ns2:creationId id="{7A836010-3173-46F4-8B77-7EFC77D8E41C}"/>
              </ns1:ext>
            </ns1:extLst>
          </ns0:cNvPr>
          <ns0:cNvSpPr>
            <ns1:spLocks noGrp="1"/>
          </ns0:cNvSpPr>
          <ns0:nvPr/>
        </ns0:nvSpPr>
        <ns0:spPr>
          <ns1:xfrm>
            <ns1:off x="7248525" y="5334000"/>
            <ns1:ext cx="17716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84" name="">
            <ns1:extLst>
              <ns1:ext uri="{FF2B5EF4-FFF2-40B4-BE49-F238E27FC236}">
                <ns2:creationId id="{6E8608B9-43E3-49D4-BDB4-D4FF883E7A74}"/>
              </ns1:ext>
            </ns1:extLst>
          </ns0:cNvPr>
          <ns0:cNvSpPr>
            <ns1:spLocks noGrp="1"/>
          </ns0:cNvSpPr>
          <ns0:nvPr/>
        </ns0:nvSpPr>
        <ns0:spPr>
          <ns1:xfrm>
            <ns1:off x="9134475" y="5219700"/>
            <ns1:ext cx="1762125" cy="381000"/>
          </ns1:xfrm>
          <ns1:prstGeom prst="rect">
            <ns1:avLst/>
          </ns1:prstGeom>
          <ns1:solidFill>
            <ns1:srgbClr val="EAF6F3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85" name="">
            <ns1:extLst>
              <ns1:ext uri="{FF2B5EF4-FFF2-40B4-BE49-F238E27FC236}">
                <ns2:creationId id="{F102A1F3-6B15-4DE0-A04A-DBB2E5053227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5334000"/>
            <ns1:ext cx="1533525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YES</ns1:t>
            </ns1:r>
          </ns1:p>
        </ns0:txBody>
      </ns0:sp>
      <ns0:sp>
        <ns0:nvSpPr>
          <ns0:cNvPr id="86" name="">
            <ns1:extLst>
              <ns1:ext uri="{FF2B5EF4-FFF2-40B4-BE49-F238E27FC236}">
                <ns2:creationId id="{05555CA4-C132-4FD5-8551-B123D1A3716D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5829300"/>
            <ns1:ext cx="8629650" cy="381000"/>
          </ns1:xfrm>
          <ns1:prstGeom prst="rect">
            <ns1:avLst/>
          </ns1:prstGeom>
          <ns1:solidFill>
            <ns1:srgbClr val="EEF6F4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87" name="">
            <ns1:extLst>
              <ns1:ext uri="{FF2B5EF4-FFF2-40B4-BE49-F238E27FC236}">
                <ns2:creationId id="{788F9677-CADA-4B8D-ADEF-6D2AE43DDB6A}"/>
              </ns1:ext>
            </ns1:extLst>
          </ns0:cNvPr>
          <ns0:cNvSpPr>
            <ns1:spLocks noGrp="1"/>
          </ns0:cNvSpPr>
          <ns0:nvPr/>
        </ns0:nvSpPr>
        <ns0:spPr>
          <ns1:xfrm>
            <ns1:off x="1866900" y="5943600"/>
            <ns1:ext cx="80010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Competitive advantage: documentary release logic + stablecoin prefunding + SME economics + six-layer document governance.</ns1:t>
            </ns1:r>
          </ns1:p>
        </ns0:txBody>
      </ns0:sp>
      <ns0:sp>
        <ns0:nvSpPr>
          <ns0:cNvPr id="89" name="">
            <ns1:extLst>
              <ns1:ext uri="{FF2B5EF4-FFF2-40B4-BE49-F238E27FC236}">
                <ns2:creationId id="{DF4783F8-DC2B-4A98-853D-ADAD03488F6C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10</ns1:t>
            </ns1:r>
          </ns1:p>
        </ns0:txBody>
      </ns0:sp>
    </ns0:spTree>
    <ns0:extLst>
      <ns0:ext uri="{BB962C8B-B14F-4D97-AF65-F5344CB8AC3E}">
        <ns3:creationId val="963811042"/>
      </ns0:ext>
    </ns0:extLst>
  </ns0:cSld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C4837CB6-6E06-48CD-BFA6-D1F09525E6D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4E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11-marker">
            <ns1:extLst>
              <ns1:ext uri="{FF2B5EF4-FFF2-40B4-BE49-F238E27FC236}">
                <ns2:creationId id="{C41C138C-5F33-44BE-9202-2EC74B53D8BF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11-label">
            <ns1:extLst>
              <ns1:ext uri="{FF2B5EF4-FFF2-40B4-BE49-F238E27FC236}">
                <ns2:creationId id="{9678FDA4-D756-49DA-8686-A2480D127B46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FINANCIAL PATH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7698C5A-5AC1-4F16-B719-CAE7D16F4D2F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85800"/>
            <ns1:ext cx="8191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0B1B3A"/>
                </ns1:solidFill>
                <ns1:latin typeface="Aptos Display"/>
                <ns1:ea typeface="Aptos Display"/>
                <ns1:cs typeface="Aptos Display"/>
              </ns1:rPr>
              <ns1:t>The base case is conservative: prove repeat usage before scaling overhead.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90738B7-5D3F-48A5-8E8A-70167E7B209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638300"/>
            <ns1:ext cx="8953500" cy="5143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The model was revised downward after a customer-volume math check. That makes the story more investable: low early revenue, controlled burn, and a clear break-even window.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6C0896C8-E2D1-436F-9C37-D91D557C1386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2514600"/>
            <ns1:ext cx="241935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CF113DC9-AFC4-4984-8B7B-EF02790DB51E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2514600"/>
            <ns1:ext cx="47625" cy="1085850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1FD81102-E896-4017-B810-62AB0C079AEC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657475"/>
            <ns1:ext cx="20002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$390K-$990K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E34A5FF-016D-47EF-90A6-3FC081C2C9D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028950"/>
            <ns1:ext cx="20002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Y3 annual revenue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97E1DD05-7F2A-47B6-9799-3651FE2E78B6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276600"/>
            <ns1:ext cx="20002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settlement + API + optional yield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9064EF7-7562-432B-9542-DEE2F214CD70}"/>
              </ns1:ext>
            </ns1:extLst>
          </ns0:cNvPr>
          <ns0:cNvSpPr>
            <ns1:spLocks noGrp="1"/>
          </ns0:cNvSpPr>
          <ns0:nvPr/>
        </ns0:nvSpPr>
        <ns0:spPr>
          <ns1:xfrm>
            <ns1:off x="3429000" y="2514600"/>
            <ns1:ext cx="241935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5C618428-F10D-41AB-A616-9C8D7129854B}"/>
              </ns1:ext>
            </ns1:extLst>
          </ns0:cNvPr>
          <ns0:cNvSpPr>
            <ns1:spLocks noGrp="1"/>
          </ns0:cNvSpPr>
          <ns0:nvPr/>
        </ns0:nvSpPr>
        <ns0:spPr>
          <ns1:xfrm>
            <ns1:off x="3429000" y="2514600"/>
            <ns1:ext cx="47625" cy="108585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020328B8-EA0A-4C97-A041-3D3060F3C871}"/>
              </ns1:ext>
            </ns1:extLst>
          </ns0:cNvPr>
          <ns0:cNvSpPr>
            <ns1:spLocks noGrp="1"/>
          </ns0:cNvSpPr>
          <ns0:nvPr/>
        </ns0:nvSpPr>
        <ns0:spPr>
          <ns1:xfrm>
            <ns1:off x="3638550" y="2657475"/>
            <ns1:ext cx="20002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250-450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285A877-C983-43FD-BEBF-1DB550D18B1B}"/>
              </ns1:ext>
            </ns1:extLst>
          </ns0:cNvPr>
          <ns0:cNvSpPr>
            <ns1:spLocks noGrp="1"/>
          </ns0:cNvSpPr>
          <ns0:nvPr/>
        </ns0:nvSpPr>
        <ns0:spPr>
          <ns1:xfrm>
            <ns1:off x="3638550" y="3028950"/>
            <ns1:ext cx="20002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Y3 active customers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1A649CE-9E85-45AE-8238-15C085AAF195}"/>
              </ns1:ext>
            </ns1:extLst>
          </ns0:cNvPr>
          <ns0:cNvSpPr>
            <ns1:spLocks noGrp="1"/>
          </ns0:cNvSpPr>
          <ns0:nvPr/>
        </ns0:nvSpPr>
        <ns0:spPr>
          <ns1:xfrm>
            <ns1:off x="3638550" y="3276600"/>
            <ns1:ext cx="20002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EOY range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50CA0DC0-43C5-4B19-9CDA-D729966D1D47}"/>
              </ns1:ext>
            </ns1:extLst>
          </ns0:cNvPr>
          <ns0:cNvSpPr>
            <ns1:spLocks noGrp="1"/>
          </ns0:cNvSpPr>
          <ns0:nvPr/>
        </ns0:nvSpPr>
        <ns0:spPr>
          <ns1:xfrm>
            <ns1:off x="6153150" y="2514600"/>
            <ns1:ext cx="241935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ADDEA11F-96DB-4FA7-8CC8-1A76D1A18957}"/>
              </ns1:ext>
            </ns1:extLst>
          </ns0:cNvPr>
          <ns0:cNvSpPr>
            <ns1:spLocks noGrp="1"/>
          </ns0:cNvSpPr>
          <ns0:nvPr/>
        </ns0:nvSpPr>
        <ns0:spPr>
          <ns1:xfrm>
            <ns1:off x="6153150" y="2514600"/>
            <ns1:ext cx="47625" cy="108585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931DDD7D-A9D0-4533-954E-A6759A8B06EB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2657475"/>
            <ns1:ext cx="20002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M36-M48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4EE95D9F-CECF-4553-B1E6-0D2C27D7BF86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3028950"/>
            <ns1:ext cx="20002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break-even target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BD5C591F-6634-48B1-85AB-39B506B61133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3276600"/>
            <ns1:ext cx="20002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Q3 2029 to Q1 2030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E9F97402-411D-4712-A716-89A1CF72C96B}"/>
              </ns1:ext>
            </ns1:extLst>
          </ns0:cNvPr>
          <ns0:cNvSpPr>
            <ns1:spLocks noGrp="1"/>
          </ns0:cNvSpPr>
          <ns0:nvPr/>
        </ns0:nvSpPr>
        <ns0:spPr>
          <ns1:xfrm>
            <ns1:off x="8877300" y="2514600"/>
            <ns1:ext cx="2419350" cy="1085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1189E399-6663-4A5C-8ECD-6C13455CB248}"/>
              </ns1:ext>
            </ns1:extLst>
          </ns0:cNvPr>
          <ns0:cNvSpPr>
            <ns1:spLocks noGrp="1"/>
          </ns0:cNvSpPr>
          <ns0:nvPr/>
        </ns0:nvSpPr>
        <ns0:spPr>
          <ns1:xfrm>
            <ns1:off x="8877300" y="2514600"/>
            <ns1:ext cx="47625" cy="108585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6DE22802-0306-42EE-926A-7BB776B59D49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2657475"/>
            <ns1:ext cx="200025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22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$1M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29640183-CEF1-44FE-B28B-D0C472AE5608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3028950"/>
            <ns1:ext cx="20002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seed ask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83ED7773-2ED2-469E-BD0A-239D4F990F73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3276600"/>
            <ns1:ext cx="20002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MVP, pilots + next-round proof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D3314116-0FF7-4086-8237-75AE3272C2BC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4171950"/>
            <ns1:ext cx="5124450" cy="1847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3AB488C4-099C-457E-BFD5-01C0CCA5FCC0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4305300"/>
            <ns1:ext cx="2095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Deals processed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8C1EB0F0-4FA9-470F-B030-3BE3F9DE9F1E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5943600"/>
            <ns1:ext cx="495300" cy="95250"/>
          </ns1:xfrm>
          <ns1:prstGeom prst="rect">
            <ns1:avLst/>
          </ns1:prstGeom>
          <ns1:solidFill>
            <ns1:srgbClr val="0E8C7F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29" name="">
            <ns1:extLst>
              <ns1:ext uri="{FF2B5EF4-FFF2-40B4-BE49-F238E27FC236}">
                <ns2:creationId id="{461EA15E-DBAE-469C-8817-7E80824CDE7A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6172200"/>
            <ns1:ext cx="5334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Y1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65D0CD14-B46E-4946-BBA3-675888BA382A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562600"/>
            <ns1:ext cx="7239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55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8B915DBD-F087-45F8-AD26-A30B1919B81D}"/>
              </ns1:ext>
            </ns1:extLst>
          </ns0:cNvPr>
          <ns0:cNvSpPr>
            <ns1:spLocks noGrp="1"/>
          </ns0:cNvSpPr>
          <ns0:nvPr/>
        </ns0:nvSpPr>
        <ns0:spPr>
          <ns1:xfrm>
            <ns1:off x="1885950" y="5705475"/>
            <ns1:ext cx="495300" cy="333375"/>
          </ns1:xfrm>
          <ns1:prstGeom prst="rect">
            <ns1:avLst/>
          </ns1:prstGeom>
          <ns1:solidFill>
            <ns1:srgbClr val="0E8C7F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32" name="">
            <ns1:extLst>
              <ns1:ext uri="{FF2B5EF4-FFF2-40B4-BE49-F238E27FC236}">
                <ns2:creationId id="{80B7BC36-CA77-4D27-A761-7FB810A306BF}"/>
              </ns1:ext>
            </ns1:extLst>
          </ns0:cNvPr>
          <ns0:cNvSpPr>
            <ns1:spLocks noGrp="1"/>
          </ns0:cNvSpPr>
          <ns0:nvPr/>
        </ns0:nvSpPr>
        <ns0:spPr>
          <ns1:xfrm>
            <ns1:off x="1866900" y="6172200"/>
            <ns1:ext cx="5334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Y2</ns1:t>
            </ns1:r>
          </ns1:p>
        </ns0:txBody>
      </ns0:sp>
      <ns0:sp>
        <ns0:nvSpPr>
          <ns0:cNvPr id="33" name="">
            <ns1:extLst>
              <ns1:ext uri="{FF2B5EF4-FFF2-40B4-BE49-F238E27FC236}">
                <ns2:creationId id="{8F49C337-0BF6-4692-B8DF-66439527A05A}"/>
              </ns1:ext>
            </ns1:extLst>
          </ns0:cNvPr>
          <ns0:cNvSpPr>
            <ns1:spLocks noGrp="1"/>
          </ns0:cNvSpPr>
          <ns0:nvPr/>
        </ns0:nvSpPr>
        <ns0:spPr>
          <ns1:xfrm>
            <ns1:off x="1771650" y="5562600"/>
            <ns1:ext cx="7239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0E8C7F"/>
                </ns1:solidFill>
                <ns1:latin typeface="Aptos"/>
                <ns1:ea typeface="Aptos"/>
                <ns1:cs typeface="Aptos"/>
              </ns1:rPr>
              <ns1:t>400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35469347-2347-4311-8B95-1D5AF85ACDED}"/>
              </ns1:ext>
            </ns1:extLst>
          </ns0:cNvPr>
          <ns0:cNvSpPr>
            <ns1:spLocks noGrp="1"/>
          </ns0:cNvSpPr>
          <ns0:nvPr/>
        </ns0:nvSpPr>
        <ns0:spPr>
          <ns1:xfrm>
            <ns1:off x="2705100" y="4705350"/>
            <ns1:ext cx="495300" cy="1333500"/>
          </ns1:xfrm>
          <ns1:prstGeom prst="rect">
            <ns1:avLst/>
          </ns1:prstGeom>
          <ns1:solidFill>
            <ns1:srgbClr val="0E8C7F"/>
          </ns1:solidFill>
          <ns1:ln w="9525">
            <ns1:solidFill>
              <ns1:srgbClr val="0E8C7F"/>
            </ns1:solidFill>
            <ns1:prstDash val="solid"/>
          </ns1:ln>
        </ns0:spPr>
      </ns0:sp>
      <ns0:sp>
        <ns0:nvSpPr>
          <ns0:cNvPr id="35" name="">
            <ns1:extLst>
              <ns1:ext uri="{FF2B5EF4-FFF2-40B4-BE49-F238E27FC236}">
                <ns2:creationId id="{C56CEFFE-6CC4-4A21-ACB3-638C7C9A3806}"/>
              </ns1:ext>
            </ns1:extLst>
          </ns0:cNvPr>
          <ns0:cNvSpPr>
            <ns1:spLocks noGrp="1"/>
          </ns0:cNvSpPr>
          <ns0:nvPr/>
        </ns0:nvSpPr>
        <ns0:spPr>
          <ns1:xfrm>
            <ns1:off x="2686050" y="6172200"/>
            <ns1:ext cx="5334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Y3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A28EFE54-57ED-451A-8BAB-2F1565B6789D}"/>
              </ns1:ext>
            </ns1:extLst>
          </ns0:cNvPr>
          <ns0:cNvSpPr>
            <ns1:spLocks noGrp="1"/>
          </ns0:cNvSpPr>
          <ns0:nvPr/>
        </ns0:nvSpPr>
        <ns0:spPr>
          <ns1:xfrm>
            <ns1:off x="2590800" y="4781550"/>
            <ns1:ext cx="7239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1600</ns1:t>
            </ns1:r>
          </ns1:p>
        </ns0:txBody>
      </ns0:sp>
      <ns0:sp>
        <ns0:nvSpPr>
          <ns0:cNvPr id="37" name="">
            <ns1:extLst>
              <ns1:ext uri="{FF2B5EF4-FFF2-40B4-BE49-F238E27FC236}">
                <ns2:creationId id="{E51E3DF9-7E76-4BA0-B641-9C8285A0E5DC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4305300"/>
            <ns1:ext cx="2095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350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Revenue high case ($K)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72E2E9F5-9EB1-4F4C-BC1A-94A30661DB7D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5943600"/>
            <ns1:ext cx="495300" cy="95250"/>
          </ns1:xfrm>
          <ns1:prstGeom prst="rect">
            <ns1:avLst/>
          </ns1:prstGeom>
          <ns1:solidFill>
            <ns1:srgbClr val="2C7A33"/>
          </ns1:solidFill>
          <ns1:ln w="9525">
            <ns1:solidFill>
              <ns1:srgbClr val="2C7A33"/>
            </ns1:solidFill>
            <ns1:prstDash val="solid"/>
          </ns1:ln>
        </ns0:spPr>
      </ns0:sp>
      <ns0:sp>
        <ns0:nvSpPr>
          <ns0:cNvPr id="39" name="">
            <ns1:extLst>
              <ns1:ext uri="{FF2B5EF4-FFF2-40B4-BE49-F238E27FC236}">
                <ns2:creationId id="{3324EB80-AF0E-4065-A7A6-60938C1C105F}"/>
              </ns1:ext>
            </ns1:extLst>
          </ns0:cNvPr>
          <ns0:cNvSpPr>
            <ns1:spLocks noGrp="1"/>
          </ns0:cNvSpPr>
          <ns0:nvPr/>
        </ns0:nvSpPr>
        <ns0:spPr>
          <ns1:xfrm>
            <ns1:off x="3524250" y="6172200"/>
            <ns1:ext cx="5334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Y1</ns1:t>
            </ns1:r>
          </ns1:p>
        </ns0:txBody>
      </ns0:sp>
      <ns0:sp>
        <ns0:nvSpPr>
          <ns0:cNvPr id="40" name="">
            <ns1:extLst>
              <ns1:ext uri="{FF2B5EF4-FFF2-40B4-BE49-F238E27FC236}">
                <ns2:creationId id="{1AEAC009-49DD-4817-9B33-BCA31DABFA9B}"/>
              </ns1:ext>
            </ns1:extLst>
          </ns0:cNvPr>
          <ns0:cNvSpPr>
            <ns1:spLocks noGrp="1"/>
          </ns0:cNvSpPr>
          <ns0:nvPr/>
        </ns0:nvSpPr>
        <ns0:spPr>
          <ns1:xfrm>
            <ns1:off x="3429000" y="5562600"/>
            <ns1:ext cx="7239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2C7A33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2C7A33"/>
                </ns1:solidFill>
                <ns1:latin typeface="Aptos"/>
                <ns1:ea typeface="Aptos"/>
                <ns1:cs typeface="Aptos"/>
              </ns1:rPr>
              <ns1:t>35</ns1:t>
            </ns1:r>
          </ns1:p>
        </ns0:txBody>
      </ns0:sp>
      <ns0:sp>
        <ns0:nvSpPr>
          <ns0:cNvPr id="41" name="">
            <ns1:extLst>
              <ns1:ext uri="{FF2B5EF4-FFF2-40B4-BE49-F238E27FC236}">
                <ns2:creationId id="{0EE42DA8-7576-4983-89AA-2F317E19515C}"/>
              </ns1:ext>
            </ns1:extLst>
          </ns0:cNvPr>
          <ns0:cNvSpPr>
            <ns1:spLocks noGrp="1"/>
          </ns0:cNvSpPr>
          <ns0:nvPr/>
        </ns0:nvSpPr>
        <ns0:spPr>
          <ns1:xfrm>
            <ns1:off x="4362450" y="5776191"/>
            <ns1:ext cx="495300" cy="262659"/>
          </ns1:xfrm>
          <ns1:prstGeom prst="rect">
            <ns1:avLst/>
          </ns1:prstGeom>
          <ns1:solidFill>
            <ns1:srgbClr val="2C7A33"/>
          </ns1:solidFill>
          <ns1:ln w="9525">
            <ns1:solidFill>
              <ns1:srgbClr val="2C7A33"/>
            </ns1:solidFill>
            <ns1:prstDash val="solid"/>
          </ns1:ln>
        </ns0:spPr>
      </ns0:sp>
      <ns0:sp>
        <ns0:nvSpPr>
          <ns0:cNvPr id="42" name="">
            <ns1:extLst>
              <ns1:ext uri="{FF2B5EF4-FFF2-40B4-BE49-F238E27FC236}">
                <ns2:creationId id="{55BF1A42-AA5A-47A9-855E-94171A56C33D}"/>
              </ns1:ext>
            </ns1:extLst>
          </ns0:cNvPr>
          <ns0:cNvSpPr>
            <ns1:spLocks noGrp="1"/>
          </ns0:cNvSpPr>
          <ns0:nvPr/>
        </ns0:nvSpPr>
        <ns0:spPr>
          <ns1:xfrm>
            <ns1:off x="4343400" y="6172200"/>
            <ns1:ext cx="5334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Y2</ns1:t>
            </ns1:r>
          </ns1:p>
        </ns0:txBody>
      </ns0:sp>
      <ns0:sp>
        <ns0:nvSpPr>
          <ns0:cNvPr id="43" name="">
            <ns1:extLst>
              <ns1:ext uri="{FF2B5EF4-FFF2-40B4-BE49-F238E27FC236}">
                <ns2:creationId id="{94015E4C-69F2-4712-844B-D00D02258196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5562600"/>
            <ns1:ext cx="7239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2C7A33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2C7A33"/>
                </ns1:solidFill>
                <ns1:latin typeface="Aptos"/>
                <ns1:ea typeface="Aptos"/>
                <ns1:cs typeface="Aptos"/>
              </ns1:rPr>
              <ns1:t>195</ns1:t>
            </ns1:r>
          </ns1:p>
        </ns0:txBody>
      </ns0:sp>
      <ns0:sp>
        <ns0:nvSpPr>
          <ns0:cNvPr id="44" name="">
            <ns1:extLst>
              <ns1:ext uri="{FF2B5EF4-FFF2-40B4-BE49-F238E27FC236}">
                <ns2:creationId id="{C203732D-BBBF-44FE-AD2A-54C4CD179C12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4705350"/>
            <ns1:ext cx="495300" cy="1333500"/>
          </ns1:xfrm>
          <ns1:prstGeom prst="rect">
            <ns1:avLst/>
          </ns1:prstGeom>
          <ns1:solidFill>
            <ns1:srgbClr val="2C7A33"/>
          </ns1:solidFill>
          <ns1:ln w="9525">
            <ns1:solidFill>
              <ns1:srgbClr val="2C7A33"/>
            </ns1:solidFill>
            <ns1:prstDash val="solid"/>
          </ns1:ln>
        </ns0:spPr>
      </ns0:sp>
      <ns0:sp>
        <ns0:nvSpPr>
          <ns0:cNvPr id="45" name="">
            <ns1:extLst>
              <ns1:ext uri="{FF2B5EF4-FFF2-40B4-BE49-F238E27FC236}">
                <ns2:creationId id="{4FF71A96-F9B3-4BE2-A46B-A12E8150DA15}"/>
              </ns1:ext>
            </ns1:extLst>
          </ns0:cNvPr>
          <ns0:cNvSpPr>
            <ns1:spLocks noGrp="1"/>
          </ns0:cNvSpPr>
          <ns0:nvPr/>
        </ns0:nvSpPr>
        <ns0:spPr>
          <ns1:xfrm>
            <ns1:off x="5162550" y="6172200"/>
            <ns1:ext cx="5334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Y3</ns1:t>
            </ns1:r>
          </ns1:p>
        </ns0:txBody>
      </ns0:sp>
      <ns0:sp>
        <ns0:nvSpPr>
          <ns0:cNvPr id="46" name="">
            <ns1:extLst>
              <ns1:ext uri="{FF2B5EF4-FFF2-40B4-BE49-F238E27FC236}">
                <ns2:creationId id="{9DFE55B4-FD0A-4466-8D59-E943F38126CB}"/>
              </ns1:ext>
            </ns1:extLst>
          </ns0:cNvPr>
          <ns0:cNvSpPr>
            <ns1:spLocks noGrp="1"/>
          </ns0:cNvSpPr>
          <ns0:nvPr/>
        </ns0:nvSpPr>
        <ns0:spPr>
          <ns1:xfrm>
            <ns1:off x="5067300" y="4781550"/>
            <ns1:ext cx="7239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990</ns1:t>
            </ns1:r>
          </ns1:p>
        </ns0:txBody>
      </ns0:sp>
      <ns0:sp>
        <ns0:nvSpPr>
          <ns0:cNvPr id="47" name="">
            <ns1:extLst>
              <ns1:ext uri="{FF2B5EF4-FFF2-40B4-BE49-F238E27FC236}">
                <ns2:creationId id="{9C0E21F1-10F1-4A3B-AB49-2DD719481B69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171950"/>
            <ns1:ext cx="5010150" cy="18478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7"/>
            </ns1:solidFill>
            <ns1:prstDash val="solid"/>
          </ns1:ln>
        </ns0:spPr>
      </ns0:sp>
      <ns0:sp>
        <ns0:nvSpPr>
          <ns0:cNvPr id="48" name="">
            <ns1:extLst>
              <ns1:ext uri="{FF2B5EF4-FFF2-40B4-BE49-F238E27FC236}">
                <ns2:creationId id="{AF4A9A09-95E8-4A0B-80FA-3C61CE42D946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4438650"/>
            <ns1:ext cx="2476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0B1B3A"/>
                </ns1:solidFill>
                <ns1:latin typeface="Aptos"/>
                <ns1:ea typeface="Aptos"/>
                <ns1:cs typeface="Aptos"/>
              </ns1:defRPr>
            </ns1:pPr>
            <ns1:r>
              <ns1:rPr sz="1575" b="1">
                <ns1:solidFill>
                  <ns1:srgbClr val="0B1B3A"/>
                </ns1:solidFill>
                <ns1:latin typeface="Aptos"/>
                <ns1:ea typeface="Aptos"/>
                <ns1:cs typeface="Aptos"/>
              </ns1:rPr>
              <ns1:t>Key assumptions</ns1:t>
            </ns1:r>
          </ns1:p>
        </ns0:txBody>
      </ns0:sp>
      <ns0:sp>
        <ns0:nvSpPr>
          <ns0:cNvPr id="49" name="">
            <ns1:extLst>
              <ns1:ext uri="{FF2B5EF4-FFF2-40B4-BE49-F238E27FC236}">
                <ns2:creationId id="{98CE4508-53A4-4576-AAE0-80566056D3D5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4800600"/>
            <ns1:ext cx="3905250" cy="933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- 0.7% blended settlement-fee take rate</ns1:t>
            </ns1:r>
          </ns1:p>
          <ns1:p>
            <ns1:pPr algn="l">
              <ns1:def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- Avg ticket grows from $25K to $50K</ns1:t>
            </ns1:r>
          </ns1:p>
          <ns1:p>
            <ns1:pPr algn="l">
              <ns1:def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- Tier A eBL mix rises from 30% to 60%</ns1:t>
            </ns1:r>
          </ns1:p>
          <ns1:p>
            <ns1:pPr algn="l">
              <ns1:def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- Headcount grows from 6 founders to 12</ns1:t>
            </ns1:r>
          </ns1:p>
          <ns1:p>
            <ns1:pPr algn="l">
              <ns1:def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defRPr>
            </ns1:pPr>
            <ns1:r>
              <ns1:rPr sz="1125" b="0">
                <ns1:solidFill>
                  <ns1:srgbClr val="1B2430"/>
                </ns1:solidFill>
                <ns1:latin typeface="Aptos"/>
                <ns1:ea typeface="Aptos"/>
                <ns1:cs typeface="Aptos"/>
              </ns1:rPr>
              <ns1:t>- Yield share is upside, not core dependency</ns1:t>
            </ns1:r>
          </ns1:p>
        </ns0:txBody>
      </ns0:sp>
      <ns0:sp>
        <ns0:nvSpPr>
          <ns0:cNvPr id="51" name="">
            <ns1:extLst>
              <ns1:ext uri="{FF2B5EF4-FFF2-40B4-BE49-F238E27FC236}">
                <ns2:creationId id="{221981F6-EEE9-4E84-A577-4C54199027D5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11</ns1:t>
            </ns1:r>
          </ns1:p>
        </ns0:txBody>
      </ns0:sp>
    </ns0:spTree>
    <ns0:extLst>
      <ns0:ext uri="{BB962C8B-B14F-4D97-AF65-F5344CB8AC3E}">
        <ns3:creationId val="697284198"/>
      </ns0:ext>
    </ns0:extLst>
  </ns0:cSld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544D1D7C-24BA-42EB-A3DF-C5F90D88DBA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B3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kicker-12-marker">
            <ns1:extLst>
              <ns1:ext uri="{FF2B5EF4-FFF2-40B4-BE49-F238E27FC236}">
                <ns2:creationId id="{8F821B2C-A4A8-4569-B6B9-96BB8C3CAD1E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38150"/>
            <ns1:ext cx="76200" cy="7620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kicker-12-label">
            <ns1:extLst>
              <ns1:ext uri="{FF2B5EF4-FFF2-40B4-BE49-F238E27FC236}">
                <ns2:creationId id="{9699D634-C887-46FC-892D-13D99E8446EB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1950"/>
            <ns1:ext cx="53340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l">
              <ns1:defRPr sz="900" b="1">
                <ns1:solidFill>
                  <ns1:srgbClr val="D8F2EE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D8F2EE"/>
                </ns1:solidFill>
                <ns1:latin typeface="Aptos"/>
                <ns1:ea typeface="Aptos"/>
                <ns1:cs typeface="Aptos"/>
              </ns1:rPr>
              <ns1:t>ASK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D10DC72F-C8CC-4821-8EAD-2DF6252F4C4C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723900"/>
            <ns1:ext cx="8572500" cy="876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rPr>
              <ns1:t>$1M seed to prove the documentary credit rail for Gulf SMEs.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C7FBFC71-A459-409B-AAC2-9C8D096D28EF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609600"/>
            <ns1:ext cx="185738" cy="185738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32FA94E1-D0C5-406F-84C0-FA83F710F720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866775"/>
            <ns1:ext cx="185738" cy="185738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F7925946-CF63-4435-B014-633B3082CA5D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1809750"/>
            <ns1:ext cx="7239000" cy="285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650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$1M seed round | ~$10M post-money | 10% equity offered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4D16E481-8352-48E9-A13B-249B2B712C15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2514600"/>
            <ns1:ext cx="5010150" cy="2914650"/>
          </ns1:xfrm>
          <ns1:prstGeom prst="rect">
            <ns1:avLst/>
          </ns1:prstGeom>
          <ns1:solidFill>
            <ns1:srgbClr val="10284E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E9AFCF3C-035B-42E3-AC86-D96848A0068D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781300"/>
            <ns1:ext cx="257175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8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Use of funds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9D48566-6D5A-40A9-8F14-B0CCA6910396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324225"/>
            <ns1:ext cx="114300" cy="114300"/>
          </ns1:xfrm>
          <ns1:prstGeom prst="rect">
            <ns1:avLst/>
          </ns1:prstGeom>
          <ns1:solidFill>
            <ns1:srgbClr val="0E8C7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52FB6F2F-8577-48B7-8168-9D6D4E8BFBBE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3257550"/>
            <ns1:ext cx="2476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Engineering &amp; product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1027915A-C6EB-4A6E-8980-C16BD7DEC3B5}"/>
              </ns1:ext>
            </ns1:extLst>
          </ns0:cNvPr>
          <ns0:cNvSpPr>
            <ns1:spLocks noGrp="1"/>
          </ns0:cNvSpPr>
          <ns0:nvPr/>
        </ns0:nvSpPr>
        <ns0:spPr>
          <ns1:xfrm>
            <ns1:off x="3790950" y="3257550"/>
            <ns1:ext cx="5143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40%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48D745C-4697-4DD5-9C5C-0066FE76463D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3257550"/>
            <ns1:ext cx="6667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$400K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DE66E8E3-12D5-4238-B05C-6CE82AC92E31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695700"/>
            <ns1:ext cx="114300" cy="114300"/>
          </ns1:xfrm>
          <ns1:prstGeom prst="rect">
            <ns1:avLst/>
          </ns1:prstGeom>
          <ns1:solidFill>
            <ns1:srgbClr val="1F6FB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2D16D372-11AC-4986-B9E9-50991D661F1F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3629025"/>
            <ns1:ext cx="2476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Operations, people &amp; G&amp;A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89D32FF-65F6-443B-84E5-4D1CBE0A529D}"/>
              </ns1:ext>
            </ns1:extLst>
          </ns0:cNvPr>
          <ns0:cNvSpPr>
            <ns1:spLocks noGrp="1"/>
          </ns0:cNvSpPr>
          <ns0:nvPr/>
        </ns0:nvSpPr>
        <ns0:spPr>
          <ns1:xfrm>
            <ns1:off x="3790950" y="3629025"/>
            <ns1:ext cx="5143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22%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99FF8640-DE49-49B9-8056-0CEC8B81C22D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3629025"/>
            <ns1:ext cx="6667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$220K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5EC651DF-51A7-4863-93BA-A8F61FB5973B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067175"/>
            <ns1:ext cx="114300" cy="114300"/>
          </ns1:xfrm>
          <ns1:prstGeom prst="rect">
            <ns1:avLst/>
          </ns1:prstGeom>
          <ns1:solidFill>
            <ns1:srgbClr val="5A4FB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B7BFA083-BEAF-4087-8DB9-D67CCA724934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4000500"/>
            <ns1:ext cx="2476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Compliance, legal &amp; regulatory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6EC22671-D794-4C58-9EA6-319FD8EEF89C}"/>
              </ns1:ext>
            </ns1:extLst>
          </ns0:cNvPr>
          <ns0:cNvSpPr>
            <ns1:spLocks noGrp="1"/>
          </ns0:cNvSpPr>
          <ns0:nvPr/>
        </ns0:nvSpPr>
        <ns0:spPr>
          <ns1:xfrm>
            <ns1:off x="3790950" y="4000500"/>
            <ns1:ext cx="5143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18%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3EFE0906-8087-4D70-88F3-A7377DAD0215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4000500"/>
            <ns1:ext cx="6667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$180K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BA615A02-247D-47ED-A77B-2A70255176B9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438650"/>
            <ns1:ext cx="114300" cy="114300"/>
          </ns1:xfrm>
          <ns1:prstGeom prst="rect">
            <ns1:avLst/>
          </ns1:prstGeom>
          <ns1:solidFill>
            <ns1:srgbClr val="C77D1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D4CD8493-4C2D-40D6-A7EC-1A60963D6DEF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4371975"/>
            <ns1:ext cx="2476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GTM &amp; acquisition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64164527-9FC2-4958-8B94-C03C6DF694BD}"/>
              </ns1:ext>
            </ns1:extLst>
          </ns0:cNvPr>
          <ns0:cNvSpPr>
            <ns1:spLocks noGrp="1"/>
          </ns0:cNvSpPr>
          <ns0:nvPr/>
        </ns0:nvSpPr>
        <ns0:spPr>
          <ns1:xfrm>
            <ns1:off x="3790950" y="4371975"/>
            <ns1:ext cx="5143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15%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130332F0-FA31-4774-B033-7DCE7A59DD3B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4371975"/>
            <ns1:ext cx="6667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$150K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FD86543B-D91A-4492-AE37-B724ECBA70C4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810125"/>
            <ns1:ext cx="114300" cy="114300"/>
          </ns1:xfrm>
          <ns1:prstGeom prst="rect">
            <ns1:avLst/>
          </ns1:prstGeom>
          <ns1:solidFill>
            <ns1:srgbClr val="2C7A33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E5DA2ED7-D009-4427-96DB-32452776120B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4743450"/>
            <ns1:ext cx="2476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Working capital + contingency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8E0F412D-EBED-4CF0-BA1E-8A1D4DF07864}"/>
              </ns1:ext>
            </ns1:extLst>
          </ns0:cNvPr>
          <ns0:cNvSpPr>
            <ns1:spLocks noGrp="1"/>
          </ns0:cNvSpPr>
          <ns0:nvPr/>
        </ns0:nvSpPr>
        <ns0:spPr>
          <ns1:xfrm>
            <ns1:off x="3790950" y="4743450"/>
            <ns1:ext cx="5143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5%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99E4A923-3400-404B-A835-7E7CED8CBC46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4743450"/>
            <ns1:ext cx="6667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$50K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A6166433-24F6-46B0-8AA0-9103690C6644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2514600"/>
            <ns1:ext cx="4762500" cy="2914650"/>
          </ns1:xfrm>
          <ns1:prstGeom prst="rect">
            <ns1:avLst/>
          </ns1:prstGeom>
          <ns1:solidFill>
            <ns1:srgbClr val="10284E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31" name="">
            <ns1:extLst>
              <ns1:ext uri="{FF2B5EF4-FFF2-40B4-BE49-F238E27FC236}">
                <ns2:creationId id="{C9E91020-823A-4923-8010-E1E30E600ADE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2781300"/>
            <ns1:ext cx="28575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8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18-month milestones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D43F50A6-6CE6-48E4-BBDC-08A033EB9535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3200400"/>
            <ns1:ext cx="3867150" cy="1352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D6E1EF"/>
                </ns1:solidFill>
                <ns1:latin typeface="Aptos"/>
                <ns1:ea typeface="Aptos"/>
                <ns1:cs typeface="Aptos"/>
              </ns1:defRPr>
            </ns1:pPr>
            <ns1:r>
              <ns1:rPr sz="1200" b="0">
                <ns1:solidFill>
                  <ns1:srgbClr val="D6E1EF"/>
                </ns1:solidFill>
                <ns1:latin typeface="Aptos"/>
                <ns1:ea typeface="Aptos"/>
                <ns1:cs typeface="Aptos"/>
              </ns1:rPr>
              <ns1:t>Months 0-6: testnet escrow, intake UI, review console.</ns1:t>
            </ns1:r>
          </ns1:p>
          <ns1:p>
            <ns1:r>
              <ns1:t/>
            </ns1:r>
          </ns1:p>
          <ns1:p>
            <ns1:pPr algn="l">
              <ns1:defRPr sz="1200" b="0">
                <ns1:solidFill>
                  <ns1:srgbClr val="D6E1EF"/>
                </ns1:solidFill>
                <ns1:latin typeface="Aptos"/>
                <ns1:ea typeface="Aptos"/>
                <ns1:cs typeface="Aptos"/>
              </ns1:defRPr>
            </ns1:pPr>
            <ns1:r>
              <ns1:rPr sz="1200" b="0">
                <ns1:solidFill>
                  <ns1:srgbClr val="D6E1EF"/>
                </ns1:solidFill>
                <ns1:latin typeface="Aptos"/>
                <ns1:ea typeface="Aptos"/>
                <ns1:cs typeface="Aptos"/>
              </ns1:rPr>
              <ns1:t>Months 6-12: first pilots, compliance partner scoping, freight forwarder BD.</ns1:t>
            </ns1:r>
          </ns1:p>
          <ns1:p>
            <ns1:r>
              <ns1:t/>
            </ns1:r>
          </ns1:p>
          <ns1:p>
            <ns1:pPr algn="l">
              <ns1:defRPr sz="1200" b="0">
                <ns1:solidFill>
                  <ns1:srgbClr val="D6E1EF"/>
                </ns1:solidFill>
                <ns1:latin typeface="Aptos"/>
                <ns1:ea typeface="Aptos"/>
                <ns1:cs typeface="Aptos"/>
              </ns1:defRPr>
            </ns1:pPr>
            <ns1:r>
              <ns1:rPr sz="1200" b="0">
                <ns1:solidFill>
                  <ns1:srgbClr val="D6E1EF"/>
                </ns1:solidFill>
                <ns1:latin typeface="Aptos"/>
                <ns1:ea typeface="Aptos"/>
                <ns1:cs typeface="Aptos"/>
              </ns1:rPr>
              <ns1:t>Months 12-18: 15-25 active customers, mainnet-ready operating playbook.</ns1:t>
            </ns1:r>
          </ns1:p>
        </ns0:txBody>
      </ns0:sp>
      <ns0:sp>
        <ns0:nvSpPr>
          <ns0:cNvPr id="33" name="">
            <ns1:extLst>
              <ns1:ext uri="{FF2B5EF4-FFF2-40B4-BE49-F238E27FC236}">
                <ns2:creationId id="{3CF6F267-29FA-450C-8A55-E113F40AF017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4800600"/>
            <ns1:ext cx="1714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BFEAE5"/>
                </ns1:solidFill>
                <ns1:latin typeface="Aptos"/>
                <ns1:ea typeface="Aptos"/>
                <ns1:cs typeface="Aptos"/>
              </ns1:defRPr>
            </ns1:pPr>
            <ns1:r>
              <ns1:rPr sz="1200" b="1">
                <ns1:solidFill>
                  <ns1:srgbClr val="BFEAE5"/>
                </ns1:solidFill>
                <ns1:latin typeface="Aptos"/>
                <ns1:ea typeface="Aptos"/>
                <ns1:cs typeface="Aptos"/>
              </ns1:rPr>
              <ns1:t>Founding role map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07685CFA-0C89-4771-A180-EC0B5A1DE6DF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5086350"/>
            <ns1:ext cx="838200" cy="228600"/>
          </ns1:xfrm>
          <ns1:prstGeom prst="rect">
            <ns1:avLst/>
          </ns1:prstGeom>
          <ns1:solidFill>
            <ns1:srgbClr val="0B1B3A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35" name="">
            <ns1:extLst>
              <ns1:ext uri="{FF2B5EF4-FFF2-40B4-BE49-F238E27FC236}">
                <ns2:creationId id="{157B435A-767B-4FAF-AA6B-77A089B71DDD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5133975"/>
            <ns1:ext cx="838200" cy="114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CEO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DC35F421-A597-4C65-993B-09E6AF1B99D2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5086350"/>
            <ns1:ext cx="838200" cy="228600"/>
          </ns1:xfrm>
          <ns1:prstGeom prst="rect">
            <ns1:avLst/>
          </ns1:prstGeom>
          <ns1:solidFill>
            <ns1:srgbClr val="0B1B3A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7C97F0A7-4FEC-450E-AAB5-E8FD8A530FEC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5133975"/>
            <ns1:ext cx="838200" cy="114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CTO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F1102D15-FF50-49AD-98D3-3E9C827FF64A}"/>
              </ns1:ext>
            </ns1:extLst>
          </ns0:cNvPr>
          <ns0:cNvSpPr>
            <ns1:spLocks noGrp="1"/>
          </ns0:cNvSpPr>
          <ns0:nvPr/>
        </ns0:nvSpPr>
        <ns0:spPr>
          <ns1:xfrm>
            <ns1:off x="8591550" y="5086350"/>
            <ns1:ext cx="838200" cy="228600"/>
          </ns1:xfrm>
          <ns1:prstGeom prst="rect">
            <ns1:avLst/>
          </ns1:prstGeom>
          <ns1:solidFill>
            <ns1:srgbClr val="0B1B3A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39" name="">
            <ns1:extLst>
              <ns1:ext uri="{FF2B5EF4-FFF2-40B4-BE49-F238E27FC236}">
                <ns2:creationId id="{698A2626-5DF1-4046-AB86-D6A1297D78CE}"/>
              </ns1:ext>
            </ns1:extLst>
          </ns0:cNvPr>
          <ns0:cNvSpPr>
            <ns1:spLocks noGrp="1"/>
          </ns0:cNvSpPr>
          <ns0:nvPr/>
        </ns0:nvSpPr>
        <ns0:spPr>
          <ns1:xfrm>
            <ns1:off x="8591550" y="5133975"/>
            <ns1:ext cx="838200" cy="114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CFO</ns1:t>
            </ns1:r>
          </ns1:p>
        </ns0:txBody>
      </ns0:sp>
      <ns0:sp>
        <ns0:nvSpPr>
          <ns0:cNvPr id="40" name="">
            <ns1:extLst>
              <ns1:ext uri="{FF2B5EF4-FFF2-40B4-BE49-F238E27FC236}">
                <ns2:creationId id="{2C88EBFB-414D-4AA3-A2F1-986FF3100F51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5410200"/>
            <ns1:ext cx="838200" cy="228600"/>
          </ns1:xfrm>
          <ns1:prstGeom prst="rect">
            <ns1:avLst/>
          </ns1:prstGeom>
          <ns1:solidFill>
            <ns1:srgbClr val="0B1B3A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41" name="">
            <ns1:extLst>
              <ns1:ext uri="{FF2B5EF4-FFF2-40B4-BE49-F238E27FC236}">
                <ns2:creationId id="{0DFB6080-DDD0-4237-B0E7-0720F1F99AE9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5457825"/>
            <ns1:ext cx="838200" cy="114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COO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393F6354-BA82-44CF-8DDC-B2DB4F66A1D8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5410200"/>
            <ns1:ext cx="838200" cy="228600"/>
          </ns1:xfrm>
          <ns1:prstGeom prst="rect">
            <ns1:avLst/>
          </ns1:prstGeom>
          <ns1:solidFill>
            <ns1:srgbClr val="0B1B3A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43" name="">
            <ns1:extLst>
              <ns1:ext uri="{FF2B5EF4-FFF2-40B4-BE49-F238E27FC236}">
                <ns2:creationId id="{F3A7FDEA-212A-4166-AFD3-BF11B5F13166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5457825"/>
            <ns1:ext cx="838200" cy="114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CCO</ns1:t>
            </ns1:r>
          </ns1:p>
        </ns0:txBody>
      </ns0:sp>
      <ns0:sp>
        <ns0:nvSpPr>
          <ns0:cNvPr id="44" name="">
            <ns1:extLst>
              <ns1:ext uri="{FF2B5EF4-FFF2-40B4-BE49-F238E27FC236}">
                <ns2:creationId id="{0866F495-15F2-418C-A247-88955871881F}"/>
              </ns1:ext>
            </ns1:extLst>
          </ns0:cNvPr>
          <ns0:cNvSpPr>
            <ns1:spLocks noGrp="1"/>
          </ns0:cNvSpPr>
          <ns0:nvPr/>
        </ns0:nvSpPr>
        <ns0:spPr>
          <ns1:xfrm>
            <ns1:off x="8591550" y="5410200"/>
            <ns1:ext cx="838200" cy="228600"/>
          </ns1:xfrm>
          <ns1:prstGeom prst="rect">
            <ns1:avLst/>
          </ns1:prstGeom>
          <ns1:solidFill>
            <ns1:srgbClr val="0B1B3A"/>
          </ns1:solidFill>
          <ns1:ln w="9525">
            <ns1:solidFill>
              <ns1:srgbClr val="29466F"/>
            </ns1:solidFill>
            <ns1:prstDash val="solid"/>
          </ns1:ln>
        </ns0:spPr>
      </ns0:sp>
      <ns0:sp>
        <ns0:nvSpPr>
          <ns0:cNvPr id="45" name="">
            <ns1:extLst>
              <ns1:ext uri="{FF2B5EF4-FFF2-40B4-BE49-F238E27FC236}">
                <ns2:creationId id="{1F165A47-4B24-4436-8D21-A4963DB81972}"/>
              </ns1:ext>
            </ns1:extLst>
          </ns0:cNvPr>
          <ns0:cNvSpPr>
            <ns1:spLocks noGrp="1"/>
          </ns0:cNvSpPr>
          <ns0:nvPr/>
        </ns0:nvSpPr>
        <ns0:spPr>
          <ns1:xfrm>
            <ns1:off x="8591550" y="5457825"/>
            <ns1:ext cx="838200" cy="114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ctr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CRO</ns1:t>
            </ns1:r>
          </ns1:p>
        </ns0:txBody>
      </ns0:sp>
      <ns0:sp>
        <ns0:nvSpPr>
          <ns0:cNvPr id="46" name="">
            <ns1:extLst>
              <ns1:ext uri="{FF2B5EF4-FFF2-40B4-BE49-F238E27FC236}">
                <ns2:creationId id="{1B8442DF-263C-44F3-8830-D434E92C7392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5943600"/>
            <ns1:ext cx="9048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90A2B8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90A2B8"/>
                </ns1:solidFill>
                <ns1:latin typeface="Aptos"/>
                <ns1:ea typeface="Aptos"/>
                <ns1:cs typeface="Aptos"/>
              </ns1:rPr>
              <ns1:t>Contact details and founder names are placeholders in the source deck and should be filled before pitching.</ns1:t>
            </ns1:r>
          </ns1:p>
        </ns0:txBody>
      </ns0:sp>
      <ns0:sp>
        <ns0:nvSpPr>
          <ns0:cNvPr id="48" name="">
            <ns1:extLst>
              <ns1:ext uri="{FF2B5EF4-FFF2-40B4-BE49-F238E27FC236}">
                <ns2:creationId id="{BB43A6BF-96B6-4478-BE35-E5269EDE9CC7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5524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6B7280"/>
                </ns1:solidFill>
                <ns1:latin typeface="Aptos"/>
                <ns1:ea typeface="Aptos"/>
                <ns1:cs typeface="Aptos"/>
              </ns1:rPr>
              <ns1:t>12</ns1:t>
            </ns1:r>
          </ns1:p>
        </ns0:txBody>
      </ns0:sp>
    </ns0:spTree>
    <ns0:extLst>
      <ns0:ext uri="{BB962C8B-B14F-4D97-AF65-F5344CB8AC3E}">
        <ns3:creationId val="980970324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2026-05-29T09:09:00.2040000Z</ns2:created>
  <ns2:modified xsi:type="dcterms:W3CDTF">2026-05-29T09:09:00.2040000Z</ns2:modified>
</ns0:coreProperties>
</file>