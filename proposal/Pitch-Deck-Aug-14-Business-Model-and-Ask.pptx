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45c6027ab384833" /><Relationship Type="http://schemas.openxmlformats.org/officeDocument/2006/relationships/extended-properties" Target="/docProps/app.xml" Id="Rb68b1b51ba2c407f" /><Relationship Type="http://schemas.openxmlformats.org/officeDocument/2006/relationships/officeDocument" Target="/ppt/presentation.xml" Id="Ra128765d8a9b4d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eb913d55f741f2"/>
  </p:sldMasterIdLst>
  <p:notesMasterIdLst>
    <p:notesMasterId xmlns:r="http://schemas.openxmlformats.org/officeDocument/2006/relationships" r:id="R42789c426f36463a"/>
  </p:notesMasterIdLst>
  <p:sldIdLst>
    <p:sldId xmlns:r="http://schemas.openxmlformats.org/officeDocument/2006/relationships" id="256" r:id="R847509e1f08b468a"/>
    <p:sldId xmlns:r="http://schemas.openxmlformats.org/officeDocument/2006/relationships" id="257" r:id="R04948e71bbe8443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7a98cc0f0b4442" /><Relationship Type="http://schemas.openxmlformats.org/officeDocument/2006/relationships/slideMaster" Target="/ppt/slideMasters/slideMaster1.xml" Id="Rf6eb913d55f741f2" /><Relationship Type="http://schemas.openxmlformats.org/officeDocument/2006/relationships/notesMaster" Target="/ppt/notesMasters/notesMaster1.xml" Id="R42789c426f36463a" /><Relationship Type="http://schemas.openxmlformats.org/officeDocument/2006/relationships/presProps" Target="/ppt/presProps.xml" Id="R63a8126932be4961" /><Relationship Type="http://schemas.openxmlformats.org/officeDocument/2006/relationships/viewProps" Target="/ppt/viewProps.xml" Id="R4771dcbd182d4c1e" /><Relationship Type="http://schemas.openxmlformats.org/officeDocument/2006/relationships/tableStyles" Target="/ppt/tableStyles.xml" Id="Ra251633947694986" /><Relationship Type="http://schemas.openxmlformats.org/officeDocument/2006/relationships/slide" Target="/ppt/slides/slide1.xml" Id="R847509e1f08b468a" /><Relationship Type="http://schemas.openxmlformats.org/officeDocument/2006/relationships/slide" Target="/ppt/slides/slide2.xml" Id="R04948e71bbe844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acbb8bf38e42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cb1776b982445e" /><Relationship Type="http://schemas.openxmlformats.org/officeDocument/2006/relationships/notesMaster" Target="/ppt/notesMasters/notesMaster1.xml" Id="Re9254f9317724d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9a65b3f40844a4" /><Relationship Type="http://schemas.openxmlformats.org/officeDocument/2006/relationships/notesMaster" Target="/ppt/notesMasters/notesMaster1.xml" Id="R240756bd8cde43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revenue engine is deliberately transaction-led: no lending spread, FX trading or use of client funds.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financial-projections/Blockmediary_Financial_Model_Submission_Ready_2026-08-13.xlsx: Assumptions!F63:F74; Tier Economics; P&amp;L 5yr!E7:E31</a:t>
            </a:r>
          </a:p>
          <a:p xmlns:a="http://schemas.openxmlformats.org/drawingml/2006/main">
            <a:r>
              <a:t>- financial-projections/financial-model-key-figures-2026-08-12.md: revenue model and Year 3 bridge</a:t>
            </a:r>
          </a:p>
          <a:p xmlns:a="http://schemas.openxmlformats.org/drawingml/2006/main">
            <a:r>
              <a:t>- proposal/business-model-canvas.md: Revenue and Costs blocks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this as a staged operating-capital requirement, not a negotiated valuation or equity offer.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financial-projections/Blockmediary_Financial_Model_Submission_Ready_2026-08-13.xlsx: Launch Readiness!E6,E11:E17; Cash Flow Statement!B45:B47; Dashboard!J57:M62</a:t>
            </a:r>
            <a:endParaRPr/>
          </a:p>
          <a:p xmlns:a="http://schemas.openxmlformats.org/drawingml/2006/main">
            <a:r>
              <a:t>- financial-projections/financial-model-key-figures-2026-08-12.md: funding, reserve and launch-timeline sections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aee9795c914d4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67e70788554c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84E62FE2-F158-4FAB-9D84-5CE9FEF9F6B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8/6/2026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0C265E6E-1BD5-46CC-8150-1716030ADE4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C4B50DF2-40D9-44A7-BA8F-6246D4A89C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d0369fd4c84b2d" /><Relationship Type="http://schemas.openxmlformats.org/officeDocument/2006/relationships/slideLayout" Target="/ppt/slideLayouts/slideLayout1.xml" Id="Rbec481dea9bc485f" /><Relationship Type="http://schemas.openxmlformats.org/officeDocument/2006/relationships/slideLayout" Target="/ppt/slideLayouts/slideLayout2.xml" Id="R30f6f4bfa59d4b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c481dea9bc485f"/>
    <p:sldLayoutId xmlns:r="http://schemas.openxmlformats.org/officeDocument/2006/relationships" id="2147483650" r:id="R30f6f4bfa59d4b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c98cbc80ae4077" /><Relationship Type="http://schemas.openxmlformats.org/officeDocument/2006/relationships/notesSlide" Target="/ppt/notesSlides/notesSlide1.xml" Id="R2e6bc3cf7fb84b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ff3745b2104278" /><Relationship Type="http://schemas.openxmlformats.org/officeDocument/2006/relationships/notesSlide" Target="/ppt/notesSlides/notesSlide2.xml" Id="Ra11646daa412451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5CFC7245-F426-4B7C-A90B-95E5DFDB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 defTabSz="914400">
              <a:buNone/>
            </a:pPr>
            <a:endParaRPr/>
          </a:p>
        </p:txBody>
      </p:sp>
      <p:sp>
        <p:nvSpPr>
          <p:cNvPr id="2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32ECFFE6-CDF4-4BB5-9EE0-AF6F5970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2B0E90CB-A161-46E8-8901-876F0547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BUSINESS MODEL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4FA7FC7-C48E-4E87-A9E6-E18BAB9D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19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B3A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0B1B3A"/>
                </a:solidFill>
                <a:latin typeface="Aptos Display"/>
                <a:ea typeface="Aptos Display"/>
                <a:cs typeface="Aptos Display"/>
              </a:rPr>
              <a:t>Every verified trade earns revenue, while partner channels add scale.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F3364A7-8494-419B-B1E9-62ADEDE1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38300"/>
            <a:ext cx="895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Customers choose a verification tier based on document complexity. Blockmediary earns transaction and review fees without lending, FX trading or using client funds.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17CCC04-12C7-486A-A263-1957D9CE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3048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7BFCE09-77C6-47CD-AC06-92CCEBF0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3048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C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930165D-54DE-482A-93CB-8DC14459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419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E8C7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C12F6ED-A722-4B51-A8D3-7EA342ED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95600"/>
            <a:ext cx="1943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Escrow fees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E1BFF95-CF35-4488-8D0F-3F041872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52800"/>
            <a:ext cx="2457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0.8% / 1.5% / 3.0% by eBL, carrier API or paper workflow; minimum £150 / £250 / £500.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09FC3AC-22EE-4360-8D92-2E6F526D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05250"/>
            <a:ext cx="2362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8C7F"/>
                </a:solidFill>
                <a:latin typeface="Aptos"/>
                <a:ea typeface="Aptos"/>
                <a:cs typeface="Aptos"/>
              </a:rPr>
              <a:t>core revenue on every deal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3103FC44-9425-4C1E-B670-FD279C8B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09850"/>
            <a:ext cx="3048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6104B204-F192-44E6-88A4-0020F0267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09850"/>
            <a:ext cx="3048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A3B5CF2-CA99-4E10-8F95-B9DC57AE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857500"/>
            <a:ext cx="419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F6FB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F6FB2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C9DD6D00-4112-4D7F-9A00-AE1716397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95600"/>
            <a:ext cx="1943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Document fees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278E5CF-CDE6-4F12-B38C-946C3D13D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352800"/>
            <a:ext cx="2457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£25 / £90 / £300 review fee by tier; onboarding and dispute fees apply only when used.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C645EB8-38D7-4F2E-8E03-799A9839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905250"/>
            <a:ext cx="2362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F6FB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FB2"/>
                </a:solidFill>
                <a:latin typeface="Aptos"/>
                <a:ea typeface="Aptos"/>
                <a:cs typeface="Aptos"/>
              </a:rPr>
              <a:t>prices operational complexity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0DCC2A0B-9ACC-469F-8279-5F8F67EB2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09850"/>
            <a:ext cx="3048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751AD9F5-6FC2-4E64-90E7-67DFE3B7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09850"/>
            <a:ext cx="3048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F01170D6-62F7-4B12-B63B-EF6FB3DD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57500"/>
            <a:ext cx="419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C7A3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C7A33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766CD84A-FA67-425B-98DC-15B987B1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95600"/>
            <a:ext cx="1943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Partner / API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8CA16E95-5115-42D3-86DC-A175C215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352800"/>
            <a:ext cx="2457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Setup and committed-volume fees from platforms, wallets and logistics partners.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BE0A658F-88C7-4947-94D6-AF2CC163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905250"/>
            <a:ext cx="2362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C7A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C7A33"/>
                </a:solidFill>
                <a:latin typeface="Aptos"/>
                <a:ea typeface="Aptos"/>
                <a:cs typeface="Aptos"/>
              </a:rPr>
              <a:t>scales distribution, not balance sheet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F529439F-AA1B-479F-9713-F803AF3F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76800"/>
            <a:ext cx="23812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9387088B-50B6-4E74-B1D9-1258469B2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76800"/>
            <a:ext cx="4762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76A54834-7861-4A9E-9835-E53101879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19675"/>
            <a:ext cx="1962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2.0% → 1.0%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C60E6FF2-C7F3-45AE-8595-52F35793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9115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B2430"/>
                </a:solidFill>
                <a:latin typeface="Aptos"/>
                <a:ea typeface="Aptos"/>
                <a:cs typeface="Aptos"/>
              </a:rPr>
              <a:t>blended take rate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8C6D793F-9A01-41BE-837F-2F3AD6EA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38800"/>
            <a:ext cx="1962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falls as Tier A grows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5BDE4ABE-D574-48E1-B0EF-7E73187A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876800"/>
            <a:ext cx="23812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EC41DA7C-ACBA-423C-9BAC-3BBA7218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876800"/>
            <a:ext cx="4762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D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9A9A16C0-7D2B-47C4-A305-179DAB42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019675"/>
            <a:ext cx="1962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17%–26%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11515AFD-455A-4E64-8D85-AD10FD0EA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39115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B2430"/>
                </a:solidFill>
                <a:latin typeface="Aptos"/>
                <a:ea typeface="Aptos"/>
                <a:cs typeface="Aptos"/>
              </a:rPr>
              <a:t>ancillary revenue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21075592-4F8D-42ED-8FC5-6B2DA5DB5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638800"/>
            <a:ext cx="1962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modelled share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3DC75684-954F-42A1-B907-A321D2B88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876800"/>
            <a:ext cx="23812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EF689177-35DC-4A56-8449-AFB8E880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876800"/>
            <a:ext cx="4762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4F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1A9A9E4E-7710-4B71-80EB-561B360F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19675"/>
            <a:ext cx="1962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71%–79%</a:t>
            </a:r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D42F5600-65C1-4652-9F40-9883DE0B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9115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B2430"/>
                </a:solidFill>
                <a:latin typeface="Aptos"/>
                <a:ea typeface="Aptos"/>
                <a:cs typeface="Aptos"/>
              </a:rPr>
              <a:t>gross margin</a:t>
            </a:r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ECED317A-558B-4998-9194-61A59EAB5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638800"/>
            <a:ext cx="1962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base-case range</a:t>
            </a:r>
          </a:p>
        </p:txBody>
      </p:sp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EA9FE867-CA34-4B10-89F8-78674E57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876800"/>
            <a:ext cx="2095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4"/>
          </a:solidFill>
          <a:ln xmlns:a="http://schemas.openxmlformats.org/drawingml/2006/main" w="9525">
            <a:solidFill>
              <a:srgbClr val="0E8C7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2B6257C5-79CD-4162-8D48-9FB910FF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029200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E8C7F"/>
                </a:solidFill>
                <a:latin typeface="Aptos"/>
                <a:ea typeface="Aptos"/>
                <a:cs typeface="Aptos"/>
              </a:rPr>
              <a:t>Year 3 base case</a:t>
            </a:r>
          </a:p>
        </p:txBody>
      </p: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5122A123-768E-4D45-B6A9-8DAEE716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276850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2,000 deals | £76m GMV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£1.37m revenue | 77% margin</a:t>
            </a:r>
          </a:p>
        </p:txBody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CDAE3A3D-8539-47DC-BA99-C2C5F42F0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08</a:t>
            </a:r>
            <a:endParaRPr sz="900" b="1">
              <a:solidFill>
                <a:srgbClr val="6B7280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44074479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B1BD587-820E-4CF6-94F1-4247CD391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indent="0" algn="ctr" defTabSz="914400">
              <a:buNone/>
            </a:pPr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5114C3E-735B-43EF-B0B0-DA0EB372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" y="437997"/>
            <a:ext cx="75895" cy="758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C7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991CC30-1F66-4D50-BFB3-D24732AC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04" y="362102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 spc="140">
                <a:solidFill>
                  <a:srgbClr val="BFEAE5"/>
                </a:solidFill>
                <a:latin typeface="Aptos"/>
                <a:ea typeface="Aptos"/>
                <a:cs typeface="Aptos"/>
              </a:rPr>
              <a:t>ASK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33DC675-4DB5-4C79-8E93-3F585DBE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" y="722376"/>
            <a:ext cx="1078992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Seeking £3.06m to fund paid UAE launch and the base case to break-even.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B727318-8113-4D12-AD3D-9F352C7B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302" y="6439204"/>
            <a:ext cx="552297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14</a:t>
            </a:r>
            <a:endParaRPr sz="900" b="0">
              <a:solidFill>
                <a:srgbClr val="6B728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9E56136-912F-467B-8C1C-4A2E69FA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702" y="2606040"/>
            <a:ext cx="3465576" cy="1783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4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AB91AC8-49B6-4D9D-9E4C-3A47840B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702" y="2606040"/>
            <a:ext cx="45720" cy="1783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C7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EE2BC5B-F063-4E51-8A98-4DD21126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" y="2852928"/>
            <a:ext cx="3008376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£3.06m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3289815-110C-4290-939C-6E3C9103F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" y="3611880"/>
            <a:ext cx="300837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BFEAE5"/>
                </a:solidFill>
                <a:latin typeface="Aptos"/>
                <a:ea typeface="Aptos"/>
                <a:cs typeface="Aptos"/>
              </a:rPr>
              <a:t>staged operating capital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1C61C1C-1E70-4208-9F5A-0E4F3721D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" y="3931920"/>
            <a:ext cx="300837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90A2B8"/>
                </a:solidFill>
                <a:latin typeface="Aptos"/>
                <a:ea typeface="Aptos"/>
                <a:cs typeface="Aptos"/>
              </a:rPr>
              <a:t>includes three-month reserve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9692559C-76CE-4C48-8082-3498699D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0870" y="2606040"/>
            <a:ext cx="3465576" cy="1783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4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2588FA6-A0B8-442F-95AB-E8F4E2AE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0870" y="2606040"/>
            <a:ext cx="45720" cy="1783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DAE6018-F8B9-4197-8FEF-97272CD7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902" y="2852928"/>
            <a:ext cx="3008376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Month 12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4FA0320-28FF-45B5-BE19-1E749164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902" y="3611880"/>
            <a:ext cx="300837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BFEAE5"/>
                </a:solidFill>
                <a:latin typeface="Aptos"/>
                <a:ea typeface="Aptos"/>
                <a:cs typeface="Aptos"/>
              </a:rPr>
              <a:t>paid partner-led pilot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1FA933AE-213A-4984-B278-72111B72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902" y="3931920"/>
            <a:ext cx="300837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90A2B8"/>
                </a:solidFill>
                <a:latin typeface="Aptos"/>
                <a:ea typeface="Aptos"/>
                <a:cs typeface="Aptos"/>
              </a:rPr>
              <a:t>first receipt in Month 13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18A739E2-9F36-477F-83D2-ECBD50A0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1038" y="2606040"/>
            <a:ext cx="3465576" cy="1783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4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FC5F49CE-BCC5-4D39-B18A-4C318519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1038" y="2606040"/>
            <a:ext cx="45720" cy="1783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D1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88A39749-A12D-4123-B087-7813BAB8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7070" y="2852928"/>
            <a:ext cx="3008376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Month 18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F2344BAB-FF4E-475C-AE9E-9A8298C1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7070" y="3611880"/>
            <a:ext cx="300837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BFEAE5"/>
                </a:solidFill>
                <a:latin typeface="Aptos"/>
                <a:ea typeface="Aptos"/>
                <a:cs typeface="Aptos"/>
              </a:rPr>
              <a:t>full VARA licence target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E4BED305-3FCB-40BB-BA2A-907E245C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7070" y="3931920"/>
            <a:ext cx="300837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90A2B8"/>
                </a:solidFill>
                <a:latin typeface="Aptos"/>
                <a:ea typeface="Aptos"/>
                <a:cs typeface="Aptos"/>
              </a:rPr>
              <a:t>£319k restricted capital separate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DF48364D-99E1-47FB-97A7-3204AF9A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702" y="4800600"/>
            <a:ext cx="10707624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4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E8F96A23-433D-45A0-A4D8-382F0EBB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983480"/>
            <a:ext cx="10149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0">
                <a:solidFill>
                  <a:srgbClr val="BFEAE5"/>
                </a:solidFill>
                <a:latin typeface="Aptos"/>
                <a:ea typeface="Aptos"/>
                <a:cs typeface="Aptos"/>
              </a:rPr>
              <a:t>What the capital proves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E1AD995F-CA39-4123-B521-BA7F30E6E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285232"/>
            <a:ext cx="10149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D6E1EF"/>
                </a:solidFill>
                <a:latin typeface="Aptos"/>
                <a:ea typeface="Aptos"/>
                <a:cs typeface="Aptos"/>
              </a:rPr>
              <a:t>Production-ready escrow, a partner-approved pilot, repeatable UAE trade-channel demand and the path to monthly cash-flow break-even in Y4 M8.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5D348A93-E608-0D1C-98BB-C7637019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99" y="6343649"/>
            <a:ext cx="10707624" cy="1522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0A2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0A2B8"/>
                </a:solidFill>
                <a:latin typeface="Aptos"/>
                <a:ea typeface="Aptos"/>
                <a:cs typeface="Aptos"/>
              </a:rPr>
              <a:t>Illustrative forecast — not current trading. VARA capital is restricted and not operating runway.</a:t>
            </a:r>
            <a:endParaRPr sz="975" b="0">
              <a:solidFill>
                <a:srgbClr val="90A2B8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9809703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2026-08-13T19:02:55.0780000Z</dcterms:created>
  <dcterms:modified xsi:type="dcterms:W3CDTF">2026-08-13T19:02:55.0780000Z</dcterms:modified>
</coreProperties>
</file>