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C7A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145</c:v>
                </c:pt>
                <c:pt idx="2">
                  <c:v>690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8C7F"/>
              </a:solidFill>
              <a:effectLst/>
            </c:spPr>
          </c:dPt>
          <c:dPt>
            <c:idx val="1"/>
            <c:bubble3D val="0"/>
            <c:spPr>
              <a:solidFill>
                <a:srgbClr val="0B1B3A"/>
              </a:solidFill>
              <a:effectLst/>
            </c:spPr>
          </c:dPt>
          <c:dPt>
            <c:idx val="2"/>
            <c:bubble3D val="0"/>
            <c:spPr>
              <a:solidFill>
                <a:srgbClr val="5A4FBF"/>
              </a:solidFill>
              <a:effectLst/>
            </c:spPr>
          </c:dPt>
          <c:dPt>
            <c:idx val="3"/>
            <c:bubble3D val="0"/>
            <c:spPr>
              <a:solidFill>
                <a:srgbClr val="C77D18"/>
              </a:solidFill>
              <a:effectLst/>
            </c:spPr>
          </c:dPt>
          <c:dPt>
            <c:idx val="4"/>
            <c:bubble3D val="0"/>
            <c:spPr>
              <a:solidFill>
                <a:srgbClr val="2C7A3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Engineering &amp; product</c:v>
                </c:pt>
                <c:pt idx="1">
                  <c:v>Operations &amp; G&amp;A</c:v>
                </c:pt>
                <c:pt idx="2">
                  <c:v>Compliance &amp; legal</c:v>
                </c:pt>
                <c:pt idx="3">
                  <c:v>GTM &amp; acquisition</c:v>
                </c:pt>
                <c:pt idx="4">
                  <c:v>Working capital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22</c:v>
                </c:pt>
                <c:pt idx="2">
                  <c:v>18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1097280"/>
            <a:ext cx="3931920" cy="0"/>
          </a:xfrm>
          <a:prstGeom prst="line">
            <a:avLst/>
          </a:prstGeom>
          <a:noFill/>
          <a:ln w="12700">
            <a:solidFill>
              <a:srgbClr val="1C31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1810512"/>
            <a:ext cx="3931920" cy="0"/>
          </a:xfrm>
          <a:prstGeom prst="line">
            <a:avLst/>
          </a:prstGeom>
          <a:noFill/>
          <a:ln w="12700">
            <a:solidFill>
              <a:srgbClr val="1C31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2523744"/>
            <a:ext cx="3931920" cy="0"/>
          </a:xfrm>
          <a:prstGeom prst="line">
            <a:avLst/>
          </a:prstGeom>
          <a:noFill/>
          <a:ln w="12700">
            <a:solidFill>
              <a:srgbClr val="1C31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3236976"/>
            <a:ext cx="3931920" cy="0"/>
          </a:xfrm>
          <a:prstGeom prst="line">
            <a:avLst/>
          </a:prstGeom>
          <a:noFill/>
          <a:ln w="12700">
            <a:solidFill>
              <a:srgbClr val="1C31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3950208"/>
            <a:ext cx="3931920" cy="0"/>
          </a:xfrm>
          <a:prstGeom prst="line">
            <a:avLst/>
          </a:prstGeom>
          <a:noFill/>
          <a:ln w="12700">
            <a:solidFill>
              <a:srgbClr val="1C31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4663440"/>
            <a:ext cx="3931920" cy="0"/>
          </a:xfrm>
          <a:prstGeom prst="line">
            <a:avLst/>
          </a:prstGeom>
          <a:noFill/>
          <a:ln w="12700">
            <a:solidFill>
              <a:srgbClr val="1C31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5376672"/>
            <a:ext cx="3931920" cy="0"/>
          </a:xfrm>
          <a:prstGeom prst="line">
            <a:avLst/>
          </a:prstGeom>
          <a:noFill/>
          <a:ln w="12700">
            <a:solidFill>
              <a:srgbClr val="1C31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TRANSAKT</a:t>
            </a:r>
            <a:endParaRPr lang="en-US" sz="7600" dirty="0"/>
          </a:p>
        </p:txBody>
      </p:sp>
      <p:sp>
        <p:nvSpPr>
          <p:cNvPr id="11" name="Text 9"/>
          <p:cNvSpPr/>
          <p:nvPr/>
        </p:nvSpPr>
        <p:spPr>
          <a:xfrm>
            <a:off x="86868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9FE3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Settlement rails for global trade.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68680" y="4160520"/>
            <a:ext cx="2926080" cy="0"/>
          </a:xfrm>
          <a:prstGeom prst="line">
            <a:avLst/>
          </a:prstGeom>
          <a:noFill/>
          <a:ln w="25400">
            <a:solidFill>
              <a:srgbClr val="0E8C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4348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Exeter — MSc FinTech Hackathon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A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Friday, 30 May 2026  ·  Skydeck Innovation Centre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A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Presenters: [team names]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424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Documentary credit was the financial breakthrough that built global trade.</a:t>
            </a:r>
            <a:endParaRPr lang="en-US" sz="3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3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9FE3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never rebuilt it for the businesses that drive most of it.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3419856" cy="1783080"/>
          </a:xfrm>
          <a:prstGeom prst="rect">
            <a:avLst/>
          </a:prstGeom>
          <a:solidFill>
            <a:srgbClr val="11254A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4160520"/>
            <a:ext cx="64008" cy="1783080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361688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E8C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69848" y="5120640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SME trade finance gap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17136" y="4160520"/>
            <a:ext cx="3419856" cy="1783080"/>
          </a:xfrm>
          <a:prstGeom prst="rect">
            <a:avLst/>
          </a:prstGeom>
          <a:solidFill>
            <a:srgbClr val="11254A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17136" y="4160520"/>
            <a:ext cx="64008" cy="1783080"/>
          </a:xfrm>
          <a:prstGeom prst="rect">
            <a:avLst/>
          </a:prstGeom>
          <a:solidFill>
            <a:srgbClr val="C77D18"/>
          </a:solidFill>
          <a:ln/>
        </p:spPr>
      </p:sp>
      <p:sp>
        <p:nvSpPr>
          <p:cNvPr id="10" name="Text 8"/>
          <p:cNvSpPr/>
          <p:nvPr/>
        </p:nvSpPr>
        <p:spPr>
          <a:xfrm>
            <a:off x="4745736" y="4361688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77D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~45%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764024" y="5120640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trade finance applications rejected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11312" y="4160520"/>
            <a:ext cx="3419856" cy="1783080"/>
          </a:xfrm>
          <a:prstGeom prst="rect">
            <a:avLst/>
          </a:prstGeom>
          <a:solidFill>
            <a:srgbClr val="11254A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1312" y="4160520"/>
            <a:ext cx="64008" cy="1783080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14" name="Text 12"/>
          <p:cNvSpPr/>
          <p:nvPr/>
        </p:nvSpPr>
        <p:spPr>
          <a:xfrm>
            <a:off x="8439912" y="4361688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58200" y="5120640"/>
            <a:ext cx="2962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cost on a $10K trade as a $5M trade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Asian Development Bank (2025); ICC UCP 600 (2007).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315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documentary credit rail for SMEs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1417320"/>
          </a:xfrm>
          <a:prstGeom prst="rect">
            <a:avLst/>
          </a:prstGeom>
          <a:solidFill>
            <a:srgbClr val="0B1B3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Transakt is the documentary credit rail for SMEs — </a:t>
            </a:r>
            <a:pPr algn="l"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9FE3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UCP 600 logic, stablecoin settlement, without the issuing bank.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3200400"/>
            <a:ext cx="3584448" cy="2743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3200400"/>
            <a:ext cx="3584448" cy="73152"/>
          </a:xfrm>
          <a:prstGeom prst="rect">
            <a:avLst/>
          </a:prstGeom>
          <a:solidFill>
            <a:srgbClr val="5A4FB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5204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160520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UCP 600 logic, re-coded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4846320"/>
            <a:ext cx="3035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on compliant document presentation — the same legal logic banks use, mirrored in software.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06824" y="3200400"/>
            <a:ext cx="3584448" cy="2743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06824" y="3200400"/>
            <a:ext cx="3584448" cy="73152"/>
          </a:xfrm>
          <a:prstGeom prst="rect">
            <a:avLst/>
          </a:prstGeom>
          <a:solidFill>
            <a:srgbClr val="2C7A3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35204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81144" y="4160520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Stablecoin settlement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81144" y="4846320"/>
            <a:ext cx="3035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held in escrow and released on presentation. Days, not weeks; no correspondent banking chain.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10728" y="3200400"/>
            <a:ext cx="3584448" cy="274320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10728" y="3200400"/>
            <a:ext cx="3584448" cy="73152"/>
          </a:xfrm>
          <a:prstGeom prst="rect">
            <a:avLst/>
          </a:prstGeom>
          <a:solidFill>
            <a:srgbClr val="1F6FB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352044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85048" y="4160520"/>
            <a:ext cx="3035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Regulated CeFi — not a bank, not DeFi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85048" y="4846320"/>
            <a:ext cx="3035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centralised operator running KYB, sanctions, verification and dispute layers. We replace one role, not the system.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TRANSAKT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gap bites hardest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1874520"/>
            <a:ext cx="4206240" cy="4206240"/>
          </a:xfrm>
          <a:prstGeom prst="ellipse">
            <a:avLst/>
          </a:prstGeom>
          <a:solidFill>
            <a:srgbClr val="DCE6F2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2560320"/>
            <a:ext cx="2834640" cy="2834640"/>
          </a:xfrm>
          <a:prstGeom prst="ellipse">
            <a:avLst/>
          </a:prstGeom>
          <a:solidFill>
            <a:srgbClr val="CFE1D9"/>
          </a:solidFill>
          <a:ln w="15875">
            <a:solidFill>
              <a:srgbClr val="0E8C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57500" y="3268980"/>
            <a:ext cx="1417320" cy="1417320"/>
          </a:xfrm>
          <a:prstGeom prst="ellipse">
            <a:avLst/>
          </a:prstGeom>
          <a:solidFill>
            <a:srgbClr val="0E8C7F"/>
          </a:solidFill>
          <a:ln w="15875">
            <a:solidFill>
              <a:srgbClr val="0E8C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9456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8C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52928" y="37490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$100–250M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0" y="2011680"/>
            <a:ext cx="484632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2011680"/>
            <a:ext cx="73152" cy="1143000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12" name="Text 10"/>
          <p:cNvSpPr/>
          <p:nvPr/>
        </p:nvSpPr>
        <p:spPr>
          <a:xfrm>
            <a:off x="7114032" y="21579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0" y="21214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 trillion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114032" y="26151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SME trade finance gap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0" y="3291840"/>
            <a:ext cx="484632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3291840"/>
            <a:ext cx="73152" cy="1143000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17" name="Text 15"/>
          <p:cNvSpPr/>
          <p:nvPr/>
        </p:nvSpPr>
        <p:spPr>
          <a:xfrm>
            <a:off x="7114032" y="34381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34015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 billion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14032" y="38953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SME cross-border trade finance gap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0" y="4572000"/>
            <a:ext cx="4846320" cy="114300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4572000"/>
            <a:ext cx="73152" cy="1143000"/>
          </a:xfrm>
          <a:prstGeom prst="rect">
            <a:avLst/>
          </a:prstGeom>
          <a:solidFill>
            <a:srgbClr val="0B1B3A"/>
          </a:solidFill>
          <a:ln/>
        </p:spPr>
      </p:sp>
      <p:sp>
        <p:nvSpPr>
          <p:cNvPr id="22" name="Text 20"/>
          <p:cNvSpPr/>
          <p:nvPr/>
        </p:nvSpPr>
        <p:spPr>
          <a:xfrm>
            <a:off x="7114032" y="47183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46817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$100M – $250M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114032" y="51755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flow processed in years 1–3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58000" y="5989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i="1" dirty="0">
                <a:solidFill>
                  <a:srgbClr val="0E8C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gap bites hardest, and where the regulators are most ready.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ADB (2025); ICC UAE Trade Finance Gap Report (2020); internal estimate (SOM).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deal, two parties, one rail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 rot="16200000">
            <a:off x="182880" y="19202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 rot="16200000">
            <a:off x="182880" y="461772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3685032"/>
            <a:ext cx="10817352" cy="457200"/>
          </a:xfrm>
          <a:prstGeom prst="rect">
            <a:avLst/>
          </a:prstGeom>
          <a:solidFill>
            <a:srgbClr val="0B1B3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685032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TRANSAKT  ·  escrow + verification + settlement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02943" y="3474720"/>
            <a:ext cx="329184" cy="329184"/>
          </a:xfrm>
          <a:prstGeom prst="ellipse">
            <a:avLst/>
          </a:prstGeom>
          <a:solidFill>
            <a:srgbClr val="0E8C7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2943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" y="1920240"/>
            <a:ext cx="1944014" cy="960120"/>
          </a:xfrm>
          <a:prstGeom prst="rect">
            <a:avLst/>
          </a:prstGeom>
          <a:solidFill>
            <a:srgbClr val="EAF1F8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2024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terms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" y="4617720"/>
            <a:ext cx="1944014" cy="960120"/>
          </a:xfrm>
          <a:prstGeom prst="rect">
            <a:avLst/>
          </a:prstGeom>
          <a:solidFill>
            <a:srgbClr val="FBF1E2"/>
          </a:solidFill>
          <a:ln w="12700">
            <a:solidFill>
              <a:srgbClr val="C77D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61772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terms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66414" y="3474720"/>
            <a:ext cx="329184" cy="329184"/>
          </a:xfrm>
          <a:prstGeom prst="ellipse">
            <a:avLst/>
          </a:prstGeom>
          <a:solidFill>
            <a:srgbClr val="0E8C7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6414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58998" y="1920240"/>
            <a:ext cx="1944014" cy="960120"/>
          </a:xfrm>
          <a:prstGeom prst="rect">
            <a:avLst/>
          </a:prstGeom>
          <a:solidFill>
            <a:srgbClr val="EAF1F8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04718" y="192024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escrow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58998" y="4617720"/>
            <a:ext cx="1944014" cy="960120"/>
          </a:xfrm>
          <a:prstGeom prst="rect">
            <a:avLst/>
          </a:prstGeom>
          <a:solidFill>
            <a:srgbClr val="FBF1E2"/>
          </a:solidFill>
          <a:ln w="12700">
            <a:solidFill>
              <a:srgbClr val="C77D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04718" y="461772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goods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29884" y="3474720"/>
            <a:ext cx="329184" cy="329184"/>
          </a:xfrm>
          <a:prstGeom prst="ellipse">
            <a:avLst/>
          </a:prstGeom>
          <a:solidFill>
            <a:srgbClr val="0E8C7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29884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22469" y="1920240"/>
            <a:ext cx="1944014" cy="960120"/>
          </a:xfrm>
          <a:prstGeom prst="rect">
            <a:avLst/>
          </a:prstGeom>
          <a:solidFill>
            <a:srgbClr val="EAF1F8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8189" y="192024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shipment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2469" y="4617720"/>
            <a:ext cx="1944014" cy="960120"/>
          </a:xfrm>
          <a:prstGeom prst="rect">
            <a:avLst/>
          </a:prstGeom>
          <a:solidFill>
            <a:srgbClr val="FBF1E2"/>
          </a:solidFill>
          <a:ln w="12700">
            <a:solidFill>
              <a:srgbClr val="C77D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8189" y="461772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93354" y="3474720"/>
            <a:ext cx="329184" cy="329184"/>
          </a:xfrm>
          <a:prstGeom prst="ellipse">
            <a:avLst/>
          </a:prstGeom>
          <a:solidFill>
            <a:srgbClr val="0E8C7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3354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285939" y="1920240"/>
            <a:ext cx="1944014" cy="960120"/>
          </a:xfrm>
          <a:prstGeom prst="rect">
            <a:avLst/>
          </a:prstGeom>
          <a:solidFill>
            <a:srgbClr val="EAF1F8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31659" y="192024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received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285939" y="4617720"/>
            <a:ext cx="1944014" cy="960120"/>
          </a:xfrm>
          <a:prstGeom prst="rect">
            <a:avLst/>
          </a:prstGeom>
          <a:solidFill>
            <a:srgbClr val="FBF1E2"/>
          </a:solidFill>
          <a:ln w="12700">
            <a:solidFill>
              <a:srgbClr val="C77D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31659" y="461772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documents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256825" y="3474720"/>
            <a:ext cx="329184" cy="329184"/>
          </a:xfrm>
          <a:prstGeom prst="ellipse">
            <a:avLst/>
          </a:prstGeom>
          <a:solidFill>
            <a:srgbClr val="0E8C7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56825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449410" y="4617720"/>
            <a:ext cx="1944014" cy="960120"/>
          </a:xfrm>
          <a:prstGeom prst="rect">
            <a:avLst/>
          </a:prstGeom>
          <a:solidFill>
            <a:srgbClr val="FBF1E2"/>
          </a:solidFill>
          <a:ln w="12700">
            <a:solidFill>
              <a:srgbClr val="C77D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95130" y="4617720"/>
            <a:ext cx="185257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payment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5806440"/>
            <a:ext cx="11183112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8064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chooses tier at intake:  </a:t>
            </a:r>
            <a:pPr algn="l" indent="0" marL="0">
              <a:buNone/>
            </a:pPr>
            <a:r>
              <a:rPr lang="en-US" sz="12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 (eBL — minutes) · Tier B (carrier-verified — hours) · Tier C (paper — days).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TRANSAKT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 Canvas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772400" y="310896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Transakt — Pitch Deck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2686050" cy="2464308"/>
          </a:xfrm>
          <a:prstGeom prst="rect">
            <a:avLst/>
          </a:prstGeom>
          <a:solidFill>
            <a:srgbClr val="F5F3EE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14400"/>
            <a:ext cx="2686050" cy="64008"/>
          </a:xfrm>
          <a:prstGeom prst="rect">
            <a:avLst/>
          </a:prstGeom>
          <a:solidFill>
            <a:srgbClr val="0B1B3A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" y="1060704"/>
            <a:ext cx="2393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Opportunity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" y="1371600"/>
            <a:ext cx="2393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$2.5T SME trade finance gap; ~45% rejection 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9224" y="1938528"/>
            <a:ext cx="241173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fixed compliance cost on a $10K trade as $5M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tickets uneconomic for banks at scale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SME trade still on trust, cash, or not at all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UCP 600 credit, stablecoin settlement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335274" y="914400"/>
            <a:ext cx="2686050" cy="2464308"/>
          </a:xfrm>
          <a:prstGeom prst="rect">
            <a:avLst/>
          </a:prstGeom>
          <a:solidFill>
            <a:srgbClr val="F5F3EE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5274" y="914400"/>
            <a:ext cx="2686050" cy="64008"/>
          </a:xfrm>
          <a:prstGeom prst="rect">
            <a:avLst/>
          </a:prstGeom>
          <a:solidFill>
            <a:srgbClr val="5A4FBF"/>
          </a:solidFill>
          <a:ln/>
        </p:spPr>
      </p:sp>
      <p:sp>
        <p:nvSpPr>
          <p:cNvPr id="11" name="Text 9"/>
          <p:cNvSpPr/>
          <p:nvPr/>
        </p:nvSpPr>
        <p:spPr>
          <a:xfrm>
            <a:off x="3481578" y="1060704"/>
            <a:ext cx="2393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Description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81578" y="1371600"/>
            <a:ext cx="2393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5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centralised operator: escrow + verification + settlement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81578" y="1938528"/>
            <a:ext cx="241173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Smart-contract escrow against documentary release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UCP 600 Article 14 strict-compliance logic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Settles on USDC, not correspondent networks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bank · Not DeFi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167628" y="914400"/>
            <a:ext cx="2686050" cy="2464308"/>
          </a:xfrm>
          <a:prstGeom prst="rect">
            <a:avLst/>
          </a:prstGeom>
          <a:solidFill>
            <a:srgbClr val="F5F3EE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7628" y="914400"/>
            <a:ext cx="2686050" cy="6400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16" name="Text 14"/>
          <p:cNvSpPr/>
          <p:nvPr/>
        </p:nvSpPr>
        <p:spPr>
          <a:xfrm>
            <a:off x="6313932" y="1060704"/>
            <a:ext cx="2393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Market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13932" y="1371600"/>
            <a:ext cx="2393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importers / exporters: UAE primary, KSA parallel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13932" y="1938528"/>
            <a:ext cx="241173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Corridors: UAE–India, UAE–Türkiye, KSA–Pakistan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Sectors: textiles, consumer goods, manufacturing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size: $5K–$250K, repeatable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LC cost, trust gap, fraud, 4–6 week wait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999982" y="914400"/>
            <a:ext cx="2686050" cy="2464308"/>
          </a:xfrm>
          <a:prstGeom prst="rect">
            <a:avLst/>
          </a:prstGeom>
          <a:solidFill>
            <a:srgbClr val="F5F3EE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99982" y="914400"/>
            <a:ext cx="2686050" cy="64008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6286" y="1060704"/>
            <a:ext cx="2393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USPs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6286" y="1371600"/>
            <a:ext cx="2393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UCP 600 documentary credit on stablecoin rails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6286" y="1938528"/>
            <a:ext cx="241173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Six-layer verification moat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Self-pricing tiered model (speed vs cost-of-trust)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Gulf-native: VARA, ADGM, DIFC, PTSR 2024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CeFi: not a bank, not DeFi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02920" y="3525012"/>
            <a:ext cx="2686050" cy="2464308"/>
          </a:xfrm>
          <a:prstGeom prst="rect">
            <a:avLst/>
          </a:prstGeom>
          <a:solidFill>
            <a:srgbClr val="F5F3EE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525012"/>
            <a:ext cx="2686050" cy="64008"/>
          </a:xfrm>
          <a:prstGeom prst="rect">
            <a:avLst/>
          </a:prstGeom>
          <a:solidFill>
            <a:srgbClr val="2C7A33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" y="3671316"/>
            <a:ext cx="2393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" y="3982212"/>
            <a:ext cx="2393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2C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Settlement fee 0.5–1.0% per trade (tiered)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" y="4549140"/>
            <a:ext cx="241173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SaaS / API licensing (P1 → bank white-label P2)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Yield share on idle escrow (P2)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revenue: $400K–$1.0M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margin: 60–70% blended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3335274" y="3525012"/>
            <a:ext cx="2686050" cy="2464308"/>
          </a:xfrm>
          <a:prstGeom prst="rect">
            <a:avLst/>
          </a:prstGeom>
          <a:solidFill>
            <a:srgbClr val="F5F3EE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5274" y="3525012"/>
            <a:ext cx="2686050" cy="64008"/>
          </a:xfrm>
          <a:prstGeom prst="rect">
            <a:avLst/>
          </a:prstGeom>
          <a:solidFill>
            <a:srgbClr val="C77D18"/>
          </a:solidFill>
          <a:ln/>
        </p:spPr>
      </p:sp>
      <p:sp>
        <p:nvSpPr>
          <p:cNvPr id="31" name="Text 29"/>
          <p:cNvSpPr/>
          <p:nvPr/>
        </p:nvSpPr>
        <p:spPr>
          <a:xfrm>
            <a:off x="3481578" y="3671316"/>
            <a:ext cx="2393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481578" y="3982212"/>
            <a:ext cx="2393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engineering, compliance, custody, forensics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81578" y="4549140"/>
            <a:ext cx="241173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API integrations (DCSA carriers)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Variable: examiner time, courier (Tier C)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per-doc fee; on-chain gas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 / KYC per-onboarding cost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6167628" y="3525012"/>
            <a:ext cx="2686050" cy="2464308"/>
          </a:xfrm>
          <a:prstGeom prst="rect">
            <a:avLst/>
          </a:prstGeom>
          <a:solidFill>
            <a:srgbClr val="F5F3EE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67628" y="3525012"/>
            <a:ext cx="2686050" cy="6400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36" name="Text 34"/>
          <p:cNvSpPr/>
          <p:nvPr/>
        </p:nvSpPr>
        <p:spPr>
          <a:xfrm>
            <a:off x="6313932" y="3671316"/>
            <a:ext cx="2393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313932" y="3982212"/>
            <a:ext cx="2393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Direct: Gulf chambers, freight-forwarder referrals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13932" y="4549140"/>
            <a:ext cx="241173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DIFC FinTech Hive / ADGM RegLab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events: Gulfood, GITEX, Dubai FinTech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Indirect: white-label verification API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VARA-licensed exchange merchant programmes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8999982" y="3525012"/>
            <a:ext cx="2686050" cy="2464308"/>
          </a:xfrm>
          <a:prstGeom prst="rect">
            <a:avLst/>
          </a:prstGeom>
          <a:solidFill>
            <a:srgbClr val="F5F3EE"/>
          </a:solidFill>
          <a:ln w="12700">
            <a:solidFill>
              <a:srgbClr val="E2DE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99982" y="3525012"/>
            <a:ext cx="2686050" cy="64008"/>
          </a:xfrm>
          <a:prstGeom prst="rect">
            <a:avLst/>
          </a:prstGeom>
          <a:solidFill>
            <a:srgbClr val="0B1B3A"/>
          </a:solidFill>
          <a:ln/>
        </p:spPr>
      </p:sp>
      <p:sp>
        <p:nvSpPr>
          <p:cNvPr id="41" name="Text 39"/>
          <p:cNvSpPr/>
          <p:nvPr/>
        </p:nvSpPr>
        <p:spPr>
          <a:xfrm>
            <a:off x="9146286" y="3671316"/>
            <a:ext cx="2393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Competition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146286" y="3982212"/>
            <a:ext cx="2393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banks issuing LCs (HSBC, Emirates NBD)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6286" y="4549140"/>
            <a:ext cx="241173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escrow: XREX BitCheck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rails: Fasset, Circle Payments Network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USPs they hold: trust, scale, speed</a:t>
            </a:r>
            <a:endParaRPr lang="en-US" sz="930" dirty="0"/>
          </a:p>
          <a:p>
            <a:pPr algn="l" marL="127000" indent="-1270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combine documentary release + stablecoin</a:t>
            </a:r>
            <a:endParaRPr lang="en-US" sz="930" dirty="0"/>
          </a:p>
        </p:txBody>
      </p:sp>
      <p:sp>
        <p:nvSpPr>
          <p:cNvPr id="44" name="Text 42"/>
          <p:cNvSpPr/>
          <p:nvPr/>
        </p:nvSpPr>
        <p:spPr>
          <a:xfrm>
            <a:off x="502920" y="6492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ADB (2025); ICC UCP 600 (2007); ICC UAE (2020); CBUAE PTSR (2024); XREX (2025); Fintech Global (2026).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0 of a 10-week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94960" cy="365760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83080"/>
            <a:ext cx="5394960" cy="457200"/>
          </a:xfrm>
          <a:prstGeom prst="rect">
            <a:avLst/>
          </a:prstGeom>
          <a:solidFill>
            <a:srgbClr val="0B1B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 ·  29 May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44144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</a:t>
            </a:r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co-founders, roles assigned — CEO, CTO, CFO, COO, CCO, CRO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02666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 </a:t>
            </a:r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product spec — Phase 0 escrow + Phase 1 trust / custody / dispute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  </a:t>
            </a:r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→ verification → settlement → dispute, mapped end-to-end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19709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 </a:t>
            </a:r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tagline, palette, pitch deck (Slides 1–6)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478231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signal  </a:t>
            </a:r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Gulf SME counterparty informally confirmed LC pricing and access pain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91072" y="1783080"/>
            <a:ext cx="5394960" cy="3657600"/>
          </a:xfrm>
          <a:prstGeom prst="rect">
            <a:avLst/>
          </a:prstGeom>
          <a:solidFill>
            <a:srgbClr val="E3F1EE"/>
          </a:solidFill>
          <a:ln w="12700">
            <a:solidFill>
              <a:srgbClr val="BBDE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91072" y="1783080"/>
            <a:ext cx="5394960" cy="457200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14" name="Text 12"/>
          <p:cNvSpPr/>
          <p:nvPr/>
        </p:nvSpPr>
        <p:spPr>
          <a:xfrm>
            <a:off x="6519672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10 WEEKS  ·  8 Jun – 14 Aug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65392" y="244144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 </a:t>
            </a:r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Smart-contract escrow (testnet), deal intake UI, document review console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65392" y="302666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+ partners  </a:t>
            </a:r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forensics outreach, carrier API research, KYB / KYC scoping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65392" y="36118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 </a:t>
            </a:r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DIFC FinTech Hive / ADGM RegLab exploratory conversations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65392" y="419709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dev  </a:t>
            </a:r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chambers, freight-forwarder referrals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65392" y="478231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 </a:t>
            </a:r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project video 14 Aug; individual report 28 Aug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5669280"/>
            <a:ext cx="11183112" cy="548640"/>
          </a:xfrm>
          <a:prstGeom prst="rect">
            <a:avLst/>
          </a:prstGeom>
          <a:solidFill>
            <a:srgbClr val="0B1B3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566928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 are in place. The 10-week build converts specification into demonstrable product.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TRANSAKT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play, how we win, why they stay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86400" cy="1993392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73152" cy="1993392"/>
          </a:xfrm>
          <a:prstGeom prst="rect">
            <a:avLst/>
          </a:prstGeom>
          <a:solidFill>
            <a:srgbClr val="0E8C7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020824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7592" y="20025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Beachhead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532888"/>
            <a:ext cx="49834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importers of Indian &amp; Türkish textiles, garments, consumer goods</a:t>
            </a:r>
            <a:endParaRPr lang="en-US" sz="1130" dirty="0"/>
          </a:p>
          <a:p>
            <a:pPr algn="l"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$10K–$50K per shipment · 2–4 shipments/year · repeat patterns</a:t>
            </a:r>
            <a:endParaRPr lang="en-US" sz="1130" dirty="0"/>
          </a:p>
          <a:p>
            <a:pPr algn="l"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LC dead zone — too small for banks, too large for trust-only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5486400" cy="1993392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99632" y="1783080"/>
            <a:ext cx="73152" cy="1993392"/>
          </a:xfrm>
          <a:prstGeom prst="rect">
            <a:avLst/>
          </a:prstGeom>
          <a:solidFill>
            <a:srgbClr val="1F6FB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020824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04304" y="20025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GTM motion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73952" y="2532888"/>
            <a:ext cx="49834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BD via Gulf freight forwarders</a:t>
            </a:r>
            <a:endParaRPr lang="en-US" sz="1130" dirty="0"/>
          </a:p>
          <a:p>
            <a:pPr algn="l"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Forwarders see the trust gap before banks do</a:t>
            </a:r>
            <a:endParaRPr lang="en-US" sz="1130" dirty="0"/>
          </a:p>
          <a:p>
            <a:pPr algn="l"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engagement as credibility infrastructure (DIFC / ADGM)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502920" y="3986784"/>
            <a:ext cx="5486400" cy="1993392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2920" y="3986784"/>
            <a:ext cx="73152" cy="1993392"/>
          </a:xfrm>
          <a:prstGeom prst="rect">
            <a:avLst/>
          </a:prstGeom>
          <a:solidFill>
            <a:srgbClr val="C77D1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22452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07592" y="4206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Acquisition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77240" y="4736592"/>
            <a:ext cx="49834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deal only: 50% off settlement fee</a:t>
            </a:r>
            <a:endParaRPr lang="en-US" sz="1130" dirty="0"/>
          </a:p>
          <a:p>
            <a:pPr algn="l"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white-glove onboarding for first 10 customers</a:t>
            </a:r>
            <a:endParaRPr lang="en-US" sz="1130" dirty="0"/>
          </a:p>
          <a:p>
            <a:pPr algn="l"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pricing from deal #2 — no discount escalator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199632" y="3986784"/>
            <a:ext cx="5486400" cy="1993392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99632" y="3986784"/>
            <a:ext cx="73152" cy="1993392"/>
          </a:xfrm>
          <a:prstGeom prst="rect">
            <a:avLst/>
          </a:prstGeom>
          <a:solidFill>
            <a:srgbClr val="2C7A3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422452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04304" y="4206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Retention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73952" y="4736592"/>
            <a:ext cx="49834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 done once, reused — onboarding friction → zero</a:t>
            </a:r>
            <a:endParaRPr lang="en-US" sz="1130" dirty="0"/>
          </a:p>
          <a:p>
            <a:pPr algn="l"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counterparty status travels across deals</a:t>
            </a:r>
            <a:endParaRPr lang="en-US" sz="1130" dirty="0"/>
          </a:p>
          <a:p>
            <a:pPr algn="l"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3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templates + eBL speed advantage compound</a:t>
            </a:r>
            <a:endParaRPr lang="en-US" sz="1130" dirty="0"/>
          </a:p>
        </p:txBody>
      </p:sp>
      <p:sp>
        <p:nvSpPr>
          <p:cNvPr id="24" name="Text 18"/>
          <p:cNvSpPr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8C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Narrow corridor, sharp wedge, founder-led learning loop.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TRANSAKT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compare, and what nobody else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023360" cy="420624"/>
          </a:xfrm>
          <a:prstGeom prst="rect">
            <a:avLst/>
          </a:prstGeom>
          <a:solidFill>
            <a:srgbClr val="0B1B3A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1783080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26280" y="1783080"/>
            <a:ext cx="1417320" cy="420624"/>
          </a:xfrm>
          <a:prstGeom prst="rect">
            <a:avLst/>
          </a:prstGeom>
          <a:solidFill>
            <a:srgbClr val="0B1B3A"/>
          </a:solidFill>
          <a:ln/>
        </p:spPr>
      </p:sp>
      <p:sp>
        <p:nvSpPr>
          <p:cNvPr id="7" name="Text 5"/>
          <p:cNvSpPr/>
          <p:nvPr/>
        </p:nvSpPr>
        <p:spPr>
          <a:xfrm>
            <a:off x="4599432" y="1783080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0" y="1783080"/>
            <a:ext cx="1417320" cy="420624"/>
          </a:xfrm>
          <a:prstGeom prst="rect">
            <a:avLst/>
          </a:prstGeom>
          <a:solidFill>
            <a:srgbClr val="0B1B3A"/>
          </a:solidFill>
          <a:ln/>
        </p:spPr>
      </p:sp>
      <p:sp>
        <p:nvSpPr>
          <p:cNvPr id="9" name="Text 7"/>
          <p:cNvSpPr/>
          <p:nvPr/>
        </p:nvSpPr>
        <p:spPr>
          <a:xfrm>
            <a:off x="6016752" y="1783080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XREX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60920" y="1783080"/>
            <a:ext cx="2148840" cy="420624"/>
          </a:xfrm>
          <a:prstGeom prst="rect">
            <a:avLst/>
          </a:prstGeom>
          <a:solidFill>
            <a:srgbClr val="0B1B3A"/>
          </a:solidFill>
          <a:ln/>
        </p:spPr>
      </p:sp>
      <p:sp>
        <p:nvSpPr>
          <p:cNvPr id="11" name="Text 9"/>
          <p:cNvSpPr/>
          <p:nvPr/>
        </p:nvSpPr>
        <p:spPr>
          <a:xfrm>
            <a:off x="7434072" y="1783080"/>
            <a:ext cx="2002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rails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509760" y="1783080"/>
            <a:ext cx="1828800" cy="420624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13" name="Text 11"/>
          <p:cNvSpPr/>
          <p:nvPr/>
        </p:nvSpPr>
        <p:spPr>
          <a:xfrm>
            <a:off x="9582912" y="1783080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203704"/>
            <a:ext cx="4023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20370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 release (UCP 600)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2203704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2203704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2203704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16752" y="2203704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60920" y="2203704"/>
            <a:ext cx="2148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34072" y="2203704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09760" y="2203704"/>
            <a:ext cx="1828800" cy="384048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82912" y="2203704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2587752"/>
            <a:ext cx="4023360" cy="384048"/>
          </a:xfrm>
          <a:prstGeom prst="rect">
            <a:avLst/>
          </a:prstGeom>
          <a:solidFill>
            <a:srgbClr val="EEF2F8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258775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settlement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26280" y="2587752"/>
            <a:ext cx="141732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2587752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0" y="2587752"/>
            <a:ext cx="141732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16752" y="2587752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60920" y="2587752"/>
            <a:ext cx="214884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34072" y="2587752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09760" y="2587752"/>
            <a:ext cx="1828800" cy="384048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82912" y="258775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2971800"/>
            <a:ext cx="4023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2971800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ticket sizes ($5K–$250K)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26280" y="2971800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99432" y="2971800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943600" y="2971800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16752" y="2971800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60920" y="2971800"/>
            <a:ext cx="2148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34072" y="2971800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509760" y="2971800"/>
            <a:ext cx="1828800" cy="384048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82912" y="297180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2920" y="3355848"/>
            <a:ext cx="4023360" cy="384048"/>
          </a:xfrm>
          <a:prstGeom prst="rect">
            <a:avLst/>
          </a:prstGeom>
          <a:solidFill>
            <a:srgbClr val="EEF2F8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3355848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verification stack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26280" y="3355848"/>
            <a:ext cx="141732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99432" y="335584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943600" y="3355848"/>
            <a:ext cx="141732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16752" y="335584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360920" y="3355848"/>
            <a:ext cx="214884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34072" y="3355848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509760" y="3355848"/>
            <a:ext cx="1828800" cy="384048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82912" y="335584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02920" y="3739896"/>
            <a:ext cx="4023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072" y="3739896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dispute path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26280" y="3739896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99432" y="3739896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943600" y="3739896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16752" y="3739896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360920" y="3739896"/>
            <a:ext cx="2148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34072" y="3739896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509760" y="3739896"/>
            <a:ext cx="1828800" cy="384048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582912" y="3739896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02920" y="4123944"/>
            <a:ext cx="4023360" cy="384048"/>
          </a:xfrm>
          <a:prstGeom prst="rect">
            <a:avLst/>
          </a:prstGeom>
          <a:solidFill>
            <a:srgbClr val="EEF2F8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6072" y="412394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Gulf-native regulatory fit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526280" y="4123944"/>
            <a:ext cx="141732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99432" y="4123944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943600" y="4123944"/>
            <a:ext cx="141732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16752" y="4123944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7360920" y="4123944"/>
            <a:ext cx="2148840" cy="384048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34072" y="4123944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9509760" y="4123944"/>
            <a:ext cx="1828800" cy="384048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582912" y="4123944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02920" y="4507992"/>
            <a:ext cx="4023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76072" y="450799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(eBL tier)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526280" y="4507992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99432" y="4507992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5943600" y="4507992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016752" y="4507992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7360920" y="4507992"/>
            <a:ext cx="2148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34072" y="4507992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9509760" y="4507992"/>
            <a:ext cx="1828800" cy="384048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582912" y="450799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502920" y="5074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SIX-LAYER VERIFICATION STACK — THE OPERATIONAL MOAT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502920" y="5413248"/>
            <a:ext cx="1801368" cy="777240"/>
          </a:xfrm>
          <a:prstGeom prst="rect">
            <a:avLst/>
          </a:prstGeom>
          <a:solidFill>
            <a:srgbClr val="F4F6FA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12648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87" name="Text 85"/>
          <p:cNvSpPr/>
          <p:nvPr/>
        </p:nvSpPr>
        <p:spPr>
          <a:xfrm>
            <a:off x="1005840" y="5522976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intake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1005840" y="583387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A/B/C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2249424" y="5413248"/>
            <a:ext cx="146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2350008" y="5413248"/>
            <a:ext cx="1801368" cy="777240"/>
          </a:xfrm>
          <a:prstGeom prst="rect">
            <a:avLst/>
          </a:prstGeom>
          <a:solidFill>
            <a:srgbClr val="EAF1F8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459736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92" name="Text 90"/>
          <p:cNvSpPr/>
          <p:nvPr/>
        </p:nvSpPr>
        <p:spPr>
          <a:xfrm>
            <a:off x="2852928" y="5522976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rules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2852928" y="583387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4096512" y="5413248"/>
            <a:ext cx="146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4197096" y="5413248"/>
            <a:ext cx="1801368" cy="777240"/>
          </a:xfrm>
          <a:prstGeom prst="rect">
            <a:avLst/>
          </a:prstGeom>
          <a:solidFill>
            <a:srgbClr val="F4F6FA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06824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97" name="Text 95"/>
          <p:cNvSpPr/>
          <p:nvPr/>
        </p:nvSpPr>
        <p:spPr>
          <a:xfrm>
            <a:off x="4700016" y="5522976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API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4700016" y="583387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5943600" y="5413248"/>
            <a:ext cx="146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6044184" y="5413248"/>
            <a:ext cx="1801368" cy="777240"/>
          </a:xfrm>
          <a:prstGeom prst="rect">
            <a:avLst/>
          </a:prstGeom>
          <a:solidFill>
            <a:srgbClr val="EAF1F8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153912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00" dirty="0"/>
          </a:p>
        </p:txBody>
      </p:sp>
      <p:sp>
        <p:nvSpPr>
          <p:cNvPr id="102" name="Text 100"/>
          <p:cNvSpPr/>
          <p:nvPr/>
        </p:nvSpPr>
        <p:spPr>
          <a:xfrm>
            <a:off x="6547104" y="5522976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examiner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6547104" y="583387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7790688" y="5413248"/>
            <a:ext cx="146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5" name="Shape 103"/>
          <p:cNvSpPr/>
          <p:nvPr/>
        </p:nvSpPr>
        <p:spPr>
          <a:xfrm>
            <a:off x="7891272" y="5413248"/>
            <a:ext cx="1801368" cy="777240"/>
          </a:xfrm>
          <a:prstGeom prst="rect">
            <a:avLst/>
          </a:prstGeom>
          <a:solidFill>
            <a:srgbClr val="F4F6FA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001000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900" dirty="0"/>
          </a:p>
        </p:txBody>
      </p:sp>
      <p:sp>
        <p:nvSpPr>
          <p:cNvPr id="107" name="Text 105"/>
          <p:cNvSpPr/>
          <p:nvPr/>
        </p:nvSpPr>
        <p:spPr>
          <a:xfrm>
            <a:off x="8394192" y="5522976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DB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8394192" y="583387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</a:t>
            </a:r>
            <a:endParaRPr lang="en-US" sz="950" dirty="0"/>
          </a:p>
        </p:txBody>
      </p:sp>
      <p:sp>
        <p:nvSpPr>
          <p:cNvPr id="109" name="Text 107"/>
          <p:cNvSpPr/>
          <p:nvPr/>
        </p:nvSpPr>
        <p:spPr>
          <a:xfrm>
            <a:off x="9637776" y="5413248"/>
            <a:ext cx="146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10" name="Shape 108"/>
          <p:cNvSpPr/>
          <p:nvPr/>
        </p:nvSpPr>
        <p:spPr>
          <a:xfrm>
            <a:off x="9738360" y="5413248"/>
            <a:ext cx="1801368" cy="777240"/>
          </a:xfrm>
          <a:prstGeom prst="rect">
            <a:avLst/>
          </a:prstGeom>
          <a:solidFill>
            <a:srgbClr val="EAF1F8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848088" y="5504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900" dirty="0"/>
          </a:p>
        </p:txBody>
      </p:sp>
      <p:sp>
        <p:nvSpPr>
          <p:cNvPr id="112" name="Text 110"/>
          <p:cNvSpPr/>
          <p:nvPr/>
        </p:nvSpPr>
        <p:spPr>
          <a:xfrm>
            <a:off x="10241280" y="5522976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10241280" y="583387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days</a:t>
            </a:r>
            <a:endParaRPr lang="en-US" sz="950" dirty="0"/>
          </a:p>
        </p:txBody>
      </p:sp>
      <p:sp>
        <p:nvSpPr>
          <p:cNvPr id="114" name="Text 112"/>
          <p:cNvSpPr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competitor crosses all six layers — or combines documentary release with stablecoin settlement.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Three-year base case, with ranges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743200" cy="420624"/>
          </a:xfrm>
          <a:prstGeom prst="rect">
            <a:avLst/>
          </a:prstGeom>
          <a:solidFill>
            <a:srgbClr val="0B1B3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46120" y="1783080"/>
            <a:ext cx="1325880" cy="420624"/>
          </a:xfrm>
          <a:prstGeom prst="rect">
            <a:avLst/>
          </a:prstGeom>
          <a:solidFill>
            <a:srgbClr val="0B1B3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9272" y="1783080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1783080"/>
            <a:ext cx="1325880" cy="420624"/>
          </a:xfrm>
          <a:prstGeom prst="rect">
            <a:avLst/>
          </a:prstGeom>
          <a:solidFill>
            <a:srgbClr val="0B1B3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783080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97880" y="1783080"/>
            <a:ext cx="1417320" cy="420624"/>
          </a:xfrm>
          <a:prstGeom prst="rect">
            <a:avLst/>
          </a:prstGeom>
          <a:solidFill>
            <a:srgbClr val="0B1B3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71032" y="1783080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203704"/>
            <a:ext cx="274320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203704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 (EOY)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2203704"/>
            <a:ext cx="132588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2203704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203704"/>
            <a:ext cx="132588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2203704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75–150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97880" y="2203704"/>
            <a:ext cx="141732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71032" y="2203704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250–450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624328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62432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processed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624328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2624328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25–55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2624328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2624328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200–400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97880" y="2624328"/>
            <a:ext cx="14173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71032" y="2624328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800–1,600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044952"/>
            <a:ext cx="274320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044952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ticket size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46120" y="3044952"/>
            <a:ext cx="132588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3044952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3044952"/>
            <a:ext cx="132588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3044952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97880" y="3044952"/>
            <a:ext cx="141732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71032" y="304495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3465576"/>
            <a:ext cx="2743200" cy="420624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3465576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46120" y="3465576"/>
            <a:ext cx="1325880" cy="420624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9272" y="3465576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$5–35K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3465576"/>
            <a:ext cx="1325880" cy="420624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3465576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$95–195K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897880" y="3465576"/>
            <a:ext cx="1417320" cy="420624"/>
          </a:xfrm>
          <a:prstGeom prst="rect">
            <a:avLst/>
          </a:prstGeom>
          <a:solidFill>
            <a:srgbClr val="E3F1EE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71032" y="3465576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$390–990K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920" y="3886200"/>
            <a:ext cx="274320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3886200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opex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46120" y="3886200"/>
            <a:ext cx="132588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9272" y="3886200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$155–260K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0" y="3886200"/>
            <a:ext cx="132588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45152" y="3886200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$475–735K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897880" y="3886200"/>
            <a:ext cx="141732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71032" y="3886200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$1.1–1.7M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02920" y="4306824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" y="4306824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46120" y="4306824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19272" y="4306824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0" y="4306824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45152" y="4306824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897880" y="4306824"/>
            <a:ext cx="14173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71032" y="4306824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65–75%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02920" y="4727448"/>
            <a:ext cx="2743200" cy="420624"/>
          </a:xfrm>
          <a:prstGeom prst="rect">
            <a:avLst/>
          </a:prstGeom>
          <a:solidFill>
            <a:srgbClr val="FBF1E2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6072" y="472744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246120" y="4727448"/>
            <a:ext cx="1325880" cy="420624"/>
          </a:xfrm>
          <a:prstGeom prst="rect">
            <a:avLst/>
          </a:prstGeom>
          <a:solidFill>
            <a:srgbClr val="FBF1E2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19272" y="4727448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−$120–255K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572000" y="4727448"/>
            <a:ext cx="1325880" cy="420624"/>
          </a:xfrm>
          <a:prstGeom prst="rect">
            <a:avLst/>
          </a:prstGeom>
          <a:solidFill>
            <a:srgbClr val="FBF1E2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45152" y="4727448"/>
            <a:ext cx="1179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−$280–640K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897880" y="4727448"/>
            <a:ext cx="1417320" cy="420624"/>
          </a:xfrm>
          <a:prstGeom prst="rect">
            <a:avLst/>
          </a:prstGeom>
          <a:solidFill>
            <a:srgbClr val="FBF1E2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71032" y="4727448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−$120K–1.3M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406640" y="1783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— BASE-CASE MIDPOINT ($K)</a:t>
            </a:r>
            <a:endParaRPr lang="en-US" sz="1050" dirty="0"/>
          </a:p>
        </p:txBody>
      </p:sp>
      <p:graphicFrame>
        <p:nvGraphicFramePr>
          <p:cNvPr id="69" name="Chart 0" descr=""/>
          <p:cNvGraphicFramePr/>
          <p:nvPr/>
        </p:nvGraphicFramePr>
        <p:xfrm>
          <a:off x="7315200" y="2103120"/>
          <a:ext cx="44348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0" name="Shape 67"/>
          <p:cNvSpPr/>
          <p:nvPr/>
        </p:nvSpPr>
        <p:spPr>
          <a:xfrm>
            <a:off x="502920" y="5257800"/>
            <a:ext cx="11183112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31520" y="525780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2029 – Q1 2030 (Month 36–48)        </a:t>
            </a:r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loss to break-even  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~$1.3–1.7M        </a:t>
            </a:r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funding need  </a:t>
            </a:r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$1.8–2.2M</a:t>
            </a:r>
            <a:endParaRPr lang="en-US" sz="1300" dirty="0"/>
          </a:p>
        </p:txBody>
      </p:sp>
      <p:sp>
        <p:nvSpPr>
          <p:cNvPr id="72" name="Text 69"/>
          <p:cNvSpPr/>
          <p:nvPr/>
        </p:nvSpPr>
        <p:spPr>
          <a:xfrm>
            <a:off x="50292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internal financial model (base case, revised 29 May 2026).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1123157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co-founders, six mandates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84448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777240" cy="777240"/>
          </a:xfrm>
          <a:prstGeom prst="ellipse">
            <a:avLst/>
          </a:prstGeom>
          <a:solidFill>
            <a:srgbClr val="0B1B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3055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49631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99008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[Background: academic + professional + key skill]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06824" y="1783080"/>
            <a:ext cx="3584448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81144" y="2057400"/>
            <a:ext cx="777240" cy="777240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12" name="Text 10"/>
          <p:cNvSpPr/>
          <p:nvPr/>
        </p:nvSpPr>
        <p:spPr>
          <a:xfrm>
            <a:off x="4581144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95544" y="213055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95544" y="249631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Technology Officer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81144" y="299008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[Background: academic + professional + key skill]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10728" y="1783080"/>
            <a:ext cx="3584448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85048" y="2057400"/>
            <a:ext cx="777240" cy="777240"/>
          </a:xfrm>
          <a:prstGeom prst="ellipse">
            <a:avLst/>
          </a:prstGeom>
          <a:solidFill>
            <a:srgbClr val="2C7A33"/>
          </a:solidFill>
          <a:ln/>
        </p:spPr>
      </p:sp>
      <p:sp>
        <p:nvSpPr>
          <p:cNvPr id="18" name="Text 16"/>
          <p:cNvSpPr/>
          <p:nvPr/>
        </p:nvSpPr>
        <p:spPr>
          <a:xfrm>
            <a:off x="8385048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99448" y="213055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99448" y="2496312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Financial Officer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85048" y="299008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[Background: academic + professional + key skill]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721608"/>
            <a:ext cx="3584448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3995928"/>
            <a:ext cx="777240" cy="777240"/>
          </a:xfrm>
          <a:prstGeom prst="ellipse">
            <a:avLst/>
          </a:prstGeom>
          <a:solidFill>
            <a:srgbClr val="C77D18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9959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691640" y="40690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91640" y="443484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Operating Officer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928616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[Background: academic + professional + key skill]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06824" y="3721608"/>
            <a:ext cx="3584448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81144" y="3995928"/>
            <a:ext cx="777240" cy="777240"/>
          </a:xfrm>
          <a:prstGeom prst="ellipse">
            <a:avLst/>
          </a:prstGeom>
          <a:solidFill>
            <a:srgbClr val="5A4FBF"/>
          </a:solidFill>
          <a:ln/>
        </p:spPr>
      </p:sp>
      <p:sp>
        <p:nvSpPr>
          <p:cNvPr id="30" name="Text 28"/>
          <p:cNvSpPr/>
          <p:nvPr/>
        </p:nvSpPr>
        <p:spPr>
          <a:xfrm>
            <a:off x="4581144" y="39959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CCO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495544" y="40690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95544" y="443484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Compliance Officer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81144" y="4928616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[Background: academic + professional + key skill]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110728" y="3721608"/>
            <a:ext cx="3584448" cy="1737360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85048" y="3995928"/>
            <a:ext cx="777240" cy="777240"/>
          </a:xfrm>
          <a:prstGeom prst="ellipse">
            <a:avLst/>
          </a:prstGeom>
          <a:solidFill>
            <a:srgbClr val="0E8C7F"/>
          </a:solidFill>
          <a:ln/>
        </p:spPr>
      </p:sp>
      <p:sp>
        <p:nvSpPr>
          <p:cNvPr id="36" name="Text 34"/>
          <p:cNvSpPr/>
          <p:nvPr/>
        </p:nvSpPr>
        <p:spPr>
          <a:xfrm>
            <a:off x="8385048" y="39959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9299448" y="40690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299448" y="443484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Revenue Officer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85048" y="4928616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[Background: academic + professional + key skill]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5669280"/>
            <a:ext cx="11183112" cy="548640"/>
          </a:xfrm>
          <a:prstGeom prst="rect">
            <a:avLst/>
          </a:prstGeom>
          <a:solidFill>
            <a:srgbClr val="0B1B3A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566928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role earns its seat. Each founder has skin in the game.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TRANSAKT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$2M gets us to break-even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783080"/>
          <a:ext cx="4480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691640" y="33375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$2M</a:t>
            </a: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 36 months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349240" y="1810512"/>
            <a:ext cx="6336792" cy="786384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49240" y="1810512"/>
            <a:ext cx="73152" cy="786384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8" name="Text 5"/>
          <p:cNvSpPr/>
          <p:nvPr/>
        </p:nvSpPr>
        <p:spPr>
          <a:xfrm>
            <a:off x="5577840" y="19019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&amp; product build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577840" y="2212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+ engineering; escrow, intake UI, review console, OCR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720072" y="19202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634472" y="1920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$800K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349240" y="2633472"/>
            <a:ext cx="6336792" cy="786384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49240" y="2633472"/>
            <a:ext cx="73152" cy="786384"/>
          </a:xfrm>
          <a:prstGeom prst="rect">
            <a:avLst/>
          </a:prstGeom>
          <a:solidFill>
            <a:srgbClr val="0B1B3A"/>
          </a:solidFill>
          <a:ln/>
        </p:spPr>
      </p:sp>
      <p:sp>
        <p:nvSpPr>
          <p:cNvPr id="14" name="Text 11"/>
          <p:cNvSpPr/>
          <p:nvPr/>
        </p:nvSpPr>
        <p:spPr>
          <a:xfrm>
            <a:off x="5577840" y="27249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Operations, people &amp; G&amp;A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577840" y="3035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CEO/CFO/COO/CCO/CRO salaries; HR, legal entity, tooling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720072" y="27432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634472" y="2743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$440K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349240" y="3456432"/>
            <a:ext cx="6336792" cy="786384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49240" y="3456432"/>
            <a:ext cx="73152" cy="786384"/>
          </a:xfrm>
          <a:prstGeom prst="rect">
            <a:avLst/>
          </a:prstGeom>
          <a:solidFill>
            <a:srgbClr val="5A4FBF"/>
          </a:solidFill>
          <a:ln/>
        </p:spPr>
      </p:sp>
      <p:sp>
        <p:nvSpPr>
          <p:cNvPr id="20" name="Text 17"/>
          <p:cNvSpPr/>
          <p:nvPr/>
        </p:nvSpPr>
        <p:spPr>
          <a:xfrm>
            <a:off x="5577840" y="35478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Compliance, legal &amp; regulatory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577840" y="3858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KYB/KYC, sanctions, DIFC/ADGM counsel, forensics retainer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720072" y="35661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4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634472" y="3566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$360K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349240" y="4279392"/>
            <a:ext cx="6336792" cy="786384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349240" y="4279392"/>
            <a:ext cx="73152" cy="786384"/>
          </a:xfrm>
          <a:prstGeom prst="rect">
            <a:avLst/>
          </a:prstGeom>
          <a:solidFill>
            <a:srgbClr val="C77D18"/>
          </a:solidFill>
          <a:ln/>
        </p:spPr>
      </p:sp>
      <p:sp>
        <p:nvSpPr>
          <p:cNvPr id="26" name="Text 23"/>
          <p:cNvSpPr/>
          <p:nvPr/>
        </p:nvSpPr>
        <p:spPr>
          <a:xfrm>
            <a:off x="5577840" y="43708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GTM &amp; customer acquisition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577840" y="4681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BD, chambers, trade events, pilot incentives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720072" y="4389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634472" y="4389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$300K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349240" y="5102352"/>
            <a:ext cx="6336792" cy="786384"/>
          </a:xfrm>
          <a:prstGeom prst="rect">
            <a:avLst/>
          </a:prstGeom>
          <a:solidFill>
            <a:srgbClr val="F4F6FA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349240" y="5102352"/>
            <a:ext cx="73152" cy="786384"/>
          </a:xfrm>
          <a:prstGeom prst="rect">
            <a:avLst/>
          </a:prstGeom>
          <a:solidFill>
            <a:srgbClr val="2C7A33"/>
          </a:solidFill>
          <a:ln/>
        </p:spPr>
      </p:sp>
      <p:sp>
        <p:nvSpPr>
          <p:cNvPr id="32" name="Text 29"/>
          <p:cNvSpPr/>
          <p:nvPr/>
        </p:nvSpPr>
        <p:spPr>
          <a:xfrm>
            <a:off x="5577840" y="51937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capital + contingency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577840" y="55046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2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buffer; FX, on-chain gas, integration costs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720072" y="52120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0634472" y="5212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8C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$2M, 36 months, six categories. Each dollar tied to a milestone.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TRANSAKT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capital to build the documentary credit rail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419856" cy="1371600"/>
          </a:xfrm>
          <a:prstGeom prst="rect">
            <a:avLst/>
          </a:prstGeom>
          <a:solidFill>
            <a:srgbClr val="11254A"/>
          </a:solidFill>
          <a:ln w="15875">
            <a:solidFill>
              <a:srgbClr val="0E8C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47672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FE3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17136" y="1783080"/>
            <a:ext cx="3419856" cy="1371600"/>
          </a:xfrm>
          <a:prstGeom prst="rect">
            <a:avLst/>
          </a:prstGeom>
          <a:solidFill>
            <a:srgbClr val="11254A"/>
          </a:solidFill>
          <a:ln w="15875">
            <a:solidFill>
              <a:srgbClr val="0E8C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7136" y="1947672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FE3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~$10M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17136" y="269748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Post-money valuation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11312" y="1783080"/>
            <a:ext cx="3419856" cy="1371600"/>
          </a:xfrm>
          <a:prstGeom prst="rect">
            <a:avLst/>
          </a:prstGeom>
          <a:solidFill>
            <a:srgbClr val="11254A"/>
          </a:solidFill>
          <a:ln w="15875">
            <a:solidFill>
              <a:srgbClr val="0E8C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947672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FE3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11312" y="2697480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offered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429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BUYS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months runway to operational break-even</a:t>
            </a:r>
            <a:endParaRPr lang="en-US" sz="13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250–450 active customers by end of Year 3</a:t>
            </a:r>
            <a:endParaRPr lang="en-US" sz="13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$400K–$1M annual revenue by Year 3</a:t>
            </a:r>
            <a:endParaRPr lang="en-US" sz="13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Six-layer verification stack, battle-tested</a:t>
            </a:r>
            <a:endParaRPr lang="en-US" sz="13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Verified-trade dataset — the Phase 2 reputation product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3429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PROFILE WE WANT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74904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Fintech-experienced lead — trade finance / stablecoin infra background</a:t>
            </a:r>
            <a:endParaRPr lang="en-US" sz="13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Gulf-native angel network (UAE / KSA) for warm intros</a:t>
            </a:r>
            <a:endParaRPr lang="en-US" sz="13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advisors who open doors with VARA, ADGM, DIFC, carriers, eBL platforms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9FE3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$2M to build the documentary credit rail the Gulf SME market is waiting for.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FOUNDING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talk.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419856" cy="1417320"/>
          </a:xfrm>
          <a:prstGeom prst="rect">
            <a:avLst/>
          </a:prstGeom>
          <a:solidFill>
            <a:srgbClr val="11254A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3419856" cy="64008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450592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15468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31272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[Email]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315468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26080" y="3127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[LinkedIn]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17136" y="2286000"/>
            <a:ext cx="3419856" cy="1417320"/>
          </a:xfrm>
          <a:prstGeom prst="rect">
            <a:avLst/>
          </a:prstGeom>
          <a:solidFill>
            <a:srgbClr val="11254A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17136" y="2286000"/>
            <a:ext cx="3419856" cy="6400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14" name="Text 10"/>
          <p:cNvSpPr/>
          <p:nvPr/>
        </p:nvSpPr>
        <p:spPr>
          <a:xfrm>
            <a:off x="4745736" y="2450592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45736" y="274320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5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315468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20056" y="31272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[Email]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3154680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20256" y="3127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[LinkedIn]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8211312" y="2286000"/>
            <a:ext cx="3419856" cy="1417320"/>
          </a:xfrm>
          <a:prstGeom prst="rect">
            <a:avLst/>
          </a:prstGeom>
          <a:solidFill>
            <a:srgbClr val="11254A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211312" y="2286000"/>
            <a:ext cx="3419856" cy="64008"/>
          </a:xfrm>
          <a:prstGeom prst="rect">
            <a:avLst/>
          </a:prstGeom>
          <a:solidFill>
            <a:srgbClr val="2C7A33"/>
          </a:solidFill>
          <a:ln/>
        </p:spPr>
      </p:sp>
      <p:sp>
        <p:nvSpPr>
          <p:cNvPr id="22" name="Text 16"/>
          <p:cNvSpPr/>
          <p:nvPr/>
        </p:nvSpPr>
        <p:spPr>
          <a:xfrm>
            <a:off x="8439912" y="2450592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439912" y="274320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5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3154680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714232" y="31272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[Email]</a:t>
            </a:r>
            <a:endParaRPr lang="en-US" sz="10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0112" y="3154680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314432" y="3127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[LinkedIn]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822960" y="3931920"/>
            <a:ext cx="3419856" cy="1417320"/>
          </a:xfrm>
          <a:prstGeom prst="rect">
            <a:avLst/>
          </a:prstGeom>
          <a:solidFill>
            <a:srgbClr val="11254A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822960" y="3931920"/>
            <a:ext cx="3419856" cy="64008"/>
          </a:xfrm>
          <a:prstGeom prst="rect">
            <a:avLst/>
          </a:prstGeom>
          <a:solidFill>
            <a:srgbClr val="C77D18"/>
          </a:solidFill>
          <a:ln/>
        </p:spPr>
      </p:sp>
      <p:sp>
        <p:nvSpPr>
          <p:cNvPr id="30" name="Text 22"/>
          <p:cNvSpPr/>
          <p:nvPr/>
        </p:nvSpPr>
        <p:spPr>
          <a:xfrm>
            <a:off x="1051560" y="4096512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1051560" y="438912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5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4800600"/>
            <a:ext cx="201168" cy="20116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325880" y="4773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[Email]</a:t>
            </a:r>
            <a:endParaRPr lang="en-US" sz="105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760" y="4800600"/>
            <a:ext cx="201168" cy="20116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2926080" y="4773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[LinkedIn]</a:t>
            </a:r>
            <a:endParaRPr lang="en-US" sz="1050" dirty="0"/>
          </a:p>
        </p:txBody>
      </p:sp>
      <p:sp>
        <p:nvSpPr>
          <p:cNvPr id="36" name="Shape 26"/>
          <p:cNvSpPr/>
          <p:nvPr/>
        </p:nvSpPr>
        <p:spPr>
          <a:xfrm>
            <a:off x="4517136" y="3931920"/>
            <a:ext cx="3419856" cy="1417320"/>
          </a:xfrm>
          <a:prstGeom prst="rect">
            <a:avLst/>
          </a:prstGeom>
          <a:solidFill>
            <a:srgbClr val="11254A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4517136" y="3931920"/>
            <a:ext cx="3419856" cy="64008"/>
          </a:xfrm>
          <a:prstGeom prst="rect">
            <a:avLst/>
          </a:prstGeom>
          <a:solidFill>
            <a:srgbClr val="5A4FBF"/>
          </a:solidFill>
          <a:ln/>
        </p:spPr>
      </p:sp>
      <p:sp>
        <p:nvSpPr>
          <p:cNvPr id="38" name="Text 28"/>
          <p:cNvSpPr/>
          <p:nvPr/>
        </p:nvSpPr>
        <p:spPr>
          <a:xfrm>
            <a:off x="4745736" y="4096512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4745736" y="438912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5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5736" y="4800600"/>
            <a:ext cx="201168" cy="20116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5020056" y="4773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[Email]</a:t>
            </a:r>
            <a:endParaRPr lang="en-US" sz="105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5936" y="4800600"/>
            <a:ext cx="201168" cy="20116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620256" y="4773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[LinkedIn]</a:t>
            </a:r>
            <a:endParaRPr lang="en-US" sz="1050" dirty="0"/>
          </a:p>
        </p:txBody>
      </p:sp>
      <p:sp>
        <p:nvSpPr>
          <p:cNvPr id="44" name="Shape 32"/>
          <p:cNvSpPr/>
          <p:nvPr/>
        </p:nvSpPr>
        <p:spPr>
          <a:xfrm>
            <a:off x="8211312" y="3931920"/>
            <a:ext cx="3419856" cy="1417320"/>
          </a:xfrm>
          <a:prstGeom prst="rect">
            <a:avLst/>
          </a:prstGeom>
          <a:solidFill>
            <a:srgbClr val="11254A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8211312" y="3931920"/>
            <a:ext cx="3419856" cy="64008"/>
          </a:xfrm>
          <a:prstGeom prst="rect">
            <a:avLst/>
          </a:prstGeom>
          <a:solidFill>
            <a:srgbClr val="9FE3D8"/>
          </a:solidFill>
          <a:ln/>
        </p:spPr>
      </p:sp>
      <p:sp>
        <p:nvSpPr>
          <p:cNvPr id="46" name="Text 34"/>
          <p:cNvSpPr/>
          <p:nvPr/>
        </p:nvSpPr>
        <p:spPr>
          <a:xfrm>
            <a:off x="8439912" y="4096512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</a:t>
            </a:r>
            <a:endParaRPr lang="en-US" sz="1200" dirty="0"/>
          </a:p>
        </p:txBody>
      </p:sp>
      <p:sp>
        <p:nvSpPr>
          <p:cNvPr id="47" name="Text 35"/>
          <p:cNvSpPr/>
          <p:nvPr/>
        </p:nvSpPr>
        <p:spPr>
          <a:xfrm>
            <a:off x="8439912" y="438912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[Name]</a:t>
            </a:r>
            <a:endParaRPr lang="en-US" sz="1500" dirty="0"/>
          </a:p>
        </p:txBody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9912" y="4800600"/>
            <a:ext cx="201168" cy="201168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8714232" y="4773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[Email]</a:t>
            </a:r>
            <a:endParaRPr lang="en-US" sz="1050" dirty="0"/>
          </a:p>
        </p:txBody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40112" y="4800600"/>
            <a:ext cx="201168" cy="201168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10314432" y="4773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[LinkedIn]</a:t>
            </a:r>
            <a:endParaRPr lang="en-US" sz="1050" dirty="0"/>
          </a:p>
        </p:txBody>
      </p:sp>
      <p:sp>
        <p:nvSpPr>
          <p:cNvPr id="52" name="Text 38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E3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We'd value the conversation. Reach any of us directly.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Transakt — Pitch Deck</dc:title>
  <dc:subject>PptxGenJS Presentation</dc:subject>
  <dc:creator>Transakt</dc:creator>
  <cp:lastModifiedBy>Transakt</cp:lastModifiedBy>
  <cp:revision>1</cp:revision>
  <dcterms:created xsi:type="dcterms:W3CDTF">2026-05-29T09:15:04Z</dcterms:created>
  <dcterms:modified xsi:type="dcterms:W3CDTF">2026-05-29T09:15:04Z</dcterms:modified>
</cp:coreProperties>
</file>