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0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C7A3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145</c:v>
                </c:pt>
                <c:pt idx="2">
                  <c:v>690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741-4FF6-8E38-F87C898A457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E8C7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C57F-434C-B335-B1E9E05D1660}"/>
              </c:ext>
            </c:extLst>
          </c:dPt>
          <c:dPt>
            <c:idx val="1"/>
            <c:bubble3D val="0"/>
            <c:spPr>
              <a:solidFill>
                <a:srgbClr val="0B1B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57F-434C-B335-B1E9E05D1660}"/>
              </c:ext>
            </c:extLst>
          </c:dPt>
          <c:dPt>
            <c:idx val="2"/>
            <c:bubble3D val="0"/>
            <c:spPr>
              <a:solidFill>
                <a:srgbClr val="5A4FB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57F-434C-B335-B1E9E05D1660}"/>
              </c:ext>
            </c:extLst>
          </c:dPt>
          <c:dPt>
            <c:idx val="3"/>
            <c:bubble3D val="0"/>
            <c:spPr>
              <a:solidFill>
                <a:srgbClr val="C77D1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57F-434C-B335-B1E9E05D1660}"/>
              </c:ext>
            </c:extLst>
          </c:dPt>
          <c:dPt>
            <c:idx val="4"/>
            <c:bubble3D val="0"/>
            <c:spPr>
              <a:solidFill>
                <a:srgbClr val="2C7A3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C57F-434C-B335-B1E9E05D1660}"/>
              </c:ext>
            </c:extLst>
          </c:dPt>
          <c:cat>
            <c:strRef>
              <c:f>Sheet1!$A$2:$A$6</c:f>
              <c:strCache>
                <c:ptCount val="5"/>
                <c:pt idx="0">
                  <c:v>Engineering &amp; product</c:v>
                </c:pt>
                <c:pt idx="1">
                  <c:v>Operations &amp; G&amp;A</c:v>
                </c:pt>
                <c:pt idx="2">
                  <c:v>Compliance &amp; legal</c:v>
                </c:pt>
                <c:pt idx="3">
                  <c:v>GTM &amp; acquisition</c:v>
                </c:pt>
                <c:pt idx="4">
                  <c:v>Working capital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22</c:v>
                </c:pt>
                <c:pt idx="2">
                  <c:v>18</c:v>
                </c:pt>
                <c:pt idx="3">
                  <c:v>15</c:v>
                </c:pt>
                <c:pt idx="4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C57F-434C-B335-B1E9E05D16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76058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8C7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680960" y="1097280"/>
            <a:ext cx="3931920" cy="0"/>
          </a:xfrm>
          <a:prstGeom prst="line">
            <a:avLst/>
          </a:prstGeom>
          <a:noFill/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80960" y="1810512"/>
            <a:ext cx="3931920" cy="0"/>
          </a:xfrm>
          <a:prstGeom prst="line">
            <a:avLst/>
          </a:prstGeom>
          <a:noFill/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680960" y="2523744"/>
            <a:ext cx="3931920" cy="0"/>
          </a:xfrm>
          <a:prstGeom prst="line">
            <a:avLst/>
          </a:prstGeom>
          <a:noFill/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680960" y="3236976"/>
            <a:ext cx="3931920" cy="0"/>
          </a:xfrm>
          <a:prstGeom prst="line">
            <a:avLst/>
          </a:prstGeom>
          <a:noFill/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680960" y="3950208"/>
            <a:ext cx="3931920" cy="0"/>
          </a:xfrm>
          <a:prstGeom prst="line">
            <a:avLst/>
          </a:prstGeom>
          <a:noFill/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680960" y="4663440"/>
            <a:ext cx="3931920" cy="0"/>
          </a:xfrm>
          <a:prstGeom prst="line">
            <a:avLst/>
          </a:prstGeom>
          <a:noFill/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680960" y="5376672"/>
            <a:ext cx="3931920" cy="0"/>
          </a:xfrm>
          <a:prstGeom prst="line">
            <a:avLst/>
          </a:prstGeom>
          <a:noFill/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0" b="1" kern="0" spc="200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BlockMed</a:t>
            </a:r>
            <a:endParaRPr lang="en-US" sz="7600" dirty="0"/>
          </a:p>
        </p:txBody>
      </p:sp>
      <p:sp>
        <p:nvSpPr>
          <p:cNvPr id="11" name="Text 9"/>
          <p:cNvSpPr/>
          <p:nvPr/>
        </p:nvSpPr>
        <p:spPr>
          <a:xfrm>
            <a:off x="868680" y="3383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i="1" dirty="0">
                <a:solidFill>
                  <a:srgbClr val="9FE3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Settlement rails for global trade.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68680" y="4160520"/>
            <a:ext cx="2926080" cy="0"/>
          </a:xfrm>
          <a:prstGeom prst="line">
            <a:avLst/>
          </a:prstGeom>
          <a:noFill/>
          <a:ln w="25400">
            <a:solidFill>
              <a:srgbClr val="0E8C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443484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50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Exeter — MSc FinTech Hackathon</a:t>
            </a:r>
            <a:endParaRPr lang="en-US" sz="15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1300" dirty="0">
                <a:solidFill>
                  <a:srgbClr val="8A9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Friday, 30 May 2026  ·  Skydeck Innovation Centre</a:t>
            </a:r>
            <a:endParaRPr lang="en-US" sz="15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1300" dirty="0">
                <a:solidFill>
                  <a:srgbClr val="8A9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Presenters: [team names]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325880"/>
            <a:ext cx="10424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Documentary credit was the financial breakthrough that built global trade.</a:t>
            </a:r>
            <a:endParaRPr lang="en-US" sz="33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33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3300" b="1" dirty="0">
                <a:solidFill>
                  <a:srgbClr val="9FE3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never rebuilt it for the businesses that drive most of it.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22960" y="4160520"/>
            <a:ext cx="3419856" cy="1783080"/>
          </a:xfrm>
          <a:prstGeom prst="rect">
            <a:avLst/>
          </a:prstGeom>
          <a:solidFill>
            <a:srgbClr val="11254A"/>
          </a:solidFill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4160520"/>
            <a:ext cx="64008" cy="1783080"/>
          </a:xfrm>
          <a:prstGeom prst="rect">
            <a:avLst/>
          </a:prstGeom>
          <a:solidFill>
            <a:srgbClr val="0E8C7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51560" y="4361688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E8C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$2.5T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069848" y="5120640"/>
            <a:ext cx="29626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SME trade finance gap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17136" y="4160520"/>
            <a:ext cx="3419856" cy="1783080"/>
          </a:xfrm>
          <a:prstGeom prst="rect">
            <a:avLst/>
          </a:prstGeom>
          <a:solidFill>
            <a:srgbClr val="11254A"/>
          </a:solidFill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17136" y="4160520"/>
            <a:ext cx="64008" cy="1783080"/>
          </a:xfrm>
          <a:prstGeom prst="rect">
            <a:avLst/>
          </a:prstGeom>
          <a:solidFill>
            <a:srgbClr val="C77D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745736" y="4361688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C77D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~45%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764024" y="5120640"/>
            <a:ext cx="29626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trade finance applications rejected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11312" y="4160520"/>
            <a:ext cx="3419856" cy="1783080"/>
          </a:xfrm>
          <a:prstGeom prst="rect">
            <a:avLst/>
          </a:prstGeom>
          <a:solidFill>
            <a:srgbClr val="11254A"/>
          </a:solidFill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211312" y="4160520"/>
            <a:ext cx="64008" cy="1783080"/>
          </a:xfrm>
          <a:prstGeom prst="rect">
            <a:avLst/>
          </a:prstGeom>
          <a:solidFill>
            <a:srgbClr val="1F6F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439912" y="4361688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F6F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8458200" y="5120640"/>
            <a:ext cx="29626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cost on a $10K trade as a $5M trade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64465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E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Asian Development Bank (2025); ICC UCP 600 (2007).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12315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documentary credit rail for SMEs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1183112" cy="1417320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417320"/>
            <a:ext cx="10424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3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BlockMed</a:t>
            </a:r>
            <a:r>
              <a:rPr lang="en-US" sz="2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the documentary credit rail for SMEs — </a:t>
            </a:r>
            <a:r>
              <a:rPr lang="en-US" sz="2300" b="1" dirty="0">
                <a:solidFill>
                  <a:srgbClr val="9FE3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UCP 600 logic, stablecoin settlement, without the issuing bank.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3200400"/>
            <a:ext cx="3584448" cy="274320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2920" y="3200400"/>
            <a:ext cx="3584448" cy="73152"/>
          </a:xfrm>
          <a:prstGeom prst="rect">
            <a:avLst/>
          </a:prstGeom>
          <a:solidFill>
            <a:srgbClr val="5A4FB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520440"/>
            <a:ext cx="548640" cy="548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7240" y="4160520"/>
            <a:ext cx="30358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UCP 600 logic, re-coded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3035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on compliant document presentation — the same legal logic banks use, mirrored in software.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06824" y="3200400"/>
            <a:ext cx="3584448" cy="274320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306824" y="3200400"/>
            <a:ext cx="3584448" cy="73152"/>
          </a:xfrm>
          <a:prstGeom prst="rect">
            <a:avLst/>
          </a:prstGeom>
          <a:solidFill>
            <a:srgbClr val="2C7A3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1144" y="3520440"/>
            <a:ext cx="548640" cy="5486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81144" y="4160520"/>
            <a:ext cx="30358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Stablecoin settlement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4581144" y="4846320"/>
            <a:ext cx="3035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USDC held in escrow and released on presentation. Days, not weeks; no correspondent banking chain.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110728" y="3200400"/>
            <a:ext cx="3584448" cy="274320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8110728" y="3200400"/>
            <a:ext cx="3584448" cy="73152"/>
          </a:xfrm>
          <a:prstGeom prst="rect">
            <a:avLst/>
          </a:prstGeom>
          <a:solidFill>
            <a:srgbClr val="1F6F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5048" y="3520440"/>
            <a:ext cx="548640" cy="5486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385048" y="4160520"/>
            <a:ext cx="30358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Regulated CeFi — not a bank, not DeFi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8385048" y="4846320"/>
            <a:ext cx="3035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centralised operator running KYB, sanctions, verification and dispute layers. We replace one role, not the system.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kern="0" spc="200" dirty="0" err="1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BlockMed</a:t>
            </a:r>
            <a:endParaRPr lang="en-US" sz="850" dirty="0"/>
          </a:p>
        </p:txBody>
      </p:sp>
      <p:sp>
        <p:nvSpPr>
          <p:cNvPr id="22" name="Text 17"/>
          <p:cNvSpPr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 gap bites hardest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463040" y="1874520"/>
            <a:ext cx="4206240" cy="4206240"/>
          </a:xfrm>
          <a:prstGeom prst="ellipse">
            <a:avLst/>
          </a:prstGeom>
          <a:solidFill>
            <a:srgbClr val="DCE6F2"/>
          </a:solidFill>
          <a:ln w="15875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148840" y="2560320"/>
            <a:ext cx="2834640" cy="2834640"/>
          </a:xfrm>
          <a:prstGeom prst="ellipse">
            <a:avLst/>
          </a:prstGeom>
          <a:solidFill>
            <a:srgbClr val="CFE1D9"/>
          </a:solidFill>
          <a:ln w="15875">
            <a:solidFill>
              <a:srgbClr val="0E8C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857500" y="3268980"/>
            <a:ext cx="1417320" cy="1417320"/>
          </a:xfrm>
          <a:prstGeom prst="ellipse">
            <a:avLst/>
          </a:prstGeom>
          <a:solidFill>
            <a:srgbClr val="0E8C7F"/>
          </a:solidFill>
          <a:ln w="15875">
            <a:solidFill>
              <a:srgbClr val="0E8C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463040" y="20116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6F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$2.5T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194560" y="2651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8C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852928" y="3749040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$100–250M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858000" y="2011680"/>
            <a:ext cx="4846320" cy="114300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858000" y="2011680"/>
            <a:ext cx="73152" cy="1143000"/>
          </a:xfrm>
          <a:prstGeom prst="rect">
            <a:avLst/>
          </a:prstGeom>
          <a:solidFill>
            <a:srgbClr val="1F6F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114032" y="215798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0" y="21214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$2.5 trillion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114032" y="261518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SME trade finance gap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858000" y="3291840"/>
            <a:ext cx="4846320" cy="114300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858000" y="3291840"/>
            <a:ext cx="73152" cy="1143000"/>
          </a:xfrm>
          <a:prstGeom prst="rect">
            <a:avLst/>
          </a:prstGeom>
          <a:solidFill>
            <a:srgbClr val="0E8C7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114032" y="343814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12480" y="34015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 billion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114032" y="38953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UAE SME cross-border trade finance gap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858000" y="4572000"/>
            <a:ext cx="4846320" cy="114300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858000" y="4572000"/>
            <a:ext cx="73152" cy="1143000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114032" y="47183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12480" y="468172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$100M – $250M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114032" y="517550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flow processed in years 1–3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858000" y="59893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b="1" i="1" dirty="0">
                <a:solidFill>
                  <a:srgbClr val="0E8C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 gap bites hardest, and where the regulators are most ready.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02920" y="647395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ADB (2025); ICC UAE Trade Finance Gap Report (2020); internal estimate (SOM).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deal, two parties, one rail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 rot="16200000">
            <a:off x="182880" y="1920240"/>
            <a:ext cx="457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 rot="16200000">
            <a:off x="182880" y="4617720"/>
            <a:ext cx="457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77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5800" y="3685032"/>
            <a:ext cx="10817352" cy="457200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3685032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BlockMed</a:t>
            </a:r>
            <a:r>
              <a:rPr lang="en-US" sz="1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escrow + verification + settlement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602943" y="3474720"/>
            <a:ext cx="329184" cy="329184"/>
          </a:xfrm>
          <a:prstGeom prst="ellipse">
            <a:avLst/>
          </a:prstGeom>
          <a:solidFill>
            <a:srgbClr val="0E8C7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602943" y="3474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5528" y="1920240"/>
            <a:ext cx="1944014" cy="9601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41248" y="1920240"/>
            <a:ext cx="18525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terms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" y="4617720"/>
            <a:ext cx="1944014" cy="960120"/>
          </a:xfrm>
          <a:prstGeom prst="rect">
            <a:avLst/>
          </a:prstGeom>
          <a:solidFill>
            <a:srgbClr val="FBF1E2"/>
          </a:solidFill>
          <a:ln w="12700">
            <a:solidFill>
              <a:srgbClr val="C77D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41248" y="4617720"/>
            <a:ext cx="18525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terms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66414" y="3474720"/>
            <a:ext cx="329184" cy="329184"/>
          </a:xfrm>
          <a:prstGeom prst="ellipse">
            <a:avLst/>
          </a:prstGeom>
          <a:solidFill>
            <a:srgbClr val="0E8C7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766414" y="3474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958998" y="1920240"/>
            <a:ext cx="1944014" cy="9601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004718" y="1920240"/>
            <a:ext cx="18525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escrow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958998" y="4617720"/>
            <a:ext cx="1944014" cy="960120"/>
          </a:xfrm>
          <a:prstGeom prst="rect">
            <a:avLst/>
          </a:prstGeom>
          <a:solidFill>
            <a:srgbClr val="FBF1E2"/>
          </a:solidFill>
          <a:ln w="12700">
            <a:solidFill>
              <a:srgbClr val="C77D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004718" y="4617720"/>
            <a:ext cx="18525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goods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29884" y="3474720"/>
            <a:ext cx="329184" cy="329184"/>
          </a:xfrm>
          <a:prstGeom prst="ellipse">
            <a:avLst/>
          </a:prstGeom>
          <a:solidFill>
            <a:srgbClr val="0E8C7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29884" y="3474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122469" y="1920240"/>
            <a:ext cx="1944014" cy="9601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168189" y="1920240"/>
            <a:ext cx="18525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shipment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122469" y="4617720"/>
            <a:ext cx="1944014" cy="960120"/>
          </a:xfrm>
          <a:prstGeom prst="rect">
            <a:avLst/>
          </a:prstGeom>
          <a:solidFill>
            <a:srgbClr val="FBF1E2"/>
          </a:solidFill>
          <a:ln w="12700">
            <a:solidFill>
              <a:srgbClr val="C77D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168189" y="4617720"/>
            <a:ext cx="18525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transit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093354" y="3474720"/>
            <a:ext cx="329184" cy="329184"/>
          </a:xfrm>
          <a:prstGeom prst="ellipse">
            <a:avLst/>
          </a:prstGeom>
          <a:solidFill>
            <a:srgbClr val="0E8C7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093354" y="3474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285939" y="1920240"/>
            <a:ext cx="1944014" cy="960120"/>
          </a:xfrm>
          <a:prstGeom prst="rect">
            <a:avLst/>
          </a:prstGeom>
          <a:solidFill>
            <a:srgbClr val="EAF1F8"/>
          </a:solidFill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331659" y="1920240"/>
            <a:ext cx="18525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Goods received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285939" y="4617720"/>
            <a:ext cx="1944014" cy="960120"/>
          </a:xfrm>
          <a:prstGeom prst="rect">
            <a:avLst/>
          </a:prstGeom>
          <a:solidFill>
            <a:srgbClr val="FBF1E2"/>
          </a:solidFill>
          <a:ln w="12700">
            <a:solidFill>
              <a:srgbClr val="C77D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331659" y="4617720"/>
            <a:ext cx="18525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documents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0256825" y="3474720"/>
            <a:ext cx="329184" cy="329184"/>
          </a:xfrm>
          <a:prstGeom prst="ellipse">
            <a:avLst/>
          </a:prstGeom>
          <a:solidFill>
            <a:srgbClr val="0E8C7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0256825" y="3474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9449410" y="4617720"/>
            <a:ext cx="1944014" cy="960120"/>
          </a:xfrm>
          <a:prstGeom prst="rect">
            <a:avLst/>
          </a:prstGeom>
          <a:solidFill>
            <a:srgbClr val="FBF1E2"/>
          </a:solidFill>
          <a:ln w="12700">
            <a:solidFill>
              <a:srgbClr val="C77D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9495130" y="4617720"/>
            <a:ext cx="18525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payment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02920" y="5806440"/>
            <a:ext cx="11183112" cy="50292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85800" y="580644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chooses tier at intake:  </a:t>
            </a:r>
            <a:r>
              <a:rPr lang="en-US" sz="12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A (eBL — minutes) · Tier B (carrier-verified — hours) · Tier C (paper — days).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kern="0" spc="200" dirty="0" err="1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BlockMed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Model Canvas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772400" y="310896"/>
            <a:ext cx="3913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 err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BlockMed</a:t>
            </a: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Pitch Deck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914400"/>
            <a:ext cx="2686050" cy="2464308"/>
          </a:xfrm>
          <a:prstGeom prst="rect">
            <a:avLst/>
          </a:prstGeom>
          <a:solidFill>
            <a:srgbClr val="F5F3EE"/>
          </a:solidFill>
          <a:ln w="12700">
            <a:solidFill>
              <a:srgbClr val="E2D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2686050" cy="64008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9224" y="1060704"/>
            <a:ext cx="23934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Opportunity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9224" y="1371600"/>
            <a:ext cx="2393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$2.5T SME trade finance gap; ~45% rejection rate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9224" y="1938528"/>
            <a:ext cx="2411730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fixed compliance cost on a $10K trade as $5M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tickets uneconomic for banks at scale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SME trade still on trust, cash, or not at all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UCP 600 credit, stablecoin settlement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3335274" y="914400"/>
            <a:ext cx="2686050" cy="2464308"/>
          </a:xfrm>
          <a:prstGeom prst="rect">
            <a:avLst/>
          </a:prstGeom>
          <a:solidFill>
            <a:srgbClr val="F5F3EE"/>
          </a:solidFill>
          <a:ln w="12700">
            <a:solidFill>
              <a:srgbClr val="E2D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335274" y="914400"/>
            <a:ext cx="2686050" cy="64008"/>
          </a:xfrm>
          <a:prstGeom prst="rect">
            <a:avLst/>
          </a:prstGeom>
          <a:solidFill>
            <a:srgbClr val="5A4F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81578" y="1060704"/>
            <a:ext cx="23934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Description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481578" y="1371600"/>
            <a:ext cx="2393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5A4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centralised operator: escrow + verification + settlement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81578" y="1938528"/>
            <a:ext cx="2411730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Smart-contract escrow against documentary release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Mirrors UCP 600 Article 14 strict-compliance logic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Settles on USDC, not correspondent networks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bank · Not DeFi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6167628" y="914400"/>
            <a:ext cx="2686050" cy="2464308"/>
          </a:xfrm>
          <a:prstGeom prst="rect">
            <a:avLst/>
          </a:prstGeom>
          <a:solidFill>
            <a:srgbClr val="F5F3EE"/>
          </a:solidFill>
          <a:ln w="12700">
            <a:solidFill>
              <a:srgbClr val="E2D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167628" y="914400"/>
            <a:ext cx="2686050" cy="64008"/>
          </a:xfrm>
          <a:prstGeom prst="rect">
            <a:avLst/>
          </a:prstGeom>
          <a:solidFill>
            <a:srgbClr val="1F6F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13932" y="1060704"/>
            <a:ext cx="23934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 Market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313932" y="1371600"/>
            <a:ext cx="2393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importers / exporters: UAE primary, KSA parallel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13932" y="1938528"/>
            <a:ext cx="2411730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Corridors: UAE–India, UAE–Türkiye, KSA–Pakistan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Sectors: textiles, consumer goods, manufacturing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size: $5K–$250K, repeatable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Pain: LC cost, trust gap, fraud, 4–6 week wait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8999982" y="914400"/>
            <a:ext cx="2686050" cy="2464308"/>
          </a:xfrm>
          <a:prstGeom prst="rect">
            <a:avLst/>
          </a:prstGeom>
          <a:solidFill>
            <a:srgbClr val="F5F3EE"/>
          </a:solidFill>
          <a:ln w="12700">
            <a:solidFill>
              <a:srgbClr val="E2D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999982" y="914400"/>
            <a:ext cx="2686050" cy="64008"/>
          </a:xfrm>
          <a:prstGeom prst="rect">
            <a:avLst/>
          </a:prstGeom>
          <a:solidFill>
            <a:srgbClr val="0E8C7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146286" y="1060704"/>
            <a:ext cx="23934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USPs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146286" y="1371600"/>
            <a:ext cx="2393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UCP 600 documentary credit on stablecoin rails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6286" y="1938528"/>
            <a:ext cx="2411730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Six-layer verification moat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Self-pricing tiered model (speed vs cost-of-trust)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Gulf-native: VARA, ADGM, DIFC, PTSR 2024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CeFi: not a bank, not DeFi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502920" y="3525012"/>
            <a:ext cx="2686050" cy="2464308"/>
          </a:xfrm>
          <a:prstGeom prst="rect">
            <a:avLst/>
          </a:prstGeom>
          <a:solidFill>
            <a:srgbClr val="F5F3EE"/>
          </a:solidFill>
          <a:ln w="12700">
            <a:solidFill>
              <a:srgbClr val="E2D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02920" y="3525012"/>
            <a:ext cx="2686050" cy="64008"/>
          </a:xfrm>
          <a:prstGeom prst="rect">
            <a:avLst/>
          </a:prstGeom>
          <a:solidFill>
            <a:srgbClr val="2C7A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49224" y="3671316"/>
            <a:ext cx="23934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49224" y="3982212"/>
            <a:ext cx="2393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2C7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Settlement fee 0.5–1.0% per trade (tiered)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9224" y="4549140"/>
            <a:ext cx="2411730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SaaS / API licensing (P1 → bank white-label P2)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Yield share on idle escrow (P2)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 revenue: $400K–$1.0M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margin: 60–70% blended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3335274" y="3525012"/>
            <a:ext cx="2686050" cy="2464308"/>
          </a:xfrm>
          <a:prstGeom prst="rect">
            <a:avLst/>
          </a:prstGeom>
          <a:solidFill>
            <a:srgbClr val="F5F3EE"/>
          </a:solidFill>
          <a:ln w="12700">
            <a:solidFill>
              <a:srgbClr val="E2D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335274" y="3525012"/>
            <a:ext cx="2686050" cy="64008"/>
          </a:xfrm>
          <a:prstGeom prst="rect">
            <a:avLst/>
          </a:prstGeom>
          <a:solidFill>
            <a:srgbClr val="C77D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481578" y="3671316"/>
            <a:ext cx="23934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3481578" y="3982212"/>
            <a:ext cx="2393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C77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Fixed: engineering, compliance, custody, forensics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481578" y="4549140"/>
            <a:ext cx="2411730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API integrations (DCSA carriers)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Variable: examiner time, courier (Tier C)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Forensics per-doc fee; on-chain gas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KYB / KYC per-onboarding cost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6167628" y="3525012"/>
            <a:ext cx="2686050" cy="2464308"/>
          </a:xfrm>
          <a:prstGeom prst="rect">
            <a:avLst/>
          </a:prstGeom>
          <a:solidFill>
            <a:srgbClr val="F5F3EE"/>
          </a:solidFill>
          <a:ln w="12700">
            <a:solidFill>
              <a:srgbClr val="E2D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167628" y="3525012"/>
            <a:ext cx="2686050" cy="64008"/>
          </a:xfrm>
          <a:prstGeom prst="rect">
            <a:avLst/>
          </a:prstGeom>
          <a:solidFill>
            <a:srgbClr val="1F6F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313932" y="3671316"/>
            <a:ext cx="23934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Channels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313932" y="3982212"/>
            <a:ext cx="2393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Direct: Gulf chambers, freight-forwarder referrals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13932" y="4549140"/>
            <a:ext cx="2411730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DIFC FinTech Hive / ADGM RegLab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events: Gulfood, GITEX, Dubai FinTech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Indirect: white-label verification API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VARA-licensed exchange merchant programmes</a:t>
            </a:r>
            <a:endParaRPr lang="en-US" sz="930" dirty="0"/>
          </a:p>
        </p:txBody>
      </p:sp>
      <p:sp>
        <p:nvSpPr>
          <p:cNvPr id="39" name="Shape 37"/>
          <p:cNvSpPr/>
          <p:nvPr/>
        </p:nvSpPr>
        <p:spPr>
          <a:xfrm>
            <a:off x="8999982" y="3525012"/>
            <a:ext cx="2686050" cy="2464308"/>
          </a:xfrm>
          <a:prstGeom prst="rect">
            <a:avLst/>
          </a:prstGeom>
          <a:solidFill>
            <a:srgbClr val="F5F3EE"/>
          </a:solidFill>
          <a:ln w="12700">
            <a:solidFill>
              <a:srgbClr val="E2D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8999982" y="3525012"/>
            <a:ext cx="2686050" cy="64008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9146286" y="3671316"/>
            <a:ext cx="23934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Competition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9146286" y="3982212"/>
            <a:ext cx="2393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Incumbent banks issuing LCs (HSBC, Emirates NBD)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146286" y="4549140"/>
            <a:ext cx="2411730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Programmable escrow: XREX BitCheck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 rails: Fasset, Circle Payments Network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USPs they hold: trust, scale, speed</a:t>
            </a:r>
            <a:endParaRPr lang="en-US" sz="930" dirty="0"/>
          </a:p>
          <a:p>
            <a:pPr marL="127000" indent="-127000" algn="l">
              <a:lnSpc>
                <a:spcPct val="98000"/>
              </a:lnSpc>
              <a:spcAft>
                <a:spcPts val="200"/>
              </a:spcAft>
              <a:buSzPct val="100000"/>
              <a:buChar char="•"/>
            </a:pPr>
            <a:r>
              <a:rPr lang="en-US" sz="9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combine documentary release + stablecoin</a:t>
            </a:r>
            <a:endParaRPr lang="en-US" sz="930" dirty="0"/>
          </a:p>
        </p:txBody>
      </p:sp>
      <p:sp>
        <p:nvSpPr>
          <p:cNvPr id="44" name="Text 42"/>
          <p:cNvSpPr/>
          <p:nvPr/>
        </p:nvSpPr>
        <p:spPr>
          <a:xfrm>
            <a:off x="502920" y="649224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ADB (2025); ICC UCP 600 (2007); ICC UAE (2020); CBUAE PTSR (2024); XREX (2025); Fintech Global (2026).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1231575" y="64922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0 of a 10-week build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394960" cy="365760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394960" cy="457200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 ·  29 May 2026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4414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 </a:t>
            </a:r>
            <a:r>
              <a:rPr lang="en-US" sz="11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co-founders, roles assigned — CEO, CTO, CFO, COO, CCO, CRO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77240" y="302666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 </a:t>
            </a:r>
            <a:r>
              <a:rPr lang="en-US" sz="11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product spec — Phase 0 escrow + Phase 1 trust / custody / dispute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77240" y="361188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flow  </a:t>
            </a:r>
            <a:r>
              <a:rPr lang="en-US" sz="11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→ verification → settlement → dispute, mapped end-to-end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77240" y="4197096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 </a:t>
            </a:r>
            <a:r>
              <a:rPr lang="en-US" sz="11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tagline, palette, pitch deck (Slides 1–6)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7240" y="478231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signal  </a:t>
            </a:r>
            <a:r>
              <a:rPr lang="en-US" sz="11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Gulf SME counterparty informally confirmed LC pricing and access pain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91072" y="1783080"/>
            <a:ext cx="5394960" cy="3657600"/>
          </a:xfrm>
          <a:prstGeom prst="rect">
            <a:avLst/>
          </a:prstGeom>
          <a:solidFill>
            <a:srgbClr val="E3F1EE"/>
          </a:solidFill>
          <a:ln w="12700">
            <a:solidFill>
              <a:srgbClr val="BBD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291072" y="1783080"/>
            <a:ext cx="5394960" cy="457200"/>
          </a:xfrm>
          <a:prstGeom prst="rect">
            <a:avLst/>
          </a:prstGeom>
          <a:solidFill>
            <a:srgbClr val="0E8C7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519672" y="1783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10 WEEKS  ·  8 Jun – 14 Aug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65392" y="24414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 </a:t>
            </a:r>
            <a:r>
              <a:rPr lang="en-US" sz="11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Smart-contract escrow (testnet), deal intake UI, document review console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65392" y="302666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+ partners  </a:t>
            </a:r>
            <a:r>
              <a:rPr lang="en-US" sz="11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forensics outreach, carrier API research, KYB / KYC scoping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565392" y="361188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 </a:t>
            </a:r>
            <a:r>
              <a:rPr lang="en-US" sz="11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DIFC FinTech Hive / ADGM RegLab exploratory conversations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565392" y="4197096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dev  </a:t>
            </a:r>
            <a:r>
              <a:rPr lang="en-US" sz="11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Gulf chambers, freight-forwarder referrals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565392" y="478231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 </a:t>
            </a:r>
            <a:r>
              <a:rPr lang="en-US" sz="115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project video 14 Aug; individual report 28 Aug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02920" y="5669280"/>
            <a:ext cx="11183112" cy="548640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2920" y="5669280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Foundations are in place. The 10-week build converts specification into demonstrable product.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kern="0" spc="200" dirty="0" err="1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BlockMed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STRATEGY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we play, how we win, why they stay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486400" cy="1993392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73152" cy="1993392"/>
          </a:xfrm>
          <a:prstGeom prst="rect">
            <a:avLst/>
          </a:prstGeom>
          <a:solidFill>
            <a:srgbClr val="0E8C7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2020824"/>
            <a:ext cx="420624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07592" y="200253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· Beachhead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77240" y="2532888"/>
            <a:ext cx="498348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UAE importers of Indian &amp; Türkish textiles, garments, consumer goods</a:t>
            </a:r>
            <a:endParaRPr lang="en-US" sz="1130" dirty="0"/>
          </a:p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$10K–$50K per shipment · 2–4 shipments/year · repeat patterns</a:t>
            </a:r>
            <a:endParaRPr lang="en-US" sz="1130" dirty="0"/>
          </a:p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LC dead zone — too small for banks, too large for trust-only</a:t>
            </a:r>
            <a:endParaRPr lang="en-US" sz="1130" dirty="0"/>
          </a:p>
        </p:txBody>
      </p:sp>
      <p:sp>
        <p:nvSpPr>
          <p:cNvPr id="9" name="Shape 6"/>
          <p:cNvSpPr/>
          <p:nvPr/>
        </p:nvSpPr>
        <p:spPr>
          <a:xfrm>
            <a:off x="6199632" y="1783080"/>
            <a:ext cx="5486400" cy="1993392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199632" y="1783080"/>
            <a:ext cx="73152" cy="1993392"/>
          </a:xfrm>
          <a:prstGeom prst="rect">
            <a:avLst/>
          </a:prstGeom>
          <a:solidFill>
            <a:srgbClr val="1F6F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2020824"/>
            <a:ext cx="420624" cy="42062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004304" y="200253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· GTM motion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473952" y="2532888"/>
            <a:ext cx="498348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Founder-led BD via Gulf freight forwarders</a:t>
            </a:r>
            <a:endParaRPr lang="en-US" sz="1130" dirty="0"/>
          </a:p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Forwarders see the trust gap before banks do</a:t>
            </a:r>
            <a:endParaRPr lang="en-US" sz="1130" dirty="0"/>
          </a:p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 engagement as credibility infrastructure (DIFC / ADGM)</a:t>
            </a:r>
            <a:endParaRPr lang="en-US" sz="1130" dirty="0"/>
          </a:p>
        </p:txBody>
      </p:sp>
      <p:sp>
        <p:nvSpPr>
          <p:cNvPr id="14" name="Shape 10"/>
          <p:cNvSpPr/>
          <p:nvPr/>
        </p:nvSpPr>
        <p:spPr>
          <a:xfrm>
            <a:off x="502920" y="3986784"/>
            <a:ext cx="5486400" cy="1993392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502920" y="3986784"/>
            <a:ext cx="73152" cy="1993392"/>
          </a:xfrm>
          <a:prstGeom prst="rect">
            <a:avLst/>
          </a:prstGeom>
          <a:solidFill>
            <a:srgbClr val="C77D1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2" y="4224528"/>
            <a:ext cx="420624" cy="42062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07592" y="42062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· Acquisition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777240" y="4736592"/>
            <a:ext cx="498348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deal only: 50% off settlement fee</a:t>
            </a:r>
            <a:endParaRPr lang="en-US" sz="1130" dirty="0"/>
          </a:p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Founder-led white-glove onboarding for first 10 customers</a:t>
            </a:r>
            <a:endParaRPr lang="en-US" sz="1130" dirty="0"/>
          </a:p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pricing from deal #2 — no discount escalator</a:t>
            </a:r>
            <a:endParaRPr lang="en-US" sz="1130" dirty="0"/>
          </a:p>
        </p:txBody>
      </p:sp>
      <p:sp>
        <p:nvSpPr>
          <p:cNvPr id="19" name="Shape 14"/>
          <p:cNvSpPr/>
          <p:nvPr/>
        </p:nvSpPr>
        <p:spPr>
          <a:xfrm>
            <a:off x="6199632" y="3986784"/>
            <a:ext cx="5486400" cy="1993392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6199632" y="3986784"/>
            <a:ext cx="73152" cy="1993392"/>
          </a:xfrm>
          <a:prstGeom prst="rect">
            <a:avLst/>
          </a:prstGeom>
          <a:solidFill>
            <a:srgbClr val="2C7A3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5664" y="4224528"/>
            <a:ext cx="420624" cy="42062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004304" y="42062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· Retention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6473952" y="4736592"/>
            <a:ext cx="498348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KYB done once, reused — onboarding friction → zero</a:t>
            </a:r>
            <a:endParaRPr lang="en-US" sz="1130" dirty="0"/>
          </a:p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counterparty status travels across deals</a:t>
            </a:r>
            <a:endParaRPr lang="en-US" sz="1130" dirty="0"/>
          </a:p>
          <a:p>
            <a:pPr marL="152400" indent="-152400" algn="l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13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templates + eBL speed advantage compound</a:t>
            </a:r>
            <a:endParaRPr lang="en-US" sz="1130" dirty="0"/>
          </a:p>
        </p:txBody>
      </p:sp>
      <p:sp>
        <p:nvSpPr>
          <p:cNvPr id="24" name="Text 18"/>
          <p:cNvSpPr/>
          <p:nvPr/>
        </p:nvSpPr>
        <p:spPr>
          <a:xfrm>
            <a:off x="50292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0E8C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Narrow corridor, sharp wedge, founder-led learning loop.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kern="0" spc="200" dirty="0" err="1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BlockMed</a:t>
            </a:r>
            <a:endParaRPr lang="en-US" sz="850" dirty="0"/>
          </a:p>
        </p:txBody>
      </p:sp>
      <p:sp>
        <p:nvSpPr>
          <p:cNvPr id="26" name="Text 20"/>
          <p:cNvSpPr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ANALYSIS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compare, and what nobody else does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4023360" cy="420624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76072" y="1783080"/>
            <a:ext cx="3877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26280" y="1783080"/>
            <a:ext cx="1417320" cy="420624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99432" y="1783080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943600" y="1783080"/>
            <a:ext cx="1417320" cy="420624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016752" y="1783080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XREX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60920" y="1783080"/>
            <a:ext cx="2148840" cy="420624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434072" y="1783080"/>
            <a:ext cx="20025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 rails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9509760" y="1783080"/>
            <a:ext cx="1828800" cy="420624"/>
          </a:xfrm>
          <a:prstGeom prst="rect">
            <a:avLst/>
          </a:prstGeom>
          <a:solidFill>
            <a:srgbClr val="0E8C7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582912" y="1783080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2203704"/>
            <a:ext cx="40233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76072" y="2203704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Documentary release (UCP 600)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26280" y="2203704"/>
            <a:ext cx="1417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99432" y="2203704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943600" y="2203704"/>
            <a:ext cx="1417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016752" y="2203704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60920" y="2203704"/>
            <a:ext cx="21488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434072" y="2203704"/>
            <a:ext cx="2002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509760" y="2203704"/>
            <a:ext cx="1828800" cy="384048"/>
          </a:xfrm>
          <a:prstGeom prst="rect">
            <a:avLst/>
          </a:prstGeom>
          <a:solidFill>
            <a:srgbClr val="E3F1EE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582912" y="2203704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2587752"/>
            <a:ext cx="4023360" cy="384048"/>
          </a:xfrm>
          <a:prstGeom prst="rect">
            <a:avLst/>
          </a:prstGeom>
          <a:solidFill>
            <a:srgbClr val="EEF2F8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76072" y="258775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 settlement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26280" y="2587752"/>
            <a:ext cx="1417320" cy="384048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599432" y="2587752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943600" y="2587752"/>
            <a:ext cx="1417320" cy="384048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016752" y="2587752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360920" y="2587752"/>
            <a:ext cx="2148840" cy="384048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434072" y="2587752"/>
            <a:ext cx="2002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509760" y="2587752"/>
            <a:ext cx="1828800" cy="384048"/>
          </a:xfrm>
          <a:prstGeom prst="rect">
            <a:avLst/>
          </a:prstGeom>
          <a:solidFill>
            <a:srgbClr val="E3F1EE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9582912" y="2587752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02920" y="2971800"/>
            <a:ext cx="40233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76072" y="2971800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ticket sizes ($5K–$250K)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26280" y="2971800"/>
            <a:ext cx="1417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599432" y="2971800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943600" y="2971800"/>
            <a:ext cx="1417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016752" y="2971800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7360920" y="2971800"/>
            <a:ext cx="21488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7434072" y="2971800"/>
            <a:ext cx="2002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509760" y="2971800"/>
            <a:ext cx="1828800" cy="384048"/>
          </a:xfrm>
          <a:prstGeom prst="rect">
            <a:avLst/>
          </a:prstGeom>
          <a:solidFill>
            <a:srgbClr val="E3F1EE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9582912" y="2971800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02920" y="3355848"/>
            <a:ext cx="4023360" cy="384048"/>
          </a:xfrm>
          <a:prstGeom prst="rect">
            <a:avLst/>
          </a:prstGeom>
          <a:solidFill>
            <a:srgbClr val="EEF2F8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76072" y="3355848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verification stack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526280" y="3355848"/>
            <a:ext cx="1417320" cy="384048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599432" y="3355848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943600" y="3355848"/>
            <a:ext cx="1417320" cy="384048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6016752" y="3355848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7360920" y="3355848"/>
            <a:ext cx="2148840" cy="384048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7434072" y="3355848"/>
            <a:ext cx="2002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9509760" y="3355848"/>
            <a:ext cx="1828800" cy="384048"/>
          </a:xfrm>
          <a:prstGeom prst="rect">
            <a:avLst/>
          </a:prstGeom>
          <a:solidFill>
            <a:srgbClr val="E3F1EE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9582912" y="3355848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502920" y="3739896"/>
            <a:ext cx="40233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576072" y="3739896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dispute path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4526280" y="3739896"/>
            <a:ext cx="1417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4599432" y="3739896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5943600" y="3739896"/>
            <a:ext cx="1417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6016752" y="3739896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C77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7360920" y="3739896"/>
            <a:ext cx="21488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7434072" y="3739896"/>
            <a:ext cx="2002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9509760" y="3739896"/>
            <a:ext cx="1828800" cy="384048"/>
          </a:xfrm>
          <a:prstGeom prst="rect">
            <a:avLst/>
          </a:prstGeom>
          <a:solidFill>
            <a:srgbClr val="E3F1EE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9582912" y="3739896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502920" y="4123944"/>
            <a:ext cx="4023360" cy="384048"/>
          </a:xfrm>
          <a:prstGeom prst="rect">
            <a:avLst/>
          </a:prstGeom>
          <a:solidFill>
            <a:srgbClr val="EEF2F8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576072" y="4123944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Gulf-native regulatory fit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4526280" y="4123944"/>
            <a:ext cx="1417320" cy="384048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4599432" y="4123944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C77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5943600" y="4123944"/>
            <a:ext cx="1417320" cy="384048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6016752" y="4123944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7360920" y="4123944"/>
            <a:ext cx="2148840" cy="384048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7434072" y="4123944"/>
            <a:ext cx="2002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C77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9509760" y="4123944"/>
            <a:ext cx="1828800" cy="384048"/>
          </a:xfrm>
          <a:prstGeom prst="rect">
            <a:avLst/>
          </a:prstGeom>
          <a:solidFill>
            <a:srgbClr val="E3F1EE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9582912" y="4123944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502920" y="4507992"/>
            <a:ext cx="40233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576072" y="450799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(eBL tier)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4526280" y="4507992"/>
            <a:ext cx="1417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4599432" y="4507992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5943600" y="4507992"/>
            <a:ext cx="1417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6016752" y="4507992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mins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7360920" y="4507992"/>
            <a:ext cx="214884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7434072" y="4507992"/>
            <a:ext cx="2002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mins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9509760" y="4507992"/>
            <a:ext cx="1828800" cy="384048"/>
          </a:xfrm>
          <a:prstGeom prst="rect">
            <a:avLst/>
          </a:prstGeom>
          <a:solidFill>
            <a:srgbClr val="E3F1EE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9582912" y="4507992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mins</a:t>
            </a:r>
            <a:endParaRPr lang="en-US" sz="1200" dirty="0"/>
          </a:p>
        </p:txBody>
      </p:sp>
      <p:sp>
        <p:nvSpPr>
          <p:cNvPr id="84" name="Text 82"/>
          <p:cNvSpPr/>
          <p:nvPr/>
        </p:nvSpPr>
        <p:spPr>
          <a:xfrm>
            <a:off x="502920" y="5074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SIX-LAYER VERIFICATION STACK — THE OPERATIONAL MOAT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502920" y="5413248"/>
            <a:ext cx="1801368" cy="777240"/>
          </a:xfrm>
          <a:prstGeom prst="rect">
            <a:avLst/>
          </a:prstGeom>
          <a:solidFill>
            <a:srgbClr val="F4F6FA"/>
          </a:solidFill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4"/>
          <p:cNvSpPr/>
          <p:nvPr/>
        </p:nvSpPr>
        <p:spPr>
          <a:xfrm>
            <a:off x="612648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6F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87" name="Text 85"/>
          <p:cNvSpPr/>
          <p:nvPr/>
        </p:nvSpPr>
        <p:spPr>
          <a:xfrm>
            <a:off x="1005840" y="5522976"/>
            <a:ext cx="125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intake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1005840" y="583387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A/B/C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2249424" y="5413248"/>
            <a:ext cx="146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0" name="Shape 88"/>
          <p:cNvSpPr/>
          <p:nvPr/>
        </p:nvSpPr>
        <p:spPr>
          <a:xfrm>
            <a:off x="2350008" y="5413248"/>
            <a:ext cx="1801368" cy="777240"/>
          </a:xfrm>
          <a:prstGeom prst="rect">
            <a:avLst/>
          </a:prstGeom>
          <a:solidFill>
            <a:srgbClr val="EAF1F8"/>
          </a:solidFill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Text 89"/>
          <p:cNvSpPr/>
          <p:nvPr/>
        </p:nvSpPr>
        <p:spPr>
          <a:xfrm>
            <a:off x="2459736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6F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92" name="Text 90"/>
          <p:cNvSpPr/>
          <p:nvPr/>
        </p:nvSpPr>
        <p:spPr>
          <a:xfrm>
            <a:off x="2852928" y="5522976"/>
            <a:ext cx="125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+ rules</a:t>
            </a:r>
            <a:endParaRPr lang="en-US" sz="1100" dirty="0"/>
          </a:p>
        </p:txBody>
      </p:sp>
      <p:sp>
        <p:nvSpPr>
          <p:cNvPr id="93" name="Text 91"/>
          <p:cNvSpPr/>
          <p:nvPr/>
        </p:nvSpPr>
        <p:spPr>
          <a:xfrm>
            <a:off x="2852928" y="583387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4096512" y="5413248"/>
            <a:ext cx="146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5" name="Shape 93"/>
          <p:cNvSpPr/>
          <p:nvPr/>
        </p:nvSpPr>
        <p:spPr>
          <a:xfrm>
            <a:off x="4197096" y="5413248"/>
            <a:ext cx="1801368" cy="777240"/>
          </a:xfrm>
          <a:prstGeom prst="rect">
            <a:avLst/>
          </a:prstGeom>
          <a:solidFill>
            <a:srgbClr val="F4F6FA"/>
          </a:solidFill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Text 94"/>
          <p:cNvSpPr/>
          <p:nvPr/>
        </p:nvSpPr>
        <p:spPr>
          <a:xfrm>
            <a:off x="4306824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6F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97" name="Text 95"/>
          <p:cNvSpPr/>
          <p:nvPr/>
        </p:nvSpPr>
        <p:spPr>
          <a:xfrm>
            <a:off x="4700016" y="5522976"/>
            <a:ext cx="125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API</a:t>
            </a:r>
            <a:endParaRPr lang="en-US" sz="1100" dirty="0"/>
          </a:p>
        </p:txBody>
      </p:sp>
      <p:sp>
        <p:nvSpPr>
          <p:cNvPr id="98" name="Text 96"/>
          <p:cNvSpPr/>
          <p:nvPr/>
        </p:nvSpPr>
        <p:spPr>
          <a:xfrm>
            <a:off x="4700016" y="583387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5943600" y="5413248"/>
            <a:ext cx="146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0" name="Shape 98"/>
          <p:cNvSpPr/>
          <p:nvPr/>
        </p:nvSpPr>
        <p:spPr>
          <a:xfrm>
            <a:off x="6044184" y="5413248"/>
            <a:ext cx="1801368" cy="777240"/>
          </a:xfrm>
          <a:prstGeom prst="rect">
            <a:avLst/>
          </a:prstGeom>
          <a:solidFill>
            <a:srgbClr val="EAF1F8"/>
          </a:solidFill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6153912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6F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900" dirty="0"/>
          </a:p>
        </p:txBody>
      </p:sp>
      <p:sp>
        <p:nvSpPr>
          <p:cNvPr id="102" name="Text 100"/>
          <p:cNvSpPr/>
          <p:nvPr/>
        </p:nvSpPr>
        <p:spPr>
          <a:xfrm>
            <a:off x="6547104" y="5522976"/>
            <a:ext cx="125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examiner</a:t>
            </a:r>
            <a:endParaRPr lang="en-US" sz="1100" dirty="0"/>
          </a:p>
        </p:txBody>
      </p:sp>
      <p:sp>
        <p:nvSpPr>
          <p:cNvPr id="103" name="Text 101"/>
          <p:cNvSpPr/>
          <p:nvPr/>
        </p:nvSpPr>
        <p:spPr>
          <a:xfrm>
            <a:off x="6547104" y="583387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day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7790688" y="5413248"/>
            <a:ext cx="146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5" name="Shape 103"/>
          <p:cNvSpPr/>
          <p:nvPr/>
        </p:nvSpPr>
        <p:spPr>
          <a:xfrm>
            <a:off x="7891272" y="5413248"/>
            <a:ext cx="1801368" cy="777240"/>
          </a:xfrm>
          <a:prstGeom prst="rect">
            <a:avLst/>
          </a:prstGeom>
          <a:solidFill>
            <a:srgbClr val="F4F6FA"/>
          </a:solidFill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Text 104"/>
          <p:cNvSpPr/>
          <p:nvPr/>
        </p:nvSpPr>
        <p:spPr>
          <a:xfrm>
            <a:off x="8001000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6F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900" dirty="0"/>
          </a:p>
        </p:txBody>
      </p:sp>
      <p:sp>
        <p:nvSpPr>
          <p:cNvPr id="107" name="Text 105"/>
          <p:cNvSpPr/>
          <p:nvPr/>
        </p:nvSpPr>
        <p:spPr>
          <a:xfrm>
            <a:off x="8394192" y="5522976"/>
            <a:ext cx="125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DB</a:t>
            </a:r>
            <a:endParaRPr lang="en-US" sz="1100" dirty="0"/>
          </a:p>
        </p:txBody>
      </p:sp>
      <p:sp>
        <p:nvSpPr>
          <p:cNvPr id="108" name="Text 106"/>
          <p:cNvSpPr/>
          <p:nvPr/>
        </p:nvSpPr>
        <p:spPr>
          <a:xfrm>
            <a:off x="8394192" y="583387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</a:t>
            </a:r>
            <a:endParaRPr lang="en-US" sz="950" dirty="0"/>
          </a:p>
        </p:txBody>
      </p:sp>
      <p:sp>
        <p:nvSpPr>
          <p:cNvPr id="109" name="Text 107"/>
          <p:cNvSpPr/>
          <p:nvPr/>
        </p:nvSpPr>
        <p:spPr>
          <a:xfrm>
            <a:off x="9637776" y="5413248"/>
            <a:ext cx="146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10" name="Shape 108"/>
          <p:cNvSpPr/>
          <p:nvPr/>
        </p:nvSpPr>
        <p:spPr>
          <a:xfrm>
            <a:off x="9738360" y="5413248"/>
            <a:ext cx="1801368" cy="777240"/>
          </a:xfrm>
          <a:prstGeom prst="rect">
            <a:avLst/>
          </a:prstGeom>
          <a:solidFill>
            <a:srgbClr val="EAF1F8"/>
          </a:solidFill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Text 109"/>
          <p:cNvSpPr/>
          <p:nvPr/>
        </p:nvSpPr>
        <p:spPr>
          <a:xfrm>
            <a:off x="9848088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6F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900" dirty="0"/>
          </a:p>
        </p:txBody>
      </p:sp>
      <p:sp>
        <p:nvSpPr>
          <p:cNvPr id="112" name="Text 110"/>
          <p:cNvSpPr/>
          <p:nvPr/>
        </p:nvSpPr>
        <p:spPr>
          <a:xfrm>
            <a:off x="10241280" y="5522976"/>
            <a:ext cx="1252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Forensics</a:t>
            </a:r>
            <a:endParaRPr lang="en-US" sz="1100" dirty="0"/>
          </a:p>
        </p:txBody>
      </p:sp>
      <p:sp>
        <p:nvSpPr>
          <p:cNvPr id="113" name="Text 111"/>
          <p:cNvSpPr/>
          <p:nvPr/>
        </p:nvSpPr>
        <p:spPr>
          <a:xfrm>
            <a:off x="10241280" y="583387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days</a:t>
            </a:r>
            <a:endParaRPr lang="en-US" sz="950" dirty="0"/>
          </a:p>
        </p:txBody>
      </p:sp>
      <p:sp>
        <p:nvSpPr>
          <p:cNvPr id="114" name="Text 112"/>
          <p:cNvSpPr/>
          <p:nvPr/>
        </p:nvSpPr>
        <p:spPr>
          <a:xfrm>
            <a:off x="502920" y="647395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i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competitor crosses all six layers — or combines documentary release with stablecoin settlement.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PROJECTIONS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Three-year base case, with ranges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2743200" cy="420624"/>
          </a:xfrm>
          <a:prstGeom prst="rect">
            <a:avLst/>
          </a:prstGeom>
          <a:solidFill>
            <a:srgbClr val="0B1B3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76072" y="178308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246120" y="1783080"/>
            <a:ext cx="1325880" cy="420624"/>
          </a:xfrm>
          <a:prstGeom prst="rect">
            <a:avLst/>
          </a:prstGeom>
          <a:solidFill>
            <a:srgbClr val="0B1B3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319272" y="1783080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0" y="1783080"/>
            <a:ext cx="1325880" cy="420624"/>
          </a:xfrm>
          <a:prstGeom prst="rect">
            <a:avLst/>
          </a:prstGeom>
          <a:solidFill>
            <a:srgbClr val="0B1B3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645152" y="1783080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897880" y="1783080"/>
            <a:ext cx="1417320" cy="420624"/>
          </a:xfrm>
          <a:prstGeom prst="rect">
            <a:avLst/>
          </a:prstGeom>
          <a:solidFill>
            <a:srgbClr val="0B1B3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71032" y="1783080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2203704"/>
            <a:ext cx="274320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76072" y="2203704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customers (EOY)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46120" y="2203704"/>
            <a:ext cx="132588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319272" y="2203704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15–25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2203704"/>
            <a:ext cx="132588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45152" y="2203704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75–150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897880" y="2203704"/>
            <a:ext cx="141732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971032" y="2203704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250–450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2624328"/>
            <a:ext cx="27432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76072" y="2624328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processed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46120" y="2624328"/>
            <a:ext cx="13258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319272" y="2624328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25–55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0" y="2624328"/>
            <a:ext cx="13258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645152" y="2624328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200–400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897880" y="2624328"/>
            <a:ext cx="14173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71032" y="2624328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800–1,600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02920" y="3044952"/>
            <a:ext cx="274320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76072" y="3044952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ticket size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246120" y="3044952"/>
            <a:ext cx="132588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319272" y="3044952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$25K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0" y="3044952"/>
            <a:ext cx="132588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645152" y="3044952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$35K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897880" y="3044952"/>
            <a:ext cx="141732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971032" y="3044952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$50K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" y="3465576"/>
            <a:ext cx="2743200" cy="420624"/>
          </a:xfrm>
          <a:prstGeom prst="rect">
            <a:avLst/>
          </a:prstGeom>
          <a:solidFill>
            <a:srgbClr val="E3F1EE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76072" y="3465576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246120" y="3465576"/>
            <a:ext cx="1325880" cy="420624"/>
          </a:xfrm>
          <a:prstGeom prst="rect">
            <a:avLst/>
          </a:prstGeom>
          <a:solidFill>
            <a:srgbClr val="E3F1EE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3319272" y="3465576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$5–35K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0" y="3465576"/>
            <a:ext cx="1325880" cy="420624"/>
          </a:xfrm>
          <a:prstGeom prst="rect">
            <a:avLst/>
          </a:prstGeom>
          <a:solidFill>
            <a:srgbClr val="E3F1EE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645152" y="3465576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$95–195K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897880" y="3465576"/>
            <a:ext cx="1417320" cy="420624"/>
          </a:xfrm>
          <a:prstGeom prst="rect">
            <a:avLst/>
          </a:prstGeom>
          <a:solidFill>
            <a:srgbClr val="E3F1EE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971032" y="3465576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5F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$390–990K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02920" y="3886200"/>
            <a:ext cx="274320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76072" y="3886200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opex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246120" y="3886200"/>
            <a:ext cx="132588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3319272" y="3886200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$155–260K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572000" y="3886200"/>
            <a:ext cx="132588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645152" y="3886200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$475–735K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5897880" y="3886200"/>
            <a:ext cx="1417320" cy="420624"/>
          </a:xfrm>
          <a:prstGeom prst="rect">
            <a:avLst/>
          </a:prstGeom>
          <a:solidFill>
            <a:srgbClr val="F4F6FA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5971032" y="3886200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$1.1–1.7M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02920" y="4306824"/>
            <a:ext cx="27432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576072" y="4306824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3246120" y="4306824"/>
            <a:ext cx="13258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3319272" y="4306824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60–70%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4572000" y="4306824"/>
            <a:ext cx="13258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4645152" y="4306824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60–70%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5897880" y="4306824"/>
            <a:ext cx="14173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5971032" y="4306824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65–75%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02920" y="4727448"/>
            <a:ext cx="2743200" cy="420624"/>
          </a:xfrm>
          <a:prstGeom prst="rect">
            <a:avLst/>
          </a:prstGeom>
          <a:solidFill>
            <a:srgbClr val="FBF1E2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576072" y="4727448"/>
            <a:ext cx="2596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77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3246120" y="4727448"/>
            <a:ext cx="1325880" cy="420624"/>
          </a:xfrm>
          <a:prstGeom prst="rect">
            <a:avLst/>
          </a:prstGeom>
          <a:solidFill>
            <a:srgbClr val="FBF1E2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3319272" y="4727448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77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−$120–255K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4572000" y="4727448"/>
            <a:ext cx="1325880" cy="420624"/>
          </a:xfrm>
          <a:prstGeom prst="rect">
            <a:avLst/>
          </a:prstGeom>
          <a:solidFill>
            <a:srgbClr val="FBF1E2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4645152" y="4727448"/>
            <a:ext cx="1179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77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−$280–640K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5897880" y="4727448"/>
            <a:ext cx="1417320" cy="420624"/>
          </a:xfrm>
          <a:prstGeom prst="rect">
            <a:avLst/>
          </a:prstGeom>
          <a:solidFill>
            <a:srgbClr val="FBF1E2"/>
          </a:solidFill>
          <a:ln w="9525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5971032" y="4727448"/>
            <a:ext cx="1271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77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−$120K–1.3M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7406640" y="17830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2C7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 — BASE-CASE MIDPOINT ($K)</a:t>
            </a:r>
            <a:endParaRPr lang="en-US" sz="1050" dirty="0"/>
          </a:p>
        </p:txBody>
      </p:sp>
      <p:graphicFrame>
        <p:nvGraphicFramePr>
          <p:cNvPr id="69" name="Chart 0"/>
          <p:cNvGraphicFramePr/>
          <p:nvPr/>
        </p:nvGraphicFramePr>
        <p:xfrm>
          <a:off x="7315200" y="2103120"/>
          <a:ext cx="443484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0" name="Shape 67"/>
          <p:cNvSpPr/>
          <p:nvPr/>
        </p:nvSpPr>
        <p:spPr>
          <a:xfrm>
            <a:off x="502920" y="5257800"/>
            <a:ext cx="11183112" cy="96012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8"/>
          <p:cNvSpPr/>
          <p:nvPr/>
        </p:nvSpPr>
        <p:spPr>
          <a:xfrm>
            <a:off x="731520" y="5257800"/>
            <a:ext cx="10789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 </a:t>
            </a:r>
            <a:r>
              <a:rPr lang="en-US" sz="13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2029 – Q1 2030 (Month 36–48)        </a:t>
            </a:r>
            <a:r>
              <a:rPr lang="en-US" sz="13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loss to break-even  </a:t>
            </a:r>
            <a:r>
              <a:rPr lang="en-US" sz="13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~$1.3–1.7M        </a:t>
            </a:r>
            <a:r>
              <a:rPr lang="en-US" sz="13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funding need  </a:t>
            </a:r>
            <a:r>
              <a:rPr lang="en-US" sz="1300" b="1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$1.8–2.2M</a:t>
            </a:r>
            <a:endParaRPr lang="en-US" sz="1300" dirty="0"/>
          </a:p>
        </p:txBody>
      </p:sp>
      <p:sp>
        <p:nvSpPr>
          <p:cNvPr id="72" name="Text 69"/>
          <p:cNvSpPr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internal financial model (base case, revised 29 May 2026).</a:t>
            </a:r>
            <a:endParaRPr lang="en-US" sz="850" dirty="0"/>
          </a:p>
        </p:txBody>
      </p:sp>
      <p:sp>
        <p:nvSpPr>
          <p:cNvPr id="73" name="Text 70"/>
          <p:cNvSpPr/>
          <p:nvPr/>
        </p:nvSpPr>
        <p:spPr>
          <a:xfrm>
            <a:off x="11231575" y="64922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co-founders, six mandates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3584448" cy="173736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2057400"/>
            <a:ext cx="777240" cy="777240"/>
          </a:xfrm>
          <a:prstGeom prst="ellipse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2057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CEO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91640" y="2130552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2496312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Executive Officer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2990088"/>
            <a:ext cx="3081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[Background: academic + professional + key skill]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06824" y="1783080"/>
            <a:ext cx="3584448" cy="173736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81144" y="2057400"/>
            <a:ext cx="777240" cy="777240"/>
          </a:xfrm>
          <a:prstGeom prst="ellipse">
            <a:avLst/>
          </a:prstGeom>
          <a:solidFill>
            <a:srgbClr val="1F6F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81144" y="2057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CTO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495544" y="2130552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95544" y="2496312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Technology Officer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81144" y="2990088"/>
            <a:ext cx="3081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[Background: academic + professional + key skill]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10728" y="1783080"/>
            <a:ext cx="3584448" cy="173736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385048" y="2057400"/>
            <a:ext cx="777240" cy="777240"/>
          </a:xfrm>
          <a:prstGeom prst="ellipse">
            <a:avLst/>
          </a:prstGeom>
          <a:solidFill>
            <a:srgbClr val="2C7A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385048" y="2057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CFO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299448" y="2130552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299448" y="2496312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7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Financial Officer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385048" y="2990088"/>
            <a:ext cx="3081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[Background: academic + professional + key skill]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3721608"/>
            <a:ext cx="3584448" cy="173736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77240" y="3995928"/>
            <a:ext cx="777240" cy="777240"/>
          </a:xfrm>
          <a:prstGeom prst="ellipse">
            <a:avLst/>
          </a:prstGeom>
          <a:solidFill>
            <a:srgbClr val="C77D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77240" y="399592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COO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691640" y="406908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691640" y="4434840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77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Operating Officer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77240" y="4928616"/>
            <a:ext cx="3081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[Background: academic + professional + key skill]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306824" y="3721608"/>
            <a:ext cx="3584448" cy="173736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581144" y="3995928"/>
            <a:ext cx="777240" cy="777240"/>
          </a:xfrm>
          <a:prstGeom prst="ellipse">
            <a:avLst/>
          </a:prstGeom>
          <a:solidFill>
            <a:srgbClr val="5A4F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581144" y="399592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CCO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5495544" y="406908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495544" y="4434840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A4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Compliance Officer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81144" y="4928616"/>
            <a:ext cx="3081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[Background: academic + professional + key skill]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110728" y="3721608"/>
            <a:ext cx="3584448" cy="173736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8385048" y="3995928"/>
            <a:ext cx="777240" cy="777240"/>
          </a:xfrm>
          <a:prstGeom prst="ellipse">
            <a:avLst/>
          </a:prstGeom>
          <a:solidFill>
            <a:srgbClr val="0E8C7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8385048" y="399592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9299448" y="406908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9299448" y="4434840"/>
            <a:ext cx="221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Revenue Officer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385048" y="4928616"/>
            <a:ext cx="3081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[Background: academic + professional + key skill]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02920" y="5669280"/>
            <a:ext cx="11183112" cy="548640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02920" y="5669280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role earns its seat. Each founder has skin in the game.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kern="0" spc="200" dirty="0" err="1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BlockMed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FUNDS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$2M gets us to break-even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02920" y="1783080"/>
          <a:ext cx="44805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1691640" y="33375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$2M</a:t>
            </a:r>
            <a:endParaRPr lang="en-US" sz="30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 36 months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349240" y="1810512"/>
            <a:ext cx="6336792" cy="786384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5349240" y="1810512"/>
            <a:ext cx="73152" cy="786384"/>
          </a:xfrm>
          <a:prstGeom prst="rect">
            <a:avLst/>
          </a:prstGeom>
          <a:solidFill>
            <a:srgbClr val="0E8C7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577840" y="190195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Engineering &amp; product build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577840" y="221284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 + engineering; escrow, intake UI, review console, OCR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9720072" y="192024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0634472" y="19202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$800K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349240" y="2633472"/>
            <a:ext cx="6336792" cy="786384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349240" y="2633472"/>
            <a:ext cx="73152" cy="786384"/>
          </a:xfrm>
          <a:prstGeom prst="rect">
            <a:avLst/>
          </a:prstGeom>
          <a:solidFill>
            <a:srgbClr val="0B1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577840" y="272491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Operations, people &amp; G&amp;A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577840" y="30358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CEO/CFO/COO/CCO/CRO salaries; HR, legal entity, tooling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9720072" y="274320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B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0634472" y="27432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$440K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5349240" y="3456432"/>
            <a:ext cx="6336792" cy="786384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5349240" y="3456432"/>
            <a:ext cx="73152" cy="786384"/>
          </a:xfrm>
          <a:prstGeom prst="rect">
            <a:avLst/>
          </a:prstGeom>
          <a:solidFill>
            <a:srgbClr val="5A4F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5577840" y="354787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Compliance, legal &amp; regulatory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577840" y="3858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KYB/KYC, sanctions, DIFC/ADGM counsel, forensics retainer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9720072" y="356616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5A4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0634472" y="35661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$360K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5349240" y="4279392"/>
            <a:ext cx="6336792" cy="786384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5349240" y="4279392"/>
            <a:ext cx="73152" cy="786384"/>
          </a:xfrm>
          <a:prstGeom prst="rect">
            <a:avLst/>
          </a:prstGeom>
          <a:solidFill>
            <a:srgbClr val="C77D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5577840" y="437083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GTM &amp; customer acquisition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5577840" y="46817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Founder-led BD, chambers, trade events, pilot incentives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9720072" y="438912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C77D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10634472" y="43891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$300K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5349240" y="5102352"/>
            <a:ext cx="6336792" cy="786384"/>
          </a:xfrm>
          <a:prstGeom prst="rect">
            <a:avLst/>
          </a:prstGeom>
          <a:solidFill>
            <a:srgbClr val="F4F6FA"/>
          </a:solidFill>
          <a:ln w="12700">
            <a:solidFill>
              <a:srgbClr val="DCE6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8"/>
          <p:cNvSpPr/>
          <p:nvPr/>
        </p:nvSpPr>
        <p:spPr>
          <a:xfrm>
            <a:off x="5349240" y="5102352"/>
            <a:ext cx="73152" cy="786384"/>
          </a:xfrm>
          <a:prstGeom prst="rect">
            <a:avLst/>
          </a:prstGeom>
          <a:solidFill>
            <a:srgbClr val="2C7A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5577840" y="519379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Working capital + contingency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5577840" y="55046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2A2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6-month buffer; FX, on-chain gas, integration costs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9720072" y="521208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2C7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10634472" y="52120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B1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$100K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50292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0E8C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$2M, 36 months, six categories. Each dollar tied to a milestone.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50292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50" kern="0" spc="200" dirty="0" err="1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BlockMed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8C7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914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capital to build the documentary credit rail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1783080"/>
            <a:ext cx="3419856" cy="1371600"/>
          </a:xfrm>
          <a:prstGeom prst="rect">
            <a:avLst/>
          </a:prstGeom>
          <a:solidFill>
            <a:srgbClr val="11254A"/>
          </a:solidFill>
          <a:ln w="15875">
            <a:solidFill>
              <a:srgbClr val="0E8C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947672"/>
            <a:ext cx="3419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9FE3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$2M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round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17136" y="1783080"/>
            <a:ext cx="3419856" cy="1371600"/>
          </a:xfrm>
          <a:prstGeom prst="rect">
            <a:avLst/>
          </a:prstGeom>
          <a:solidFill>
            <a:srgbClr val="11254A"/>
          </a:solidFill>
          <a:ln w="15875">
            <a:solidFill>
              <a:srgbClr val="0E8C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17136" y="1947672"/>
            <a:ext cx="3419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9FE3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~$10M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517136" y="2697480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Post-money valuation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11312" y="1783080"/>
            <a:ext cx="3419856" cy="1371600"/>
          </a:xfrm>
          <a:prstGeom prst="rect">
            <a:avLst/>
          </a:prstGeom>
          <a:solidFill>
            <a:srgbClr val="11254A"/>
          </a:solidFill>
          <a:ln w="15875">
            <a:solidFill>
              <a:srgbClr val="0E8C7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11312" y="1947672"/>
            <a:ext cx="34198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9FE3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20%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8211312" y="2697480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offered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34290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BUYS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374904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months runway to operational break-even</a:t>
            </a:r>
            <a:endParaRPr lang="en-US" sz="1300" dirty="0"/>
          </a:p>
          <a:p>
            <a:pPr marL="152400" indent="-152400" algn="l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250–450 active customers by end of Year 3</a:t>
            </a:r>
            <a:endParaRPr lang="en-US" sz="1300" dirty="0"/>
          </a:p>
          <a:p>
            <a:pPr marL="152400" indent="-152400" algn="l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$400K–$1M annual revenue by Year 3</a:t>
            </a:r>
            <a:endParaRPr lang="en-US" sz="1300" dirty="0"/>
          </a:p>
          <a:p>
            <a:pPr marL="152400" indent="-152400" algn="l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Six-layer verification stack, battle-tested</a:t>
            </a:r>
            <a:endParaRPr lang="en-US" sz="1300" dirty="0"/>
          </a:p>
          <a:p>
            <a:pPr marL="152400" indent="-152400" algn="l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Verified-trade dataset — the Phase 2 reputation product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0" y="34290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PROFILE WE WANT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0" y="374904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Fintech-experienced lead — trade finance / stablecoin infra background</a:t>
            </a:r>
            <a:endParaRPr lang="en-US" sz="1300" dirty="0"/>
          </a:p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Gulf-native angel network (UAE / KSA) for warm intros</a:t>
            </a:r>
            <a:endParaRPr lang="en-US" sz="1300" dirty="0"/>
          </a:p>
          <a:p>
            <a:pPr marL="152400" indent="-152400" algn="l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advisors who open doors with VARA, ADGM, DIFC, carriers, eBL platforms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i="1" dirty="0">
                <a:solidFill>
                  <a:srgbClr val="9FE3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$2M to build the documentary credit rail the Gulf SME market is waiting for.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E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772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8C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THE FOUNDING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972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talk.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3419856" cy="1417320"/>
          </a:xfrm>
          <a:prstGeom prst="rect">
            <a:avLst/>
          </a:prstGeom>
          <a:solidFill>
            <a:srgbClr val="11254A"/>
          </a:solidFill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3419856" cy="64008"/>
          </a:xfrm>
          <a:prstGeom prst="rect">
            <a:avLst/>
          </a:prstGeom>
          <a:solidFill>
            <a:srgbClr val="0E8C7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51560" y="2450592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51560" y="2743200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5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3154680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31272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[Email]</a:t>
            </a:r>
            <a:endParaRPr lang="en-US" sz="105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760" y="3154680"/>
            <a:ext cx="201168" cy="20116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926080" y="312724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[LinkedIn]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517136" y="2286000"/>
            <a:ext cx="3419856" cy="1417320"/>
          </a:xfrm>
          <a:prstGeom prst="rect">
            <a:avLst/>
          </a:prstGeom>
          <a:solidFill>
            <a:srgbClr val="11254A"/>
          </a:solidFill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4517136" y="2286000"/>
            <a:ext cx="3419856" cy="64008"/>
          </a:xfrm>
          <a:prstGeom prst="rect">
            <a:avLst/>
          </a:prstGeom>
          <a:solidFill>
            <a:srgbClr val="1F6F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4745736" y="2450592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745736" y="2743200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5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736" y="3154680"/>
            <a:ext cx="201168" cy="20116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020056" y="31272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[Email]</a:t>
            </a:r>
            <a:endParaRPr lang="en-US" sz="105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936" y="3154680"/>
            <a:ext cx="201168" cy="20116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620256" y="312724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[LinkedIn]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8211312" y="2286000"/>
            <a:ext cx="3419856" cy="1417320"/>
          </a:xfrm>
          <a:prstGeom prst="rect">
            <a:avLst/>
          </a:prstGeom>
          <a:solidFill>
            <a:srgbClr val="11254A"/>
          </a:solidFill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8211312" y="2286000"/>
            <a:ext cx="3419856" cy="64008"/>
          </a:xfrm>
          <a:prstGeom prst="rect">
            <a:avLst/>
          </a:prstGeom>
          <a:solidFill>
            <a:srgbClr val="2C7A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6"/>
          <p:cNvSpPr/>
          <p:nvPr/>
        </p:nvSpPr>
        <p:spPr>
          <a:xfrm>
            <a:off x="8439912" y="2450592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8439912" y="2743200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500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912" y="3154680"/>
            <a:ext cx="201168" cy="20116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714232" y="31272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[Email]</a:t>
            </a:r>
            <a:endParaRPr lang="en-US" sz="1050" dirty="0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0112" y="3154680"/>
            <a:ext cx="201168" cy="201168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314432" y="312724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[LinkedIn]</a:t>
            </a:r>
            <a:endParaRPr lang="en-US" sz="1050" dirty="0"/>
          </a:p>
        </p:txBody>
      </p:sp>
      <p:sp>
        <p:nvSpPr>
          <p:cNvPr id="28" name="Shape 20"/>
          <p:cNvSpPr/>
          <p:nvPr/>
        </p:nvSpPr>
        <p:spPr>
          <a:xfrm>
            <a:off x="822960" y="3931920"/>
            <a:ext cx="3419856" cy="1417320"/>
          </a:xfrm>
          <a:prstGeom prst="rect">
            <a:avLst/>
          </a:prstGeom>
          <a:solidFill>
            <a:srgbClr val="11254A"/>
          </a:solidFill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1"/>
          <p:cNvSpPr/>
          <p:nvPr/>
        </p:nvSpPr>
        <p:spPr>
          <a:xfrm>
            <a:off x="822960" y="3931920"/>
            <a:ext cx="3419856" cy="64008"/>
          </a:xfrm>
          <a:prstGeom prst="rect">
            <a:avLst/>
          </a:prstGeom>
          <a:solidFill>
            <a:srgbClr val="C77D1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2"/>
          <p:cNvSpPr/>
          <p:nvPr/>
        </p:nvSpPr>
        <p:spPr>
          <a:xfrm>
            <a:off x="1051560" y="4096512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</a:t>
            </a:r>
            <a:endParaRPr lang="en-US" sz="1200" dirty="0"/>
          </a:p>
        </p:txBody>
      </p:sp>
      <p:sp>
        <p:nvSpPr>
          <p:cNvPr id="31" name="Text 23"/>
          <p:cNvSpPr/>
          <p:nvPr/>
        </p:nvSpPr>
        <p:spPr>
          <a:xfrm>
            <a:off x="1051560" y="4389120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500" dirty="0"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4800600"/>
            <a:ext cx="201168" cy="201168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1325880" y="47731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[Email]</a:t>
            </a:r>
            <a:endParaRPr lang="en-US" sz="1050" dirty="0"/>
          </a:p>
        </p:txBody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760" y="4800600"/>
            <a:ext cx="201168" cy="201168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2926080" y="47731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[LinkedIn]</a:t>
            </a:r>
            <a:endParaRPr lang="en-US" sz="1050" dirty="0"/>
          </a:p>
        </p:txBody>
      </p:sp>
      <p:sp>
        <p:nvSpPr>
          <p:cNvPr id="36" name="Shape 26"/>
          <p:cNvSpPr/>
          <p:nvPr/>
        </p:nvSpPr>
        <p:spPr>
          <a:xfrm>
            <a:off x="4517136" y="3931920"/>
            <a:ext cx="3419856" cy="1417320"/>
          </a:xfrm>
          <a:prstGeom prst="rect">
            <a:avLst/>
          </a:prstGeom>
          <a:solidFill>
            <a:srgbClr val="11254A"/>
          </a:solidFill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27"/>
          <p:cNvSpPr/>
          <p:nvPr/>
        </p:nvSpPr>
        <p:spPr>
          <a:xfrm>
            <a:off x="4517136" y="3931920"/>
            <a:ext cx="3419856" cy="64008"/>
          </a:xfrm>
          <a:prstGeom prst="rect">
            <a:avLst/>
          </a:prstGeom>
          <a:solidFill>
            <a:srgbClr val="5A4FB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28"/>
          <p:cNvSpPr/>
          <p:nvPr/>
        </p:nvSpPr>
        <p:spPr>
          <a:xfrm>
            <a:off x="4745736" y="4096512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CCO</a:t>
            </a:r>
            <a:endParaRPr lang="en-US" sz="1200" dirty="0"/>
          </a:p>
        </p:txBody>
      </p:sp>
      <p:sp>
        <p:nvSpPr>
          <p:cNvPr id="39" name="Text 29"/>
          <p:cNvSpPr/>
          <p:nvPr/>
        </p:nvSpPr>
        <p:spPr>
          <a:xfrm>
            <a:off x="4745736" y="4389120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500" dirty="0"/>
          </a:p>
        </p:txBody>
      </p:sp>
      <p:pic>
        <p:nvPicPr>
          <p:cNvPr id="40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736" y="4800600"/>
            <a:ext cx="201168" cy="201168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5020056" y="47731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[Email]</a:t>
            </a:r>
            <a:endParaRPr lang="en-US" sz="1050" dirty="0"/>
          </a:p>
        </p:txBody>
      </p:sp>
      <p:pic>
        <p:nvPicPr>
          <p:cNvPr id="42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936" y="4800600"/>
            <a:ext cx="201168" cy="201168"/>
          </a:xfrm>
          <a:prstGeom prst="rect">
            <a:avLst/>
          </a:prstGeom>
        </p:spPr>
      </p:pic>
      <p:sp>
        <p:nvSpPr>
          <p:cNvPr id="43" name="Text 31"/>
          <p:cNvSpPr/>
          <p:nvPr/>
        </p:nvSpPr>
        <p:spPr>
          <a:xfrm>
            <a:off x="6620256" y="47731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[LinkedIn]</a:t>
            </a:r>
            <a:endParaRPr lang="en-US" sz="1050" dirty="0"/>
          </a:p>
        </p:txBody>
      </p:sp>
      <p:sp>
        <p:nvSpPr>
          <p:cNvPr id="44" name="Shape 32"/>
          <p:cNvSpPr/>
          <p:nvPr/>
        </p:nvSpPr>
        <p:spPr>
          <a:xfrm>
            <a:off x="8211312" y="3931920"/>
            <a:ext cx="3419856" cy="1417320"/>
          </a:xfrm>
          <a:prstGeom prst="rect">
            <a:avLst/>
          </a:prstGeom>
          <a:solidFill>
            <a:srgbClr val="11254A"/>
          </a:solidFill>
          <a:ln w="12700">
            <a:solidFill>
              <a:srgbClr val="1C31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33"/>
          <p:cNvSpPr/>
          <p:nvPr/>
        </p:nvSpPr>
        <p:spPr>
          <a:xfrm>
            <a:off x="8211312" y="3931920"/>
            <a:ext cx="3419856" cy="64008"/>
          </a:xfrm>
          <a:prstGeom prst="rect">
            <a:avLst/>
          </a:prstGeom>
          <a:solidFill>
            <a:srgbClr val="9FE3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34"/>
          <p:cNvSpPr/>
          <p:nvPr/>
        </p:nvSpPr>
        <p:spPr>
          <a:xfrm>
            <a:off x="8439912" y="4096512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</a:t>
            </a:r>
            <a:endParaRPr lang="en-US" sz="1200" dirty="0"/>
          </a:p>
        </p:txBody>
      </p:sp>
      <p:sp>
        <p:nvSpPr>
          <p:cNvPr id="47" name="Text 35"/>
          <p:cNvSpPr/>
          <p:nvPr/>
        </p:nvSpPr>
        <p:spPr>
          <a:xfrm>
            <a:off x="8439912" y="4389120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[Name]</a:t>
            </a:r>
            <a:endParaRPr lang="en-US" sz="1500" dirty="0"/>
          </a:p>
        </p:txBody>
      </p:sp>
      <p:pic>
        <p:nvPicPr>
          <p:cNvPr id="48" name="Image 1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912" y="4800600"/>
            <a:ext cx="201168" cy="201168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8714232" y="47731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[Email]</a:t>
            </a:r>
            <a:endParaRPr lang="en-US" sz="1050" dirty="0"/>
          </a:p>
        </p:txBody>
      </p:sp>
      <p:pic>
        <p:nvPicPr>
          <p:cNvPr id="50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0112" y="4800600"/>
            <a:ext cx="201168" cy="201168"/>
          </a:xfrm>
          <a:prstGeom prst="rect">
            <a:avLst/>
          </a:prstGeom>
        </p:spPr>
      </p:pic>
      <p:sp>
        <p:nvSpPr>
          <p:cNvPr id="51" name="Text 37"/>
          <p:cNvSpPr/>
          <p:nvPr/>
        </p:nvSpPr>
        <p:spPr>
          <a:xfrm>
            <a:off x="10314432" y="47731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9D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[LinkedIn]</a:t>
            </a:r>
            <a:endParaRPr lang="en-US" sz="1050" dirty="0"/>
          </a:p>
        </p:txBody>
      </p:sp>
      <p:sp>
        <p:nvSpPr>
          <p:cNvPr id="52" name="Text 38"/>
          <p:cNvSpPr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9FE3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We'd value the conversation. Reach any of us directly.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1774</Words>
  <Application>Microsoft Office PowerPoint</Application>
  <PresentationFormat>Widescreen</PresentationFormat>
  <Paragraphs>378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Transakt — Pitch Deck</dc:title>
  <dc:subject>PptxGenJS Presentation</dc:subject>
  <dc:creator>Transakt</dc:creator>
  <cp:lastModifiedBy>Beckman, Conrad</cp:lastModifiedBy>
  <cp:revision>5</cp:revision>
  <dcterms:created xsi:type="dcterms:W3CDTF">2026-05-29T09:15:04Z</dcterms:created>
  <dcterms:modified xsi:type="dcterms:W3CDTF">2026-05-29T10:40:48Z</dcterms:modified>
</cp:coreProperties>
</file>