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6536" autoAdjust="0"/>
  </p:normalViewPr>
  <p:slideViewPr>
    <p:cSldViewPr snapToGrid="0">
      <p:cViewPr>
        <p:scale>
          <a:sx n="100" d="100"/>
          <a:sy n="100" d="100"/>
        </p:scale>
        <p:origin x="58" y="-20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 note: This is an illustrative forecast, not current trading performance. The base case starts with a paid partner-led pilot in Month 12, receipts in Month 13 and a full VARA licence target in Month 18. Year 3 assumes 333 active customers completing approximately six deals each: 2,000 deals at a £38,015 average trade value produce £76.031m of trade value processed. Tiered escrow and ancillary fees produce £1.371m revenue at 77.1% gross margin. Low/base/high Year 3 revenue is £1.037m/£1.371m/£1.912m, with monthly cash-flow break-even beyond Month 60 / Year 4 Month 8 / Year 4 Month 4. Scale depends on partner-led distribution and remains unvalidated. Buyer escrow balances are assumed to be held for 14 days on average and contribute no operating cash. This is a preliminary presentation model rather than an audited, loan or investment-grade forecast.</a:t>
            </a:r>
          </a:p>
          <a:p>
            <a:endParaRPr/>
          </a:p>
          <a:p>
            <a:r>
              <a:t>[Sources]</a:t>
            </a:r>
          </a:p>
          <a:p>
            <a:r>
              <a:t>- financial-projections/Blockmediary_Financial_Model_Submission_Ready_2026-08-13.xlsx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 note: The £3,063,210 figure is the cumulative operating funding requirement to the modeled base-case monthly break-even point, including the £191,516 three-month operating reserve; it is not presented as an immediate one-tranche fundraising ask. The five allocation percentages sum to this operating amount. A separate £319,095 of future restricted VARA capital cannot be spent on runway, producing a £3,382,305 full staged capital requirement. The operating plan includes £345,958 of Year 1 startup and staged regulatory one-offs, £67,000 annual partner-pilot cost and £102,110 annual VARA supervision. The restricted-capital figure remains a planning placeholder pending confirmation of final activity scope, entity structure, legal advice and regulator guidance. Buyer escrow balances are safeguarded client assets, not company revenue, runway or funding capacity.</a:t>
            </a:r>
          </a:p>
          <a:p>
            <a:endParaRPr/>
          </a:p>
          <a:p>
            <a:r>
              <a:t>[Sources]</a:t>
            </a:r>
          </a:p>
          <a:p>
            <a:r>
              <a:t>- financial-projections/Blockmediary_Financial_Model_Submission_Ready_2026-08-13.xlsx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effectLst/>
              </a:rPr>
              <a:t>Every funded competitor here releases on buyer approval, not document proof. Contour, the best-funded attempt, still failed structurally. That gap is still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833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effectLst/>
              </a:rPr>
              <a:t>Our compliance register grew from fifteen items in June to thirty-one. Five changes actually shift the plan, not just the paperwork.</a:t>
            </a:r>
          </a:p>
          <a:p>
            <a:r>
              <a:rPr lang="en-US" sz="1200" b="0" i="0" kern="1200" dirty="0">
                <a:effectLst/>
              </a:rPr>
              <a:t>Biggest one: our UAE route reversed. We considered and dropped ADGM. We've confirmed a DIFC partner-led pilot targeting month twelve, alongside an independent VARA licence targeting month eighteen.</a:t>
            </a:r>
          </a:p>
          <a:p>
            <a:r>
              <a:rPr lang="en-US" sz="1200" b="0" i="0" kern="1200" dirty="0">
                <a:effectLst/>
              </a:rPr>
              <a:t>We also caught a live risk ourselves: our on-chain spec hash could still count as personal data under GDPR — a design decision we're closing before </a:t>
            </a:r>
            <a:r>
              <a:rPr lang="en-US" sz="1200" b="0" i="0" kern="1200" dirty="0" err="1">
                <a:effectLst/>
              </a:rPr>
              <a:t>mainnet</a:t>
            </a:r>
            <a:r>
              <a:rPr lang="en-US" sz="1200" b="0" i="0" kern="1200" dirty="0">
                <a:effectLst/>
              </a:rPr>
              <a:t>.</a:t>
            </a:r>
          </a:p>
          <a:p>
            <a:r>
              <a:rPr lang="en-US" sz="1200" b="0" i="0" kern="1200" dirty="0">
                <a:effectLst/>
              </a:rPr>
              <a:t>Our top security risk, a compromised releaser key, isn't just technical: it triggers real breach-notification and criminal-liability obligations.</a:t>
            </a:r>
          </a:p>
          <a:p>
            <a:r>
              <a:rPr lang="en-US" sz="1200" b="0" i="0" kern="1200" dirty="0">
                <a:effectLst/>
              </a:rPr>
              <a:t>Under FCA rules, most of our SME users are retail customers, so Consumer Duty applies in full.</a:t>
            </a:r>
          </a:p>
          <a:p>
            <a:r>
              <a:rPr lang="en-US" sz="1200" b="0" i="0" kern="1200" dirty="0">
                <a:effectLst/>
              </a:rPr>
              <a:t>And "UCP 600-inspired" is now an article-by-article, Incoterm-by-Incoterm document checklist feeding the engine.</a:t>
            </a:r>
          </a:p>
          <a:p>
            <a:r>
              <a:rPr lang="en-US" sz="1200" b="0" i="0" kern="1200" dirty="0">
                <a:effectLst/>
              </a:rPr>
              <a:t>The other twenty-six items, full sourcing and mitigation, are in the supplementary PDF. This slide is the headline, the register is the evidence.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66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0B0CEA-0D99-4F27-A153-DE38AA428DD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8/13/2026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4A3AEE-F7A6-493E-A1FE-DBE4CD75457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F742F-E04A-4991-8636-2D48CF566A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C4837CB6-6E06-48CD-BFA6-D1F09525E6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>
              <a:buNone/>
            </a:pPr>
            <a:endParaRPr/>
          </a:p>
        </p:txBody>
      </p:sp>
      <p:sp>
        <p:nvSpPr>
          <p:cNvPr id="2" name="kicker-11-marker">
            <a:extLst>
              <a:ext uri="{FF2B5EF4-FFF2-40B4-BE49-F238E27FC236}">
                <a16:creationId xmlns:a16="http://schemas.microsoft.com/office/drawing/2014/main" id="{C41C138C-5F33-44BE-9202-2EC74B53D8BF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kicker-11-label">
            <a:extLst>
              <a:ext uri="{FF2B5EF4-FFF2-40B4-BE49-F238E27FC236}">
                <a16:creationId xmlns:a16="http://schemas.microsoft.com/office/drawing/2014/main" id="{9678FDA4-D756-49DA-8686-A2480D127B46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FINANCIAL PATH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698C5A-5AC1-4F16-B719-CAE7D16F4D2F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191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Base case projects £1.37m Year 3 revenue and monthly cash-flow break-even in Y4 M8.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0738B7-5D3F-48A5-8E8A-70167E7B209E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8953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Illustrative forecast—not current trading: paid partner-led pilot M12; first receipts M13; full VARA licence target M18.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0896C8-E2D1-436F-9C37-D91D557C1386}"/>
              </a:ext>
            </a:extLst>
          </p:cNvPr>
          <p:cNvSpPr>
            <a:spLocks noGrp="1"/>
          </p:cNvSpPr>
          <p:nvPr/>
        </p:nvSpPr>
        <p:spPr>
          <a:xfrm>
            <a:off x="704850" y="2514600"/>
            <a:ext cx="241935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113DC9-AFC4-4984-8B7B-EF02790DB51E}"/>
              </a:ext>
            </a:extLst>
          </p:cNvPr>
          <p:cNvSpPr>
            <a:spLocks noGrp="1"/>
          </p:cNvSpPr>
          <p:nvPr/>
        </p:nvSpPr>
        <p:spPr>
          <a:xfrm>
            <a:off x="704850" y="2514600"/>
            <a:ext cx="47625" cy="1085850"/>
          </a:xfrm>
          <a:prstGeom prst="rect">
            <a:avLst/>
          </a:prstGeom>
          <a:solidFill>
            <a:srgbClr val="2C7A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D81102-E896-4017-B810-62AB0C079AEC}"/>
              </a:ext>
            </a:extLst>
          </p:cNvPr>
          <p:cNvSpPr>
            <a:spLocks noGrp="1"/>
          </p:cNvSpPr>
          <p:nvPr/>
        </p:nvSpPr>
        <p:spPr>
          <a:xfrm>
            <a:off x="914400" y="2657475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Month 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34A5FF-016D-47EF-90A6-3FC081C2C9D2}"/>
              </a:ext>
            </a:extLst>
          </p:cNvPr>
          <p:cNvSpPr>
            <a:spLocks noGrp="1"/>
          </p:cNvSpPr>
          <p:nvPr/>
        </p:nvSpPr>
        <p:spPr>
          <a:xfrm>
            <a:off x="914400" y="30289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paid partner-led pilot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E1DD05-7F2A-47B6-9799-3651FE2E78B6}"/>
              </a:ext>
            </a:extLst>
          </p:cNvPr>
          <p:cNvSpPr>
            <a:spLocks noGrp="1"/>
          </p:cNvSpPr>
          <p:nvPr/>
        </p:nvSpPr>
        <p:spPr>
          <a:xfrm>
            <a:off x="914400" y="32766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receipts M13; licence target M18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064EF7-7562-432B-9542-DEE2F214CD70}"/>
              </a:ext>
            </a:extLst>
          </p:cNvPr>
          <p:cNvSpPr>
            <a:spLocks noGrp="1"/>
          </p:cNvSpPr>
          <p:nvPr/>
        </p:nvSpPr>
        <p:spPr>
          <a:xfrm>
            <a:off x="3429000" y="2514600"/>
            <a:ext cx="241935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618428-F10D-41AB-A616-9C8D7129854B}"/>
              </a:ext>
            </a:extLst>
          </p:cNvPr>
          <p:cNvSpPr>
            <a:spLocks noGrp="1"/>
          </p:cNvSpPr>
          <p:nvPr/>
        </p:nvSpPr>
        <p:spPr>
          <a:xfrm>
            <a:off x="3429000" y="2514600"/>
            <a:ext cx="47625" cy="1085850"/>
          </a:xfrm>
          <a:prstGeom prst="rect">
            <a:avLst/>
          </a:prstGeom>
          <a:solidFill>
            <a:srgbClr val="0E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0328B8-EA0A-4C97-A041-3D3060F3C871}"/>
              </a:ext>
            </a:extLst>
          </p:cNvPr>
          <p:cNvSpPr>
            <a:spLocks noGrp="1"/>
          </p:cNvSpPr>
          <p:nvPr/>
        </p:nvSpPr>
        <p:spPr>
          <a:xfrm>
            <a:off x="3638550" y="2657475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£76m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85A877-C983-43FD-BEBF-1DB550D18B1B}"/>
              </a:ext>
            </a:extLst>
          </p:cNvPr>
          <p:cNvSpPr>
            <a:spLocks noGrp="1"/>
          </p:cNvSpPr>
          <p:nvPr/>
        </p:nvSpPr>
        <p:spPr>
          <a:xfrm>
            <a:off x="3638550" y="30289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Y3 trade value processed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A649CE-9E85-45AE-8238-15C085AAF195}"/>
              </a:ext>
            </a:extLst>
          </p:cNvPr>
          <p:cNvSpPr>
            <a:spLocks noGrp="1"/>
          </p:cNvSpPr>
          <p:nvPr/>
        </p:nvSpPr>
        <p:spPr>
          <a:xfrm>
            <a:off x="3638550" y="32766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GMV—not company revenue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CA0DC0-43C5-4B19-9CDA-D729966D1D47}"/>
              </a:ext>
            </a:extLst>
          </p:cNvPr>
          <p:cNvSpPr>
            <a:spLocks noGrp="1"/>
          </p:cNvSpPr>
          <p:nvPr/>
        </p:nvSpPr>
        <p:spPr>
          <a:xfrm>
            <a:off x="6153150" y="2514600"/>
            <a:ext cx="241935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DEA11F-96DB-4FA7-8CC8-1A76D1A18957}"/>
              </a:ext>
            </a:extLst>
          </p:cNvPr>
          <p:cNvSpPr>
            <a:spLocks noGrp="1"/>
          </p:cNvSpPr>
          <p:nvPr/>
        </p:nvSpPr>
        <p:spPr>
          <a:xfrm>
            <a:off x="6153150" y="2514600"/>
            <a:ext cx="47625" cy="1085850"/>
          </a:xfrm>
          <a:prstGeom prst="rect">
            <a:avLst/>
          </a:prstGeom>
          <a:solidFill>
            <a:srgbClr val="5A4F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1DDD7D-A9D0-4533-954E-A6759A8B06EB}"/>
              </a:ext>
            </a:extLst>
          </p:cNvPr>
          <p:cNvSpPr>
            <a:spLocks noGrp="1"/>
          </p:cNvSpPr>
          <p:nvPr/>
        </p:nvSpPr>
        <p:spPr>
          <a:xfrm>
            <a:off x="6362700" y="2657475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£1.37m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E95D9F-CECF-4553-B1E6-0D2C27D7BF86}"/>
              </a:ext>
            </a:extLst>
          </p:cNvPr>
          <p:cNvSpPr>
            <a:spLocks noGrp="1"/>
          </p:cNvSpPr>
          <p:nvPr/>
        </p:nvSpPr>
        <p:spPr>
          <a:xfrm>
            <a:off x="6362700" y="30289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Y3 annual revenue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5C591F-6634-48B1-85AB-39B506B61133}"/>
              </a:ext>
            </a:extLst>
          </p:cNvPr>
          <p:cNvSpPr>
            <a:spLocks noGrp="1"/>
          </p:cNvSpPr>
          <p:nvPr/>
        </p:nvSpPr>
        <p:spPr>
          <a:xfrm>
            <a:off x="6362700" y="32766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77% gross margin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F97402-411D-4712-A716-89A1CF72C96B}"/>
              </a:ext>
            </a:extLst>
          </p:cNvPr>
          <p:cNvSpPr>
            <a:spLocks noGrp="1"/>
          </p:cNvSpPr>
          <p:nvPr/>
        </p:nvSpPr>
        <p:spPr>
          <a:xfrm>
            <a:off x="8877300" y="2514600"/>
            <a:ext cx="241935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89E399-6663-4A5C-8ECD-6C13455CB248}"/>
              </a:ext>
            </a:extLst>
          </p:cNvPr>
          <p:cNvSpPr>
            <a:spLocks noGrp="1"/>
          </p:cNvSpPr>
          <p:nvPr/>
        </p:nvSpPr>
        <p:spPr>
          <a:xfrm>
            <a:off x="8877300" y="2514600"/>
            <a:ext cx="47625" cy="1085850"/>
          </a:xfrm>
          <a:prstGeom prst="rect">
            <a:avLst/>
          </a:prstGeom>
          <a:solidFill>
            <a:srgbClr val="C77D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E22802-0306-42EE-926A-7BB776B59D49}"/>
              </a:ext>
            </a:extLst>
          </p:cNvPr>
          <p:cNvSpPr>
            <a:spLocks noGrp="1"/>
          </p:cNvSpPr>
          <p:nvPr/>
        </p:nvSpPr>
        <p:spPr>
          <a:xfrm>
            <a:off x="9086850" y="2657475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Y4 M8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640183-CEF1-44FE-B28B-D0C472AE5608}"/>
              </a:ext>
            </a:extLst>
          </p:cNvPr>
          <p:cNvSpPr>
            <a:spLocks noGrp="1"/>
          </p:cNvSpPr>
          <p:nvPr/>
        </p:nvSpPr>
        <p:spPr>
          <a:xfrm>
            <a:off x="9086850" y="30289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monthly cash-flow break-even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ED7773-2ED2-469E-BD0A-239D4F990F73}"/>
              </a:ext>
            </a:extLst>
          </p:cNvPr>
          <p:cNvSpPr>
            <a:spLocks noGrp="1"/>
          </p:cNvSpPr>
          <p:nvPr/>
        </p:nvSpPr>
        <p:spPr>
          <a:xfrm>
            <a:off x="9086850" y="32766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low &gt;M60; high Y4 M4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314116-0FF7-4086-8237-75AE3272C2BC}"/>
              </a:ext>
            </a:extLst>
          </p:cNvPr>
          <p:cNvSpPr>
            <a:spLocks noGrp="1"/>
          </p:cNvSpPr>
          <p:nvPr/>
        </p:nvSpPr>
        <p:spPr>
          <a:xfrm>
            <a:off x="704850" y="4171950"/>
            <a:ext cx="5124450" cy="1847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B488C4-099C-457E-BFD5-01C0CCA5FCC0}"/>
              </a:ext>
            </a:extLst>
          </p:cNvPr>
          <p:cNvSpPr>
            <a:spLocks noGrp="1"/>
          </p:cNvSpPr>
          <p:nvPr/>
        </p:nvSpPr>
        <p:spPr>
          <a:xfrm>
            <a:off x="1066800" y="43053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Base-case revenue engine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1EB0F0-4FA9-470F-B030-3BE3F9DE9F1E}"/>
              </a:ext>
            </a:extLst>
          </p:cNvPr>
          <p:cNvSpPr>
            <a:spLocks noGrp="1"/>
          </p:cNvSpPr>
          <p:nvPr/>
        </p:nvSpPr>
        <p:spPr>
          <a:xfrm>
            <a:off x="1066800" y="4810125"/>
            <a:ext cx="1066800" cy="533400"/>
          </a:xfrm>
          <a:prstGeom prst="rect">
            <a:avLst/>
          </a:prstGeom>
          <a:solidFill>
            <a:srgbClr val="0E8C7F"/>
          </a:solidFill>
          <a:ln w="9525">
            <a:solidFill>
              <a:srgbClr val="0E8C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1EA15E-DBAE-469C-8817-7E80824CDE7A}"/>
              </a:ext>
            </a:extLst>
          </p:cNvPr>
          <p:cNvSpPr>
            <a:spLocks noGrp="1"/>
          </p:cNvSpPr>
          <p:nvPr/>
        </p:nvSpPr>
        <p:spPr>
          <a:xfrm>
            <a:off x="1066800" y="5400675"/>
            <a:ext cx="106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4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844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deals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5D0CD14-B46E-4946-BBA3-675888BA382A}"/>
              </a:ext>
            </a:extLst>
          </p:cNvPr>
          <p:cNvSpPr>
            <a:spLocks noGrp="1"/>
          </p:cNvSpPr>
          <p:nvPr/>
        </p:nvSpPr>
        <p:spPr>
          <a:xfrm>
            <a:off x="1066800" y="4905375"/>
            <a:ext cx="1066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6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2,000</a:t>
            </a:r>
            <a:endParaRPr sz="900" b="1">
              <a:solidFill>
                <a:srgbClr val="0E8C7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915DBD-F087-45F8-AD26-A30B1919B81D}"/>
              </a:ext>
            </a:extLst>
          </p:cNvPr>
          <p:cNvSpPr>
            <a:spLocks noGrp="1"/>
          </p:cNvSpPr>
          <p:nvPr/>
        </p:nvSpPr>
        <p:spPr>
          <a:xfrm>
            <a:off x="2705100" y="4810125"/>
            <a:ext cx="1066800" cy="533400"/>
          </a:xfrm>
          <a:prstGeom prst="rect">
            <a:avLst/>
          </a:prstGeom>
          <a:solidFill>
            <a:srgbClr val="0E8C7F"/>
          </a:solidFill>
          <a:ln w="9525">
            <a:solidFill>
              <a:srgbClr val="0E8C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0B7BC36-CA77-4D27-A761-7FB810A306BF}"/>
              </a:ext>
            </a:extLst>
          </p:cNvPr>
          <p:cNvSpPr>
            <a:spLocks noGrp="1"/>
          </p:cNvSpPr>
          <p:nvPr/>
        </p:nvSpPr>
        <p:spPr>
          <a:xfrm>
            <a:off x="2705100" y="5400675"/>
            <a:ext cx="106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4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844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average trade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F49C337-0BF6-4692-B8DF-66439527A05A}"/>
              </a:ext>
            </a:extLst>
          </p:cNvPr>
          <p:cNvSpPr>
            <a:spLocks noGrp="1"/>
          </p:cNvSpPr>
          <p:nvPr/>
        </p:nvSpPr>
        <p:spPr>
          <a:xfrm>
            <a:off x="2705100" y="4905375"/>
            <a:ext cx="1066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6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£38k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5469347-2347-4311-8B95-1D5AF85ACDED}"/>
              </a:ext>
            </a:extLst>
          </p:cNvPr>
          <p:cNvSpPr>
            <a:spLocks noGrp="1"/>
          </p:cNvSpPr>
          <p:nvPr/>
        </p:nvSpPr>
        <p:spPr>
          <a:xfrm>
            <a:off x="4343400" y="4810125"/>
            <a:ext cx="1066800" cy="533400"/>
          </a:xfrm>
          <a:prstGeom prst="rect">
            <a:avLst/>
          </a:prstGeom>
          <a:solidFill>
            <a:srgbClr val="0E8C7F"/>
          </a:solidFill>
          <a:ln w="9525">
            <a:solidFill>
              <a:srgbClr val="0E8C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56CEFFE-6CC4-4A21-ACB3-638C7C9A3806}"/>
              </a:ext>
            </a:extLst>
          </p:cNvPr>
          <p:cNvSpPr>
            <a:spLocks noGrp="1"/>
          </p:cNvSpPr>
          <p:nvPr/>
        </p:nvSpPr>
        <p:spPr>
          <a:xfrm>
            <a:off x="4343400" y="5400675"/>
            <a:ext cx="106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4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844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trade value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28EFE54-57ED-451A-8BAB-2F1565B6789D}"/>
              </a:ext>
            </a:extLst>
          </p:cNvPr>
          <p:cNvSpPr>
            <a:spLocks noGrp="1"/>
          </p:cNvSpPr>
          <p:nvPr/>
        </p:nvSpPr>
        <p:spPr>
          <a:xfrm>
            <a:off x="4343400" y="4905375"/>
            <a:ext cx="1066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6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£76m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51E3DF9-7E76-4BA0-B641-9C8285A0E5DC}"/>
              </a:ext>
            </a:extLst>
          </p:cNvPr>
          <p:cNvSpPr>
            <a:spLocks noGrp="1"/>
          </p:cNvSpPr>
          <p:nvPr/>
        </p:nvSpPr>
        <p:spPr>
          <a:xfrm>
            <a:off x="1066800" y="5715000"/>
            <a:ext cx="2762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44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844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Tiered escrow take rate + ancillary fees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324EB80-AF0E-4065-A7A6-60938C1C105F}"/>
              </a:ext>
            </a:extLst>
          </p:cNvPr>
          <p:cNvSpPr>
            <a:spLocks noGrp="1"/>
          </p:cNvSpPr>
          <p:nvPr/>
        </p:nvSpPr>
        <p:spPr>
          <a:xfrm>
            <a:off x="3524250" y="61722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AEAC009-49DD-4817-9B33-BCA31DABFA9B}"/>
              </a:ext>
            </a:extLst>
          </p:cNvPr>
          <p:cNvSpPr>
            <a:spLocks noGrp="1"/>
          </p:cNvSpPr>
          <p:nvPr/>
        </p:nvSpPr>
        <p:spPr>
          <a:xfrm>
            <a:off x="2257425" y="4857750"/>
            <a:ext cx="323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×</a:t>
            </a:r>
            <a:endParaRPr sz="900" b="1">
              <a:solidFill>
                <a:srgbClr val="2C7A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5BF1A42-AA5A-47A9-855E-94171A56C33D}"/>
              </a:ext>
            </a:extLst>
          </p:cNvPr>
          <p:cNvSpPr>
            <a:spLocks noGrp="1"/>
          </p:cNvSpPr>
          <p:nvPr/>
        </p:nvSpPr>
        <p:spPr>
          <a:xfrm>
            <a:off x="4343400" y="61722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4015E4C-69F2-4712-844B-D00D02258196}"/>
              </a:ext>
            </a:extLst>
          </p:cNvPr>
          <p:cNvSpPr>
            <a:spLocks noGrp="1"/>
          </p:cNvSpPr>
          <p:nvPr/>
        </p:nvSpPr>
        <p:spPr>
          <a:xfrm>
            <a:off x="3895725" y="4857750"/>
            <a:ext cx="323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D32"/>
                </a:solidFill>
                <a:latin typeface="Aptos"/>
                <a:ea typeface="Aptos"/>
                <a:cs typeface="Aptos"/>
              </a:rPr>
              <a:t>=</a:t>
            </a:r>
            <a:endParaRPr sz="900" b="1">
              <a:solidFill>
                <a:srgbClr val="2C7A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FF71A96-F9B3-4BE2-A46B-A12E8150DA15}"/>
              </a:ext>
            </a:extLst>
          </p:cNvPr>
          <p:cNvSpPr>
            <a:spLocks noGrp="1"/>
          </p:cNvSpPr>
          <p:nvPr/>
        </p:nvSpPr>
        <p:spPr>
          <a:xfrm>
            <a:off x="5162550" y="61722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DFE55B4-FD0A-4466-8D59-E943F38126CB}"/>
              </a:ext>
            </a:extLst>
          </p:cNvPr>
          <p:cNvSpPr>
            <a:spLocks noGrp="1"/>
          </p:cNvSpPr>
          <p:nvPr/>
        </p:nvSpPr>
        <p:spPr>
          <a:xfrm>
            <a:off x="3238500" y="5715000"/>
            <a:ext cx="2171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44" b="1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844" b="1">
                <a:solidFill>
                  <a:srgbClr val="2E7D32"/>
                </a:solidFill>
                <a:latin typeface="Aptos"/>
                <a:ea typeface="Aptos"/>
                <a:cs typeface="Aptos"/>
              </a:rPr>
              <a:t>→ £1.37m revenue · 77% gross margin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C0E21F1-10F1-4A3B-AB49-2DD719481B69}"/>
              </a:ext>
            </a:extLst>
          </p:cNvPr>
          <p:cNvSpPr>
            <a:spLocks noGrp="1"/>
          </p:cNvSpPr>
          <p:nvPr/>
        </p:nvSpPr>
        <p:spPr>
          <a:xfrm>
            <a:off x="6286500" y="4171950"/>
            <a:ext cx="5010150" cy="1847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F4A9A09-95E8-4A0B-80FA-3C61CE42D946}"/>
              </a:ext>
            </a:extLst>
          </p:cNvPr>
          <p:cNvSpPr>
            <a:spLocks noGrp="1"/>
          </p:cNvSpPr>
          <p:nvPr/>
        </p:nvSpPr>
        <p:spPr>
          <a:xfrm>
            <a:off x="6629400" y="44386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Commercial guardrails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8CE4508-53A4-4576-AAE0-80566056D3D5}"/>
              </a:ext>
            </a:extLst>
          </p:cNvPr>
          <p:cNvSpPr>
            <a:spLocks noGrp="1"/>
          </p:cNvSpPr>
          <p:nvPr/>
        </p:nvSpPr>
        <p:spPr>
          <a:xfrm>
            <a:off x="6629400" y="4762500"/>
            <a:ext cx="42862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• 333 customers × ~6 annual deals via partners</a:t>
            </a:r>
          </a:p>
          <a:p>
            <a:pPr algn="l">
              <a:buNone/>
              <a:defRPr sz="12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• Y3 revenue: £1.04m / £1.37m / £1.91m</a:t>
            </a:r>
          </a:p>
          <a:p>
            <a:pPr algn="l">
              <a:buNone/>
              <a:defRPr sz="12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• Break-even: &gt;M60 / Y4 M8 / Y4 M4</a:t>
            </a:r>
          </a:p>
          <a:p>
            <a:pPr algn="l">
              <a:buNone/>
              <a:defRPr sz="12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• Client funds excluded from operating cash</a:t>
            </a:r>
            <a:endParaRPr sz="1125" b="0">
              <a:solidFill>
                <a:srgbClr val="1B24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21981F6-EEE9-4E84-A577-4C54199027D5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97284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97EAB8-4912-4467-B97F-57985144FD63}"/>
              </a:ext>
            </a:extLst>
          </p:cNvPr>
          <p:cNvSpPr>
            <a:spLocks noGrp="1"/>
          </p:cNvSpPr>
          <p:nvPr/>
        </p:nvSpPr>
        <p:spPr>
          <a:xfrm>
            <a:off x="11575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 defTabSz="914400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A8FDC2-6FFE-4CF5-8398-E96B35D86AEC}"/>
              </a:ext>
            </a:extLst>
          </p:cNvPr>
          <p:cNvSpPr>
            <a:spLocks noGrp="1"/>
          </p:cNvSpPr>
          <p:nvPr/>
        </p:nvSpPr>
        <p:spPr>
          <a:xfrm>
            <a:off x="533095" y="437997"/>
            <a:ext cx="75895" cy="75895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E967C-BB61-4158-BBF0-AC9DB193F2B0}"/>
              </a:ext>
            </a:extLst>
          </p:cNvPr>
          <p:cNvSpPr>
            <a:spLocks noGrp="1"/>
          </p:cNvSpPr>
          <p:nvPr/>
        </p:nvSpPr>
        <p:spPr>
          <a:xfrm>
            <a:off x="704540" y="410386"/>
            <a:ext cx="68580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900" b="1" spc="140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USE OF FUNDS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B34755-BCBD-4638-B2E5-96D99DCD8736}"/>
              </a:ext>
            </a:extLst>
          </p:cNvPr>
          <p:cNvSpPr>
            <a:spLocks noGrp="1"/>
          </p:cNvSpPr>
          <p:nvPr/>
        </p:nvSpPr>
        <p:spPr>
          <a:xfrm>
            <a:off x="533095" y="722376"/>
            <a:ext cx="1078992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£3.06m is the operating funding requirement to base-case break-even.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6C1D02-CB87-49D6-B81A-7CB013022369}"/>
              </a:ext>
            </a:extLst>
          </p:cNvPr>
          <p:cNvSpPr>
            <a:spLocks noGrp="1"/>
          </p:cNvSpPr>
          <p:nvPr/>
        </p:nvSpPr>
        <p:spPr>
          <a:xfrm>
            <a:off x="11106302" y="6439204"/>
            <a:ext cx="552297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None/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DB3C0F-8C0E-449C-AF1D-DBFFDA299AF9}"/>
              </a:ext>
            </a:extLst>
          </p:cNvPr>
          <p:cNvSpPr>
            <a:spLocks noGrp="1"/>
          </p:cNvSpPr>
          <p:nvPr/>
        </p:nvSpPr>
        <p:spPr>
          <a:xfrm>
            <a:off x="590702" y="1481328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Allocation of the £3.063m cumulative operating funding requirement—including a three-month reserve.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91F8FE-5A4B-46C3-8B96-D17654070FB3}"/>
              </a:ext>
            </a:extLst>
          </p:cNvPr>
          <p:cNvSpPr>
            <a:spLocks noGrp="1"/>
          </p:cNvSpPr>
          <p:nvPr/>
        </p:nvSpPr>
        <p:spPr>
          <a:xfrm>
            <a:off x="590702" y="252374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0">
                <a:solidFill>
                  <a:srgbClr val="0B1B3A"/>
                </a:solidFill>
                <a:latin typeface="Aptos"/>
                <a:ea typeface="Aptos"/>
                <a:cs typeface="Aptos"/>
              </a:rPr>
              <a:t>Engineering &amp; product delivery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578373-A1CC-47BA-9F28-98508E012588}"/>
              </a:ext>
            </a:extLst>
          </p:cNvPr>
          <p:cNvSpPr>
            <a:spLocks noGrp="1"/>
          </p:cNvSpPr>
          <p:nvPr/>
        </p:nvSpPr>
        <p:spPr>
          <a:xfrm>
            <a:off x="4023360" y="2542032"/>
            <a:ext cx="6035040" cy="292608"/>
          </a:xfrm>
          <a:prstGeom prst="rect">
            <a:avLst/>
          </a:prstGeom>
          <a:solidFill>
            <a:srgbClr val="EAE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CF2966-DF61-4ED4-BE57-E0CB18EF1022}"/>
              </a:ext>
            </a:extLst>
          </p:cNvPr>
          <p:cNvSpPr>
            <a:spLocks noGrp="1"/>
          </p:cNvSpPr>
          <p:nvPr/>
        </p:nvSpPr>
        <p:spPr>
          <a:xfrm>
            <a:off x="4023360" y="2542032"/>
            <a:ext cx="3228354" cy="292608"/>
          </a:xfrm>
          <a:prstGeom prst="rect">
            <a:avLst/>
          </a:prstGeom>
          <a:solidFill>
            <a:srgbClr val="0E8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DA4396-A1AC-4ACB-AF89-7D2ACA5F361E}"/>
              </a:ext>
            </a:extLst>
          </p:cNvPr>
          <p:cNvSpPr>
            <a:spLocks noGrp="1"/>
          </p:cNvSpPr>
          <p:nvPr/>
        </p:nvSpPr>
        <p:spPr>
          <a:xfrm>
            <a:off x="10241280" y="2583012"/>
            <a:ext cx="128016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18.6%  £571k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2990A6-A8F8-4E35-AD22-CF7D84B9F516}"/>
              </a:ext>
            </a:extLst>
          </p:cNvPr>
          <p:cNvSpPr>
            <a:spLocks noGrp="1"/>
          </p:cNvSpPr>
          <p:nvPr/>
        </p:nvSpPr>
        <p:spPr>
          <a:xfrm>
            <a:off x="590702" y="309067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0">
                <a:solidFill>
                  <a:srgbClr val="0B1B3A"/>
                </a:solidFill>
                <a:latin typeface="Aptos"/>
                <a:ea typeface="Aptos"/>
                <a:cs typeface="Aptos"/>
              </a:rPr>
              <a:t>Team, operations &amp; G&amp;A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480D0E-5A28-4423-89DA-3D402B330E84}"/>
              </a:ext>
            </a:extLst>
          </p:cNvPr>
          <p:cNvSpPr>
            <a:spLocks noGrp="1"/>
          </p:cNvSpPr>
          <p:nvPr/>
        </p:nvSpPr>
        <p:spPr>
          <a:xfrm>
            <a:off x="4023360" y="3108960"/>
            <a:ext cx="6035040" cy="292608"/>
          </a:xfrm>
          <a:prstGeom prst="rect">
            <a:avLst/>
          </a:prstGeom>
          <a:solidFill>
            <a:srgbClr val="EAE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43D390-D90C-46B2-9DC9-2978A5674863}"/>
              </a:ext>
            </a:extLst>
          </p:cNvPr>
          <p:cNvSpPr>
            <a:spLocks noGrp="1"/>
          </p:cNvSpPr>
          <p:nvPr/>
        </p:nvSpPr>
        <p:spPr>
          <a:xfrm>
            <a:off x="4023360" y="3108960"/>
            <a:ext cx="6008095" cy="292608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3D1D8C-F082-4E56-8B67-22467153C478}"/>
              </a:ext>
            </a:extLst>
          </p:cNvPr>
          <p:cNvSpPr>
            <a:spLocks noGrp="1"/>
          </p:cNvSpPr>
          <p:nvPr/>
        </p:nvSpPr>
        <p:spPr>
          <a:xfrm>
            <a:off x="10241280" y="3149940"/>
            <a:ext cx="128016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34.7%  £1.06m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1BF214-14E4-452C-827D-0D7A68538360}"/>
              </a:ext>
            </a:extLst>
          </p:cNvPr>
          <p:cNvSpPr>
            <a:spLocks noGrp="1"/>
          </p:cNvSpPr>
          <p:nvPr/>
        </p:nvSpPr>
        <p:spPr>
          <a:xfrm>
            <a:off x="590702" y="36576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0">
                <a:solidFill>
                  <a:srgbClr val="0B1B3A"/>
                </a:solidFill>
                <a:latin typeface="Aptos"/>
                <a:ea typeface="Aptos"/>
                <a:cs typeface="Aptos"/>
              </a:rPr>
              <a:t>Compliance, legal &amp; licensing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11C455-B776-4B5E-938B-0613B83F29DC}"/>
              </a:ext>
            </a:extLst>
          </p:cNvPr>
          <p:cNvSpPr>
            <a:spLocks noGrp="1"/>
          </p:cNvSpPr>
          <p:nvPr/>
        </p:nvSpPr>
        <p:spPr>
          <a:xfrm>
            <a:off x="4023360" y="3675888"/>
            <a:ext cx="6035040" cy="292608"/>
          </a:xfrm>
          <a:prstGeom prst="rect">
            <a:avLst/>
          </a:prstGeom>
          <a:solidFill>
            <a:srgbClr val="EAE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32FB19-55F8-4ECB-8F2D-C5759BB99FCC}"/>
              </a:ext>
            </a:extLst>
          </p:cNvPr>
          <p:cNvSpPr>
            <a:spLocks noGrp="1"/>
          </p:cNvSpPr>
          <p:nvPr/>
        </p:nvSpPr>
        <p:spPr>
          <a:xfrm>
            <a:off x="4023360" y="3675888"/>
            <a:ext cx="6035040" cy="292608"/>
          </a:xfrm>
          <a:prstGeom prst="rect">
            <a:avLst/>
          </a:prstGeom>
          <a:solidFill>
            <a:srgbClr val="5A4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C8B7CA-CA5F-408F-AE77-F96FEBB1DD7D}"/>
              </a:ext>
            </a:extLst>
          </p:cNvPr>
          <p:cNvSpPr>
            <a:spLocks noGrp="1"/>
          </p:cNvSpPr>
          <p:nvPr/>
        </p:nvSpPr>
        <p:spPr>
          <a:xfrm>
            <a:off x="10241280" y="3716868"/>
            <a:ext cx="128016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34.8%  £1.07m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FA5098-D919-473A-9910-692FD7FB23FB}"/>
              </a:ext>
            </a:extLst>
          </p:cNvPr>
          <p:cNvSpPr>
            <a:spLocks noGrp="1"/>
          </p:cNvSpPr>
          <p:nvPr/>
        </p:nvSpPr>
        <p:spPr>
          <a:xfrm>
            <a:off x="590702" y="422452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0">
                <a:solidFill>
                  <a:srgbClr val="0B1B3A"/>
                </a:solidFill>
                <a:latin typeface="Aptos"/>
                <a:ea typeface="Aptos"/>
                <a:cs typeface="Aptos"/>
              </a:rPr>
              <a:t>Partner-led GTM &amp; acquisition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C94E7E-26A6-4C29-B0EB-4203240A40D7}"/>
              </a:ext>
            </a:extLst>
          </p:cNvPr>
          <p:cNvSpPr>
            <a:spLocks noGrp="1"/>
          </p:cNvSpPr>
          <p:nvPr/>
        </p:nvSpPr>
        <p:spPr>
          <a:xfrm>
            <a:off x="4023360" y="4242816"/>
            <a:ext cx="6035040" cy="292608"/>
          </a:xfrm>
          <a:prstGeom prst="rect">
            <a:avLst/>
          </a:prstGeom>
          <a:solidFill>
            <a:srgbClr val="EAE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A14FAF-17F5-419D-BE62-68950BF21BD7}"/>
              </a:ext>
            </a:extLst>
          </p:cNvPr>
          <p:cNvSpPr>
            <a:spLocks noGrp="1"/>
          </p:cNvSpPr>
          <p:nvPr/>
        </p:nvSpPr>
        <p:spPr>
          <a:xfrm>
            <a:off x="4023360" y="4242816"/>
            <a:ext cx="965007" cy="292608"/>
          </a:xfrm>
          <a:prstGeom prst="rect">
            <a:avLst/>
          </a:prstGeom>
          <a:solidFill>
            <a:srgbClr val="C77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EA769A-AAA3-453C-92B0-81ED70CDC58D}"/>
              </a:ext>
            </a:extLst>
          </p:cNvPr>
          <p:cNvSpPr>
            <a:spLocks noGrp="1"/>
          </p:cNvSpPr>
          <p:nvPr/>
        </p:nvSpPr>
        <p:spPr>
          <a:xfrm>
            <a:off x="10241280" y="4283796"/>
            <a:ext cx="128016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5.6%  £171k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E9E201-6144-4473-B6A1-58E3AE91740F}"/>
              </a:ext>
            </a:extLst>
          </p:cNvPr>
          <p:cNvSpPr>
            <a:spLocks noGrp="1"/>
          </p:cNvSpPr>
          <p:nvPr/>
        </p:nvSpPr>
        <p:spPr>
          <a:xfrm>
            <a:off x="590702" y="4791456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0">
                <a:solidFill>
                  <a:srgbClr val="0B1B3A"/>
                </a:solidFill>
                <a:latin typeface="Aptos"/>
                <a:ea typeface="Aptos"/>
                <a:cs typeface="Aptos"/>
              </a:rPr>
              <a:t>Operating reserve &amp; contingency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4B63154-7358-47A2-969F-B410A3B6BBC2}"/>
              </a:ext>
            </a:extLst>
          </p:cNvPr>
          <p:cNvSpPr>
            <a:spLocks noGrp="1"/>
          </p:cNvSpPr>
          <p:nvPr/>
        </p:nvSpPr>
        <p:spPr>
          <a:xfrm>
            <a:off x="4023360" y="4809744"/>
            <a:ext cx="6035040" cy="292608"/>
          </a:xfrm>
          <a:prstGeom prst="rect">
            <a:avLst/>
          </a:prstGeom>
          <a:solidFill>
            <a:srgbClr val="EAE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00D366-1D54-4558-8D1D-D456511AE1A3}"/>
              </a:ext>
            </a:extLst>
          </p:cNvPr>
          <p:cNvSpPr>
            <a:spLocks noGrp="1"/>
          </p:cNvSpPr>
          <p:nvPr/>
        </p:nvSpPr>
        <p:spPr>
          <a:xfrm>
            <a:off x="4023360" y="4809744"/>
            <a:ext cx="1082827" cy="292608"/>
          </a:xfrm>
          <a:prstGeom prst="rect">
            <a:avLst/>
          </a:prstGeom>
          <a:solidFill>
            <a:srgbClr val="2C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9DD94B-C52C-41C8-8D02-4E1D404B2DC3}"/>
              </a:ext>
            </a:extLst>
          </p:cNvPr>
          <p:cNvSpPr>
            <a:spLocks noGrp="1"/>
          </p:cNvSpPr>
          <p:nvPr/>
        </p:nvSpPr>
        <p:spPr>
          <a:xfrm>
            <a:off x="10241280" y="4850724"/>
            <a:ext cx="128016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6.3%  £192k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C9B79E-5AC6-4564-A5A6-BF3AE779A5D1}"/>
              </a:ext>
            </a:extLst>
          </p:cNvPr>
          <p:cNvSpPr>
            <a:spLocks noGrp="1"/>
          </p:cNvSpPr>
          <p:nvPr/>
        </p:nvSpPr>
        <p:spPr>
          <a:xfrm>
            <a:off x="590702" y="5394960"/>
            <a:ext cx="10707624" cy="640080"/>
          </a:xfrm>
          <a:prstGeom prst="rect">
            <a:avLst/>
          </a:prstGeom>
          <a:solidFill>
            <a:srgbClr val="10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B59AB6-C399-470E-81B4-42EF1D468B5F}"/>
              </a:ext>
            </a:extLst>
          </p:cNvPr>
          <p:cNvSpPr>
            <a:spLocks noGrp="1"/>
          </p:cNvSpPr>
          <p:nvPr/>
        </p:nvSpPr>
        <p:spPr>
          <a:xfrm>
            <a:off x="868680" y="5505450"/>
            <a:ext cx="676275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200" b="0">
                <a:solidFill>
                  <a:srgbClr val="BFEAE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FEAE5"/>
                </a:solidFill>
                <a:latin typeface="Aptos"/>
                <a:ea typeface="Aptos"/>
                <a:cs typeface="Aptos"/>
              </a:rPr>
              <a:t>£3.063m operating funding  +  £319k future restricted VARA capital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374E8F-69D1-434C-9B55-A8ECB4910DA4}"/>
              </a:ext>
            </a:extLst>
          </p:cNvPr>
          <p:cNvSpPr>
            <a:spLocks noGrp="1"/>
          </p:cNvSpPr>
          <p:nvPr/>
        </p:nvSpPr>
        <p:spPr>
          <a:xfrm>
            <a:off x="7762875" y="5500688"/>
            <a:ext cx="3209925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None/>
              <a:defRPr sz="150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£3.382m staged total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DA3AB6-6943-4B6B-9FC2-633BF37B8793}"/>
              </a:ext>
            </a:extLst>
          </p:cNvPr>
          <p:cNvSpPr>
            <a:spLocks noGrp="1"/>
          </p:cNvSpPr>
          <p:nvPr/>
        </p:nvSpPr>
        <p:spPr>
          <a:xfrm>
            <a:off x="590741" y="6105525"/>
            <a:ext cx="990600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013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M12 paid pilot  •  M18 licence target  •  Y4 M8 base-case break-even</a:t>
            </a:r>
          </a:p>
          <a:p>
            <a:pPr algn="l">
              <a:buNone/>
              <a:defRPr sz="1013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Restricted capital is a scope-dependent placeholder; client funds are safeguarded, not runway.</a:t>
            </a:r>
          </a:p>
        </p:txBody>
      </p:sp>
    </p:spTree>
    <p:extLst>
      <p:ext uri="{BB962C8B-B14F-4D97-AF65-F5344CB8AC3E}">
        <p14:creationId xmlns:p14="http://schemas.microsoft.com/office/powerpoint/2010/main" val="581601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kicker-marker"/>
          <p:cNvSpPr/>
          <p:nvPr/>
        </p:nvSpPr>
        <p:spPr>
          <a:xfrm>
            <a:off x="530352" y="438912"/>
            <a:ext cx="73152" cy="73152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kicker-label"/>
          <p:cNvSpPr/>
          <p:nvPr/>
        </p:nvSpPr>
        <p:spPr>
          <a:xfrm>
            <a:off x="722376" y="425196"/>
            <a:ext cx="6858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/>
            <a:r>
              <a:rPr sz="900" b="1" dirty="0">
                <a:solidFill>
                  <a:srgbClr val="6B7280"/>
                </a:solidFill>
                <a:latin typeface="Aptos"/>
              </a:rPr>
              <a:t>COMPETITION</a:t>
            </a:r>
          </a:p>
        </p:txBody>
      </p:sp>
      <p:sp>
        <p:nvSpPr>
          <p:cNvPr id="5" name="headline"/>
          <p:cNvSpPr/>
          <p:nvPr/>
        </p:nvSpPr>
        <p:spPr>
          <a:xfrm>
            <a:off x="530352" y="658368"/>
            <a:ext cx="1078992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/>
            <a:r>
              <a:rPr sz="3000" b="1">
                <a:solidFill>
                  <a:srgbClr val="0B1B3A"/>
                </a:solidFill>
                <a:latin typeface="Aptos Display"/>
              </a:rPr>
              <a:t>Every funded competitor releases on buyer approval, not document proof.</a:t>
            </a:r>
          </a:p>
        </p:txBody>
      </p:sp>
      <p:sp>
        <p:nvSpPr>
          <p:cNvPr id="6" name="subtitle"/>
          <p:cNvSpPr/>
          <p:nvPr/>
        </p:nvSpPr>
        <p:spPr>
          <a:xfrm>
            <a:off x="566928" y="1572768"/>
            <a:ext cx="1060704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/>
            <a:r>
              <a:rPr sz="1500" b="0">
                <a:solidFill>
                  <a:srgbClr val="1B2430"/>
                </a:solidFill>
                <a:latin typeface="Aptos"/>
              </a:rPr>
              <a:t>Tazapay, Truzo, XREX and Komgo all wait for a human signal to pay. Contour tried full automation and folded.</a:t>
            </a:r>
          </a:p>
        </p:txBody>
      </p:sp>
      <p:sp>
        <p:nvSpPr>
          <p:cNvPr id="7" name="chip-Tazapay"/>
          <p:cNvSpPr/>
          <p:nvPr/>
        </p:nvSpPr>
        <p:spPr>
          <a:xfrm>
            <a:off x="594360" y="2489454"/>
            <a:ext cx="128016" cy="128016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name-Tazapay"/>
          <p:cNvSpPr/>
          <p:nvPr/>
        </p:nvSpPr>
        <p:spPr>
          <a:xfrm>
            <a:off x="868680" y="2331720"/>
            <a:ext cx="1874519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400" b="1">
                <a:solidFill>
                  <a:srgbClr val="0E8C7F"/>
                </a:solidFill>
                <a:latin typeface="Aptos"/>
              </a:rPr>
              <a:t>Tazapay</a:t>
            </a:r>
          </a:p>
        </p:txBody>
      </p:sp>
      <p:sp>
        <p:nvSpPr>
          <p:cNvPr id="9" name="detail-Tazapay"/>
          <p:cNvSpPr/>
          <p:nvPr/>
        </p:nvSpPr>
        <p:spPr>
          <a:xfrm>
            <a:off x="2788920" y="2331720"/>
            <a:ext cx="5989320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300" b="0" dirty="0">
                <a:solidFill>
                  <a:srgbClr val="1B2430"/>
                </a:solidFill>
                <a:latin typeface="Aptos"/>
              </a:rPr>
              <a:t>Releases on buyer approval  ·  0.8%</a:t>
            </a:r>
            <a:r>
              <a:rPr lang="en-US" sz="1300" b="0" dirty="0">
                <a:solidFill>
                  <a:srgbClr val="1B2430"/>
                </a:solidFill>
                <a:latin typeface="Aptos"/>
              </a:rPr>
              <a:t> - </a:t>
            </a:r>
            <a:r>
              <a:rPr sz="1300" b="0" dirty="0">
                <a:solidFill>
                  <a:srgbClr val="1B2430"/>
                </a:solidFill>
                <a:latin typeface="Aptos"/>
              </a:rPr>
              <a:t>3.8%</a:t>
            </a:r>
          </a:p>
        </p:txBody>
      </p:sp>
      <p:sp>
        <p:nvSpPr>
          <p:cNvPr id="10" name="status-Tazapay"/>
          <p:cNvSpPr/>
          <p:nvPr/>
        </p:nvSpPr>
        <p:spPr>
          <a:xfrm>
            <a:off x="8823960" y="2331720"/>
            <a:ext cx="1874519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/>
            <a:r>
              <a:rPr sz="1200" b="0">
                <a:solidFill>
                  <a:srgbClr val="6B7280"/>
                </a:solidFill>
                <a:latin typeface="Aptos"/>
              </a:rPr>
              <a:t>Active</a:t>
            </a:r>
          </a:p>
        </p:txBody>
      </p:sp>
      <p:sp>
        <p:nvSpPr>
          <p:cNvPr id="11" name="chip-Truzo"/>
          <p:cNvSpPr/>
          <p:nvPr/>
        </p:nvSpPr>
        <p:spPr>
          <a:xfrm>
            <a:off x="594360" y="2932938"/>
            <a:ext cx="128016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name-Truzo"/>
          <p:cNvSpPr/>
          <p:nvPr/>
        </p:nvSpPr>
        <p:spPr>
          <a:xfrm>
            <a:off x="868680" y="2775203"/>
            <a:ext cx="1874519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400" b="1">
                <a:solidFill>
                  <a:srgbClr val="1F6FB2"/>
                </a:solidFill>
                <a:latin typeface="Aptos"/>
              </a:rPr>
              <a:t>Truzo</a:t>
            </a:r>
          </a:p>
        </p:txBody>
      </p:sp>
      <p:sp>
        <p:nvSpPr>
          <p:cNvPr id="13" name="detail-Truzo"/>
          <p:cNvSpPr/>
          <p:nvPr/>
        </p:nvSpPr>
        <p:spPr>
          <a:xfrm>
            <a:off x="2788920" y="2775203"/>
            <a:ext cx="5989320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300" b="0" dirty="0">
                <a:solidFill>
                  <a:srgbClr val="1B2430"/>
                </a:solidFill>
                <a:latin typeface="Aptos"/>
              </a:rPr>
              <a:t>Releases on delivery confirmation  ·  0.22%</a:t>
            </a:r>
            <a:r>
              <a:rPr lang="en-US" sz="1300" b="0" dirty="0">
                <a:solidFill>
                  <a:srgbClr val="1B2430"/>
                </a:solidFill>
                <a:latin typeface="Aptos"/>
              </a:rPr>
              <a:t> - </a:t>
            </a:r>
            <a:r>
              <a:rPr sz="1300" b="0" dirty="0">
                <a:solidFill>
                  <a:srgbClr val="1B2430"/>
                </a:solidFill>
                <a:latin typeface="Aptos"/>
              </a:rPr>
              <a:t>3.1% + £25 surcharge</a:t>
            </a:r>
          </a:p>
        </p:txBody>
      </p:sp>
      <p:sp>
        <p:nvSpPr>
          <p:cNvPr id="14" name="status-Truzo"/>
          <p:cNvSpPr/>
          <p:nvPr/>
        </p:nvSpPr>
        <p:spPr>
          <a:xfrm>
            <a:off x="8823960" y="2775203"/>
            <a:ext cx="1874519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/>
            <a:r>
              <a:rPr sz="1200" b="0">
                <a:solidFill>
                  <a:srgbClr val="6B7280"/>
                </a:solidFill>
                <a:latin typeface="Aptos"/>
              </a:rPr>
              <a:t>Active, narrow corridor</a:t>
            </a:r>
          </a:p>
        </p:txBody>
      </p:sp>
      <p:sp>
        <p:nvSpPr>
          <p:cNvPr id="15" name="chip-XREX"/>
          <p:cNvSpPr/>
          <p:nvPr/>
        </p:nvSpPr>
        <p:spPr>
          <a:xfrm>
            <a:off x="594360" y="3376422"/>
            <a:ext cx="128016" cy="128016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name-XREX"/>
          <p:cNvSpPr/>
          <p:nvPr/>
        </p:nvSpPr>
        <p:spPr>
          <a:xfrm>
            <a:off x="868680" y="3218687"/>
            <a:ext cx="1874519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400" b="1">
                <a:solidFill>
                  <a:srgbClr val="5A4FBF"/>
                </a:solidFill>
                <a:latin typeface="Aptos"/>
              </a:rPr>
              <a:t>XREX</a:t>
            </a:r>
          </a:p>
        </p:txBody>
      </p:sp>
      <p:sp>
        <p:nvSpPr>
          <p:cNvPr id="17" name="detail-XREX"/>
          <p:cNvSpPr/>
          <p:nvPr/>
        </p:nvSpPr>
        <p:spPr>
          <a:xfrm>
            <a:off x="2788920" y="3218687"/>
            <a:ext cx="5989320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300" b="0">
                <a:solidFill>
                  <a:srgbClr val="1B2430"/>
                </a:solidFill>
                <a:latin typeface="Aptos"/>
              </a:rPr>
              <a:t>Releases on buyer approval  ·  &lt;1% + 10 USDT/escrow</a:t>
            </a:r>
          </a:p>
        </p:txBody>
      </p:sp>
      <p:sp>
        <p:nvSpPr>
          <p:cNvPr id="18" name="status-XREX"/>
          <p:cNvSpPr/>
          <p:nvPr/>
        </p:nvSpPr>
        <p:spPr>
          <a:xfrm>
            <a:off x="8823960" y="3218687"/>
            <a:ext cx="1874519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/>
            <a:r>
              <a:rPr sz="1200" b="0">
                <a:solidFill>
                  <a:srgbClr val="6B7280"/>
                </a:solidFill>
                <a:latin typeface="Aptos"/>
              </a:rPr>
              <a:t>Active</a:t>
            </a:r>
          </a:p>
        </p:txBody>
      </p:sp>
      <p:sp>
        <p:nvSpPr>
          <p:cNvPr id="19" name="chip-Komgo"/>
          <p:cNvSpPr/>
          <p:nvPr/>
        </p:nvSpPr>
        <p:spPr>
          <a:xfrm>
            <a:off x="594360" y="3819905"/>
            <a:ext cx="128016" cy="128016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name-Komgo"/>
          <p:cNvSpPr/>
          <p:nvPr/>
        </p:nvSpPr>
        <p:spPr>
          <a:xfrm>
            <a:off x="868680" y="3662172"/>
            <a:ext cx="1874519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400" b="1">
                <a:solidFill>
                  <a:srgbClr val="C77D18"/>
                </a:solidFill>
                <a:latin typeface="Aptos"/>
              </a:rPr>
              <a:t>Komgo</a:t>
            </a:r>
          </a:p>
        </p:txBody>
      </p:sp>
      <p:sp>
        <p:nvSpPr>
          <p:cNvPr id="21" name="detail-Komgo"/>
          <p:cNvSpPr/>
          <p:nvPr/>
        </p:nvSpPr>
        <p:spPr>
          <a:xfrm>
            <a:off x="2788920" y="3662172"/>
            <a:ext cx="5989320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300" b="0">
                <a:solidFill>
                  <a:srgbClr val="1B2430"/>
                </a:solidFill>
                <a:latin typeface="Aptos"/>
              </a:rPr>
              <a:t>Follows the LC process  ·  fee not disclosed</a:t>
            </a:r>
          </a:p>
        </p:txBody>
      </p:sp>
      <p:sp>
        <p:nvSpPr>
          <p:cNvPr id="22" name="status-Komgo"/>
          <p:cNvSpPr/>
          <p:nvPr/>
        </p:nvSpPr>
        <p:spPr>
          <a:xfrm>
            <a:off x="8823960" y="3662172"/>
            <a:ext cx="1874519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/>
            <a:r>
              <a:rPr sz="1200" b="0">
                <a:solidFill>
                  <a:srgbClr val="6B7280"/>
                </a:solidFill>
                <a:latin typeface="Aptos"/>
              </a:rPr>
              <a:t>Active, banks only</a:t>
            </a:r>
          </a:p>
        </p:txBody>
      </p:sp>
      <p:sp>
        <p:nvSpPr>
          <p:cNvPr id="23" name="chip-Contour"/>
          <p:cNvSpPr/>
          <p:nvPr/>
        </p:nvSpPr>
        <p:spPr>
          <a:xfrm>
            <a:off x="594360" y="4263390"/>
            <a:ext cx="128016" cy="12801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name-Contour"/>
          <p:cNvSpPr/>
          <p:nvPr/>
        </p:nvSpPr>
        <p:spPr>
          <a:xfrm>
            <a:off x="868680" y="4105656"/>
            <a:ext cx="1874519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400" b="1">
                <a:solidFill>
                  <a:srgbClr val="6B7280"/>
                </a:solidFill>
                <a:latin typeface="Aptos"/>
              </a:rPr>
              <a:t>Contour</a:t>
            </a:r>
          </a:p>
        </p:txBody>
      </p:sp>
      <p:sp>
        <p:nvSpPr>
          <p:cNvPr id="25" name="detail-Contour"/>
          <p:cNvSpPr/>
          <p:nvPr/>
        </p:nvSpPr>
        <p:spPr>
          <a:xfrm>
            <a:off x="2788920" y="4105656"/>
            <a:ext cx="5989320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300" b="0">
                <a:solidFill>
                  <a:srgbClr val="1B2430"/>
                </a:solidFill>
                <a:latin typeface="Aptos"/>
              </a:rPr>
              <a:t>Backed by HSBC / StanChart / Citi, $18.3m raised</a:t>
            </a:r>
          </a:p>
        </p:txBody>
      </p:sp>
      <p:sp>
        <p:nvSpPr>
          <p:cNvPr id="26" name="status-Contour"/>
          <p:cNvSpPr/>
          <p:nvPr/>
        </p:nvSpPr>
        <p:spPr>
          <a:xfrm>
            <a:off x="8823960" y="4105656"/>
            <a:ext cx="1874519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/>
            <a:r>
              <a:rPr sz="1200" b="0">
                <a:solidFill>
                  <a:srgbClr val="6B7280"/>
                </a:solidFill>
                <a:latin typeface="Aptos"/>
              </a:rPr>
              <a:t>Shut down Nov 2023</a:t>
            </a:r>
          </a:p>
        </p:txBody>
      </p:sp>
      <p:sp>
        <p:nvSpPr>
          <p:cNvPr id="27" name="chip-Blockmediary"/>
          <p:cNvSpPr/>
          <p:nvPr/>
        </p:nvSpPr>
        <p:spPr>
          <a:xfrm>
            <a:off x="594360" y="4706874"/>
            <a:ext cx="128016" cy="128016"/>
          </a:xfrm>
          <a:prstGeom prst="rect">
            <a:avLst/>
          </a:prstGeom>
          <a:solidFill>
            <a:srgbClr val="2C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name-Blockmediary"/>
          <p:cNvSpPr/>
          <p:nvPr/>
        </p:nvSpPr>
        <p:spPr>
          <a:xfrm>
            <a:off x="868680" y="4549140"/>
            <a:ext cx="1874519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400" b="1">
                <a:solidFill>
                  <a:srgbClr val="2C7A33"/>
                </a:solidFill>
                <a:latin typeface="Aptos"/>
              </a:rPr>
              <a:t>Blockmediary</a:t>
            </a:r>
          </a:p>
        </p:txBody>
      </p:sp>
      <p:sp>
        <p:nvSpPr>
          <p:cNvPr id="29" name="detail-Blockmediary"/>
          <p:cNvSpPr/>
          <p:nvPr/>
        </p:nvSpPr>
        <p:spPr>
          <a:xfrm>
            <a:off x="2788920" y="4549140"/>
            <a:ext cx="5989320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300" b="1">
                <a:solidFill>
                  <a:srgbClr val="1B2430"/>
                </a:solidFill>
                <a:latin typeface="Aptos"/>
              </a:rPr>
              <a:t>Releases on document compliance  ·  0.8% / 1.5% / 3.0%, tiered</a:t>
            </a:r>
          </a:p>
        </p:txBody>
      </p:sp>
      <p:sp>
        <p:nvSpPr>
          <p:cNvPr id="30" name="status-Blockmediary"/>
          <p:cNvSpPr/>
          <p:nvPr/>
        </p:nvSpPr>
        <p:spPr>
          <a:xfrm>
            <a:off x="8823960" y="4549140"/>
            <a:ext cx="1874519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/>
            <a:r>
              <a:rPr sz="1200" b="1">
                <a:solidFill>
                  <a:srgbClr val="2C7A33"/>
                </a:solidFill>
                <a:latin typeface="Aptos"/>
              </a:rPr>
              <a:t>Building</a:t>
            </a:r>
          </a:p>
        </p:txBody>
      </p:sp>
      <p:sp>
        <p:nvSpPr>
          <p:cNvPr id="31" name="footer-band"/>
          <p:cNvSpPr/>
          <p:nvPr/>
        </p:nvSpPr>
        <p:spPr>
          <a:xfrm>
            <a:off x="594360" y="5394960"/>
            <a:ext cx="10707624" cy="64008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footer-left"/>
          <p:cNvSpPr/>
          <p:nvPr/>
        </p:nvSpPr>
        <p:spPr>
          <a:xfrm>
            <a:off x="868680" y="5513832"/>
            <a:ext cx="6720840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200" b="0" dirty="0">
                <a:solidFill>
                  <a:srgbClr val="BFEAE5"/>
                </a:solidFill>
                <a:latin typeface="Aptos"/>
              </a:rPr>
              <a:t>Contour was the most-funded LC-replacement </a:t>
            </a:r>
            <a:r>
              <a:rPr lang="en-US" sz="1200" b="0" dirty="0">
                <a:solidFill>
                  <a:srgbClr val="BFEAE5"/>
                </a:solidFill>
                <a:latin typeface="Aptos"/>
              </a:rPr>
              <a:t>attempt,</a:t>
            </a:r>
            <a:r>
              <a:rPr sz="1200" b="0" dirty="0">
                <a:solidFill>
                  <a:srgbClr val="BFEAE5"/>
                </a:solidFill>
                <a:latin typeface="Aptos"/>
              </a:rPr>
              <a:t> </a:t>
            </a:r>
            <a:r>
              <a:rPr lang="en-US" sz="1200" dirty="0">
                <a:solidFill>
                  <a:srgbClr val="BFEAE5"/>
                </a:solidFill>
                <a:latin typeface="Aptos"/>
              </a:rPr>
              <a:t>and</a:t>
            </a:r>
            <a:r>
              <a:rPr sz="1200" b="0" dirty="0">
                <a:solidFill>
                  <a:srgbClr val="BFEAE5"/>
                </a:solidFill>
                <a:latin typeface="Aptos"/>
              </a:rPr>
              <a:t> it still failed structurally.</a:t>
            </a:r>
          </a:p>
        </p:txBody>
      </p:sp>
      <p:sp>
        <p:nvSpPr>
          <p:cNvPr id="33" name="footer-right"/>
          <p:cNvSpPr/>
          <p:nvPr/>
        </p:nvSpPr>
        <p:spPr>
          <a:xfrm>
            <a:off x="7763256" y="5486400"/>
            <a:ext cx="32461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500" b="0">
                <a:solidFill>
                  <a:srgbClr val="FFFFFF"/>
                </a:solidFill>
                <a:latin typeface="Aptos Display"/>
              </a:rPr>
              <a:t>The gap stayed open.</a:t>
            </a:r>
          </a:p>
        </p:txBody>
      </p:sp>
      <p:sp>
        <p:nvSpPr>
          <p:cNvPr id="34" name="caption"/>
          <p:cNvSpPr/>
          <p:nvPr/>
        </p:nvSpPr>
        <p:spPr>
          <a:xfrm>
            <a:off x="594360" y="6108192"/>
            <a:ext cx="990295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/>
            <a:r>
              <a:rPr sz="1000" b="0" dirty="0">
                <a:solidFill>
                  <a:srgbClr val="6B7280"/>
                </a:solidFill>
                <a:latin typeface="Aptos"/>
              </a:rPr>
              <a:t>Full company-by-company sourcing: Competitor</a:t>
            </a:r>
            <a:r>
              <a:rPr lang="en-US" sz="1000" b="0" dirty="0">
                <a:solidFill>
                  <a:srgbClr val="6B7280"/>
                </a:solidFill>
                <a:latin typeface="Aptos"/>
              </a:rPr>
              <a:t>_</a:t>
            </a:r>
            <a:r>
              <a:rPr sz="1000" b="0" dirty="0">
                <a:solidFill>
                  <a:srgbClr val="6B7280"/>
                </a:solidFill>
                <a:latin typeface="Aptos"/>
              </a:rPr>
              <a:t>Analysis</a:t>
            </a:r>
            <a:r>
              <a:rPr lang="en-US" sz="1000" dirty="0">
                <a:solidFill>
                  <a:srgbClr val="6B7280"/>
                </a:solidFill>
                <a:latin typeface="Aptos"/>
              </a:rPr>
              <a:t>.pdf</a:t>
            </a:r>
            <a:endParaRPr sz="1000" b="0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35" name="page-number"/>
          <p:cNvSpPr/>
          <p:nvPr/>
        </p:nvSpPr>
        <p:spPr>
          <a:xfrm>
            <a:off x="11109960" y="6437376"/>
            <a:ext cx="54864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/>
            <a:r>
              <a:rPr sz="900" b="1">
                <a:solidFill>
                  <a:srgbClr val="6B728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-18288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kicker-marker"/>
          <p:cNvSpPr/>
          <p:nvPr/>
        </p:nvSpPr>
        <p:spPr>
          <a:xfrm>
            <a:off x="530352" y="438912"/>
            <a:ext cx="73152" cy="73152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kicker-label"/>
          <p:cNvSpPr/>
          <p:nvPr/>
        </p:nvSpPr>
        <p:spPr>
          <a:xfrm>
            <a:off x="722376" y="365760"/>
            <a:ext cx="6858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/>
            <a:r>
              <a:rPr sz="900" b="1">
                <a:solidFill>
                  <a:srgbClr val="6B7280"/>
                </a:solidFill>
                <a:latin typeface="Aptos"/>
              </a:rPr>
              <a:t>LEGAL &amp; COMPLIANCE</a:t>
            </a:r>
          </a:p>
        </p:txBody>
      </p:sp>
      <p:sp>
        <p:nvSpPr>
          <p:cNvPr id="5" name="headline"/>
          <p:cNvSpPr/>
          <p:nvPr/>
        </p:nvSpPr>
        <p:spPr>
          <a:xfrm>
            <a:off x="530352" y="658368"/>
            <a:ext cx="1078992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/>
            <a:r>
              <a:rPr sz="3000" b="1" dirty="0">
                <a:solidFill>
                  <a:srgbClr val="0B1B3A"/>
                </a:solidFill>
                <a:latin typeface="Aptos Display"/>
              </a:rPr>
              <a:t>The register grew from 15 items to 31 and reversed our UAE route.</a:t>
            </a:r>
          </a:p>
        </p:txBody>
      </p:sp>
      <p:sp>
        <p:nvSpPr>
          <p:cNvPr id="6" name="subtitle"/>
          <p:cNvSpPr/>
          <p:nvPr/>
        </p:nvSpPr>
        <p:spPr>
          <a:xfrm>
            <a:off x="566928" y="1572768"/>
            <a:ext cx="1060704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/>
            <a:r>
              <a:rPr sz="1500" b="0">
                <a:solidFill>
                  <a:srgbClr val="1B2430"/>
                </a:solidFill>
                <a:latin typeface="Aptos"/>
              </a:rPr>
              <a:t>June 8 named ADGM/DIFC as a pair. Since then: five risks that changed the plan, not just the paperwork.</a:t>
            </a:r>
          </a:p>
        </p:txBody>
      </p:sp>
      <p:sp>
        <p:nvSpPr>
          <p:cNvPr id="7" name="chip-UAE ROUTE"/>
          <p:cNvSpPr/>
          <p:nvPr/>
        </p:nvSpPr>
        <p:spPr>
          <a:xfrm>
            <a:off x="594360" y="2542032"/>
            <a:ext cx="128016" cy="128016"/>
          </a:xfrm>
          <a:prstGeom prst="rect">
            <a:avLst/>
          </a:prstGeom>
          <a:solidFill>
            <a:srgbClr val="2C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abel-UAE ROUTE"/>
          <p:cNvSpPr/>
          <p:nvPr/>
        </p:nvSpPr>
        <p:spPr>
          <a:xfrm>
            <a:off x="868680" y="2331720"/>
            <a:ext cx="196596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300" b="1">
                <a:solidFill>
                  <a:srgbClr val="2C7A33"/>
                </a:solidFill>
                <a:latin typeface="Aptos"/>
              </a:rPr>
              <a:t>UAE ROUTE</a:t>
            </a:r>
          </a:p>
        </p:txBody>
      </p:sp>
      <p:sp>
        <p:nvSpPr>
          <p:cNvPr id="9" name="detail-UAE ROUTE"/>
          <p:cNvSpPr/>
          <p:nvPr/>
        </p:nvSpPr>
        <p:spPr>
          <a:xfrm>
            <a:off x="2926080" y="2331720"/>
            <a:ext cx="836676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300" b="0" dirty="0">
                <a:solidFill>
                  <a:srgbClr val="1B2430"/>
                </a:solidFill>
                <a:latin typeface="Aptos"/>
              </a:rPr>
              <a:t>DIFC partner-led pilot (Month 12) + parallel VARA licence (Month 18)</a:t>
            </a:r>
            <a:r>
              <a:rPr lang="en-US" sz="1300" b="0" dirty="0">
                <a:solidFill>
                  <a:srgbClr val="1B2430"/>
                </a:solidFill>
                <a:latin typeface="Aptos"/>
              </a:rPr>
              <a:t>,</a:t>
            </a:r>
            <a:r>
              <a:rPr sz="1300" b="0" dirty="0">
                <a:solidFill>
                  <a:srgbClr val="1B2430"/>
                </a:solidFill>
                <a:latin typeface="Aptos"/>
              </a:rPr>
              <a:t> ADGM </a:t>
            </a:r>
            <a:r>
              <a:rPr lang="en-US" sz="1300" b="0" dirty="0">
                <a:solidFill>
                  <a:srgbClr val="1B2430"/>
                </a:solidFill>
                <a:latin typeface="Aptos"/>
              </a:rPr>
              <a:t>option </a:t>
            </a:r>
            <a:r>
              <a:rPr sz="1300" b="0" dirty="0">
                <a:solidFill>
                  <a:srgbClr val="1B2430"/>
                </a:solidFill>
                <a:latin typeface="Aptos"/>
              </a:rPr>
              <a:t>dropped</a:t>
            </a:r>
          </a:p>
        </p:txBody>
      </p:sp>
      <p:sp>
        <p:nvSpPr>
          <p:cNvPr id="10" name="chip-GDPR"/>
          <p:cNvSpPr/>
          <p:nvPr/>
        </p:nvSpPr>
        <p:spPr>
          <a:xfrm>
            <a:off x="594360" y="3090672"/>
            <a:ext cx="128016" cy="128016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abel-GDPR"/>
          <p:cNvSpPr/>
          <p:nvPr/>
        </p:nvSpPr>
        <p:spPr>
          <a:xfrm>
            <a:off x="868680" y="2880360"/>
            <a:ext cx="196596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300" b="1">
                <a:solidFill>
                  <a:srgbClr val="C77D18"/>
                </a:solidFill>
                <a:latin typeface="Aptos"/>
              </a:rPr>
              <a:t>GDPR</a:t>
            </a:r>
          </a:p>
        </p:txBody>
      </p:sp>
      <p:sp>
        <p:nvSpPr>
          <p:cNvPr id="12" name="detail-GDPR"/>
          <p:cNvSpPr/>
          <p:nvPr/>
        </p:nvSpPr>
        <p:spPr>
          <a:xfrm>
            <a:off x="2926080" y="2880360"/>
            <a:ext cx="836676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lang="en-US" sz="1300" b="0" dirty="0" err="1">
                <a:solidFill>
                  <a:srgbClr val="1B2430"/>
                </a:solidFill>
                <a:latin typeface="Aptos"/>
              </a:rPr>
              <a:t>specHash</a:t>
            </a:r>
            <a:r>
              <a:rPr lang="en-US" sz="1300" b="0" dirty="0">
                <a:solidFill>
                  <a:srgbClr val="1B2430"/>
                </a:solidFill>
                <a:latin typeface="Aptos"/>
              </a:rPr>
              <a:t> (roadmap): committing it to a public chain could still count as personal data under GDPR Art. 17</a:t>
            </a:r>
            <a:endParaRPr sz="1300" b="0" dirty="0">
              <a:solidFill>
                <a:srgbClr val="1B2430"/>
              </a:solidFill>
              <a:latin typeface="Aptos"/>
            </a:endParaRPr>
          </a:p>
        </p:txBody>
      </p:sp>
      <p:sp>
        <p:nvSpPr>
          <p:cNvPr id="13" name="chip-RELEASER KEY"/>
          <p:cNvSpPr/>
          <p:nvPr/>
        </p:nvSpPr>
        <p:spPr>
          <a:xfrm>
            <a:off x="594360" y="3639312"/>
            <a:ext cx="128016" cy="128016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label-RELEASER KEY"/>
          <p:cNvSpPr/>
          <p:nvPr/>
        </p:nvSpPr>
        <p:spPr>
          <a:xfrm>
            <a:off x="868680" y="3429000"/>
            <a:ext cx="196596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300" b="1">
                <a:solidFill>
                  <a:srgbClr val="5A4FBF"/>
                </a:solidFill>
                <a:latin typeface="Aptos"/>
              </a:rPr>
              <a:t>RELEASER KEY</a:t>
            </a:r>
          </a:p>
        </p:txBody>
      </p:sp>
      <p:sp>
        <p:nvSpPr>
          <p:cNvPr id="15" name="detail-RELEASER KEY"/>
          <p:cNvSpPr/>
          <p:nvPr/>
        </p:nvSpPr>
        <p:spPr>
          <a:xfrm>
            <a:off x="2926080" y="3429000"/>
            <a:ext cx="836676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300" b="0">
                <a:solidFill>
                  <a:srgbClr val="1B2430"/>
                </a:solidFill>
                <a:latin typeface="Aptos"/>
              </a:rPr>
              <a:t>Key compromise = FCA/VARA breach notification + POCA criminal liability, not just a technical risk</a:t>
            </a:r>
          </a:p>
        </p:txBody>
      </p:sp>
      <p:sp>
        <p:nvSpPr>
          <p:cNvPr id="16" name="chip-CONSUMER DUTY"/>
          <p:cNvSpPr/>
          <p:nvPr/>
        </p:nvSpPr>
        <p:spPr>
          <a:xfrm>
            <a:off x="594360" y="4187951"/>
            <a:ext cx="128016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label-CONSUMER DUTY"/>
          <p:cNvSpPr/>
          <p:nvPr/>
        </p:nvSpPr>
        <p:spPr>
          <a:xfrm>
            <a:off x="868680" y="3977639"/>
            <a:ext cx="196596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300" b="1">
                <a:solidFill>
                  <a:srgbClr val="1F6FB2"/>
                </a:solidFill>
                <a:latin typeface="Aptos"/>
              </a:rPr>
              <a:t>CONSUMER DUTY</a:t>
            </a:r>
          </a:p>
        </p:txBody>
      </p:sp>
      <p:sp>
        <p:nvSpPr>
          <p:cNvPr id="18" name="detail-CONSUMER DUTY"/>
          <p:cNvSpPr/>
          <p:nvPr/>
        </p:nvSpPr>
        <p:spPr>
          <a:xfrm>
            <a:off x="2926080" y="3977639"/>
            <a:ext cx="836676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300" b="0" dirty="0">
                <a:solidFill>
                  <a:srgbClr val="1B2430"/>
                </a:solidFill>
                <a:latin typeface="Aptos"/>
              </a:rPr>
              <a:t>Most SME users are retail customers under FCA rules</a:t>
            </a:r>
            <a:r>
              <a:rPr lang="en-US" sz="1300" b="0" dirty="0">
                <a:solidFill>
                  <a:srgbClr val="1B2430"/>
                </a:solidFill>
                <a:latin typeface="Aptos"/>
              </a:rPr>
              <a:t>, and</a:t>
            </a:r>
            <a:r>
              <a:rPr sz="1300" b="0" dirty="0">
                <a:solidFill>
                  <a:srgbClr val="1B2430"/>
                </a:solidFill>
                <a:latin typeface="Aptos"/>
              </a:rPr>
              <a:t> the duty applies in full</a:t>
            </a:r>
          </a:p>
        </p:txBody>
      </p:sp>
      <p:sp>
        <p:nvSpPr>
          <p:cNvPr id="19" name="chip-UCP 600"/>
          <p:cNvSpPr/>
          <p:nvPr/>
        </p:nvSpPr>
        <p:spPr>
          <a:xfrm>
            <a:off x="594360" y="4736591"/>
            <a:ext cx="128016" cy="128016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label-UCP 600"/>
          <p:cNvSpPr/>
          <p:nvPr/>
        </p:nvSpPr>
        <p:spPr>
          <a:xfrm>
            <a:off x="868680" y="4526279"/>
            <a:ext cx="196596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300" b="1">
                <a:solidFill>
                  <a:srgbClr val="0E8C7F"/>
                </a:solidFill>
                <a:latin typeface="Aptos"/>
              </a:rPr>
              <a:t>UCP 600</a:t>
            </a:r>
          </a:p>
        </p:txBody>
      </p:sp>
      <p:sp>
        <p:nvSpPr>
          <p:cNvPr id="21" name="detail-UCP 600"/>
          <p:cNvSpPr/>
          <p:nvPr/>
        </p:nvSpPr>
        <p:spPr>
          <a:xfrm>
            <a:off x="2926080" y="4526279"/>
            <a:ext cx="836676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300" b="0">
                <a:solidFill>
                  <a:srgbClr val="1B2430"/>
                </a:solidFill>
                <a:latin typeface="Aptos"/>
              </a:rPr>
              <a:t>From “UCP 600-inspired” to an article-by-article, Incoterm-by-Incoterm document checklist</a:t>
            </a:r>
          </a:p>
        </p:txBody>
      </p:sp>
      <p:sp>
        <p:nvSpPr>
          <p:cNvPr id="22" name="footer-band"/>
          <p:cNvSpPr/>
          <p:nvPr/>
        </p:nvSpPr>
        <p:spPr>
          <a:xfrm>
            <a:off x="594360" y="5394960"/>
            <a:ext cx="10707624" cy="64008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ooter-left"/>
          <p:cNvSpPr/>
          <p:nvPr/>
        </p:nvSpPr>
        <p:spPr>
          <a:xfrm>
            <a:off x="868680" y="5513832"/>
            <a:ext cx="6720840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200" b="0">
                <a:solidFill>
                  <a:srgbClr val="BFEAE5"/>
                </a:solidFill>
                <a:latin typeface="Aptos"/>
              </a:rPr>
              <a:t>Full sourcing, mitigation and the remaining 26 items: supplementary PDF.</a:t>
            </a:r>
          </a:p>
        </p:txBody>
      </p:sp>
      <p:sp>
        <p:nvSpPr>
          <p:cNvPr id="24" name="footer-right"/>
          <p:cNvSpPr/>
          <p:nvPr/>
        </p:nvSpPr>
        <p:spPr>
          <a:xfrm>
            <a:off x="7763256" y="5486400"/>
            <a:ext cx="32461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15 → 31 items</a:t>
            </a:r>
          </a:p>
        </p:txBody>
      </p:sp>
      <p:sp>
        <p:nvSpPr>
          <p:cNvPr id="25" name="caption"/>
          <p:cNvSpPr/>
          <p:nvPr/>
        </p:nvSpPr>
        <p:spPr>
          <a:xfrm>
            <a:off x="594360" y="6108192"/>
            <a:ext cx="990295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r>
              <a:rPr sz="1000" b="0" dirty="0">
                <a:solidFill>
                  <a:srgbClr val="6B7280"/>
                </a:solidFill>
                <a:latin typeface="Aptos"/>
              </a:rPr>
              <a:t>Full risk register: </a:t>
            </a:r>
            <a:r>
              <a:rPr lang="en-US" sz="1000" dirty="0">
                <a:solidFill>
                  <a:srgbClr val="6B7280"/>
                </a:solidFill>
                <a:latin typeface="Aptos"/>
              </a:rPr>
              <a:t>BlockMed_Legal_and_Compliance.</a:t>
            </a:r>
            <a:r>
              <a:rPr lang="en-US" sz="1000" b="0" dirty="0">
                <a:solidFill>
                  <a:srgbClr val="6B7280"/>
                </a:solidFill>
                <a:latin typeface="Aptos"/>
              </a:rPr>
              <a:t>pdf</a:t>
            </a:r>
            <a:endParaRPr sz="1000" b="0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26" name="page-number"/>
          <p:cNvSpPr/>
          <p:nvPr/>
        </p:nvSpPr>
        <p:spPr>
          <a:xfrm>
            <a:off x="11109960" y="6437376"/>
            <a:ext cx="54864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/>
            <a:r>
              <a:rPr sz="900" b="1">
                <a:solidFill>
                  <a:srgbClr val="6B72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1140</Words>
  <Application>Microsoft Office PowerPoint</Application>
  <DocSecurity>0</DocSecurity>
  <PresentationFormat>Widescreen</PresentationFormat>
  <Paragraphs>108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Badhri Narayanan</cp:lastModifiedBy>
  <cp:revision>4</cp:revision>
  <dcterms:created xsi:type="dcterms:W3CDTF">2026-08-13T01:01:50Z</dcterms:created>
  <dcterms:modified xsi:type="dcterms:W3CDTF">2026-08-13T17:53:20Z</dcterms:modified>
</cp:coreProperties>
</file>