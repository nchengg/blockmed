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4cc4d6b4e1fb44a3" Type="http://schemas.openxmlformats.org/officeDocument/2006/relationships/officeDocument" Target="ppt/presentation.xml"/><Relationship Id="R63e42dcf730e4e29" Type="http://schemas.openxmlformats.org/officeDocument/2006/relationships/extended-properties" Target="docProps/app.xml"/><Relationship Id="R71dc742e9df64dd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9e37e1ac444a0e"/>
  </p:sldMasterIdLst>
  <p:notesMasterIdLst>
    <p:notesMasterId xmlns:r="http://schemas.openxmlformats.org/officeDocument/2006/relationships" r:id="Rb0bcad5b87954ee2"/>
  </p:notesMasterIdLst>
  <p:sldIdLst>
    <p:sldId xmlns:r="http://schemas.openxmlformats.org/officeDocument/2006/relationships" id="256" r:id="R83c59cfad7264bba"/>
    <p:sldId xmlns:r="http://schemas.openxmlformats.org/officeDocument/2006/relationships" id="257" r:id="R7b61da6575ee4d63"/>
    <p:sldId xmlns:ns0="http://schemas.openxmlformats.org/officeDocument/2006/relationships" id="258" ns0:id="rI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11d234c3f93140f5" Type="http://schemas.openxmlformats.org/officeDocument/2006/relationships/presProps" Target="presProps.xml"/><Relationship Id="R5e0e6856d299466e" Type="http://schemas.openxmlformats.org/officeDocument/2006/relationships/viewProps" Target="viewProps.xml"/><Relationship Id="R7b61da6575ee4d63" Type="http://schemas.openxmlformats.org/officeDocument/2006/relationships/slide" Target="slides/slide2.xml"/><Relationship Id="R7eec8982098b4fe1" Type="http://schemas.openxmlformats.org/officeDocument/2006/relationships/tableStyles" Target="tableStyles.xml"/><Relationship Id="R83c59cfad7264bba" Type="http://schemas.openxmlformats.org/officeDocument/2006/relationships/slide" Target="slides/slide1.xml"/><Relationship Id="Rac9e37e1ac444a0e" Type="http://schemas.openxmlformats.org/officeDocument/2006/relationships/slideMaster" Target="slideMasters/slideMaster1.xml"/><Relationship Id="Rb0bcad5b87954ee2" Type="http://schemas.openxmlformats.org/officeDocument/2006/relationships/notesMaster" Target="notesMasters/notesMaster1.xml"/><Relationship Id="Rb6003085c60d4255" Type="http://schemas.openxmlformats.org/officeDocument/2006/relationships/theme" Target="theme/theme1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8330fcbe2ac04fa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24b8ceed4df4179" Type="http://schemas.openxmlformats.org/officeDocument/2006/relationships/slide" Target="../slides/slide1.xml"/><Relationship Id="Rededd22462a64586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d6053769fc540ef" Type="http://schemas.openxmlformats.org/officeDocument/2006/relationships/slide" Target="../slides/slide2.xml"/><Relationship Id="R57904e4ceff942a3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is an illustrative forecast, not current trading performance. The base case starts with a paid partner-led pilot in Month 12, receipts in Month 13 and a full VARA licence target in Month 18. Year 3 assumes 333 active customers completing approximately six deals each: 2,000 deals at a £38,015 average trade value produce £76.031m of trade value processed. Tiered escrow and ancillary fees produce £1.371m revenue at 77.1% gross margin. Low/base/high Year 3 revenue is £1.037m/£1.371m/£1.912m, with monthly cash-flow break-even beyond Month 60 / Year 4 Month 8 / Year 4 Month 4. Scale depends on partner-led distribution and remains unvalidated. Buyer escrow balances are assumed to be held for 14 days on average and contribute no operating cash. This is a preliminary presentation model rather than an audited, loan or investment-grade forecast.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financial-projections/Blockmediary_Financial_Model_Submission_Ready_2026-08-13.xlsx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The £3,063,210 figure is the cumulative operating funding requirement to the modeled base-case monthly break-even point, including the £191,516 three-month operating reserve; it is not presented as an immediate one-tranche fundraising ask. The five allocation percentages sum to this operating amount. A separate £319,095 of future restricted VARA capital cannot be spent on runway, producing a £3,382,305 full staged capital requirement. The operating plan includes £345,958 of Year 1 startup and staged regulatory one-offs, £67,000 annual partner-pilot cost and £102,110 annual VARA supervision. The restricted-capital figure remains a planning placeholder pending confirmation of final activity scope, entity structure, legal advice and regulator guidance. Buyer escrow balances are safeguarded client assets, not company revenue, runway or funding capacity.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financial-projections/Blockmediary_Financial_Model_Submission_Ready_2026-08-13.xlsx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df12fb06310477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32c133eb063648c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10B0CEA-0D99-4F27-A153-DE38AA428D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8/6/2026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64A3AEE-F7A6-493E-A1FE-DBE4CD7545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5DF742F-E04A-4991-8636-2D48CF566A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2cf758c975a44ada" Type="http://schemas.openxmlformats.org/officeDocument/2006/relationships/slideLayout" Target="../slideLayouts/slideLayout1.xml"/><Relationship Id="R9657cf20973d4b26" Type="http://schemas.openxmlformats.org/officeDocument/2006/relationships/slideLayout" Target="../slideLayouts/slideLayout2.xml"/><Relationship Id="Rffa9639d56c7418a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f758c975a44ada"/>
    <p:sldLayoutId xmlns:r="http://schemas.openxmlformats.org/officeDocument/2006/relationships" id="2147483650" r:id="R9657cf20973d4b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6b7dcb40c554cee" Type="http://schemas.openxmlformats.org/officeDocument/2006/relationships/notesSlide" Target="../notesSlides/notesSlide1.xml"/><Relationship Id="Ra2af3605edf446a7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b76de9e29798421a" Type="http://schemas.openxmlformats.org/officeDocument/2006/relationships/slideLayout" Target="../slideLayouts/slideLayout1.xml"/><Relationship Id="Rddbe4f6264eb4c8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C4837CB6-6E06-48CD-BFA6-D1F09525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 defTabSz="914400">
              <a:buNone/>
            </a:pPr>
            <a:endParaRPr/>
          </a:p>
        </p:txBody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C41C138C-5F33-44BE-9202-2EC74B53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9678FDA4-D756-49DA-8686-A2480D12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FINANCIAL PATH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7698C5A-5AC1-4F16-B719-CAE7D16F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Base case projects £1.37m Year 3 revenue and monthly cash-flow break-even in Y4 M8.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90738B7-5D3F-48A5-8E8A-70167E7B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Illustrative forecast—not current trading: paid partner-led pilot M12; first receipts M13; full VARA licence target M18.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C0896C8-E2D1-436F-9C37-D91D557C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2419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F113DC9-AFC4-4984-8B7B-EF02790D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FD81102-E896-4017-B810-62AB0C07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Month 12</a:t>
            </a:r>
            <a:endParaRPr sz="2250" b="1">
              <a:solidFill>
                <a:srgbClr val="0B1B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E34A5FF-016D-47EF-90A6-3FC081C2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paid partner-led pilot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7E1DD05-7F2A-47B6-9799-3651FE2E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receipts M13; licence target M18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9064EF7-7562-432B-9542-DEE2F214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14600"/>
            <a:ext cx="2419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C618428-F10D-41AB-A616-9C8D7129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1460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20328B8-EA0A-4C97-A041-3D3060F3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57475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£76m</a:t>
            </a:r>
            <a:endParaRPr sz="2250" b="1">
              <a:solidFill>
                <a:srgbClr val="0B1B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285A877-C983-43FD-BEBF-1DB550D1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Y3 trade value processed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1A649CE-9E85-45AE-8238-15C085AA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766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GMV—not company revenue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0CA0DC0-43C5-4B19-9CDA-D729966D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2419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DDEA11F-96DB-4FA7-8CC8-1A76D1A1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F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31DDD7D-A9D0-4533-954E-A6759A8B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57475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£1.37m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EE95D9F-CECF-4553-B1E6-0D2C27D7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289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Y3 annual revenue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D5C591F-6634-48B1-85AB-39B506B6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766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77% gross margin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E9F97402-411D-4712-A716-89A1CF72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14600"/>
            <a:ext cx="2419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189E399-6663-4A5C-8ECD-6C13455C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1460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DE22802-0306-42EE-926A-7BB776B5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57475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Y4 M8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9640183-CEF1-44FE-B28B-D0C472AE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289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monthly cash-flow break-even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3ED7773-2ED2-469E-BD0A-239D4F99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766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low &gt;M60; high Y4 M4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3314116-0FF7-4086-8237-75AE3272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51244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3AB488C4-099C-457E-BFD5-01C0CCA5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Base-case revenue engine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C1EB0F0-4FA9-470F-B030-3BE3F9DE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01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9525">
            <a:solidFill>
              <a:srgbClr val="0E8C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61EA15E-DBAE-469C-8817-7E80824C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0067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44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844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deals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5D0CD14-B46E-4946-BBA3-675888BA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05375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2,000</a:t>
            </a:r>
            <a:endParaRPr sz="900" b="1">
              <a:solidFill>
                <a:srgbClr val="0E8C7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B915DBD-F087-45F8-AD26-A30B1919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8101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9525">
            <a:solidFill>
              <a:srgbClr val="0E8C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80B7BC36-CA77-4D27-A761-7FB810A3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40067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44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844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average trade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8F49C337-0BF6-4692-B8DF-66439527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905375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£38k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35469347-2347-4311-8B95-1D5AF85A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101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9525">
            <a:solidFill>
              <a:srgbClr val="0E8C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C56CEFFE-6CC4-4A21-ACB3-638C7C9A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0067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44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844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trade value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A28EFE54-57ED-451A-8BAB-2F1565B6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05375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£76m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E51E3DF9-7E76-4BA0-B641-9C8285A0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1500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44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844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Tiered escrow take rate + ancillary fees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3324EB80-AF0E-4065-A7A6-60938C1C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172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1AEAC009-49DD-4817-9B33-BCA31DAB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8577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×</a:t>
            </a:r>
            <a:endParaRPr sz="900" b="1">
              <a:solidFill>
                <a:srgbClr val="2C7A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55BF1A42-AA5A-47A9-855E-94171A56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172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94015E4C-69F2-4712-844B-D00D0225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8577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=</a:t>
            </a:r>
            <a:endParaRPr sz="900" b="1">
              <a:solidFill>
                <a:srgbClr val="2C7A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4FF71A96-F9B3-4BE2-A46B-A12E8150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172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9DFE55B4-FD0A-4466-8D59-E943F381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1500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44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844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→ £1.37m revenue · 77% gross margin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9C0E21F1-10F1-4A3B-AB49-2DD71948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0101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AF4A9A09-95E8-4A0B-80FA-3C61CE42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386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Commercial guardrails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98CE4508-53A4-4576-AAE0-80566056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62500"/>
            <a:ext cx="4286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• 333 customers × ~6 annual deals via partners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• Y3 revenue: £1.04m / £1.37m / £1.91m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• Break-even: &gt;M60 / Y4 M8 / Y4 M4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• Client funds excluded from operating cash</a:t>
            </a:r>
            <a:endParaRPr sz="1125" b="0">
              <a:solidFill>
                <a:srgbClr val="1B24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221981F6-EEE9-4E84-A577-4C541990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13</a:t>
            </a:r>
            <a:endParaRPr sz="900" b="1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6972841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397EAB8-4912-4467-B97F-57985144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5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 defTabSz="914400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0A8FDC2-6FFE-4CF5-8398-E96B35D8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" y="437997"/>
            <a:ext cx="75895" cy="758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49E967C-BB61-4158-BBF0-AC9DB193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" y="362102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 spc="140">
                <a:solidFill>
                  <a:srgbClr val="6B7280"/>
                </a:solidFill>
                <a:latin typeface="Aptos"/>
                <a:ea typeface="Aptos"/>
                <a:cs typeface="Aptos"/>
              </a:rPr>
              <a:t>USE OF FUNDS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FB34755-BCBD-4638-B2E5-96D99DCD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" y="722376"/>
            <a:ext cx="1078992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0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£3.06m is the operating funding requirement to base-case break-even.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F6C1D02-CB87-49D6-B81A-7CB01302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302" y="6439204"/>
            <a:ext cx="552297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14</a:t>
            </a:r>
            <a:endParaRPr sz="900" b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3DB3C0F-8C0E-449C-AF1D-DBFFDA29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" y="1481328"/>
            <a:ext cx="10607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Allocation of the £3.063m cumulative operating funding requirement—including a three-month reserve.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491F8FE-5A4B-46C3-8B96-D1765407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" y="2523744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0B1B3A"/>
                </a:solidFill>
                <a:latin typeface="Aptos"/>
                <a:ea typeface="Aptos"/>
                <a:cs typeface="Aptos"/>
              </a:rPr>
              <a:t>Engineering &amp; product delivery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9578373-A1CC-47BA-9F28-98508E01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2542032"/>
            <a:ext cx="603504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7CF2966-DF61-4ED4-BE57-E0CB18EF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2542032"/>
            <a:ext cx="3228354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BDA4396-A1AC-4ACB-AF89-7D2ACA5F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2583012"/>
            <a:ext cx="1280160" cy="19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18.6%  £571k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82990A6-A8F8-4E35-AD22-CF7D84B9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" y="3090672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0B1B3A"/>
                </a:solidFill>
                <a:latin typeface="Aptos"/>
                <a:ea typeface="Aptos"/>
                <a:cs typeface="Aptos"/>
              </a:rPr>
              <a:t>Team, operations &amp; G&amp;A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9480D0E-5A28-4423-89DA-3D402B33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108960"/>
            <a:ext cx="603504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943D390-D90C-46B2-9DC9-2978A567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108960"/>
            <a:ext cx="60080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83D1D8C-F082-4E56-8B67-22467153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3149940"/>
            <a:ext cx="1280160" cy="19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34.7%  £1.06m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11BF214-14E4-452C-827D-0D7A6853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" y="3657600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0B1B3A"/>
                </a:solidFill>
                <a:latin typeface="Aptos"/>
                <a:ea typeface="Aptos"/>
                <a:cs typeface="Aptos"/>
              </a:rPr>
              <a:t>Compliance, legal &amp; licensing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611C455-B776-4B5E-938B-0613B83F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675888"/>
            <a:ext cx="603504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D32FB19-55F8-4ECB-8F2D-C5759BB9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675888"/>
            <a:ext cx="603504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FB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5C8B7CA-CA5F-408F-AE77-F96FEBB1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3716868"/>
            <a:ext cx="1280160" cy="19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34.8%  £1.07m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1FA5098-D919-473A-9910-692FD7FB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" y="4224528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0B1B3A"/>
                </a:solidFill>
                <a:latin typeface="Aptos"/>
                <a:ea typeface="Aptos"/>
                <a:cs typeface="Aptos"/>
              </a:rPr>
              <a:t>Partner-led GTM &amp; acquisition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9C94E7E-26A6-4C29-B0EB-4203240A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4242816"/>
            <a:ext cx="603504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42A14FAF-17F5-419D-BE62-68950BF2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4242816"/>
            <a:ext cx="965007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1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7EA769A-AAA3-453C-92B0-81ED70CD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283796"/>
            <a:ext cx="1280160" cy="19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5.6%  £171k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1E9E201-6144-4473-B6A1-58E3AE91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" y="4791456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0B1B3A"/>
                </a:solidFill>
                <a:latin typeface="Aptos"/>
                <a:ea typeface="Aptos"/>
                <a:cs typeface="Aptos"/>
              </a:rPr>
              <a:t>Operating reserve &amp; contingency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4B63154-7358-47A2-969F-B410A3B6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4809744"/>
            <a:ext cx="603504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700D366-1D54-4558-8D1D-D456511A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4809744"/>
            <a:ext cx="1082827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89DD94B-C52C-41C8-8D02-4E1D404B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850724"/>
            <a:ext cx="1280160" cy="19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6.3%  £192k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BDC9B79E-5AC6-4564-A5A6-BF3AE779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" y="5394960"/>
            <a:ext cx="10707624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6B59AB6-C399-470E-81B4-42EF1D46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05450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FEAE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FEAE5"/>
                </a:solidFill>
                <a:latin typeface="Aptos"/>
                <a:ea typeface="Aptos"/>
                <a:cs typeface="Aptos"/>
              </a:rPr>
              <a:t>£3.063m operating funding  +  £319k future restricted VARA capital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9374E8F-69D1-434C-9B55-A8ECB491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500688"/>
            <a:ext cx="3209925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£3.382m staged total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BDA3AB6-6943-4B6B-9FC2-633BF37B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41" y="61055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M12 paid pilot  •  M18 licence target  •  Y4 M8 base-case break-even</a:t>
            </a:r>
          </a:p>
          <a:p xmlns:a="http://schemas.openxmlformats.org/drawingml/2006/main">
            <a:pPr algn="l">
              <a:buNone/>
              <a:defRPr sz="1013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Restricted capital is a scope-dependent placeholder; client funds are safeguarded, not runway.</a:t>
            </a:r>
          </a:p>
        </p:txBody>
      </p:sp>
    </p:spTree>
    <p:extLst>
      <p:ext uri="{BB962C8B-B14F-4D97-AF65-F5344CB8AC3E}">
        <p14:creationId xmlns:p14="http://schemas.microsoft.com/office/powerpoint/2010/main" val="581601412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er-marker"/>
          <p:cNvSpPr/>
          <p:nvPr/>
        </p:nvSpPr>
        <p:spPr>
          <a:xfrm>
            <a:off x="530352" y="438912"/>
            <a:ext cx="73152" cy="73152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-label"/>
          <p:cNvSpPr/>
          <p:nvPr/>
        </p:nvSpPr>
        <p:spPr>
          <a:xfrm>
            <a:off x="722376" y="365760"/>
            <a:ext cx="6858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900" b="1">
                <a:solidFill>
                  <a:srgbClr val="6B7280"/>
                </a:solidFill>
                <a:latin typeface="Aptos"/>
              </a:rPr>
              <a:t>COMPETITION</a:t>
            </a:r>
          </a:p>
        </p:txBody>
      </p:sp>
      <p:sp>
        <p:nvSpPr>
          <p:cNvPr id="5" name="headline"/>
          <p:cNvSpPr/>
          <p:nvPr/>
        </p:nvSpPr>
        <p:spPr>
          <a:xfrm>
            <a:off x="530352" y="658368"/>
            <a:ext cx="1078992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000" b="1">
                <a:solidFill>
                  <a:srgbClr val="0B1B3A"/>
                </a:solidFill>
                <a:latin typeface="Aptos Display"/>
              </a:rPr>
              <a:t>Every funded competitor releases on buyer approval, not document proof.</a:t>
            </a:r>
          </a:p>
        </p:txBody>
      </p:sp>
      <p:sp>
        <p:nvSpPr>
          <p:cNvPr id="6" name="subtitle"/>
          <p:cNvSpPr/>
          <p:nvPr/>
        </p:nvSpPr>
        <p:spPr>
          <a:xfrm>
            <a:off x="566928" y="1572768"/>
            <a:ext cx="1060704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500" b="0">
                <a:solidFill>
                  <a:srgbClr val="1B2430"/>
                </a:solidFill>
                <a:latin typeface="Aptos"/>
              </a:rPr>
              <a:t>Tazapay, Truzo, XREX and Komgo all wait for a human signal to pay. Contour tried full automation and folded.</a:t>
            </a:r>
          </a:p>
        </p:txBody>
      </p:sp>
      <p:sp>
        <p:nvSpPr>
          <p:cNvPr id="7" name="chip-Tazapay"/>
          <p:cNvSpPr/>
          <p:nvPr/>
        </p:nvSpPr>
        <p:spPr>
          <a:xfrm>
            <a:off x="594360" y="2489454"/>
            <a:ext cx="128016" cy="128016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ame-Tazapay"/>
          <p:cNvSpPr/>
          <p:nvPr/>
        </p:nvSpPr>
        <p:spPr>
          <a:xfrm>
            <a:off x="868680" y="2331720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0E8C7F"/>
                </a:solidFill>
                <a:latin typeface="Aptos"/>
              </a:rPr>
              <a:t>Tazapay</a:t>
            </a:r>
          </a:p>
        </p:txBody>
      </p:sp>
      <p:sp>
        <p:nvSpPr>
          <p:cNvPr id="9" name="detail-Tazapay"/>
          <p:cNvSpPr/>
          <p:nvPr/>
        </p:nvSpPr>
        <p:spPr>
          <a:xfrm>
            <a:off x="2788920" y="2331720"/>
            <a:ext cx="5989320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00" b="0">
                <a:solidFill>
                  <a:srgbClr val="1B2430"/>
                </a:solidFill>
                <a:latin typeface="Aptos"/>
              </a:rPr>
              <a:t>Releases on buyer approval  ·  0.8%–3.8%</a:t>
            </a:r>
          </a:p>
        </p:txBody>
      </p:sp>
      <p:sp>
        <p:nvSpPr>
          <p:cNvPr id="10" name="status-Tazapay"/>
          <p:cNvSpPr/>
          <p:nvPr/>
        </p:nvSpPr>
        <p:spPr>
          <a:xfrm>
            <a:off x="8823960" y="2331720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6B7280"/>
                </a:solidFill>
                <a:latin typeface="Aptos"/>
              </a:rPr>
              <a:t>Active</a:t>
            </a:r>
          </a:p>
        </p:txBody>
      </p:sp>
      <p:sp>
        <p:nvSpPr>
          <p:cNvPr id="11" name="chip-Truzo"/>
          <p:cNvSpPr/>
          <p:nvPr/>
        </p:nvSpPr>
        <p:spPr>
          <a:xfrm>
            <a:off x="594360" y="2932938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ame-Truzo"/>
          <p:cNvSpPr/>
          <p:nvPr/>
        </p:nvSpPr>
        <p:spPr>
          <a:xfrm>
            <a:off x="868680" y="2775203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1F6FB2"/>
                </a:solidFill>
                <a:latin typeface="Aptos"/>
              </a:rPr>
              <a:t>Truzo</a:t>
            </a:r>
          </a:p>
        </p:txBody>
      </p:sp>
      <p:sp>
        <p:nvSpPr>
          <p:cNvPr id="13" name="detail-Truzo"/>
          <p:cNvSpPr/>
          <p:nvPr/>
        </p:nvSpPr>
        <p:spPr>
          <a:xfrm>
            <a:off x="2788920" y="2775203"/>
            <a:ext cx="5989320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00" b="0">
                <a:solidFill>
                  <a:srgbClr val="1B2430"/>
                </a:solidFill>
                <a:latin typeface="Aptos"/>
              </a:rPr>
              <a:t>Releases on delivery confirmation  ·  0.22%–3.1% + £25 surcharge</a:t>
            </a:r>
          </a:p>
        </p:txBody>
      </p:sp>
      <p:sp>
        <p:nvSpPr>
          <p:cNvPr id="14" name="status-Truzo"/>
          <p:cNvSpPr/>
          <p:nvPr/>
        </p:nvSpPr>
        <p:spPr>
          <a:xfrm>
            <a:off x="8823960" y="2775203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6B7280"/>
                </a:solidFill>
                <a:latin typeface="Aptos"/>
              </a:rPr>
              <a:t>Active, narrow corridor</a:t>
            </a:r>
          </a:p>
        </p:txBody>
      </p:sp>
      <p:sp>
        <p:nvSpPr>
          <p:cNvPr id="15" name="chip-XREX"/>
          <p:cNvSpPr/>
          <p:nvPr/>
        </p:nvSpPr>
        <p:spPr>
          <a:xfrm>
            <a:off x="594360" y="3376422"/>
            <a:ext cx="128016" cy="128016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me-XREX"/>
          <p:cNvSpPr/>
          <p:nvPr/>
        </p:nvSpPr>
        <p:spPr>
          <a:xfrm>
            <a:off x="868680" y="3218687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5A4FBF"/>
                </a:solidFill>
                <a:latin typeface="Aptos"/>
              </a:rPr>
              <a:t>XREX</a:t>
            </a:r>
          </a:p>
        </p:txBody>
      </p:sp>
      <p:sp>
        <p:nvSpPr>
          <p:cNvPr id="17" name="detail-XREX"/>
          <p:cNvSpPr/>
          <p:nvPr/>
        </p:nvSpPr>
        <p:spPr>
          <a:xfrm>
            <a:off x="2788920" y="3218687"/>
            <a:ext cx="5989320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00" b="0">
                <a:solidFill>
                  <a:srgbClr val="1B2430"/>
                </a:solidFill>
                <a:latin typeface="Aptos"/>
              </a:rPr>
              <a:t>Releases on buyer approval  ·  &lt;1% + 10 USDT/escrow</a:t>
            </a:r>
          </a:p>
        </p:txBody>
      </p:sp>
      <p:sp>
        <p:nvSpPr>
          <p:cNvPr id="18" name="status-XREX"/>
          <p:cNvSpPr/>
          <p:nvPr/>
        </p:nvSpPr>
        <p:spPr>
          <a:xfrm>
            <a:off x="8823960" y="3218687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6B7280"/>
                </a:solidFill>
                <a:latin typeface="Aptos"/>
              </a:rPr>
              <a:t>Active</a:t>
            </a:r>
          </a:p>
        </p:txBody>
      </p:sp>
      <p:sp>
        <p:nvSpPr>
          <p:cNvPr id="19" name="chip-Komgo"/>
          <p:cNvSpPr/>
          <p:nvPr/>
        </p:nvSpPr>
        <p:spPr>
          <a:xfrm>
            <a:off x="594360" y="3819905"/>
            <a:ext cx="128016" cy="128016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me-Komgo"/>
          <p:cNvSpPr/>
          <p:nvPr/>
        </p:nvSpPr>
        <p:spPr>
          <a:xfrm>
            <a:off x="868680" y="3662172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C77D18"/>
                </a:solidFill>
                <a:latin typeface="Aptos"/>
              </a:rPr>
              <a:t>Komgo</a:t>
            </a:r>
          </a:p>
        </p:txBody>
      </p:sp>
      <p:sp>
        <p:nvSpPr>
          <p:cNvPr id="21" name="detail-Komgo"/>
          <p:cNvSpPr/>
          <p:nvPr/>
        </p:nvSpPr>
        <p:spPr>
          <a:xfrm>
            <a:off x="2788920" y="3662172"/>
            <a:ext cx="5989320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00" b="0">
                <a:solidFill>
                  <a:srgbClr val="1B2430"/>
                </a:solidFill>
                <a:latin typeface="Aptos"/>
              </a:rPr>
              <a:t>Follows the LC process  ·  fee not disclosed</a:t>
            </a:r>
          </a:p>
        </p:txBody>
      </p:sp>
      <p:sp>
        <p:nvSpPr>
          <p:cNvPr id="22" name="status-Komgo"/>
          <p:cNvSpPr/>
          <p:nvPr/>
        </p:nvSpPr>
        <p:spPr>
          <a:xfrm>
            <a:off x="8823960" y="3662172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6B7280"/>
                </a:solidFill>
                <a:latin typeface="Aptos"/>
              </a:rPr>
              <a:t>Active, banks only</a:t>
            </a:r>
          </a:p>
        </p:txBody>
      </p:sp>
      <p:sp>
        <p:nvSpPr>
          <p:cNvPr id="23" name="chip-Contour"/>
          <p:cNvSpPr/>
          <p:nvPr/>
        </p:nvSpPr>
        <p:spPr>
          <a:xfrm>
            <a:off x="594360" y="4263390"/>
            <a:ext cx="128016" cy="12801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me-Contour"/>
          <p:cNvSpPr/>
          <p:nvPr/>
        </p:nvSpPr>
        <p:spPr>
          <a:xfrm>
            <a:off x="868680" y="4105656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6B7280"/>
                </a:solidFill>
                <a:latin typeface="Aptos"/>
              </a:rPr>
              <a:t>Contour</a:t>
            </a:r>
          </a:p>
        </p:txBody>
      </p:sp>
      <p:sp>
        <p:nvSpPr>
          <p:cNvPr id="25" name="detail-Contour"/>
          <p:cNvSpPr/>
          <p:nvPr/>
        </p:nvSpPr>
        <p:spPr>
          <a:xfrm>
            <a:off x="2788920" y="4105656"/>
            <a:ext cx="5989320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00" b="0">
                <a:solidFill>
                  <a:srgbClr val="1B2430"/>
                </a:solidFill>
                <a:latin typeface="Aptos"/>
              </a:rPr>
              <a:t>Backed by HSBC / StanChart / Citi, $18.3m raised</a:t>
            </a:r>
          </a:p>
        </p:txBody>
      </p:sp>
      <p:sp>
        <p:nvSpPr>
          <p:cNvPr id="26" name="status-Contour"/>
          <p:cNvSpPr/>
          <p:nvPr/>
        </p:nvSpPr>
        <p:spPr>
          <a:xfrm>
            <a:off x="8823960" y="4105656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6B7280"/>
                </a:solidFill>
                <a:latin typeface="Aptos"/>
              </a:rPr>
              <a:t>Shut down Nov 2023</a:t>
            </a:r>
          </a:p>
        </p:txBody>
      </p:sp>
      <p:sp>
        <p:nvSpPr>
          <p:cNvPr id="27" name="chip-Blockmediary"/>
          <p:cNvSpPr/>
          <p:nvPr/>
        </p:nvSpPr>
        <p:spPr>
          <a:xfrm>
            <a:off x="594360" y="4706874"/>
            <a:ext cx="128016" cy="128016"/>
          </a:xfrm>
          <a:prstGeom prst="rect">
            <a:avLst/>
          </a:prstGeom>
          <a:solidFill>
            <a:srgbClr val="2C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me-Blockmediary"/>
          <p:cNvSpPr/>
          <p:nvPr/>
        </p:nvSpPr>
        <p:spPr>
          <a:xfrm>
            <a:off x="868680" y="4549140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2C7A33"/>
                </a:solidFill>
                <a:latin typeface="Aptos"/>
              </a:rPr>
              <a:t>Blockmediary</a:t>
            </a:r>
          </a:p>
        </p:txBody>
      </p:sp>
      <p:sp>
        <p:nvSpPr>
          <p:cNvPr id="29" name="detail-Blockmediary"/>
          <p:cNvSpPr/>
          <p:nvPr/>
        </p:nvSpPr>
        <p:spPr>
          <a:xfrm>
            <a:off x="2788920" y="4549140"/>
            <a:ext cx="5989320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00" b="1">
                <a:solidFill>
                  <a:srgbClr val="1B2430"/>
                </a:solidFill>
                <a:latin typeface="Aptos"/>
              </a:rPr>
              <a:t>Releases on document compliance  ·  0.8% / 1.5% / 3.0%, tiered</a:t>
            </a:r>
          </a:p>
        </p:txBody>
      </p:sp>
      <p:sp>
        <p:nvSpPr>
          <p:cNvPr id="30" name="status-Blockmediary"/>
          <p:cNvSpPr/>
          <p:nvPr/>
        </p:nvSpPr>
        <p:spPr>
          <a:xfrm>
            <a:off x="8823960" y="4549140"/>
            <a:ext cx="1874519" cy="4434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r"/>
            <a:r>
              <a:rPr sz="1200" b="1">
                <a:solidFill>
                  <a:srgbClr val="2C7A33"/>
                </a:solidFill>
                <a:latin typeface="Aptos"/>
              </a:rPr>
              <a:t>Building</a:t>
            </a:r>
          </a:p>
        </p:txBody>
      </p:sp>
      <p:sp>
        <p:nvSpPr>
          <p:cNvPr id="31" name="footer-band"/>
          <p:cNvSpPr/>
          <p:nvPr/>
        </p:nvSpPr>
        <p:spPr>
          <a:xfrm>
            <a:off x="594360" y="5394960"/>
            <a:ext cx="10707624" cy="64008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ooter-left"/>
          <p:cNvSpPr/>
          <p:nvPr/>
        </p:nvSpPr>
        <p:spPr>
          <a:xfrm>
            <a:off x="868680" y="5513832"/>
            <a:ext cx="672084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200" b="0">
                <a:solidFill>
                  <a:srgbClr val="BFEAE5"/>
                </a:solidFill>
                <a:latin typeface="Aptos"/>
              </a:rPr>
              <a:t>Contour was the most-funded LC-replacement attempt — it still failed structurally.</a:t>
            </a:r>
          </a:p>
        </p:txBody>
      </p:sp>
      <p:sp>
        <p:nvSpPr>
          <p:cNvPr id="33" name="footer-right"/>
          <p:cNvSpPr/>
          <p:nvPr/>
        </p:nvSpPr>
        <p:spPr>
          <a:xfrm>
            <a:off x="7763256" y="5486400"/>
            <a:ext cx="32461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0">
                <a:solidFill>
                  <a:srgbClr val="FFFFFF"/>
                </a:solidFill>
                <a:latin typeface="Aptos Display"/>
              </a:rPr>
              <a:t>The gap stayed open.</a:t>
            </a:r>
          </a:p>
        </p:txBody>
      </p:sp>
      <p:sp>
        <p:nvSpPr>
          <p:cNvPr id="34" name="caption"/>
          <p:cNvSpPr/>
          <p:nvPr/>
        </p:nvSpPr>
        <p:spPr>
          <a:xfrm>
            <a:off x="594360" y="6108192"/>
            <a:ext cx="990295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000" b="0">
                <a:solidFill>
                  <a:srgbClr val="6B7280"/>
                </a:solidFill>
                <a:latin typeface="Aptos"/>
              </a:rPr>
              <a:t>Full company-by-company sourcing: Competitor Analysis PDF (docs/Competitor-analysis.md)</a:t>
            </a:r>
          </a:p>
        </p:txBody>
      </p:sp>
      <p:sp>
        <p:nvSpPr>
          <p:cNvPr id="35" name="page-number"/>
          <p:cNvSpPr/>
          <p:nvPr/>
        </p:nvSpPr>
        <p:spPr>
          <a:xfrm>
            <a:off x="11109960" y="6437376"/>
            <a:ext cx="54864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900" b="1">
                <a:solidFill>
                  <a:srgbClr val="6B728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2026-08-13T01:01:50.2150000Z</dcterms:created>
  <dcterms:modified xsi:type="dcterms:W3CDTF">2026-08-13T01:01:50.2150000Z</dcterms:modified>
</coreProperties>
</file>