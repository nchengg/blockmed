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C7A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145</c:v>
                </c:pt>
                <c:pt idx="2">
                  <c:v>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41-4FF6-8E38-F87C898A45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7F-434C-B335-B1E9E05D1660}"/>
              </c:ext>
            </c:extLst>
          </c:dPt>
          <c:dPt>
            <c:idx val="1"/>
            <c:bubble3D val="0"/>
            <c:spPr>
              <a:solidFill>
                <a:srgbClr val="0B1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7F-434C-B335-B1E9E05D1660}"/>
              </c:ext>
            </c:extLst>
          </c:dPt>
          <c:dPt>
            <c:idx val="2"/>
            <c:bubble3D val="0"/>
            <c:spPr>
              <a:solidFill>
                <a:srgbClr val="5A4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7F-434C-B335-B1E9E05D1660}"/>
              </c:ext>
            </c:extLst>
          </c:dPt>
          <c:dPt>
            <c:idx val="3"/>
            <c:bubble3D val="0"/>
            <c:spPr>
              <a:solidFill>
                <a:srgbClr val="C77D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7F-434C-B335-B1E9E05D1660}"/>
              </c:ext>
            </c:extLst>
          </c:dPt>
          <c:dPt>
            <c:idx val="4"/>
            <c:bubble3D val="0"/>
            <c:spPr>
              <a:solidFill>
                <a:srgbClr val="2C7A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57F-434C-B335-B1E9E05D1660}"/>
              </c:ext>
            </c:extLst>
          </c:dPt>
          <c:cat>
            <c:strRef>
              <c:f>Sheet1!$A$2:$A$6</c:f>
              <c:strCache>
                <c:ptCount val="5"/>
                <c:pt idx="0">
                  <c:v>Engineering &amp; product</c:v>
                </c:pt>
                <c:pt idx="1">
                  <c:v>Operations &amp; G&amp;A</c:v>
                </c:pt>
                <c:pt idx="2">
                  <c:v>Compliance &amp; legal</c:v>
                </c:pt>
                <c:pt idx="3">
                  <c:v>GTM &amp; acquisition</c:v>
                </c:pt>
                <c:pt idx="4">
                  <c:v>Working capital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22</c:v>
                </c:pt>
                <c:pt idx="2">
                  <c:v>18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57F-434C-B335-B1E9E05D16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60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1097280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810512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0" y="2523744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0" y="3236976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3950208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4663440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80960" y="5376672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kern="0" spc="20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rails for global trade.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Exeter — MSc FinTech Hackathon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8A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30 May 2026  ·  Skydeck Innovation Centre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8A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[team names]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Documentary credit was the financial breakthrough that built global trade.</a:t>
            </a:r>
            <a:endParaRPr lang="en-US" sz="3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rebuilt it for the businesses that drive most of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64008" cy="1783080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69848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 trade finance gap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17136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17136" y="4160520"/>
            <a:ext cx="64008" cy="1783080"/>
          </a:xfrm>
          <a:prstGeom prst="rect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45736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77D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64024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trade finance applications rejected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1312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1312" y="4160520"/>
            <a:ext cx="64008" cy="178308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9912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58200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cost on a $10K trade as a $5M trade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Asian Development Bank (2025); ICC UCP 600 (2007).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documentary credit rail for SMEs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1732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 </a:t>
            </a: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documentary credit rail for SMEs — </a:t>
            </a:r>
            <a:r>
              <a:rPr lang="en-US" sz="23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UCP 600 logic, stablecoin settlement, without the issuing bank.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3584448" cy="73152"/>
          </a:xfrm>
          <a:prstGeom prst="rect">
            <a:avLst/>
          </a:prstGeom>
          <a:solidFill>
            <a:srgbClr val="5A4F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UCP 600 logic, re-coded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 compliant document presentation — the same legal logic banks use, mirrored in software.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06824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06824" y="3200400"/>
            <a:ext cx="3584448" cy="73152"/>
          </a:xfrm>
          <a:prstGeom prst="rect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35204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Stablecoin settlement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1144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held in escrow and released on presentation. Days, not weeks; no correspondent banking chain.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0728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110728" y="3200400"/>
            <a:ext cx="3584448" cy="731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35204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5048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CeFi — not a bank, not DeFi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85048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operator running KYB, sanctions, verification and dispute layers. We replace one role, not the system.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gap bites hardest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874520"/>
            <a:ext cx="4206240" cy="4206240"/>
          </a:xfrm>
          <a:prstGeom prst="ellipse">
            <a:avLst/>
          </a:prstGeom>
          <a:solidFill>
            <a:srgbClr val="DCE6F2"/>
          </a:solidFill>
          <a:ln w="158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48840" y="2560320"/>
            <a:ext cx="2834640" cy="2834640"/>
          </a:xfrm>
          <a:prstGeom prst="ellipse">
            <a:avLst/>
          </a:prstGeom>
          <a:solidFill>
            <a:srgbClr val="CFE1D9"/>
          </a:solidFill>
          <a:ln w="15875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57500" y="3268980"/>
            <a:ext cx="1417320" cy="1417320"/>
          </a:xfrm>
          <a:prstGeom prst="ellipse">
            <a:avLst/>
          </a:prstGeom>
          <a:solidFill>
            <a:srgbClr val="0E8C7F"/>
          </a:solidFill>
          <a:ln w="15875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52928" y="37490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$100–250M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201168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73152" cy="1143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14032" y="2157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 trillion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14032" y="26151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 trade finance gap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329184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3291840"/>
            <a:ext cx="73152" cy="1143000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14032" y="3438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 billion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14032" y="38953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SME cross-border trade finance gap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457200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0" y="4572000"/>
            <a:ext cx="73152" cy="114300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4718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681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 – $250M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14032" y="5175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flow processed in years 1–3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5989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gap bites hardest, and where the regulators are most ready.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ADB (2025); ICC UAE Trade Finance Gap Report (2020); internal estimate (SOM).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deal, two parties, one rail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0" y="19202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 rot="16200000">
            <a:off x="182880" y="46177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3685032"/>
            <a:ext cx="10817352" cy="45720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685032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BlockMed</a:t>
            </a: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escrow + verification + settlement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2943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2943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terms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terms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641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6641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58998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04718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escrow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58998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04718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goods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2988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2988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2469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8189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shipment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2469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8189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335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9335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85939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31659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85939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31659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documents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256825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256825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449410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95130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chooses tier at intake:  </a:t>
            </a: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(eBL — minutes) · Tier B (carrier-verified — hours) · Tier C (paper — days).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310896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BlockMed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Pitch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686050" cy="64008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Opportunity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$2.5T SME trade finance gap; ~45% rejection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compliance cost on a $10K trade as $5M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tickets uneconomic for banks at scale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 trade still on trust, cash, or not at all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UCP 600 credit, stablecoin settlement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335274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5274" y="914400"/>
            <a:ext cx="2686050" cy="64008"/>
          </a:xfrm>
          <a:prstGeom prst="rect">
            <a:avLst/>
          </a:prstGeom>
          <a:solidFill>
            <a:srgbClr val="5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1578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Description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1578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centralised operator: escrow + verification + settlement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1578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escrow against documentary release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UCP 600 Article 14 strict-compliance logic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on USDC, not correspondent networks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bank · Not DeFi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67628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7628" y="914400"/>
            <a:ext cx="2686050" cy="64008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3932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3932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importers / exporters: UAE primary, KSA parallel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3932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Corridors: UAE–India, UAE–Türkiye, KSA–Pakistan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Sectors: textiles, consumer goods, manufacturing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size: $5K–$250K, repeatable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LC cost, trust gap, fraud, 4–6 week wait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999982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99982" y="914400"/>
            <a:ext cx="2686050" cy="64008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6286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USPs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6286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UCP 600 documentary credit on stablecoin 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6286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moat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Self-pricing tiered model (speed vs cost-of-trust)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Gulf-native: VARA, ADGM, DIFC, PTSR 2024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CeFi: not a bank, not DeFi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525012"/>
            <a:ext cx="2686050" cy="64008"/>
          </a:xfrm>
          <a:prstGeom prst="rect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Settlement fee 0.5–1.0% per trade (tiered)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SaaS / API licensing (P1 → bank white-label P2)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Yield share on idle escrow (P2)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revenue: $400K–$1.0M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60–70% blended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335274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35274" y="3525012"/>
            <a:ext cx="2686050" cy="64008"/>
          </a:xfrm>
          <a:prstGeom prst="rect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81578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81578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engineering, compliance, custody, forensics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1578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API integrations (DCSA carriers)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examiner time, courier (Tier C)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per-doc fee; on-chain gas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 / KYC per-onboarding cost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67628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67628" y="3525012"/>
            <a:ext cx="2686050" cy="64008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13932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313932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Gulf chambers, freight-forwarder referrals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3932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FinTech Hive / ADGM RegLab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events: Gulfood, GITEX, Dubai FinTech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white-label verification API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VARA-licensed exchange merchant programmes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999982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999982" y="3525012"/>
            <a:ext cx="2686050" cy="64008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6286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46286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banks issuing LCs (HSBC, Emirates NBD)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6286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escrow: XREX BitCheck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rails: Fasset, Circle Payments Network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they hold: trust, scale, speed</a:t>
            </a:r>
            <a:endParaRPr lang="en-US" sz="930" dirty="0"/>
          </a:p>
          <a:p>
            <a:pPr marL="127000" indent="-127000" algn="l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combine documentary release + stablecoin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ADB (2025); ICC UCP 600 (2007); ICC UAE (2020); CBUAE PTSR (2024); XREX (2025); Fintech Global (2026).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 of a 10-week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94960" cy="45720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 ·  29 May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co-founders, roles assigned — CEO, CTO, CFO, COO, CCO, CRO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0266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spec — Phase 0 escrow + Phase 1 trust / custody / dispute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verification → settlement → dispute, mapped end-to-end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1970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tagline, palette, pitch deck (Slides 1–6)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7823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Gulf SME counterparty informally confirmed LC pricing and access pain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783080"/>
            <a:ext cx="5394960" cy="3657600"/>
          </a:xfrm>
          <a:prstGeom prst="rect">
            <a:avLst/>
          </a:prstGeom>
          <a:solidFill>
            <a:srgbClr val="E3F1EE"/>
          </a:solidFill>
          <a:ln w="12700">
            <a:solidFill>
              <a:srgbClr val="BB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91072" y="1783080"/>
            <a:ext cx="5394960" cy="457200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10 WEEKS  ·  8 Jun – 14 Aug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escrow (testnet), deal intake UI, document review console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30266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partners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forensics outreach, carrier API research, KYB / KYC scoping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FinTech Hive / ADGM RegLab exploratory conversations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65392" y="41970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dev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chambers, freight-forwarder referrals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65392" y="47823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 </a:t>
            </a: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project video 14 Aug; individual report 28 Aug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are in place. The 10-week build converts specification into demonstrable product.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play, how we win, why they stay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73152" cy="1993392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08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2002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Beachhead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3288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importers of Indian &amp; Türkish textiles, garments, consumer goods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$10K–$50K per shipment · 2–4 shipments/year · repeat patterns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 dead zone — too small for banks, too large for trust-only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73152" cy="199339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02082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4304" y="2002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GTM motion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53288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BD via Gulf freight forwarders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Forwarders see the trust gap before banks do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engagement as credibility infrastructure (DIFC / ADGM)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02920" y="3986784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2920" y="3986784"/>
            <a:ext cx="73152" cy="1993392"/>
          </a:xfrm>
          <a:prstGeom prst="rect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2245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Acquisition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4736592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deal only: 50% off settlement fee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white-glove onboarding for first 10 customers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pricing from deal #2 — no discount escalator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199632" y="3986784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99632" y="3986784"/>
            <a:ext cx="73152" cy="1993392"/>
          </a:xfrm>
          <a:prstGeom prst="rect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2245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4304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Retention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73952" y="4736592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 done once, reused — onboarding friction → zero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counterparty status travels across deals</a:t>
            </a:r>
            <a:endParaRPr lang="en-US" sz="1130" dirty="0"/>
          </a:p>
          <a:p>
            <a:pPr marL="152400" indent="-1524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templates + eBL speed advantage compound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corridor, sharp wedge, founder-led learning loop.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compare, and what nobody else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420624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78308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26280" y="1783080"/>
            <a:ext cx="1417320" cy="420624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9943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1417320" cy="420624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1675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1783080"/>
            <a:ext cx="2148840" cy="420624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34072" y="178308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rails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09760" y="1783080"/>
            <a:ext cx="1828800" cy="420624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82912" y="178308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203704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2037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release (UCP 600)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20370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9432" y="220370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20370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6752" y="220370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2203704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34072" y="220370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2203704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82912" y="220370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587752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258775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2587752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99432" y="258775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2587752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16752" y="258775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2587752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34072" y="258775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2587752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82912" y="2587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" y="297180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ticket sizes ($5K–$250K)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2971800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99432" y="2971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2971800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16752" y="2971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60920" y="297180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34072" y="297180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09760" y="2971800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582912" y="29718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3355848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" y="335584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stack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26280" y="3355848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99432" y="3355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43600" y="3355848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16752" y="3355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60920" y="3355848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34072" y="335584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509760" y="3355848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582912" y="33558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739896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76072" y="373989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dispute path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26280" y="373989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99432" y="373989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943600" y="373989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16752" y="373989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60920" y="3739896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34072" y="3739896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509760" y="3739896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582912" y="37398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02920" y="4123944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76072" y="412394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 regulatory fit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26280" y="4123944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599432" y="412394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943600" y="4123944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16752" y="412394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60920" y="4123944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434072" y="412394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509760" y="4123944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582912" y="41239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02920" y="4507992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76072" y="45079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(eBL tier)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26280" y="4507992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599432" y="450799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43600" y="4507992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016752" y="450799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360920" y="4507992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434072" y="450799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9509760" y="4507992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582912" y="45079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02920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STACK — THE OPERATIONAL MOAT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02920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1264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7" name="Text 85"/>
          <p:cNvSpPr/>
          <p:nvPr/>
        </p:nvSpPr>
        <p:spPr>
          <a:xfrm>
            <a:off x="1005840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intake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005840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249424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2350008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45973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92" name="Text 90"/>
          <p:cNvSpPr/>
          <p:nvPr/>
        </p:nvSpPr>
        <p:spPr>
          <a:xfrm>
            <a:off x="2852928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rules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852928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096512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197096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306824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97" name="Text 95"/>
          <p:cNvSpPr/>
          <p:nvPr/>
        </p:nvSpPr>
        <p:spPr>
          <a:xfrm>
            <a:off x="4700016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API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700016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943600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6044184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153912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02" name="Text 100"/>
          <p:cNvSpPr/>
          <p:nvPr/>
        </p:nvSpPr>
        <p:spPr>
          <a:xfrm>
            <a:off x="6547104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examiner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547104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7790688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7891272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8001000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107" name="Text 105"/>
          <p:cNvSpPr/>
          <p:nvPr/>
        </p:nvSpPr>
        <p:spPr>
          <a:xfrm>
            <a:off x="8394192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DB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8394192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9637776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9738360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984808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00" dirty="0"/>
          </a:p>
        </p:txBody>
      </p:sp>
      <p:sp>
        <p:nvSpPr>
          <p:cNvPr id="112" name="Text 110"/>
          <p:cNvSpPr/>
          <p:nvPr/>
        </p:nvSpPr>
        <p:spPr>
          <a:xfrm>
            <a:off x="10241280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10241280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days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competitor crosses all six layers — or combines documentary release with stablecoin settlement.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Three-year base case, with ranges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78308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132588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19272" y="178308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132588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178308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1783080"/>
            <a:ext cx="141732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7103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220370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(EOY)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203704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220370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203704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220370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75–150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203704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1032" y="220370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262432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processed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62432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9272" y="262432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62432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45152" y="262432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624328"/>
            <a:ext cx="1417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71032" y="26243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800–1,600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44952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" y="304495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044952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3044952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044952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3044952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044952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71032" y="304495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465576"/>
            <a:ext cx="274320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2" y="346557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3465576"/>
            <a:ext cx="132588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19272" y="3465576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$5–35K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465576"/>
            <a:ext cx="132588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5152" y="3465576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$95–195K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465576"/>
            <a:ext cx="141732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71032" y="3465576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$390–990K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3886200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" y="38862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3886200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19272" y="388620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$155–260K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886200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45152" y="388620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$475–735K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3886200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71032" y="388620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$1.1–1.7M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430682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6072" y="430682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46120" y="430682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19272" y="430682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430682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45152" y="430682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4306824"/>
            <a:ext cx="1417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971032" y="430682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2920" y="4727448"/>
            <a:ext cx="274320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6072" y="472744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46120" y="4727448"/>
            <a:ext cx="132588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319272" y="472744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−$120–255K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0" y="4727448"/>
            <a:ext cx="132588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45152" y="472744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−$280–640K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97880" y="4727448"/>
            <a:ext cx="141732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71032" y="47274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−$120K–1.3M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0664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— BASE-CASE MIDPOINT ($K)</a:t>
            </a:r>
            <a:endParaRPr lang="en-US" sz="1050" dirty="0"/>
          </a:p>
        </p:txBody>
      </p:sp>
      <p:graphicFrame>
        <p:nvGraphicFramePr>
          <p:cNvPr id="69" name="Chart 0"/>
          <p:cNvGraphicFramePr/>
          <p:nvPr/>
        </p:nvGraphicFramePr>
        <p:xfrm>
          <a:off x="7315200" y="2103120"/>
          <a:ext cx="4434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Shape 67"/>
          <p:cNvSpPr/>
          <p:nvPr/>
        </p:nvSpPr>
        <p:spPr>
          <a:xfrm>
            <a:off x="502920" y="5257800"/>
            <a:ext cx="11183112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</a:t>
            </a:r>
            <a:r>
              <a:rPr lang="en-US" sz="13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2029 – Q1 2030 (Month 36–48)        </a:t>
            </a: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loss to break-even  </a:t>
            </a:r>
            <a:r>
              <a:rPr lang="en-US" sz="13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~$1.3–1.7M        </a:t>
            </a: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need  </a:t>
            </a: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$1.8–2.2M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financial model (base case, revised 29 May 2026).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co-founders, six mandates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6824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1144" y="2057400"/>
            <a:ext cx="777240" cy="77724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95544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95544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0728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85048" y="2057400"/>
            <a:ext cx="777240" cy="777240"/>
          </a:xfrm>
          <a:prstGeom prst="ellipse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8504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9448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85048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995928"/>
            <a:ext cx="777240" cy="777240"/>
          </a:xfrm>
          <a:prstGeom prst="ellipse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91640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06824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81144" y="3995928"/>
            <a:ext cx="777240" cy="777240"/>
          </a:xfrm>
          <a:prstGeom prst="ellipse">
            <a:avLst/>
          </a:prstGeom>
          <a:solidFill>
            <a:srgbClr val="5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81144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95544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95544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Compliance Officer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81144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10728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85048" y="3995928"/>
            <a:ext cx="777240" cy="77724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85048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299448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99448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Revenue Officer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85048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role earns its seat. Each founder has skin in the game.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$2M gets us to break-even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4480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69164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36 months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49240" y="181051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49240" y="1810512"/>
            <a:ext cx="73152" cy="786384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77840" y="1901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&amp; product build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engineering; escrow, intake UI, review console, OCR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20072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34472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49240" y="263347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349240" y="2633472"/>
            <a:ext cx="73152" cy="786384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7784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Operations, people &amp; G&amp;A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CEO/CFO/COO/CCO/CRO salaries; HR, legal entity, tooling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720072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34472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$440K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9240" y="345643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49240" y="3456432"/>
            <a:ext cx="73152" cy="786384"/>
          </a:xfrm>
          <a:prstGeom prst="rect">
            <a:avLst/>
          </a:prstGeom>
          <a:solidFill>
            <a:srgbClr val="5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Compliance, legal &amp; regulatory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7784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KYB/KYC, sanctions, DIFC/ADGM counsel, forensics retainer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720072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634472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$360K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49240" y="427939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349240" y="4279392"/>
            <a:ext cx="73152" cy="786384"/>
          </a:xfrm>
          <a:prstGeom prst="rect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77840" y="4370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&amp; customer acquisition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77840" y="4681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BD, chambers, trade events, pilot incentives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720072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634472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349240" y="510235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349240" y="5102352"/>
            <a:ext cx="73152" cy="786384"/>
          </a:xfrm>
          <a:prstGeom prst="rect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77840" y="5193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 + contingency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77840" y="5504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buffer; FX, on-chain gas, integration costs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720072" y="5212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634472" y="5212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$2M, 36 months, six categories. Each dollar tied to a milestone.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kern="0" spc="200" dirty="0" err="1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BlockMed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capital to build the documentary credit rail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17136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17136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~$10M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11312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11312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runway to operational break-even</a:t>
            </a:r>
            <a:endParaRPr lang="en-US" sz="13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250–450 active customers by end of Year 3</a:t>
            </a:r>
            <a:endParaRPr lang="en-US" sz="13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$400K–$1M annual revenue by Year 3</a:t>
            </a:r>
            <a:endParaRPr lang="en-US" sz="13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stack, battle-tested</a:t>
            </a:r>
            <a:endParaRPr lang="en-US" sz="13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Verified-trade dataset — the Phase 2 reputation product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PROFILE WE WANT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Fintech-experienced lead — trade finance / stablecoin infra background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 angel network (UAE / KSA) for warm intros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advisors who open doors with VARA, ADGM, DIFC, carriers, eBL platforms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 to build the documentary credit rail the Gulf SME market is waiting for.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FOUNDING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419856" cy="64008"/>
          </a:xfrm>
          <a:prstGeom prst="rect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546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1546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260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17136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17136" y="2286000"/>
            <a:ext cx="3419856" cy="64008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45736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45736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1546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0056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15468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0256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211312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211312" y="2286000"/>
            <a:ext cx="3419856" cy="64008"/>
          </a:xfrm>
          <a:prstGeom prst="rect">
            <a:avLst/>
          </a:prstGeom>
          <a:solidFill>
            <a:srgbClr val="2C7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8439912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39912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315468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14232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315468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14432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822960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22960" y="3931920"/>
            <a:ext cx="3419856" cy="64008"/>
          </a:xfrm>
          <a:prstGeom prst="rect">
            <a:avLst/>
          </a:prstGeom>
          <a:solidFill>
            <a:srgbClr val="C77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1051560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51560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00600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25880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480060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92608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4517136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4517136" y="3931920"/>
            <a:ext cx="3419856" cy="64008"/>
          </a:xfrm>
          <a:prstGeom prst="rect">
            <a:avLst/>
          </a:prstGeom>
          <a:solidFill>
            <a:srgbClr val="5A4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4745736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745736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4800600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020056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4800600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620256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8211312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3"/>
          <p:cNvSpPr/>
          <p:nvPr/>
        </p:nvSpPr>
        <p:spPr>
          <a:xfrm>
            <a:off x="8211312" y="3931920"/>
            <a:ext cx="3419856" cy="64008"/>
          </a:xfrm>
          <a:prstGeom prst="rect">
            <a:avLst/>
          </a:prstGeom>
          <a:solidFill>
            <a:srgbClr val="9F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4"/>
          <p:cNvSpPr/>
          <p:nvPr/>
        </p:nvSpPr>
        <p:spPr>
          <a:xfrm>
            <a:off x="8439912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439912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800600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714232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4800600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0314432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52" name="Text 3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value the conversation. Reach any of us directly.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1774</Words>
  <Application>Microsoft Office PowerPoint</Application>
  <PresentationFormat>Widescreen</PresentationFormat>
  <Paragraphs>378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Transakt — Pitch Deck</dc:title>
  <dc:subject>PptxGenJS Presentation</dc:subject>
  <dc:creator>Transakt</dc:creator>
  <cp:lastModifiedBy>Beckman, Conrad</cp:lastModifiedBy>
  <cp:revision>4</cp:revision>
  <dcterms:created xsi:type="dcterms:W3CDTF">2026-05-29T09:15:04Z</dcterms:created>
  <dcterms:modified xsi:type="dcterms:W3CDTF">2026-05-29T10:40:23Z</dcterms:modified>
</cp:coreProperties>
</file>