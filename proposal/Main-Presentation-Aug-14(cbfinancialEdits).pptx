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84d1201c094f4e" /><Relationship Type="http://schemas.openxmlformats.org/officeDocument/2006/relationships/extended-properties" Target="/docProps/app.xml" Id="Rf0a18312841f44f4" /><Relationship Type="http://schemas.openxmlformats.org/officeDocument/2006/relationships/officeDocument" Target="/ppt/presentation.xml" Id="R725da71562dc44e6" /></Relationships>
</file>

<file path=ppt/presentation.xml><?xml version="1.0" encoding="utf-8"?>
<p:presentation xmlns:p="http://schemas.openxmlformats.org/presentationml/2006/main">
  <p:sldMasterIdLst>
    <p:sldMasterId xmlns:r="http://schemas.openxmlformats.org/officeDocument/2006/relationships" id="2147483648" r:id="R5fd6f3785dc5432f"/>
  </p:sldMasterIdLst>
  <p:notesMasterIdLst>
    <p:notesMasterId xmlns:r="http://schemas.openxmlformats.org/officeDocument/2006/relationships" r:id="R008c8e89068640d3"/>
  </p:notesMasterIdLst>
  <p:sldIdLst>
    <p:sldId xmlns:r="http://schemas.openxmlformats.org/officeDocument/2006/relationships" id="256" r:id="Rf2f91a4ecc9e43a8"/>
    <p:sldId xmlns:r="http://schemas.openxmlformats.org/officeDocument/2006/relationships" id="257" r:id="Rf3c92fb5bbc54697"/>
    <p:sldId xmlns:r="http://schemas.openxmlformats.org/officeDocument/2006/relationships" id="258" r:id="Rad1d352056354e4c"/>
    <p:sldId xmlns:r="http://schemas.openxmlformats.org/officeDocument/2006/relationships" id="259" r:id="R35c668d9dcab4af1"/>
    <p:sldId xmlns:r="http://schemas.openxmlformats.org/officeDocument/2006/relationships" id="260" r:id="R9334eb66ae114461"/>
    <p:sldId xmlns:r="http://schemas.openxmlformats.org/officeDocument/2006/relationships" id="261" r:id="R0eecb348cf5c43b8"/>
    <p:sldId xmlns:r="http://schemas.openxmlformats.org/officeDocument/2006/relationships" id="262" r:id="R86cc74e0053c4c5d"/>
    <p:sldId xmlns:r="http://schemas.openxmlformats.org/officeDocument/2006/relationships" id="263" r:id="R0baab704fb2646b6"/>
    <p:sldId xmlns:r="http://schemas.openxmlformats.org/officeDocument/2006/relationships" id="264" r:id="Re4e9a62316794e61"/>
    <p:sldId xmlns:r="http://schemas.openxmlformats.org/officeDocument/2006/relationships" id="265" r:id="R87e2ac0f09ca4b63"/>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d690025b99a4c9c" /><Relationship Type="http://schemas.openxmlformats.org/officeDocument/2006/relationships/slideMaster" Target="/ppt/slideMasters/slideMaster1.xml" Id="R5fd6f3785dc5432f" /><Relationship Type="http://schemas.openxmlformats.org/officeDocument/2006/relationships/notesMaster" Target="/ppt/notesMasters/notesMaster1.xml" Id="R008c8e89068640d3" /><Relationship Type="http://schemas.openxmlformats.org/officeDocument/2006/relationships/presProps" Target="/ppt/presProps.xml" Id="Ra2c5eb00eceb4f9e" /><Relationship Type="http://schemas.openxmlformats.org/officeDocument/2006/relationships/viewProps" Target="/ppt/viewProps.xml" Id="R8d60f4360187402b" /><Relationship Type="http://schemas.openxmlformats.org/officeDocument/2006/relationships/tableStyles" Target="/ppt/tableStyles.xml" Id="R516411a806df4441" /><Relationship Type="http://schemas.openxmlformats.org/officeDocument/2006/relationships/slide" Target="/ppt/slides/slide1.xml" Id="Rf2f91a4ecc9e43a8" /><Relationship Type="http://schemas.openxmlformats.org/officeDocument/2006/relationships/slide" Target="/ppt/slides/slide2.xml" Id="Rf3c92fb5bbc54697" /><Relationship Type="http://schemas.openxmlformats.org/officeDocument/2006/relationships/slide" Target="/ppt/slides/slide3.xml" Id="Rad1d352056354e4c" /><Relationship Type="http://schemas.openxmlformats.org/officeDocument/2006/relationships/slide" Target="/ppt/slides/slide4.xml" Id="R35c668d9dcab4af1" /><Relationship Type="http://schemas.openxmlformats.org/officeDocument/2006/relationships/slide" Target="/ppt/slides/slide5.xml" Id="R9334eb66ae114461" /><Relationship Type="http://schemas.openxmlformats.org/officeDocument/2006/relationships/slide" Target="/ppt/slides/slide6.xml" Id="R0eecb348cf5c43b8" /><Relationship Type="http://schemas.openxmlformats.org/officeDocument/2006/relationships/slide" Target="/ppt/slides/slide7.xml" Id="R86cc74e0053c4c5d" /><Relationship Type="http://schemas.openxmlformats.org/officeDocument/2006/relationships/slide" Target="/ppt/slides/slide8.xml" Id="R0baab704fb2646b6" /><Relationship Type="http://schemas.openxmlformats.org/officeDocument/2006/relationships/slide" Target="/ppt/slides/slide9.xml" Id="Re4e9a62316794e61" /><Relationship Type="http://schemas.openxmlformats.org/officeDocument/2006/relationships/slide" Target="/ppt/slides/slide10.xml" Id="R87e2ac0f09ca4b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d36b0378a74c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dd628ce2ad4f34" /><Relationship Type="http://schemas.openxmlformats.org/officeDocument/2006/relationships/notesMaster" Target="/ppt/notesMasters/notesMaster1.xml" Id="R6f292b98a4aa4c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8ac43416144fb7" /><Relationship Type="http://schemas.openxmlformats.org/officeDocument/2006/relationships/notesMaster" Target="/ppt/notesMasters/notesMaster1.xml" Id="R08c465bb5b1a45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a3e27ecf3d4b81" /><Relationship Type="http://schemas.openxmlformats.org/officeDocument/2006/relationships/notesMaster" Target="/ppt/notesMasters/notesMaster1.xml" Id="R69c38b2c79e749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403c9967e8462d" /><Relationship Type="http://schemas.openxmlformats.org/officeDocument/2006/relationships/notesMaster" Target="/ppt/notesMasters/notesMaster1.xml" Id="R7ac6121c27df40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2698e563a64a97" /><Relationship Type="http://schemas.openxmlformats.org/officeDocument/2006/relationships/notesMaster" Target="/ppt/notesMasters/notesMaster1.xml" Id="R2632bbb816bd4b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79c80c88cf048e4" /><Relationship Type="http://schemas.openxmlformats.org/officeDocument/2006/relationships/notesMaster" Target="/ppt/notesMasters/notesMaster1.xml" Id="R8e9607b0aaac4b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c3f978d5d04f5d" /><Relationship Type="http://schemas.openxmlformats.org/officeDocument/2006/relationships/notesMaster" Target="/ppt/notesMasters/notesMaster1.xml" Id="Rf32826e805b441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34861ae475495d" /><Relationship Type="http://schemas.openxmlformats.org/officeDocument/2006/relationships/notesMaster" Target="/ppt/notesMasters/notesMaster1.xml" Id="R3108583f45f4423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9174004d2e4882" /><Relationship Type="http://schemas.openxmlformats.org/officeDocument/2006/relationships/notesMaster" Target="/ppt/notesMasters/notesMaster1.xml" Id="Re4369c44371749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d445e453d841c1" /><Relationship Type="http://schemas.openxmlformats.org/officeDocument/2006/relationships/notesMaster" Target="/ppt/notesMasters/notesMaster1.xml" Id="R2daa499374604a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a:t>
            </a:r>
          </a:p>
          <a:p xmlns:a="http://schemas.openxmlformats.org/drawingml/2006/main">
            <a:r>
              <a:t>This is Blockmediary, from Team Transakt: a programmable documentary escrow for SME cross-border trade. In the next five minutes we'll show you the product working for real - settling an actual trade, with real money, on a public blockchain.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[0:15-0:50]</a:t>
            </a:r>
          </a:p>
          <a:p xmlns:a="http://schemas.openxmlformats.org/drawingml/2006/main">
            <a:r>
              <a:t>When two businesses on different continents don't trust each other, the classic answer is a documentary Letter of Credit: a bank pays when shipping documents prove the goods moved. It works - but the paperwork behind a ten-thousand-dollar shipment costs a bank the same as behind a five-million-dollar one, so banks simply don't serve small traders. That's a two-and-a-half trillion dollar financing gap. Today an SME's real options are paying cash in advance and hoping - or walking away from the deal.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[0:50-1:25]</a:t>
            </a:r>
          </a:p>
          <a:p xmlns:a="http://schemas.openxmlformats.org/drawingml/2006/main">
            <a:r>
              <a:t>Blockmediary takes the documentary credit process and rebuilds it as code. The buyer locks the exact payment in a smart-contract escrow - non-custodial, so we never hold the money. The seller ships and uploads the standard trade documents. Then a deterministic rules engine grades that pack: sixty-one checks against the agreed terms, grounded in UCP 600 - the same rulebook bank document examiners use. If the documents prove performance, the escrow releases. If they don't, it doesn't. Let us show you - and this is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[1:25-3:25 - VOICEOVER FOR THE DEMO FOOTAGE]</a:t>
            </a:r>
          </a:p>
          <a:p xmlns:a="http://schemas.openxmlformats.org/drawingml/2006/main">
            <a:r>
              <a:t>This is the live product. Two companies have agreed a trade - the terms are on screen: goods, amount, shipping deadline, ports.</a:t>
            </a:r>
          </a:p>
          <a:p xmlns:a="http://schemas.openxmlformats.org/drawingml/2006/main">
            <a:r>
              <a:t>The buyer funds the deal from their own wallet. Watch the state change: the USDC is now locked in the escrow contract on Base - you can see the transaction hash the moment it lands.</a:t>
            </a:r>
          </a:p>
          <a:p xmlns:a="http://schemas.openxmlformats.org/drawingml/2006/main">
            <a:r>
              <a:t>Now the seller's side: they submit the document pack - commercial invoice, packing list, bill of lading, certificate of origin, and the customs declarations for the corridor.</a:t>
            </a:r>
          </a:p>
          <a:p xmlns:a="http://schemas.openxmlformats.org/drawingml/2006/main">
            <a:r>
              <a:t>The rules engine grades the pack instantly. Every check is listed - what passed, what it was checked against. A discrepant document fails loudly and names itself; a compliant pack opens the release.</a:t>
            </a:r>
          </a:p>
          <a:p xmlns:a="http://schemas.openxmlformats.org/drawingml/2006/main">
            <a:r>
              <a:t>And here is the moment that matters: the verdict is recorded on-chain, and the escrow releases the funds to the seller. Every stage of this deal - agreement, funding, verdict, release - now links to its own transaction on BaseScan. This is an audit trail a regulator, or an investor, can check without trusting 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[3:25-3:50]</a:t>
            </a:r>
          </a:p>
          <a:p xmlns:a="http://schemas.openxmlformats.org/drawingml/2006/main">
            <a:r>
              <a:t>Everything you just watched settled for real. The deal ended in state Released: the seller was paid because the documents proved performance - not because anyone pressed an approve button. Agreement, funding, verdict and release each carry their own transaction hash, and that release transaction is on screen. Pause the video, type it into BaseScan, and check us. The brief said a hosted prototype wasn't expected - we went further: the rail already settles real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[3:50-4:15]</a:t>
            </a:r>
          </a:p>
          <a:p xmlns:a="http://schemas.openxmlformats.org/drawingml/2006/main">
            <a:r>
              <a:t>Why hasn't someone done this? The funded players all stop one step short: Tazapay and XREX escrow the money but still release on buyer approval - the trust problem survives. Komgo serves banks, not SMEs. Contour raised eighteen million dollars from the biggest trade banks in the world and still shut down. Releasing on document compliance, priced for SMEs, is the seat left open - and unlike everyone on this slide, our version of it is already live and settling on a public chain.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revenue engine is deliberately transaction-led: no lending spread, FX trading or use of client funds.</a:t>
            </a:r>
          </a:p>
          <a:p xmlns:a="http://schemas.openxmlformats.org/drawingml/2006/main">
            <a:r>
              <a:t>[Sources]</a:t>
            </a:r>
          </a:p>
          <a:p xmlns:a="http://schemas.openxmlformats.org/drawingml/2006/main">
            <a:r>
              <a:t>- financial-projections/Blockmediary_Financial_Model_Submission_Ready_2026-08-13.xlsx: Assumptions!F63:F74; Tier Economics; P&amp;L 5yr!E7:E31</a:t>
            </a:r>
          </a:p>
          <a:p xmlns:a="http://schemas.openxmlformats.org/drawingml/2006/main">
            <a:r>
              <a:t>- financial-projections/financial-model-key-figures-2026-08-12.md: revenue model and Year 3 bridge</a:t>
            </a:r>
          </a:p>
          <a:p xmlns:a="http://schemas.openxmlformats.org/drawingml/2006/main">
            <a:r>
              <a:t>- proposal/business-model-canvas.md: Revenue and Costs blocks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[4:15-4:40]</a:t>
            </a:r>
          </a:p>
          <a:p xmlns:a="http://schemas.openxmlformats.org/drawingml/2006/main">
            <a:r>
              <a:t>So where are we, honestly? Today: a working prototype that has settled real value - ahead of where a hackathon build needs to be. The plan from here is deliberately conservative: a paid, partner-led pilot in the DIFC at month twelve, first receipts the month after, and a full VARA licence targeted at month eighteen. The base case reaches one-point-three-seven million pounds of Year-3 revenue on two thousand deals - and monthly break-even in year four.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[4:40-4:52]</a:t>
            </a:r>
          </a:p>
          <a:p xmlns:a="http://schemas.openxmlformats.org/drawingml/2006/main">
            <a:r>
              <a:t>The ask is three-point-one million pounds of operating funding, staged. Seventy percent goes to people and permission - the compliance, licensing and team that turn a working rail into a regulated business - because the hard engineering risk is already retired: you watched it settle.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[4:52-5:00]</a:t>
            </a:r>
          </a:p>
          <a:p xmlns:a="http://schemas.openxmlformats.org/drawingml/2006/main">
            <a:r>
              <a:t>Blockmediary. The trust layer for global trade - already settling. Try the prototype, read the code, verify the transaction.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ca24ced1464a2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80b585409a44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2fdf6b757c41e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29526683fd43d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53b7bae5b4f421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5fad52c84b44c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fada1b874f44c0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60017e0843a4a6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86ed86b2b4d44a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eab325d715344d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3cf84ed3e6942b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1EFC4C0-B588-45C5-9BA2-4683052D98CF}"/>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80FC1CBF-E52A-4BFD-95A5-721A60A1643F}"/>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AE26AC7-4437-4B12-A36B-044CF1E97E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DC7A640A-E212-4409-A22B-530EA5DA1B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3A33988-E217-406F-9BA0-00323D4A6E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B13E957-1656-4E0D-896A-504DB40C569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AB8C684-EE30-4B2B-A067-D267948BCE1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FBC8E46-1B7F-42A3-BEA4-5F60F213D4F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14F28CE-9D6D-4EAD-80FD-54A560CB3BC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65984E9-6451-402D-B906-015FA97383C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C97F053-42B6-4A38-BE8F-E0348A591314}"/>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B61DA58-DA97-465C-8A66-9868B61EE36F}"/>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911142B-624A-48A7-AF9C-0E779156B85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7AB8B26-AA0D-4EBB-A727-5F76D1E633E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483B06B-3F00-4E1F-B994-258D878519D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A3F5BB-3281-4682-B430-145411BDD5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DB17B5E-45C9-4E92-AD70-B65A28219008}"/>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FE246BB0-E59C-46F1-A094-11ECC3FF367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C7EC1C8-48A7-4E65-9712-5954907ABAC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F244EDF4-E8E2-4107-A593-6F6347E199B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9BC64CF-E60D-4721-B7B7-D9BC0678A4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A14C479-0F1E-496C-BAF9-B4D872CFB61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D4ACB14-1C4E-4907-A268-A9BA05949B44}"/>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B0C2955-697C-4CC5-8F8D-4BA5E8C6EB7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BAFDEBCC-B737-4281-BE78-D23FF6776AA0}"/>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F6877DF-F46B-4A73-BD46-F70A5C090723}"/>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1C24A94-0319-4C94-B080-04EFB02332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0CF07B64-5644-4968-B76C-3DF1A2A3D8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70009C47-6B20-4569-9412-576BC8DFB07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32EF4BB-FABF-44DA-9D77-661559B7355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11F4BE7D-02DD-4D52-B6D7-2F024EC371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EC247202-6B0D-43C6-8031-723267222C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D8BDDF56-CA55-47B5-880E-BED18CD592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618F30E-792C-4DF4-97C1-AF1785BE1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13B1AE98-B6ED-490D-9E61-4F538DD6F8D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0CF3C7B-46DE-497B-9BEA-571E27FB633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16E254-76DD-426D-B297-55F3C1CC2625}"/>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3B55CC8-9907-43DA-9471-345F51BEC109}"/>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45721D1B-9391-4CB5-BF50-C7634BA2D825}"/>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DABBD6C-7A79-4EE9-9410-BD2EEE60A5E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7D49D649-B04A-43A7-8FDC-8DC4CC78DEB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E7CE6A4-4AE0-4899-861A-920F26FCF2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A1DFC8-B8A5-411D-93CF-82C631A3A3DE}"/>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F213F7DC-8ACC-4262-BB5B-75A248B57DCE}"/>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1173C3D2-2EED-46F6-BFF6-CC54DF9755C1}"/>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9491FB4-2E5F-425C-86FA-F187CF9217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AE31185E-2869-4E42-8A68-6893CEEA91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278AB8C-9D77-42BB-A7C4-0E4761FB590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21A8721-BB3A-4137-8A6A-5D33533FB7B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E7326C5-C4CE-4368-8CC5-7DAA3BB8291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406B149-8670-4A02-AB9F-FF948AC1A6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F78ADDD-A477-4CC3-9502-A208A62B12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982B369-83B2-4D09-B6AA-629F03CE673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E540FE6-A9D3-4E2F-808F-588FA00F5B1A}"/>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6976984C-4C71-4D84-8E2D-242809B01B5A}"/>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BD60D98-A734-4FE4-932F-4BB666607F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5CECD329-D746-48FA-A6E6-57C2C36DA65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AB2DBAC-BBC8-43E5-B728-8F0DEA9BCC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cb43deb61d44de" /><Relationship Type="http://schemas.openxmlformats.org/officeDocument/2006/relationships/slideLayout" Target="/ppt/slideLayouts/slideLayout1.xml" Id="R960356a29ae44c0e" /><Relationship Type="http://schemas.openxmlformats.org/officeDocument/2006/relationships/slideLayout" Target="/ppt/slideLayouts/slideLayout2.xml" Id="R9e1cf09d99334429" /><Relationship Type="http://schemas.openxmlformats.org/officeDocument/2006/relationships/slideLayout" Target="/ppt/slideLayouts/slideLayout3.xml" Id="Ra48f94204b9443dc" /><Relationship Type="http://schemas.openxmlformats.org/officeDocument/2006/relationships/slideLayout" Target="/ppt/slideLayouts/slideLayout4.xml" Id="R4bae823ae6e44a16" /><Relationship Type="http://schemas.openxmlformats.org/officeDocument/2006/relationships/slideLayout" Target="/ppt/slideLayouts/slideLayout5.xml" Id="Rc5e82ef29ffa4b7c" /><Relationship Type="http://schemas.openxmlformats.org/officeDocument/2006/relationships/slideLayout" Target="/ppt/slideLayouts/slideLayout6.xml" Id="Rc9964d9718434670" /><Relationship Type="http://schemas.openxmlformats.org/officeDocument/2006/relationships/slideLayout" Target="/ppt/slideLayouts/slideLayout7.xml" Id="Rfb1ddd4f2c8d4650" /><Relationship Type="http://schemas.openxmlformats.org/officeDocument/2006/relationships/slideLayout" Target="/ppt/slideLayouts/slideLayout8.xml" Id="R4fd93550d3c348bc" /><Relationship Type="http://schemas.openxmlformats.org/officeDocument/2006/relationships/slideLayout" Target="/ppt/slideLayouts/slideLayout9.xml" Id="R6bc2b5dee57f4120" /><Relationship Type="http://schemas.openxmlformats.org/officeDocument/2006/relationships/slideLayout" Target="/ppt/slideLayouts/slideLayout10.xml" Id="Rdcc5e6de33bf4897" /><Relationship Type="http://schemas.openxmlformats.org/officeDocument/2006/relationships/slideLayout" Target="/ppt/slideLayouts/slideLayout11.xml" Id="Rfd3c271fb1ac455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5632B8FD-EA8B-4A91-8B6F-2E75B384D7D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69AA3FD-60CD-4B0C-87EA-0259E09C2D31}"/>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978E1A8-1EFC-47C6-9857-604EFF79BF97}"/>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8044434-F430-483F-AE37-98C6634CDC5F}"/>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B88DD71-9383-4A78-9F3B-5202A52A501D}"/>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0356a29ae44c0e"/>
    <p:sldLayoutId xmlns:r="http://schemas.openxmlformats.org/officeDocument/2006/relationships" id="2147483650" r:id="R9e1cf09d99334429"/>
    <p:sldLayoutId xmlns:r="http://schemas.openxmlformats.org/officeDocument/2006/relationships" id="2147483651" r:id="Ra48f94204b9443dc"/>
    <p:sldLayoutId xmlns:r="http://schemas.openxmlformats.org/officeDocument/2006/relationships" id="2147483652" r:id="R4bae823ae6e44a16"/>
    <p:sldLayoutId xmlns:r="http://schemas.openxmlformats.org/officeDocument/2006/relationships" id="2147483653" r:id="Rc5e82ef29ffa4b7c"/>
    <p:sldLayoutId xmlns:r="http://schemas.openxmlformats.org/officeDocument/2006/relationships" id="2147483654" r:id="Rc9964d9718434670"/>
    <p:sldLayoutId xmlns:r="http://schemas.openxmlformats.org/officeDocument/2006/relationships" id="2147483655" r:id="Rfb1ddd4f2c8d4650"/>
    <p:sldLayoutId xmlns:r="http://schemas.openxmlformats.org/officeDocument/2006/relationships" id="2147483656" r:id="R4fd93550d3c348bc"/>
    <p:sldLayoutId xmlns:r="http://schemas.openxmlformats.org/officeDocument/2006/relationships" id="2147483657" r:id="R6bc2b5dee57f4120"/>
    <p:sldLayoutId xmlns:r="http://schemas.openxmlformats.org/officeDocument/2006/relationships" id="2147483658" r:id="Rdcc5e6de33bf4897"/>
    <p:sldLayoutId xmlns:r="http://schemas.openxmlformats.org/officeDocument/2006/relationships" id="2147483659" r:id="Rfd3c271fb1ac4558"/>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01a7c75cb8d14c44" /><Relationship Type="http://schemas.openxmlformats.org/officeDocument/2006/relationships/notesSlide" Target="/ppt/notesSlides/notesSlide1.xml" Id="R222b64640e064d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3bf94265d8d748c1" /><Relationship Type="http://schemas.openxmlformats.org/officeDocument/2006/relationships/notesSlide" Target="/ppt/notesSlides/notesSlide2.xml" Id="Rfc0b316853c140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6f0f53d8d4f647db" /><Relationship Type="http://schemas.openxmlformats.org/officeDocument/2006/relationships/notesSlide" Target="/ppt/notesSlides/notesSlide3.xml" Id="R7a50925f72f849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afcd41d5b1cd408d" /><Relationship Type="http://schemas.openxmlformats.org/officeDocument/2006/relationships/notesSlide" Target="/ppt/notesSlides/notesSlide4.xml" Id="R58fdd0258c384b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399f3e2296bc476f" /><Relationship Type="http://schemas.openxmlformats.org/officeDocument/2006/relationships/notesSlide" Target="/ppt/notesSlides/notesSlide5.xml" Id="Rd07a14e3beb54d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67399112db914c5f" /><Relationship Type="http://schemas.openxmlformats.org/officeDocument/2006/relationships/notesSlide" Target="/ppt/notesSlides/notesSlide6.xml" Id="R00f1a8f0792a4a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5d67a985e946e0" /><Relationship Type="http://schemas.openxmlformats.org/officeDocument/2006/relationships/notesSlide" Target="/ppt/notesSlides/notesSlide7.xml" Id="Raf6040d0ce6c42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b2dad10ce19e457e" /><Relationship Type="http://schemas.openxmlformats.org/officeDocument/2006/relationships/notesSlide" Target="/ppt/notesSlides/notesSlide8.xml" Id="Re64bdbdc2dcd47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cf3a763751584cc1" /><Relationship Type="http://schemas.openxmlformats.org/officeDocument/2006/relationships/notesSlide" Target="/ppt/notesSlides/notesSlide9.xml" Id="R4a4182938bd7476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d1ce10259bbf4ed1" /><Relationship Type="http://schemas.openxmlformats.org/officeDocument/2006/relationships/notesSlide" Target="/ppt/notesSlides/notesSlide10.xml" Id="Rb87983cbe70d4aa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CA49612-A6C1-451D-8234-86910AE77AEC}"/>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1B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DB3F89FF-53A4-4083-AAA5-3B2DD3FCCD1C}"/>
              </a:ext>
            </a:extLst>
          </p:cNvPr>
          <p:cNvSpPr>
            <a:spLocks xmlns:a="http://schemas.openxmlformats.org/drawingml/2006/main" noGrp="1"/>
          </p:cNvSpPr>
          <p:nvPr/>
        </p:nvSpPr>
        <p:spPr>
          <a:xfrm xmlns:a="http://schemas.openxmlformats.org/drawingml/2006/main">
            <a:off x="822960" y="1417320"/>
            <a:ext cx="502920" cy="31750"/>
          </a:xfrm>
          <a:prstGeom xmlns:a="http://schemas.openxmlformats.org/drawingml/2006/main" prst="rect">
            <a:avLst/>
          </a:prstGeom>
          <a:solidFill xmlns:a="http://schemas.openxmlformats.org/drawingml/2006/main">
            <a:srgbClr val="C77D1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48AA93B0-0302-421C-A02C-444B1A110709}"/>
              </a:ext>
            </a:extLst>
          </p:cNvPr>
          <p:cNvSpPr>
            <a:spLocks xmlns:a="http://schemas.openxmlformats.org/drawingml/2006/main" noGrp="1"/>
          </p:cNvSpPr>
          <p:nvPr/>
        </p:nvSpPr>
        <p:spPr>
          <a:xfrm xmlns:a="http://schemas.openxmlformats.org/drawingml/2006/main">
            <a:off x="822960" y="1554480"/>
            <a:ext cx="10545775"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spc="300">
                <a:solidFill>
                  <a:srgbClr val="C77D18"/>
                </a:solidFill>
                <a:latin typeface="Aptos"/>
                <a:ea typeface="Aptos"/>
                <a:cs typeface="Aptos"/>
              </a:rPr>
              <a:t>TEAM TRANSAKT — BEEM063 FINTECH HACKATHON</a:t>
            </a:r>
          </a:p>
        </p:txBody>
      </p:sp>
      <p:sp>
        <p:nvSpPr>
          <p:cNvPr id="5" name="TextBox 4">
            <a:extLst xmlns:a="http://schemas.openxmlformats.org/drawingml/2006/main">
              <a:ext uri="{FF2B5EF4-FFF2-40B4-BE49-F238E27FC236}">
                <a16:creationId xmlns:a16="http://schemas.microsoft.com/office/drawing/2014/main" id="{21D4DE2D-4916-45A3-BE48-179DCB958C8D}"/>
              </a:ext>
            </a:extLst>
          </p:cNvPr>
          <p:cNvSpPr>
            <a:spLocks xmlns:a="http://schemas.openxmlformats.org/drawingml/2006/main" noGrp="1"/>
          </p:cNvSpPr>
          <p:nvPr/>
        </p:nvSpPr>
        <p:spPr>
          <a:xfrm xmlns:a="http://schemas.openxmlformats.org/drawingml/2006/main">
            <a:off x="822960" y="2057400"/>
            <a:ext cx="10545775" cy="1371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6600" b="1">
                <a:solidFill>
                  <a:srgbClr val="FFFFFF"/>
                </a:solidFill>
                <a:latin typeface="Aptos Display"/>
                <a:ea typeface="Aptos Display"/>
                <a:cs typeface="Aptos Display"/>
              </a:rPr>
              <a:t>Blockmediary</a:t>
            </a:r>
          </a:p>
        </p:txBody>
      </p:sp>
      <p:sp>
        <p:nvSpPr>
          <p:cNvPr id="6" name="TextBox 5">
            <a:extLst xmlns:a="http://schemas.openxmlformats.org/drawingml/2006/main">
              <a:ext uri="{FF2B5EF4-FFF2-40B4-BE49-F238E27FC236}">
                <a16:creationId xmlns:a16="http://schemas.microsoft.com/office/drawing/2014/main" id="{5CFED28A-5E2B-47F7-8B6E-0669BE8B18EE}"/>
              </a:ext>
            </a:extLst>
          </p:cNvPr>
          <p:cNvSpPr>
            <a:spLocks xmlns:a="http://schemas.openxmlformats.org/drawingml/2006/main" noGrp="1"/>
          </p:cNvSpPr>
          <p:nvPr/>
        </p:nvSpPr>
        <p:spPr>
          <a:xfrm xmlns:a="http://schemas.openxmlformats.org/drawingml/2006/main">
            <a:off x="822960" y="3246120"/>
            <a:ext cx="9997135"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200" b="0">
                <a:solidFill>
                  <a:srgbClr val="F5E2C5"/>
                </a:solidFill>
                <a:latin typeface="Aptos"/>
                <a:ea typeface="Aptos"/>
                <a:cs typeface="Aptos"/>
              </a:rPr>
              <a:t>Programmable documentary escrow for SME cross-border trade.</a:t>
            </a:r>
          </a:p>
        </p:txBody>
      </p:sp>
      <p:sp>
        <p:nvSpPr>
          <p:cNvPr id="7" name="TextBox 6">
            <a:extLst xmlns:a="http://schemas.openxmlformats.org/drawingml/2006/main">
              <a:ext uri="{FF2B5EF4-FFF2-40B4-BE49-F238E27FC236}">
                <a16:creationId xmlns:a16="http://schemas.microsoft.com/office/drawing/2014/main" id="{FB248E77-C035-4C4C-A849-567C376C8F68}"/>
              </a:ext>
            </a:extLst>
          </p:cNvPr>
          <p:cNvSpPr>
            <a:spLocks xmlns:a="http://schemas.openxmlformats.org/drawingml/2006/main" noGrp="1"/>
          </p:cNvSpPr>
          <p:nvPr/>
        </p:nvSpPr>
        <p:spPr>
          <a:xfrm xmlns:a="http://schemas.openxmlformats.org/drawingml/2006/main">
            <a:off x="822960" y="3886200"/>
            <a:ext cx="9997135"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0">
                <a:solidFill>
                  <a:srgbClr val="9CA6B8"/>
                </a:solidFill>
                <a:latin typeface="Aptos"/>
                <a:ea typeface="Aptos"/>
                <a:cs typeface="Aptos"/>
              </a:rPr>
              <a:t>Build the trust layer for global trade.</a:t>
            </a:r>
          </a:p>
        </p:txBody>
      </p:sp>
      <p:sp>
        <p:nvSpPr>
          <p:cNvPr id="8" name="TextBox 7">
            <a:extLst xmlns:a="http://schemas.openxmlformats.org/drawingml/2006/main">
              <a:ext uri="{FF2B5EF4-FFF2-40B4-BE49-F238E27FC236}">
                <a16:creationId xmlns:a16="http://schemas.microsoft.com/office/drawing/2014/main" id="{4B7D7B75-1EAC-48EE-A739-30C950A3CBEE}"/>
              </a:ext>
            </a:extLst>
          </p:cNvPr>
          <p:cNvSpPr>
            <a:spLocks xmlns:a="http://schemas.openxmlformats.org/drawingml/2006/main" noGrp="1"/>
          </p:cNvSpPr>
          <p:nvPr/>
        </p:nvSpPr>
        <p:spPr>
          <a:xfrm xmlns:a="http://schemas.openxmlformats.org/drawingml/2006/main">
            <a:off x="822960" y="5943600"/>
            <a:ext cx="50292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9CA6B8"/>
                </a:solidFill>
                <a:latin typeface="Aptos"/>
                <a:ea typeface="Aptos"/>
                <a:cs typeface="Aptos"/>
              </a:rPr>
              <a:t>University of Exeter  ·  MSc FinTech  ·  August 2026</a:t>
            </a:r>
          </a:p>
        </p:txBody>
      </p:sp>
      <p:sp>
        <p:nvSpPr>
          <p:cNvPr id="9" name="TextBox 8">
            <a:extLst xmlns:a="http://schemas.openxmlformats.org/drawingml/2006/main">
              <a:ext uri="{FF2B5EF4-FFF2-40B4-BE49-F238E27FC236}">
                <a16:creationId xmlns:a16="http://schemas.microsoft.com/office/drawing/2014/main" id="{6368D69D-6274-4AA1-8E28-AFFA8134C7DA}"/>
              </a:ext>
            </a:extLst>
          </p:cNvPr>
          <p:cNvSpPr>
            <a:spLocks xmlns:a="http://schemas.openxmlformats.org/drawingml/2006/main" noGrp="1"/>
          </p:cNvSpPr>
          <p:nvPr/>
        </p:nvSpPr>
        <p:spPr>
          <a:xfrm xmlns:a="http://schemas.openxmlformats.org/drawingml/2006/main">
            <a:off x="7253935" y="5943600"/>
            <a:ext cx="41148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200" b="1">
                <a:solidFill>
                  <a:srgbClr val="C77D18"/>
                </a:solidFill>
                <a:latin typeface="Aptos"/>
                <a:ea typeface="Aptos"/>
                <a:cs typeface="Aptos"/>
              </a:rPr>
              <a:t>Live on Base  ·  settled in USDC</a:t>
            </a:r>
          </a:p>
        </p:txBody>
      </p:sp>
    </p:spTree>
    <p:extLst>
      <p:ext uri="{BB962C8B-B14F-4D97-AF65-F5344CB8AC3E}">
        <p14:creationId xmlns:p14="http://schemas.microsoft.com/office/powerpoint/2010/main" val="9556863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88EB5A5-A4FD-4518-AC57-E8FA25FABBE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4E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62998E57-EB8F-4BF6-99D2-8703F9B000F8}"/>
              </a:ext>
            </a:extLst>
          </p:cNvPr>
          <p:cNvSpPr>
            <a:spLocks xmlns:a="http://schemas.openxmlformats.org/drawingml/2006/main" noGrp="1"/>
          </p:cNvSpPr>
          <p:nvPr/>
        </p:nvSpPr>
        <p:spPr>
          <a:xfrm xmlns:a="http://schemas.openxmlformats.org/drawingml/2006/main">
            <a:off x="502920" y="429768"/>
            <a:ext cx="88900" cy="88900"/>
          </a:xfrm>
          <a:prstGeom xmlns:a="http://schemas.openxmlformats.org/drawingml/2006/main" prst="rect">
            <a:avLst/>
          </a:prstGeom>
          <a:solidFill xmlns:a="http://schemas.openxmlformats.org/drawingml/2006/main">
            <a:srgbClr val="0B1B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BA788DA9-2BF0-4943-B228-266AAE103FFF}"/>
              </a:ext>
            </a:extLst>
          </p:cNvPr>
          <p:cNvSpPr>
            <a:spLocks xmlns:a="http://schemas.openxmlformats.org/drawingml/2006/main" noGrp="1"/>
          </p:cNvSpPr>
          <p:nvPr/>
        </p:nvSpPr>
        <p:spPr>
          <a:xfrm xmlns:a="http://schemas.openxmlformats.org/drawingml/2006/main">
            <a:off x="685800" y="301752"/>
            <a:ext cx="8229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spc="280">
                <a:solidFill>
                  <a:srgbClr val="0B1B3A"/>
                </a:solidFill>
                <a:latin typeface="Aptos"/>
                <a:ea typeface="Aptos"/>
                <a:cs typeface="Aptos"/>
              </a:rPr>
              <a:t>PROBLEM</a:t>
            </a:r>
          </a:p>
        </p:txBody>
      </p:sp>
      <p:sp>
        <p:nvSpPr>
          <p:cNvPr id="5" name="TextBox 4">
            <a:extLst xmlns:a="http://schemas.openxmlformats.org/drawingml/2006/main">
              <a:ext uri="{FF2B5EF4-FFF2-40B4-BE49-F238E27FC236}">
                <a16:creationId xmlns:a16="http://schemas.microsoft.com/office/drawing/2014/main" id="{E4DE2F86-E2CF-4ADF-AD26-820E75A95263}"/>
              </a:ext>
            </a:extLst>
          </p:cNvPr>
          <p:cNvSpPr>
            <a:spLocks xmlns:a="http://schemas.openxmlformats.org/drawingml/2006/main" noGrp="1"/>
          </p:cNvSpPr>
          <p:nvPr/>
        </p:nvSpPr>
        <p:spPr>
          <a:xfrm xmlns:a="http://schemas.openxmlformats.org/drawingml/2006/main">
            <a:off x="502920" y="685800"/>
            <a:ext cx="10728655" cy="1051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2000"/>
              </a:lnSpc>
              <a:buNone/>
            </a:pPr>
            <a:r>
              <a:rPr sz="3000" b="1">
                <a:solidFill>
                  <a:srgbClr val="0B1B3A"/>
                </a:solidFill>
                <a:latin typeface="Aptos Display"/>
                <a:ea typeface="Aptos Display"/>
                <a:cs typeface="Aptos Display"/>
              </a:rPr>
              <a:t>SMEs are priced out of the instrument that made global trade work.</a:t>
            </a:r>
          </a:p>
        </p:txBody>
      </p:sp>
      <p:sp>
        <p:nvSpPr>
          <p:cNvPr id="6" name="TextBox 5">
            <a:extLst xmlns:a="http://schemas.openxmlformats.org/drawingml/2006/main">
              <a:ext uri="{FF2B5EF4-FFF2-40B4-BE49-F238E27FC236}">
                <a16:creationId xmlns:a16="http://schemas.microsoft.com/office/drawing/2014/main" id="{6898EAD8-1C79-4A61-A605-A401203D48CC}"/>
              </a:ext>
            </a:extLst>
          </p:cNvPr>
          <p:cNvSpPr>
            <a:spLocks xmlns:a="http://schemas.openxmlformats.org/drawingml/2006/main" noGrp="1"/>
          </p:cNvSpPr>
          <p:nvPr/>
        </p:nvSpPr>
        <p:spPr>
          <a:xfrm xmlns:a="http://schemas.openxmlformats.org/drawingml/2006/main">
            <a:off x="502920" y="1645920"/>
            <a:ext cx="10728655"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6B7280"/>
                </a:solidFill>
                <a:latin typeface="Aptos"/>
                <a:ea typeface="Aptos"/>
                <a:cs typeface="Aptos"/>
              </a:rPr>
              <a:t>Documentary credit solved trust in trade. But the same KYB, sanctions, document examination and capital work sits behind a $10K shipment and a $5M shipment - so banks choose the economics.</a:t>
            </a:r>
          </a:p>
        </p:txBody>
      </p:sp>
      <p:sp>
        <p:nvSpPr>
          <p:cNvPr id="7" name="Rectangle 6">
            <a:extLst xmlns:a="http://schemas.openxmlformats.org/drawingml/2006/main">
              <a:ext uri="{FF2B5EF4-FFF2-40B4-BE49-F238E27FC236}">
                <a16:creationId xmlns:a16="http://schemas.microsoft.com/office/drawing/2014/main" id="{30E90417-8C52-4C9E-8B4C-D208587B701E}"/>
              </a:ext>
            </a:extLst>
          </p:cNvPr>
          <p:cNvSpPr>
            <a:spLocks xmlns:a="http://schemas.openxmlformats.org/drawingml/2006/main" noGrp="1"/>
          </p:cNvSpPr>
          <p:nvPr/>
        </p:nvSpPr>
        <p:spPr>
          <a:xfrm xmlns:a="http://schemas.openxmlformats.org/drawingml/2006/main">
            <a:off x="502920" y="2743200"/>
            <a:ext cx="356616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E3DED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01FA93CE-A231-49F6-AA64-9E34721AB303}"/>
              </a:ext>
            </a:extLst>
          </p:cNvPr>
          <p:cNvSpPr>
            <a:spLocks xmlns:a="http://schemas.openxmlformats.org/drawingml/2006/main" noGrp="1"/>
          </p:cNvSpPr>
          <p:nvPr/>
        </p:nvSpPr>
        <p:spPr>
          <a:xfrm xmlns:a="http://schemas.openxmlformats.org/drawingml/2006/main">
            <a:off x="502920" y="2743200"/>
            <a:ext cx="44450" cy="1371600"/>
          </a:xfrm>
          <a:prstGeom xmlns:a="http://schemas.openxmlformats.org/drawingml/2006/main" prst="rect">
            <a:avLst/>
          </a:prstGeom>
          <a:solidFill xmlns:a="http://schemas.openxmlformats.org/drawingml/2006/main">
            <a:srgbClr val="C77D1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F5ECE66C-F7EC-484B-8A6D-497547C848C3}"/>
              </a:ext>
            </a:extLst>
          </p:cNvPr>
          <p:cNvSpPr>
            <a:spLocks xmlns:a="http://schemas.openxmlformats.org/drawingml/2006/main" noGrp="1"/>
          </p:cNvSpPr>
          <p:nvPr/>
        </p:nvSpPr>
        <p:spPr>
          <a:xfrm xmlns:a="http://schemas.openxmlformats.org/drawingml/2006/main">
            <a:off x="667512" y="2871216"/>
            <a:ext cx="3246120" cy="1143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100" b="1">
                <a:solidFill>
                  <a:srgbClr val="0B1B3A"/>
                </a:solidFill>
                <a:latin typeface="Aptos"/>
                <a:ea typeface="Aptos"/>
                <a:cs typeface="Aptos"/>
              </a:rPr>
              <a:t>$2.5T</a:t>
            </a:r>
          </a:p>
          <a:p xmlns:a="http://schemas.openxmlformats.org/drawingml/2006/main">
            <a:pPr algn="l">
              <a:buNone/>
            </a:pPr>
            <a:r>
              <a:rPr sz="1150" b="1">
                <a:solidFill>
                  <a:srgbClr val="0B1B3A"/>
                </a:solidFill>
                <a:latin typeface="Aptos"/>
                <a:ea typeface="Aptos"/>
                <a:cs typeface="Aptos"/>
              </a:rPr>
              <a:t>global SME trade finance gap</a:t>
            </a:r>
          </a:p>
          <a:p xmlns:a="http://schemas.openxmlformats.org/drawingml/2006/main">
            <a:pPr algn="l">
              <a:buNone/>
            </a:pPr>
            <a:r>
              <a:rPr sz="950" b="0">
                <a:solidFill>
                  <a:srgbClr val="6B7280"/>
                </a:solidFill>
                <a:latin typeface="Aptos"/>
                <a:ea typeface="Aptos"/>
                <a:cs typeface="Aptos"/>
              </a:rPr>
              <a:t>unmet demand for trade credit</a:t>
            </a:r>
          </a:p>
        </p:txBody>
      </p:sp>
      <p:sp>
        <p:nvSpPr>
          <p:cNvPr id="10" name="Rectangle 9">
            <a:extLst xmlns:a="http://schemas.openxmlformats.org/drawingml/2006/main">
              <a:ext uri="{FF2B5EF4-FFF2-40B4-BE49-F238E27FC236}">
                <a16:creationId xmlns:a16="http://schemas.microsoft.com/office/drawing/2014/main" id="{4F2B33C4-0082-4258-BB27-C22064A639A9}"/>
              </a:ext>
            </a:extLst>
          </p:cNvPr>
          <p:cNvSpPr>
            <a:spLocks xmlns:a="http://schemas.openxmlformats.org/drawingml/2006/main" noGrp="1"/>
          </p:cNvSpPr>
          <p:nvPr/>
        </p:nvSpPr>
        <p:spPr>
          <a:xfrm xmlns:a="http://schemas.openxmlformats.org/drawingml/2006/main">
            <a:off x="4297680" y="2743200"/>
            <a:ext cx="356616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E3DED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009A3D50-8FA2-4225-B2C1-F1B935F80C0B}"/>
              </a:ext>
            </a:extLst>
          </p:cNvPr>
          <p:cNvSpPr>
            <a:spLocks xmlns:a="http://schemas.openxmlformats.org/drawingml/2006/main" noGrp="1"/>
          </p:cNvSpPr>
          <p:nvPr/>
        </p:nvSpPr>
        <p:spPr>
          <a:xfrm xmlns:a="http://schemas.openxmlformats.org/drawingml/2006/main">
            <a:off x="4297680" y="2743200"/>
            <a:ext cx="44450" cy="1371600"/>
          </a:xfrm>
          <a:prstGeom xmlns:a="http://schemas.openxmlformats.org/drawingml/2006/main" prst="rect">
            <a:avLst/>
          </a:prstGeom>
          <a:solidFill xmlns:a="http://schemas.openxmlformats.org/drawingml/2006/main">
            <a:srgbClr val="1560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9669FA96-5050-4A34-9ED8-FF26E6C37209}"/>
              </a:ext>
            </a:extLst>
          </p:cNvPr>
          <p:cNvSpPr>
            <a:spLocks xmlns:a="http://schemas.openxmlformats.org/drawingml/2006/main" noGrp="1"/>
          </p:cNvSpPr>
          <p:nvPr/>
        </p:nvSpPr>
        <p:spPr>
          <a:xfrm xmlns:a="http://schemas.openxmlformats.org/drawingml/2006/main">
            <a:off x="4462272" y="2871216"/>
            <a:ext cx="3246120" cy="1143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100" b="1">
                <a:solidFill>
                  <a:srgbClr val="0B1B3A"/>
                </a:solidFill>
                <a:latin typeface="Aptos"/>
                <a:ea typeface="Aptos"/>
                <a:cs typeface="Aptos"/>
              </a:rPr>
              <a:t>1-3% + weeks</a:t>
            </a:r>
          </a:p>
          <a:p xmlns:a="http://schemas.openxmlformats.org/drawingml/2006/main">
            <a:pPr algn="l">
              <a:buNone/>
            </a:pPr>
            <a:r>
              <a:rPr sz="1150" b="1">
                <a:solidFill>
                  <a:srgbClr val="0B1B3A"/>
                </a:solidFill>
                <a:latin typeface="Aptos"/>
                <a:ea typeface="Aptos"/>
                <a:cs typeface="Aptos"/>
              </a:rPr>
              <a:t>the cost of a Letter of Credit</a:t>
            </a:r>
          </a:p>
          <a:p xmlns:a="http://schemas.openxmlformats.org/drawingml/2006/main">
            <a:pPr algn="l">
              <a:buNone/>
            </a:pPr>
            <a:r>
              <a:rPr sz="950" b="0">
                <a:solidFill>
                  <a:srgbClr val="6B7280"/>
                </a:solidFill>
                <a:latin typeface="Aptos"/>
                <a:ea typeface="Aptos"/>
                <a:cs typeface="Aptos"/>
              </a:rPr>
              <a:t>when a bank will issue one at all</a:t>
            </a:r>
          </a:p>
        </p:txBody>
      </p:sp>
      <p:sp>
        <p:nvSpPr>
          <p:cNvPr id="13" name="Rectangle 12">
            <a:extLst xmlns:a="http://schemas.openxmlformats.org/drawingml/2006/main">
              <a:ext uri="{FF2B5EF4-FFF2-40B4-BE49-F238E27FC236}">
                <a16:creationId xmlns:a16="http://schemas.microsoft.com/office/drawing/2014/main" id="{FA340D67-F5D7-4DE6-B0A0-4DE4FF26F2F0}"/>
              </a:ext>
            </a:extLst>
          </p:cNvPr>
          <p:cNvSpPr>
            <a:spLocks xmlns:a="http://schemas.openxmlformats.org/drawingml/2006/main" noGrp="1"/>
          </p:cNvSpPr>
          <p:nvPr/>
        </p:nvSpPr>
        <p:spPr>
          <a:xfrm xmlns:a="http://schemas.openxmlformats.org/drawingml/2006/main">
            <a:off x="8092440" y="2743200"/>
            <a:ext cx="356616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E3DED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E4BCB68D-BCEA-4C1E-B28D-C51B8CF2C617}"/>
              </a:ext>
            </a:extLst>
          </p:cNvPr>
          <p:cNvSpPr>
            <a:spLocks xmlns:a="http://schemas.openxmlformats.org/drawingml/2006/main" noGrp="1"/>
          </p:cNvSpPr>
          <p:nvPr/>
        </p:nvSpPr>
        <p:spPr>
          <a:xfrm xmlns:a="http://schemas.openxmlformats.org/drawingml/2006/main">
            <a:off x="8092440" y="2743200"/>
            <a:ext cx="44450" cy="1371600"/>
          </a:xfrm>
          <a:prstGeom xmlns:a="http://schemas.openxmlformats.org/drawingml/2006/main" prst="rect">
            <a:avLst/>
          </a:prstGeom>
          <a:solidFill xmlns:a="http://schemas.openxmlformats.org/drawingml/2006/main">
            <a:srgbClr val="0E8C7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DC629D61-33BF-49A9-822F-C11FFDFCE22D}"/>
              </a:ext>
            </a:extLst>
          </p:cNvPr>
          <p:cNvSpPr>
            <a:spLocks xmlns:a="http://schemas.openxmlformats.org/drawingml/2006/main" noGrp="1"/>
          </p:cNvSpPr>
          <p:nvPr/>
        </p:nvSpPr>
        <p:spPr>
          <a:xfrm xmlns:a="http://schemas.openxmlformats.org/drawingml/2006/main">
            <a:off x="8257032" y="2871216"/>
            <a:ext cx="3246120" cy="1143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100" b="1">
                <a:solidFill>
                  <a:srgbClr val="0B1B3A"/>
                </a:solidFill>
                <a:latin typeface="Aptos"/>
                <a:ea typeface="Aptos"/>
                <a:cs typeface="Aptos"/>
              </a:rPr>
              <a:t>Cash in advance</a:t>
            </a:r>
          </a:p>
          <a:p xmlns:a="http://schemas.openxmlformats.org/drawingml/2006/main">
            <a:pPr algn="l">
              <a:buNone/>
            </a:pPr>
            <a:r>
              <a:rPr sz="1150" b="1">
                <a:solidFill>
                  <a:srgbClr val="0B1B3A"/>
                </a:solidFill>
                <a:latin typeface="Aptos"/>
                <a:ea typeface="Aptos"/>
                <a:cs typeface="Aptos"/>
              </a:rPr>
              <a:t>the SME default today</a:t>
            </a:r>
          </a:p>
          <a:p xmlns:a="http://schemas.openxmlformats.org/drawingml/2006/main">
            <a:pPr algn="l">
              <a:buNone/>
            </a:pPr>
            <a:r>
              <a:rPr sz="950" b="0">
                <a:solidFill>
                  <a:srgbClr val="6B7280"/>
                </a:solidFill>
                <a:latin typeface="Aptos"/>
                <a:ea typeface="Aptos"/>
                <a:cs typeface="Aptos"/>
              </a:rPr>
              <a:t>full buyer risk, or the deal dies</a:t>
            </a:r>
          </a:p>
        </p:txBody>
      </p:sp>
      <p:sp>
        <p:nvSpPr>
          <p:cNvPr id="16" name="TextBox 15">
            <a:extLst xmlns:a="http://schemas.openxmlformats.org/drawingml/2006/main">
              <a:ext uri="{FF2B5EF4-FFF2-40B4-BE49-F238E27FC236}">
                <a16:creationId xmlns:a16="http://schemas.microsoft.com/office/drawing/2014/main" id="{3B7878A1-37D1-499D-9B24-AE86EF5D6CD6}"/>
              </a:ext>
            </a:extLst>
          </p:cNvPr>
          <p:cNvSpPr>
            <a:spLocks xmlns:a="http://schemas.openxmlformats.org/drawingml/2006/main" noGrp="1"/>
          </p:cNvSpPr>
          <p:nvPr/>
        </p:nvSpPr>
        <p:spPr>
          <a:xfrm xmlns:a="http://schemas.openxmlformats.org/drawingml/2006/main">
            <a:off x="502920" y="4663440"/>
            <a:ext cx="10728655"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1">
                <a:solidFill>
                  <a:srgbClr val="0B1B3A"/>
                </a:solidFill>
                <a:latin typeface="Aptos"/>
                <a:ea typeface="Aptos"/>
                <a:cs typeface="Aptos"/>
              </a:rPr>
              <a:t>Result: low-value cross-border trade runs on informal trust, prepayment - or never happens at all.</a:t>
            </a:r>
          </a:p>
        </p:txBody>
      </p:sp>
      <p:sp>
        <p:nvSpPr>
          <p:cNvPr id="17" name="TextBox 16">
            <a:extLst xmlns:a="http://schemas.openxmlformats.org/drawingml/2006/main">
              <a:ext uri="{FF2B5EF4-FFF2-40B4-BE49-F238E27FC236}">
                <a16:creationId xmlns:a16="http://schemas.microsoft.com/office/drawing/2014/main" id="{481053AC-B7FF-4E5B-88C9-AEB79C656B39}"/>
              </a:ext>
            </a:extLst>
          </p:cNvPr>
          <p:cNvSpPr>
            <a:spLocks xmlns:a="http://schemas.openxmlformats.org/drawingml/2006/main" noGrp="1"/>
          </p:cNvSpPr>
          <p:nvPr/>
        </p:nvSpPr>
        <p:spPr>
          <a:xfrm xmlns:a="http://schemas.openxmlformats.org/drawingml/2006/main">
            <a:off x="11505895" y="6400800"/>
            <a:ext cx="36576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900" b="0">
                <a:solidFill>
                  <a:srgbClr val="6B7280"/>
                </a:solidFill>
                <a:latin typeface="Aptos"/>
                <a:ea typeface="Aptos"/>
                <a:cs typeface="Aptos"/>
              </a:rPr>
              <a:t>2</a:t>
            </a:r>
          </a:p>
        </p:txBody>
      </p:sp>
    </p:spTree>
    <p:extLst>
      <p:ext uri="{BB962C8B-B14F-4D97-AF65-F5344CB8AC3E}">
        <p14:creationId xmlns:p14="http://schemas.microsoft.com/office/powerpoint/2010/main" val="191156711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34E17A6-9697-4A65-AB0A-FD94EF0D490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4E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73888158-7D69-4CFD-B91D-CB42A1E309AA}"/>
              </a:ext>
            </a:extLst>
          </p:cNvPr>
          <p:cNvSpPr>
            <a:spLocks xmlns:a="http://schemas.openxmlformats.org/drawingml/2006/main" noGrp="1"/>
          </p:cNvSpPr>
          <p:nvPr/>
        </p:nvSpPr>
        <p:spPr>
          <a:xfrm xmlns:a="http://schemas.openxmlformats.org/drawingml/2006/main">
            <a:off x="502920" y="429768"/>
            <a:ext cx="88900" cy="88900"/>
          </a:xfrm>
          <a:prstGeom xmlns:a="http://schemas.openxmlformats.org/drawingml/2006/main" prst="rect">
            <a:avLst/>
          </a:prstGeom>
          <a:solidFill xmlns:a="http://schemas.openxmlformats.org/drawingml/2006/main">
            <a:srgbClr val="0B1B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467B19EB-8CAC-431C-BBE5-13244BE4FEAF}"/>
              </a:ext>
            </a:extLst>
          </p:cNvPr>
          <p:cNvSpPr>
            <a:spLocks xmlns:a="http://schemas.openxmlformats.org/drawingml/2006/main" noGrp="1"/>
          </p:cNvSpPr>
          <p:nvPr/>
        </p:nvSpPr>
        <p:spPr>
          <a:xfrm xmlns:a="http://schemas.openxmlformats.org/drawingml/2006/main">
            <a:off x="685800" y="301752"/>
            <a:ext cx="8229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spc="280">
                <a:solidFill>
                  <a:srgbClr val="0B1B3A"/>
                </a:solidFill>
                <a:latin typeface="Aptos"/>
                <a:ea typeface="Aptos"/>
                <a:cs typeface="Aptos"/>
              </a:rPr>
              <a:t>SOLUTION</a:t>
            </a:r>
          </a:p>
        </p:txBody>
      </p:sp>
      <p:sp>
        <p:nvSpPr>
          <p:cNvPr id="5" name="TextBox 4">
            <a:extLst xmlns:a="http://schemas.openxmlformats.org/drawingml/2006/main">
              <a:ext uri="{FF2B5EF4-FFF2-40B4-BE49-F238E27FC236}">
                <a16:creationId xmlns:a16="http://schemas.microsoft.com/office/drawing/2014/main" id="{FC3F1651-D7F4-49FA-964E-945AA8744CFA}"/>
              </a:ext>
            </a:extLst>
          </p:cNvPr>
          <p:cNvSpPr>
            <a:spLocks xmlns:a="http://schemas.openxmlformats.org/drawingml/2006/main" noGrp="1"/>
          </p:cNvSpPr>
          <p:nvPr/>
        </p:nvSpPr>
        <p:spPr>
          <a:xfrm xmlns:a="http://schemas.openxmlformats.org/drawingml/2006/main">
            <a:off x="502920" y="685800"/>
            <a:ext cx="10728655" cy="1051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2000"/>
              </a:lnSpc>
              <a:buNone/>
            </a:pPr>
            <a:r>
              <a:rPr sz="3000" b="1">
                <a:solidFill>
                  <a:srgbClr val="0B1B3A"/>
                </a:solidFill>
                <a:latin typeface="Aptos Display"/>
                <a:ea typeface="Aptos Display"/>
                <a:cs typeface="Aptos Display"/>
              </a:rPr>
              <a:t>The Letter of Credit, rebuilt as a programmable escrow.</a:t>
            </a:r>
          </a:p>
        </p:txBody>
      </p:sp>
      <p:sp>
        <p:nvSpPr>
          <p:cNvPr id="6" name="TextBox 5">
            <a:extLst xmlns:a="http://schemas.openxmlformats.org/drawingml/2006/main">
              <a:ext uri="{FF2B5EF4-FFF2-40B4-BE49-F238E27FC236}">
                <a16:creationId xmlns:a16="http://schemas.microsoft.com/office/drawing/2014/main" id="{DFD10A7A-2B4E-4E7A-8A5A-B553DF9EFE3A}"/>
              </a:ext>
            </a:extLst>
          </p:cNvPr>
          <p:cNvSpPr>
            <a:spLocks xmlns:a="http://schemas.openxmlformats.org/drawingml/2006/main" noGrp="1"/>
          </p:cNvSpPr>
          <p:nvPr/>
        </p:nvSpPr>
        <p:spPr>
          <a:xfrm xmlns:a="http://schemas.openxmlformats.org/drawingml/2006/main">
            <a:off x="502920" y="1828800"/>
            <a:ext cx="10728655"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6B7280"/>
                </a:solidFill>
                <a:latin typeface="Aptos"/>
                <a:ea typeface="Aptos"/>
                <a:cs typeface="Aptos"/>
              </a:rPr>
              <a:t>Funds sit in a non-custodial smart contract. Documents are graded by a deterministic rules engine. Money moves on proof, not on promises.</a:t>
            </a:r>
          </a:p>
        </p:txBody>
      </p:sp>
      <p:sp>
        <p:nvSpPr>
          <p:cNvPr id="7" name="Rectangle 6">
            <a:extLst xmlns:a="http://schemas.openxmlformats.org/drawingml/2006/main">
              <a:ext uri="{FF2B5EF4-FFF2-40B4-BE49-F238E27FC236}">
                <a16:creationId xmlns:a16="http://schemas.microsoft.com/office/drawing/2014/main" id="{C0D0F756-EB9C-478C-9656-F64351D70A65}"/>
              </a:ext>
            </a:extLst>
          </p:cNvPr>
          <p:cNvSpPr>
            <a:spLocks xmlns:a="http://schemas.openxmlformats.org/drawingml/2006/main" noGrp="1"/>
          </p:cNvSpPr>
          <p:nvPr/>
        </p:nvSpPr>
        <p:spPr>
          <a:xfrm xmlns:a="http://schemas.openxmlformats.org/drawingml/2006/main">
            <a:off x="502920" y="2468880"/>
            <a:ext cx="3566160" cy="2377440"/>
          </a:xfrm>
          <a:prstGeom xmlns:a="http://schemas.openxmlformats.org/drawingml/2006/main" prst="rect">
            <a:avLst/>
          </a:prstGeom>
          <a:solidFill xmlns:a="http://schemas.openxmlformats.org/drawingml/2006/main">
            <a:srgbClr val="FFFFFF"/>
          </a:solidFill>
          <a:ln xmlns:a="http://schemas.openxmlformats.org/drawingml/2006/main" w="9525">
            <a:solidFill>
              <a:srgbClr val="E3DED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54C80D70-16DE-4DE3-9A62-7EA4BDE200A4}"/>
              </a:ext>
            </a:extLst>
          </p:cNvPr>
          <p:cNvSpPr>
            <a:spLocks xmlns:a="http://schemas.openxmlformats.org/drawingml/2006/main" noGrp="1"/>
          </p:cNvSpPr>
          <p:nvPr/>
        </p:nvSpPr>
        <p:spPr>
          <a:xfrm xmlns:a="http://schemas.openxmlformats.org/drawingml/2006/main">
            <a:off x="502920" y="2468880"/>
            <a:ext cx="3566160" cy="44450"/>
          </a:xfrm>
          <a:prstGeom xmlns:a="http://schemas.openxmlformats.org/drawingml/2006/main" prst="rect">
            <a:avLst/>
          </a:prstGeom>
          <a:solidFill xmlns:a="http://schemas.openxmlformats.org/drawingml/2006/main">
            <a:srgbClr val="C77D1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C7757BB9-9FAA-4CA2-8A16-670035CDE0CD}"/>
              </a:ext>
            </a:extLst>
          </p:cNvPr>
          <p:cNvSpPr>
            <a:spLocks xmlns:a="http://schemas.openxmlformats.org/drawingml/2006/main" noGrp="1"/>
          </p:cNvSpPr>
          <p:nvPr/>
        </p:nvSpPr>
        <p:spPr>
          <a:xfrm xmlns:a="http://schemas.openxmlformats.org/drawingml/2006/main">
            <a:off x="685800" y="2633472"/>
            <a:ext cx="3200400" cy="2011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10000"/>
              </a:lnSpc>
              <a:buNone/>
            </a:pPr>
            <a:r>
              <a:rPr sz="1500" b="1">
                <a:solidFill>
                  <a:srgbClr val="C77D18"/>
                </a:solidFill>
                <a:latin typeface="Aptos"/>
                <a:ea typeface="Aptos"/>
                <a:cs typeface="Aptos"/>
              </a:rPr>
              <a:t>01  </a:t>
            </a:r>
            <a:r>
              <a:rPr sz="1450" b="1">
                <a:solidFill>
                  <a:srgbClr val="0B1B3A"/>
                </a:solidFill>
                <a:latin typeface="Aptos"/>
                <a:ea typeface="Aptos"/>
                <a:cs typeface="Aptos"/>
              </a:rPr>
              <a:t>Buyer locks USDC</a:t>
            </a:r>
          </a:p>
          <a:p xmlns:a="http://schemas.openxmlformats.org/drawingml/2006/main">
            <a:pPr algn="l">
              <a:lnSpc>
                <a:spcPct val="110000"/>
              </a:lnSpc>
              <a:buNone/>
            </a:pPr>
            <a:r>
              <a:rPr sz="400" b="0">
                <a:solidFill>
                  <a:srgbClr val="0B1B3A"/>
                </a:solidFill>
                <a:latin typeface="Aptos"/>
                <a:ea typeface="Aptos"/>
                <a:cs typeface="Aptos"/>
              </a:rPr>
              <a:t/>
            </a:r>
          </a:p>
          <a:p xmlns:a="http://schemas.openxmlformats.org/drawingml/2006/main">
            <a:pPr algn="l">
              <a:lnSpc>
                <a:spcPct val="110000"/>
              </a:lnSpc>
              <a:buNone/>
            </a:pPr>
            <a:r>
              <a:rPr sz="1100" b="0">
                <a:solidFill>
                  <a:srgbClr val="6B7280"/>
                </a:solidFill>
                <a:latin typeface="Aptos"/>
                <a:ea typeface="Aptos"/>
                <a:cs typeface="Aptos"/>
              </a:rPr>
              <a:t>The exact amount, held by the contract - not by us. Nobody can spend it; it can only release to the seller or refund to the buyer.</a:t>
            </a:r>
          </a:p>
        </p:txBody>
      </p:sp>
      <p:sp>
        <p:nvSpPr>
          <p:cNvPr id="10" name="Rectangle 9">
            <a:extLst xmlns:a="http://schemas.openxmlformats.org/drawingml/2006/main">
              <a:ext uri="{FF2B5EF4-FFF2-40B4-BE49-F238E27FC236}">
                <a16:creationId xmlns:a16="http://schemas.microsoft.com/office/drawing/2014/main" id="{306883F0-E824-4E78-AF9D-ACE58BE30250}"/>
              </a:ext>
            </a:extLst>
          </p:cNvPr>
          <p:cNvSpPr>
            <a:spLocks xmlns:a="http://schemas.openxmlformats.org/drawingml/2006/main" noGrp="1"/>
          </p:cNvSpPr>
          <p:nvPr/>
        </p:nvSpPr>
        <p:spPr>
          <a:xfrm xmlns:a="http://schemas.openxmlformats.org/drawingml/2006/main">
            <a:off x="4297680" y="2468880"/>
            <a:ext cx="3566160" cy="2377440"/>
          </a:xfrm>
          <a:prstGeom xmlns:a="http://schemas.openxmlformats.org/drawingml/2006/main" prst="rect">
            <a:avLst/>
          </a:prstGeom>
          <a:solidFill xmlns:a="http://schemas.openxmlformats.org/drawingml/2006/main">
            <a:srgbClr val="FFFFFF"/>
          </a:solidFill>
          <a:ln xmlns:a="http://schemas.openxmlformats.org/drawingml/2006/main" w="9525">
            <a:solidFill>
              <a:srgbClr val="E3DED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47354E03-63E8-4BA0-B18F-95B0B1FCDB60}"/>
              </a:ext>
            </a:extLst>
          </p:cNvPr>
          <p:cNvSpPr>
            <a:spLocks xmlns:a="http://schemas.openxmlformats.org/drawingml/2006/main" noGrp="1"/>
          </p:cNvSpPr>
          <p:nvPr/>
        </p:nvSpPr>
        <p:spPr>
          <a:xfrm xmlns:a="http://schemas.openxmlformats.org/drawingml/2006/main">
            <a:off x="4297680" y="2468880"/>
            <a:ext cx="3566160" cy="44450"/>
          </a:xfrm>
          <a:prstGeom xmlns:a="http://schemas.openxmlformats.org/drawingml/2006/main" prst="rect">
            <a:avLst/>
          </a:prstGeom>
          <a:solidFill xmlns:a="http://schemas.openxmlformats.org/drawingml/2006/main">
            <a:srgbClr val="1560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3AC52492-0088-4D68-8003-F69E2515A8A7}"/>
              </a:ext>
            </a:extLst>
          </p:cNvPr>
          <p:cNvSpPr>
            <a:spLocks xmlns:a="http://schemas.openxmlformats.org/drawingml/2006/main" noGrp="1"/>
          </p:cNvSpPr>
          <p:nvPr/>
        </p:nvSpPr>
        <p:spPr>
          <a:xfrm xmlns:a="http://schemas.openxmlformats.org/drawingml/2006/main">
            <a:off x="4480560" y="2633472"/>
            <a:ext cx="3200400" cy="2011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10000"/>
              </a:lnSpc>
              <a:buNone/>
            </a:pPr>
            <a:r>
              <a:rPr sz="1500" b="1">
                <a:solidFill>
                  <a:srgbClr val="156082"/>
                </a:solidFill>
                <a:latin typeface="Aptos"/>
                <a:ea typeface="Aptos"/>
                <a:cs typeface="Aptos"/>
              </a:rPr>
              <a:t>02  </a:t>
            </a:r>
            <a:r>
              <a:rPr sz="1450" b="1">
                <a:solidFill>
                  <a:srgbClr val="0B1B3A"/>
                </a:solidFill>
                <a:latin typeface="Aptos"/>
                <a:ea typeface="Aptos"/>
                <a:cs typeface="Aptos"/>
              </a:rPr>
              <a:t>Seller ships &amp; uploads</a:t>
            </a:r>
          </a:p>
          <a:p xmlns:a="http://schemas.openxmlformats.org/drawingml/2006/main">
            <a:pPr algn="l">
              <a:lnSpc>
                <a:spcPct val="110000"/>
              </a:lnSpc>
              <a:buNone/>
            </a:pPr>
            <a:r>
              <a:rPr sz="400" b="0">
                <a:solidFill>
                  <a:srgbClr val="0B1B3A"/>
                </a:solidFill>
                <a:latin typeface="Aptos"/>
                <a:ea typeface="Aptos"/>
                <a:cs typeface="Aptos"/>
              </a:rPr>
              <a:t/>
            </a:r>
          </a:p>
          <a:p xmlns:a="http://schemas.openxmlformats.org/drawingml/2006/main">
            <a:pPr algn="l">
              <a:lnSpc>
                <a:spcPct val="110000"/>
              </a:lnSpc>
              <a:buNone/>
            </a:pPr>
            <a:r>
              <a:rPr sz="1100" b="0">
                <a:solidFill>
                  <a:srgbClr val="6B7280"/>
                </a:solidFill>
                <a:latin typeface="Aptos"/>
                <a:ea typeface="Aptos"/>
                <a:cs typeface="Aptos"/>
              </a:rPr>
              <a:t>The trade document pack: invoice, packing list, bill of lading, certificate of origin, customs declarations.</a:t>
            </a:r>
          </a:p>
        </p:txBody>
      </p:sp>
      <p:sp>
        <p:nvSpPr>
          <p:cNvPr id="13" name="Rectangle 12">
            <a:extLst xmlns:a="http://schemas.openxmlformats.org/drawingml/2006/main">
              <a:ext uri="{FF2B5EF4-FFF2-40B4-BE49-F238E27FC236}">
                <a16:creationId xmlns:a16="http://schemas.microsoft.com/office/drawing/2014/main" id="{114FB76F-8892-420A-86C4-7F35F0070710}"/>
              </a:ext>
            </a:extLst>
          </p:cNvPr>
          <p:cNvSpPr>
            <a:spLocks xmlns:a="http://schemas.openxmlformats.org/drawingml/2006/main" noGrp="1"/>
          </p:cNvSpPr>
          <p:nvPr/>
        </p:nvSpPr>
        <p:spPr>
          <a:xfrm xmlns:a="http://schemas.openxmlformats.org/drawingml/2006/main">
            <a:off x="8092440" y="2468880"/>
            <a:ext cx="3566160" cy="2377440"/>
          </a:xfrm>
          <a:prstGeom xmlns:a="http://schemas.openxmlformats.org/drawingml/2006/main" prst="rect">
            <a:avLst/>
          </a:prstGeom>
          <a:solidFill xmlns:a="http://schemas.openxmlformats.org/drawingml/2006/main">
            <a:srgbClr val="FFFFFF"/>
          </a:solidFill>
          <a:ln xmlns:a="http://schemas.openxmlformats.org/drawingml/2006/main" w="9525">
            <a:solidFill>
              <a:srgbClr val="E3DED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E644568B-B2D4-45E6-A3DE-71F33E70CB36}"/>
              </a:ext>
            </a:extLst>
          </p:cNvPr>
          <p:cNvSpPr>
            <a:spLocks xmlns:a="http://schemas.openxmlformats.org/drawingml/2006/main" noGrp="1"/>
          </p:cNvSpPr>
          <p:nvPr/>
        </p:nvSpPr>
        <p:spPr>
          <a:xfrm xmlns:a="http://schemas.openxmlformats.org/drawingml/2006/main">
            <a:off x="8092440" y="2468880"/>
            <a:ext cx="3566160" cy="44450"/>
          </a:xfrm>
          <a:prstGeom xmlns:a="http://schemas.openxmlformats.org/drawingml/2006/main" prst="rect">
            <a:avLst/>
          </a:prstGeom>
          <a:solidFill xmlns:a="http://schemas.openxmlformats.org/drawingml/2006/main">
            <a:srgbClr val="0E8C7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4622809D-51F0-4725-A474-A5B26599EA1F}"/>
              </a:ext>
            </a:extLst>
          </p:cNvPr>
          <p:cNvSpPr>
            <a:spLocks xmlns:a="http://schemas.openxmlformats.org/drawingml/2006/main" noGrp="1"/>
          </p:cNvSpPr>
          <p:nvPr/>
        </p:nvSpPr>
        <p:spPr>
          <a:xfrm xmlns:a="http://schemas.openxmlformats.org/drawingml/2006/main">
            <a:off x="8275320" y="2633472"/>
            <a:ext cx="3200400" cy="2011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10000"/>
              </a:lnSpc>
              <a:buNone/>
            </a:pPr>
            <a:r>
              <a:rPr sz="1500" b="1">
                <a:solidFill>
                  <a:srgbClr val="0E8C7F"/>
                </a:solidFill>
                <a:latin typeface="Aptos"/>
                <a:ea typeface="Aptos"/>
                <a:cs typeface="Aptos"/>
              </a:rPr>
              <a:t>03  </a:t>
            </a:r>
            <a:r>
              <a:rPr sz="1450" b="1">
                <a:solidFill>
                  <a:srgbClr val="0B1B3A"/>
                </a:solidFill>
                <a:latin typeface="Aptos"/>
                <a:ea typeface="Aptos"/>
                <a:cs typeface="Aptos"/>
              </a:rPr>
              <a:t>Engine grades, escrow pays</a:t>
            </a:r>
          </a:p>
          <a:p xmlns:a="http://schemas.openxmlformats.org/drawingml/2006/main">
            <a:pPr algn="l">
              <a:lnSpc>
                <a:spcPct val="110000"/>
              </a:lnSpc>
              <a:buNone/>
            </a:pPr>
            <a:r>
              <a:rPr sz="400" b="0">
                <a:solidFill>
                  <a:srgbClr val="0B1B3A"/>
                </a:solidFill>
                <a:latin typeface="Aptos"/>
                <a:ea typeface="Aptos"/>
                <a:cs typeface="Aptos"/>
              </a:rPr>
              <a:t/>
            </a:r>
          </a:p>
          <a:p xmlns:a="http://schemas.openxmlformats.org/drawingml/2006/main">
            <a:pPr algn="l">
              <a:lnSpc>
                <a:spcPct val="110000"/>
              </a:lnSpc>
              <a:buNone/>
            </a:pPr>
            <a:r>
              <a:rPr sz="1100" b="0">
                <a:solidFill>
                  <a:srgbClr val="6B7280"/>
                </a:solidFill>
                <a:latin typeface="Aptos"/>
                <a:ea typeface="Aptos"/>
                <a:cs typeface="Aptos"/>
              </a:rPr>
              <a:t>61 deterministic checks against the agreed terms - grounded in UCP 600, the same rulebook banks use. Compliant pack, funds release.</a:t>
            </a:r>
          </a:p>
        </p:txBody>
      </p:sp>
      <p:sp>
        <p:nvSpPr>
          <p:cNvPr id="16" name="TextBox 15">
            <a:extLst xmlns:a="http://schemas.openxmlformats.org/drawingml/2006/main">
              <a:ext uri="{FF2B5EF4-FFF2-40B4-BE49-F238E27FC236}">
                <a16:creationId xmlns:a16="http://schemas.microsoft.com/office/drawing/2014/main" id="{14E658D0-AA8D-45D3-9964-42827EDAF7AC}"/>
              </a:ext>
            </a:extLst>
          </p:cNvPr>
          <p:cNvSpPr>
            <a:spLocks xmlns:a="http://schemas.openxmlformats.org/drawingml/2006/main" noGrp="1"/>
          </p:cNvSpPr>
          <p:nvPr/>
        </p:nvSpPr>
        <p:spPr>
          <a:xfrm xmlns:a="http://schemas.openxmlformats.org/drawingml/2006/main">
            <a:off x="502920" y="5029200"/>
            <a:ext cx="10728655"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1">
                <a:solidFill>
                  <a:srgbClr val="0B1B3A"/>
                </a:solidFill>
                <a:latin typeface="Aptos"/>
                <a:ea typeface="Aptos"/>
                <a:cs typeface="Aptos"/>
              </a:rPr>
              <a:t>Release on document proof - not on buyer approval. No bank, no discretion, no 90-day wait.</a:t>
            </a:r>
          </a:p>
        </p:txBody>
      </p:sp>
      <p:sp>
        <p:nvSpPr>
          <p:cNvPr id="17" name="TextBox 16">
            <a:extLst xmlns:a="http://schemas.openxmlformats.org/drawingml/2006/main">
              <a:ext uri="{FF2B5EF4-FFF2-40B4-BE49-F238E27FC236}">
                <a16:creationId xmlns:a16="http://schemas.microsoft.com/office/drawing/2014/main" id="{3134BAB0-F679-4EDA-8098-C4689F2BAC93}"/>
              </a:ext>
            </a:extLst>
          </p:cNvPr>
          <p:cNvSpPr>
            <a:spLocks xmlns:a="http://schemas.openxmlformats.org/drawingml/2006/main" noGrp="1"/>
          </p:cNvSpPr>
          <p:nvPr/>
        </p:nvSpPr>
        <p:spPr>
          <a:xfrm xmlns:a="http://schemas.openxmlformats.org/drawingml/2006/main">
            <a:off x="11505895" y="6400800"/>
            <a:ext cx="36576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900" b="0">
                <a:solidFill>
                  <a:srgbClr val="6B7280"/>
                </a:solidFill>
                <a:latin typeface="Aptos"/>
                <a:ea typeface="Aptos"/>
                <a:cs typeface="Aptos"/>
              </a:rPr>
              <a:t>3</a:t>
            </a:r>
          </a:p>
        </p:txBody>
      </p:sp>
    </p:spTree>
    <p:extLst>
      <p:ext uri="{BB962C8B-B14F-4D97-AF65-F5344CB8AC3E}">
        <p14:creationId xmlns:p14="http://schemas.microsoft.com/office/powerpoint/2010/main" val="98196290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2F2EE-70FD-416D-B1B3-14BF939E135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1B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8B40699-B917-4366-9B90-9F3CB4985D7E}"/>
              </a:ext>
            </a:extLst>
          </p:cNvPr>
          <p:cNvSpPr>
            <a:spLocks xmlns:a="http://schemas.openxmlformats.org/drawingml/2006/main" noGrp="1"/>
          </p:cNvSpPr>
          <p:nvPr/>
        </p:nvSpPr>
        <p:spPr>
          <a:xfrm xmlns:a="http://schemas.openxmlformats.org/drawingml/2006/main">
            <a:off x="822960" y="2103120"/>
            <a:ext cx="1054577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5400" b="1">
                <a:solidFill>
                  <a:srgbClr val="FFFFFF"/>
                </a:solidFill>
                <a:latin typeface="Aptos Display"/>
                <a:ea typeface="Aptos Display"/>
                <a:cs typeface="Aptos Display"/>
              </a:rPr>
              <a:t>LIVE DEMO</a:t>
            </a:r>
          </a:p>
        </p:txBody>
      </p:sp>
      <p:sp>
        <p:nvSpPr>
          <p:cNvPr id="4" name="TextBox 3">
            <a:extLst xmlns:a="http://schemas.openxmlformats.org/drawingml/2006/main">
              <a:ext uri="{FF2B5EF4-FFF2-40B4-BE49-F238E27FC236}">
                <a16:creationId xmlns:a16="http://schemas.microsoft.com/office/drawing/2014/main" id="{532971C2-F16F-48A0-98D5-3CE11CEB5AA8}"/>
              </a:ext>
            </a:extLst>
          </p:cNvPr>
          <p:cNvSpPr>
            <a:spLocks xmlns:a="http://schemas.openxmlformats.org/drawingml/2006/main" noGrp="1"/>
          </p:cNvSpPr>
          <p:nvPr/>
        </p:nvSpPr>
        <p:spPr>
          <a:xfrm xmlns:a="http://schemas.openxmlformats.org/drawingml/2006/main">
            <a:off x="822960" y="3200400"/>
            <a:ext cx="10545775"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800" b="1">
                <a:solidFill>
                  <a:srgbClr val="C77D18"/>
                </a:solidFill>
                <a:latin typeface="Aptos"/>
                <a:ea typeface="Aptos"/>
                <a:cs typeface="Aptos"/>
              </a:rPr>
              <a:t>Recorded on Base Mainnet - real USDC, no simulation.</a:t>
            </a:r>
          </a:p>
        </p:txBody>
      </p:sp>
      <p:sp>
        <p:nvSpPr>
          <p:cNvPr id="5" name="TextBox 4">
            <a:extLst xmlns:a="http://schemas.openxmlformats.org/drawingml/2006/main">
              <a:ext uri="{FF2B5EF4-FFF2-40B4-BE49-F238E27FC236}">
                <a16:creationId xmlns:a16="http://schemas.microsoft.com/office/drawing/2014/main" id="{C8A9F83F-6817-4507-AA38-62305A9C975C}"/>
              </a:ext>
            </a:extLst>
          </p:cNvPr>
          <p:cNvSpPr>
            <a:spLocks xmlns:a="http://schemas.openxmlformats.org/drawingml/2006/main" noGrp="1"/>
          </p:cNvSpPr>
          <p:nvPr/>
        </p:nvSpPr>
        <p:spPr>
          <a:xfrm xmlns:a="http://schemas.openxmlformats.org/drawingml/2006/main">
            <a:off x="822960" y="5120640"/>
            <a:ext cx="10545775"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spc="200">
                <a:solidFill>
                  <a:srgbClr val="9CA6B8"/>
                </a:solidFill>
                <a:latin typeface="Aptos"/>
                <a:ea typeface="Aptos"/>
                <a:cs typeface="Aptos"/>
              </a:rPr>
              <a:t>[ DROP DEMO RECORDING HERE - approx. 2:00 ]</a:t>
            </a:r>
          </a:p>
          <a:p xmlns:a="http://schemas.openxmlformats.org/drawingml/2006/main">
            <a:pPr algn="l">
              <a:buNone/>
            </a:pPr>
            <a:r>
              <a:rPr sz="1100" b="0">
                <a:solidFill>
                  <a:srgbClr val="9CA6B8"/>
                </a:solidFill>
                <a:latin typeface="Aptos"/>
                <a:ea typeface="Aptos"/>
                <a:cs typeface="Aptos"/>
              </a:rPr>
              <a:t>Suggested cut: dashboard -&gt; agreed deal -&gt; buyer funds from own wallet -&gt; seller submits documents -&gt; verdict -&gt; release -&gt; BaseScan.</a:t>
            </a:r>
          </a:p>
        </p:txBody>
      </p:sp>
    </p:spTree>
    <p:extLst>
      <p:ext uri="{BB962C8B-B14F-4D97-AF65-F5344CB8AC3E}">
        <p14:creationId xmlns:p14="http://schemas.microsoft.com/office/powerpoint/2010/main" val="178017670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D7E8520-0B14-48D3-BE3D-B9AEAA6FFEA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4E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767B0E44-91C4-4663-A16B-34CABB185394}"/>
              </a:ext>
            </a:extLst>
          </p:cNvPr>
          <p:cNvSpPr>
            <a:spLocks xmlns:a="http://schemas.openxmlformats.org/drawingml/2006/main" noGrp="1"/>
          </p:cNvSpPr>
          <p:nvPr/>
        </p:nvSpPr>
        <p:spPr>
          <a:xfrm xmlns:a="http://schemas.openxmlformats.org/drawingml/2006/main">
            <a:off x="502920" y="429768"/>
            <a:ext cx="88900" cy="88900"/>
          </a:xfrm>
          <a:prstGeom xmlns:a="http://schemas.openxmlformats.org/drawingml/2006/main" prst="rect">
            <a:avLst/>
          </a:prstGeom>
          <a:solidFill xmlns:a="http://schemas.openxmlformats.org/drawingml/2006/main">
            <a:srgbClr val="0B1B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4D7BA21A-0FBA-4E91-95BD-6A7D6415B621}"/>
              </a:ext>
            </a:extLst>
          </p:cNvPr>
          <p:cNvSpPr>
            <a:spLocks xmlns:a="http://schemas.openxmlformats.org/drawingml/2006/main" noGrp="1"/>
          </p:cNvSpPr>
          <p:nvPr/>
        </p:nvSpPr>
        <p:spPr>
          <a:xfrm xmlns:a="http://schemas.openxmlformats.org/drawingml/2006/main">
            <a:off x="685800" y="301752"/>
            <a:ext cx="8229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spc="280">
                <a:solidFill>
                  <a:srgbClr val="0B1B3A"/>
                </a:solidFill>
                <a:latin typeface="Aptos"/>
                <a:ea typeface="Aptos"/>
                <a:cs typeface="Aptos"/>
              </a:rPr>
              <a:t>PROOF</a:t>
            </a:r>
          </a:p>
        </p:txBody>
      </p:sp>
      <p:sp>
        <p:nvSpPr>
          <p:cNvPr id="5" name="TextBox 4">
            <a:extLst xmlns:a="http://schemas.openxmlformats.org/drawingml/2006/main">
              <a:ext uri="{FF2B5EF4-FFF2-40B4-BE49-F238E27FC236}">
                <a16:creationId xmlns:a16="http://schemas.microsoft.com/office/drawing/2014/main" id="{0C7BE529-77BF-4588-B10C-720A9818F085}"/>
              </a:ext>
            </a:extLst>
          </p:cNvPr>
          <p:cNvSpPr>
            <a:spLocks xmlns:a="http://schemas.openxmlformats.org/drawingml/2006/main" noGrp="1"/>
          </p:cNvSpPr>
          <p:nvPr/>
        </p:nvSpPr>
        <p:spPr>
          <a:xfrm xmlns:a="http://schemas.openxmlformats.org/drawingml/2006/main">
            <a:off x="502920" y="685800"/>
            <a:ext cx="10728655" cy="1051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2000"/>
              </a:lnSpc>
              <a:buNone/>
            </a:pPr>
            <a:r>
              <a:rPr sz="3000" b="1">
                <a:solidFill>
                  <a:srgbClr val="0B1B3A"/>
                </a:solidFill>
                <a:latin typeface="Aptos Display"/>
                <a:ea typeface="Aptos Display"/>
                <a:cs typeface="Aptos Display"/>
              </a:rPr>
              <a:t>That was real money, on a public chain.</a:t>
            </a:r>
          </a:p>
        </p:txBody>
      </p:sp>
      <p:sp>
        <p:nvSpPr>
          <p:cNvPr id="6" name="TextBox 5">
            <a:extLst xmlns:a="http://schemas.openxmlformats.org/drawingml/2006/main">
              <a:ext uri="{FF2B5EF4-FFF2-40B4-BE49-F238E27FC236}">
                <a16:creationId xmlns:a16="http://schemas.microsoft.com/office/drawing/2014/main" id="{1995DC13-4E64-41DB-99DF-8E631EC68241}"/>
              </a:ext>
            </a:extLst>
          </p:cNvPr>
          <p:cNvSpPr>
            <a:spLocks xmlns:a="http://schemas.openxmlformats.org/drawingml/2006/main" noGrp="1"/>
          </p:cNvSpPr>
          <p:nvPr/>
        </p:nvSpPr>
        <p:spPr>
          <a:xfrm xmlns:a="http://schemas.openxmlformats.org/drawingml/2006/main">
            <a:off x="502920" y="1554480"/>
            <a:ext cx="10728655"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6B7280"/>
                </a:solidFill>
                <a:latin typeface="Aptos"/>
                <a:ea typeface="Aptos"/>
                <a:cs typeface="Aptos"/>
              </a:rPr>
              <a:t>Not a testnet run and not a simulation: an end-to-end documentary settlement executed on Base Mainnet, August 2026.</a:t>
            </a:r>
          </a:p>
        </p:txBody>
      </p:sp>
      <p:sp>
        <p:nvSpPr>
          <p:cNvPr id="7" name="Rectangle 6">
            <a:extLst xmlns:a="http://schemas.openxmlformats.org/drawingml/2006/main">
              <a:ext uri="{FF2B5EF4-FFF2-40B4-BE49-F238E27FC236}">
                <a16:creationId xmlns:a16="http://schemas.microsoft.com/office/drawing/2014/main" id="{4B24E3F2-FBA8-4AB6-ABA9-98C95349DCBC}"/>
              </a:ext>
            </a:extLst>
          </p:cNvPr>
          <p:cNvSpPr>
            <a:spLocks xmlns:a="http://schemas.openxmlformats.org/drawingml/2006/main" noGrp="1"/>
          </p:cNvSpPr>
          <p:nvPr/>
        </p:nvSpPr>
        <p:spPr>
          <a:xfrm xmlns:a="http://schemas.openxmlformats.org/drawingml/2006/main">
            <a:off x="502920" y="2377440"/>
            <a:ext cx="356616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E3DED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36169714-3271-4753-9EC9-E35D0873C025}"/>
              </a:ext>
            </a:extLst>
          </p:cNvPr>
          <p:cNvSpPr>
            <a:spLocks xmlns:a="http://schemas.openxmlformats.org/drawingml/2006/main" noGrp="1"/>
          </p:cNvSpPr>
          <p:nvPr/>
        </p:nvSpPr>
        <p:spPr>
          <a:xfrm xmlns:a="http://schemas.openxmlformats.org/drawingml/2006/main">
            <a:off x="502920" y="2377440"/>
            <a:ext cx="44450" cy="1371600"/>
          </a:xfrm>
          <a:prstGeom xmlns:a="http://schemas.openxmlformats.org/drawingml/2006/main" prst="rect">
            <a:avLst/>
          </a:prstGeom>
          <a:solidFill xmlns:a="http://schemas.openxmlformats.org/drawingml/2006/main">
            <a:srgbClr val="196B2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CCE7550D-6CB4-4F9D-AEE1-BB5E5D836C8B}"/>
              </a:ext>
            </a:extLst>
          </p:cNvPr>
          <p:cNvSpPr>
            <a:spLocks xmlns:a="http://schemas.openxmlformats.org/drawingml/2006/main" noGrp="1"/>
          </p:cNvSpPr>
          <p:nvPr/>
        </p:nvSpPr>
        <p:spPr>
          <a:xfrm xmlns:a="http://schemas.openxmlformats.org/drawingml/2006/main">
            <a:off x="667512" y="2505456"/>
            <a:ext cx="3246120" cy="1143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100" b="1">
                <a:solidFill>
                  <a:srgbClr val="0B1B3A"/>
                </a:solidFill>
                <a:latin typeface="Aptos"/>
                <a:ea typeface="Aptos"/>
                <a:cs typeface="Aptos"/>
              </a:rPr>
              <a:t>Released</a:t>
            </a:r>
          </a:p>
          <a:p xmlns:a="http://schemas.openxmlformats.org/drawingml/2006/main">
            <a:pPr algn="l">
              <a:buNone/>
            </a:pPr>
            <a:r>
              <a:rPr sz="1150" b="1">
                <a:solidFill>
                  <a:srgbClr val="0B1B3A"/>
                </a:solidFill>
                <a:latin typeface="Aptos"/>
                <a:ea typeface="Aptos"/>
                <a:cs typeface="Aptos"/>
              </a:rPr>
              <a:t>final state of the deal</a:t>
            </a:r>
          </a:p>
          <a:p xmlns:a="http://schemas.openxmlformats.org/drawingml/2006/main">
            <a:pPr algn="l">
              <a:buNone/>
            </a:pPr>
            <a:r>
              <a:rPr sz="950" b="0">
                <a:solidFill>
                  <a:srgbClr val="6B7280"/>
                </a:solidFill>
                <a:latin typeface="Aptos"/>
                <a:ea typeface="Aptos"/>
                <a:cs typeface="Aptos"/>
              </a:rPr>
              <a:t>funds paid to the seller on document proof</a:t>
            </a:r>
          </a:p>
        </p:txBody>
      </p:sp>
      <p:sp>
        <p:nvSpPr>
          <p:cNvPr id="10" name="Rectangle 9">
            <a:extLst xmlns:a="http://schemas.openxmlformats.org/drawingml/2006/main">
              <a:ext uri="{FF2B5EF4-FFF2-40B4-BE49-F238E27FC236}">
                <a16:creationId xmlns:a16="http://schemas.microsoft.com/office/drawing/2014/main" id="{D567D048-079E-4C91-9DF1-955918224342}"/>
              </a:ext>
            </a:extLst>
          </p:cNvPr>
          <p:cNvSpPr>
            <a:spLocks xmlns:a="http://schemas.openxmlformats.org/drawingml/2006/main" noGrp="1"/>
          </p:cNvSpPr>
          <p:nvPr/>
        </p:nvSpPr>
        <p:spPr>
          <a:xfrm xmlns:a="http://schemas.openxmlformats.org/drawingml/2006/main">
            <a:off x="4297680" y="2377440"/>
            <a:ext cx="356616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E3DED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61ECF095-9C68-4A5C-B77B-39063D05A216}"/>
              </a:ext>
            </a:extLst>
          </p:cNvPr>
          <p:cNvSpPr>
            <a:spLocks xmlns:a="http://schemas.openxmlformats.org/drawingml/2006/main" noGrp="1"/>
          </p:cNvSpPr>
          <p:nvPr/>
        </p:nvSpPr>
        <p:spPr>
          <a:xfrm xmlns:a="http://schemas.openxmlformats.org/drawingml/2006/main">
            <a:off x="4297680" y="2377440"/>
            <a:ext cx="44450" cy="1371600"/>
          </a:xfrm>
          <a:prstGeom xmlns:a="http://schemas.openxmlformats.org/drawingml/2006/main" prst="rect">
            <a:avLst/>
          </a:prstGeom>
          <a:solidFill xmlns:a="http://schemas.openxmlformats.org/drawingml/2006/main">
            <a:srgbClr val="C77D1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9148576F-BB2C-4D00-A623-5DB9DFD2D529}"/>
              </a:ext>
            </a:extLst>
          </p:cNvPr>
          <p:cNvSpPr>
            <a:spLocks xmlns:a="http://schemas.openxmlformats.org/drawingml/2006/main" noGrp="1"/>
          </p:cNvSpPr>
          <p:nvPr/>
        </p:nvSpPr>
        <p:spPr>
          <a:xfrm xmlns:a="http://schemas.openxmlformats.org/drawingml/2006/main">
            <a:off x="4462272" y="2505456"/>
            <a:ext cx="3246120" cy="1143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100" b="1">
                <a:solidFill>
                  <a:srgbClr val="0B1B3A"/>
                </a:solidFill>
                <a:latin typeface="Aptos"/>
                <a:ea typeface="Aptos"/>
                <a:cs typeface="Aptos"/>
              </a:rPr>
              <a:t>4 transactions</a:t>
            </a:r>
          </a:p>
          <a:p xmlns:a="http://schemas.openxmlformats.org/drawingml/2006/main">
            <a:pPr algn="l">
              <a:buNone/>
            </a:pPr>
            <a:r>
              <a:rPr sz="1150" b="1">
                <a:solidFill>
                  <a:srgbClr val="0B1B3A"/>
                </a:solidFill>
                <a:latin typeface="Aptos"/>
                <a:ea typeface="Aptos"/>
                <a:cs typeface="Aptos"/>
              </a:rPr>
              <a:t>agreement, funding, verdict, release</a:t>
            </a:r>
          </a:p>
          <a:p xmlns:a="http://schemas.openxmlformats.org/drawingml/2006/main">
            <a:pPr algn="l">
              <a:buNone/>
            </a:pPr>
            <a:r>
              <a:rPr sz="950" b="0">
                <a:solidFill>
                  <a:srgbClr val="6B7280"/>
                </a:solidFill>
                <a:latin typeface="Aptos"/>
                <a:ea typeface="Aptos"/>
                <a:cs typeface="Aptos"/>
              </a:rPr>
              <a:t>every stage carries its own hash</a:t>
            </a:r>
          </a:p>
        </p:txBody>
      </p:sp>
      <p:sp>
        <p:nvSpPr>
          <p:cNvPr id="13" name="Rectangle 12">
            <a:extLst xmlns:a="http://schemas.openxmlformats.org/drawingml/2006/main">
              <a:ext uri="{FF2B5EF4-FFF2-40B4-BE49-F238E27FC236}">
                <a16:creationId xmlns:a16="http://schemas.microsoft.com/office/drawing/2014/main" id="{A49072F8-43F8-4A33-8FA6-F3671E9C46EC}"/>
              </a:ext>
            </a:extLst>
          </p:cNvPr>
          <p:cNvSpPr>
            <a:spLocks xmlns:a="http://schemas.openxmlformats.org/drawingml/2006/main" noGrp="1"/>
          </p:cNvSpPr>
          <p:nvPr/>
        </p:nvSpPr>
        <p:spPr>
          <a:xfrm xmlns:a="http://schemas.openxmlformats.org/drawingml/2006/main">
            <a:off x="8092440" y="2377440"/>
            <a:ext cx="356616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E3DED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A057951C-8246-4720-AF0F-20CA5EAFA3C3}"/>
              </a:ext>
            </a:extLst>
          </p:cNvPr>
          <p:cNvSpPr>
            <a:spLocks xmlns:a="http://schemas.openxmlformats.org/drawingml/2006/main" noGrp="1"/>
          </p:cNvSpPr>
          <p:nvPr/>
        </p:nvSpPr>
        <p:spPr>
          <a:xfrm xmlns:a="http://schemas.openxmlformats.org/drawingml/2006/main">
            <a:off x="8092440" y="2377440"/>
            <a:ext cx="44450" cy="1371600"/>
          </a:xfrm>
          <a:prstGeom xmlns:a="http://schemas.openxmlformats.org/drawingml/2006/main" prst="rect">
            <a:avLst/>
          </a:prstGeom>
          <a:solidFill xmlns:a="http://schemas.openxmlformats.org/drawingml/2006/main">
            <a:srgbClr val="1560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8BCEFC86-96B4-4DB2-8960-83C1E51C5446}"/>
              </a:ext>
            </a:extLst>
          </p:cNvPr>
          <p:cNvSpPr>
            <a:spLocks xmlns:a="http://schemas.openxmlformats.org/drawingml/2006/main" noGrp="1"/>
          </p:cNvSpPr>
          <p:nvPr/>
        </p:nvSpPr>
        <p:spPr>
          <a:xfrm xmlns:a="http://schemas.openxmlformats.org/drawingml/2006/main">
            <a:off x="8257032" y="2505456"/>
            <a:ext cx="3246120" cy="1143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100" b="1">
                <a:solidFill>
                  <a:srgbClr val="0B1B3A"/>
                </a:solidFill>
                <a:latin typeface="Aptos"/>
                <a:ea typeface="Aptos"/>
                <a:cs typeface="Aptos"/>
              </a:rPr>
              <a:t>Non-custodial</a:t>
            </a:r>
          </a:p>
          <a:p xmlns:a="http://schemas.openxmlformats.org/drawingml/2006/main">
            <a:pPr algn="l">
              <a:buNone/>
            </a:pPr>
            <a:r>
              <a:rPr sz="1150" b="1">
                <a:solidFill>
                  <a:srgbClr val="0B1B3A"/>
                </a:solidFill>
                <a:latin typeface="Aptos"/>
                <a:ea typeface="Aptos"/>
                <a:cs typeface="Aptos"/>
              </a:rPr>
              <a:t>the contract held the funds</a:t>
            </a:r>
          </a:p>
          <a:p xmlns:a="http://schemas.openxmlformats.org/drawingml/2006/main">
            <a:pPr algn="l">
              <a:buNone/>
            </a:pPr>
            <a:r>
              <a:rPr sz="950" b="0">
                <a:solidFill>
                  <a:srgbClr val="6B7280"/>
                </a:solidFill>
                <a:latin typeface="Aptos"/>
                <a:ea typeface="Aptos"/>
                <a:cs typeface="Aptos"/>
              </a:rPr>
              <a:t>at no point could the company spend them</a:t>
            </a:r>
          </a:p>
        </p:txBody>
      </p:sp>
      <p:sp>
        <p:nvSpPr>
          <p:cNvPr id="16" name="TextBox 15">
            <a:extLst xmlns:a="http://schemas.openxmlformats.org/drawingml/2006/main">
              <a:ext uri="{FF2B5EF4-FFF2-40B4-BE49-F238E27FC236}">
                <a16:creationId xmlns:a16="http://schemas.microsoft.com/office/drawing/2014/main" id="{DAA121DD-C424-4DBC-B100-D967B9B4816A}"/>
              </a:ext>
            </a:extLst>
          </p:cNvPr>
          <p:cNvSpPr>
            <a:spLocks xmlns:a="http://schemas.openxmlformats.org/drawingml/2006/main" noGrp="1"/>
          </p:cNvSpPr>
          <p:nvPr/>
        </p:nvSpPr>
        <p:spPr>
          <a:xfrm xmlns:a="http://schemas.openxmlformats.org/drawingml/2006/main">
            <a:off x="502920" y="4206240"/>
            <a:ext cx="10728655"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6B7280"/>
                </a:solidFill>
                <a:latin typeface="Aptos"/>
                <a:ea typeface="Aptos"/>
                <a:cs typeface="Aptos"/>
              </a:rPr>
              <a:t>Verify the release yourself:</a:t>
            </a:r>
          </a:p>
        </p:txBody>
      </p:sp>
      <p:sp>
        <p:nvSpPr>
          <p:cNvPr id="17" name="TextBox 16">
            <a:extLst xmlns:a="http://schemas.openxmlformats.org/drawingml/2006/main">
              <a:ext uri="{FF2B5EF4-FFF2-40B4-BE49-F238E27FC236}">
                <a16:creationId xmlns:a16="http://schemas.microsoft.com/office/drawing/2014/main" id="{43376A92-9DD3-45EF-93F8-1B6693E91BD9}"/>
              </a:ext>
            </a:extLst>
          </p:cNvPr>
          <p:cNvSpPr>
            <a:spLocks xmlns:a="http://schemas.openxmlformats.org/drawingml/2006/main" noGrp="1"/>
          </p:cNvSpPr>
          <p:nvPr/>
        </p:nvSpPr>
        <p:spPr>
          <a:xfrm xmlns:a="http://schemas.openxmlformats.org/drawingml/2006/main">
            <a:off x="502920" y="4572000"/>
            <a:ext cx="10728655"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156082"/>
                </a:solidFill>
                <a:latin typeface="Consolas"/>
                <a:ea typeface="Consolas"/>
                <a:cs typeface="Consolas"/>
              </a:rPr>
              <a:t>basescan.org/tx/0xd3507c6e863e43e5f4f1f0467d51349391c1d65e166b00837d27d427412a4d8d</a:t>
            </a:r>
          </a:p>
        </p:txBody>
      </p:sp>
      <p:sp>
        <p:nvSpPr>
          <p:cNvPr id="18" name="TextBox 17">
            <a:extLst xmlns:a="http://schemas.openxmlformats.org/drawingml/2006/main">
              <a:ext uri="{FF2B5EF4-FFF2-40B4-BE49-F238E27FC236}">
                <a16:creationId xmlns:a16="http://schemas.microsoft.com/office/drawing/2014/main" id="{CC063A95-19E4-4C61-886B-0C4546F43072}"/>
              </a:ext>
            </a:extLst>
          </p:cNvPr>
          <p:cNvSpPr>
            <a:spLocks xmlns:a="http://schemas.openxmlformats.org/drawingml/2006/main" noGrp="1"/>
          </p:cNvSpPr>
          <p:nvPr/>
        </p:nvSpPr>
        <p:spPr>
          <a:xfrm xmlns:a="http://schemas.openxmlformats.org/drawingml/2006/main">
            <a:off x="11505895" y="6400800"/>
            <a:ext cx="36576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900" b="0">
                <a:solidFill>
                  <a:srgbClr val="6B7280"/>
                </a:solidFill>
                <a:latin typeface="Aptos"/>
                <a:ea typeface="Aptos"/>
                <a:cs typeface="Aptos"/>
              </a:rPr>
              <a:t>5</a:t>
            </a:r>
          </a:p>
        </p:txBody>
      </p:sp>
    </p:spTree>
    <p:extLst>
      <p:ext uri="{BB962C8B-B14F-4D97-AF65-F5344CB8AC3E}">
        <p14:creationId xmlns:p14="http://schemas.microsoft.com/office/powerpoint/2010/main" val="22366149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BD8836B-A53E-435B-A003-5FE4F1BEC65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4E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25FE3817-2532-4F36-9204-705D5424EDD8}"/>
              </a:ext>
            </a:extLst>
          </p:cNvPr>
          <p:cNvSpPr>
            <a:spLocks xmlns:a="http://schemas.openxmlformats.org/drawingml/2006/main" noGrp="1"/>
          </p:cNvSpPr>
          <p:nvPr/>
        </p:nvSpPr>
        <p:spPr>
          <a:xfrm xmlns:a="http://schemas.openxmlformats.org/drawingml/2006/main">
            <a:off x="502920" y="429768"/>
            <a:ext cx="88900" cy="88900"/>
          </a:xfrm>
          <a:prstGeom xmlns:a="http://schemas.openxmlformats.org/drawingml/2006/main" prst="rect">
            <a:avLst/>
          </a:prstGeom>
          <a:solidFill xmlns:a="http://schemas.openxmlformats.org/drawingml/2006/main">
            <a:srgbClr val="0B1B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044ED182-79D3-4A8B-B93E-F1A686056405}"/>
              </a:ext>
            </a:extLst>
          </p:cNvPr>
          <p:cNvSpPr>
            <a:spLocks xmlns:a="http://schemas.openxmlformats.org/drawingml/2006/main" noGrp="1"/>
          </p:cNvSpPr>
          <p:nvPr/>
        </p:nvSpPr>
        <p:spPr>
          <a:xfrm xmlns:a="http://schemas.openxmlformats.org/drawingml/2006/main">
            <a:off x="685800" y="301752"/>
            <a:ext cx="8229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spc="280">
                <a:solidFill>
                  <a:srgbClr val="0B1B3A"/>
                </a:solidFill>
                <a:latin typeface="Aptos"/>
                <a:ea typeface="Aptos"/>
                <a:cs typeface="Aptos"/>
              </a:rPr>
              <a:t>COMPETITION</a:t>
            </a:r>
          </a:p>
        </p:txBody>
      </p:sp>
      <p:sp>
        <p:nvSpPr>
          <p:cNvPr id="5" name="TextBox 4">
            <a:extLst xmlns:a="http://schemas.openxmlformats.org/drawingml/2006/main">
              <a:ext uri="{FF2B5EF4-FFF2-40B4-BE49-F238E27FC236}">
                <a16:creationId xmlns:a16="http://schemas.microsoft.com/office/drawing/2014/main" id="{D8DD6371-5ECF-4DD7-97D1-D16DD2052AA9}"/>
              </a:ext>
            </a:extLst>
          </p:cNvPr>
          <p:cNvSpPr>
            <a:spLocks xmlns:a="http://schemas.openxmlformats.org/drawingml/2006/main" noGrp="1"/>
          </p:cNvSpPr>
          <p:nvPr/>
        </p:nvSpPr>
        <p:spPr>
          <a:xfrm xmlns:a="http://schemas.openxmlformats.org/drawingml/2006/main">
            <a:off x="502920" y="685800"/>
            <a:ext cx="10728655" cy="1051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2000"/>
              </a:lnSpc>
              <a:buNone/>
            </a:pPr>
            <a:r>
              <a:rPr sz="3000" b="1">
                <a:solidFill>
                  <a:srgbClr val="0B1B3A"/>
                </a:solidFill>
                <a:latin typeface="Aptos Display"/>
                <a:ea typeface="Aptos Display"/>
                <a:cs typeface="Aptos Display"/>
              </a:rPr>
              <a:t>Every funded competitor releases on buyer approval, not document proof.</a:t>
            </a:r>
          </a:p>
        </p:txBody>
      </p:sp>
      <p:sp>
        <p:nvSpPr>
          <p:cNvPr id="6" name="TextBox 5">
            <a:extLst xmlns:a="http://schemas.openxmlformats.org/drawingml/2006/main">
              <a:ext uri="{FF2B5EF4-FFF2-40B4-BE49-F238E27FC236}">
                <a16:creationId xmlns:a16="http://schemas.microsoft.com/office/drawing/2014/main" id="{F60263B3-97BB-473C-B9CE-92E267362BB7}"/>
              </a:ext>
            </a:extLst>
          </p:cNvPr>
          <p:cNvSpPr>
            <a:spLocks xmlns:a="http://schemas.openxmlformats.org/drawingml/2006/main" noGrp="1"/>
          </p:cNvSpPr>
          <p:nvPr/>
        </p:nvSpPr>
        <p:spPr>
          <a:xfrm xmlns:a="http://schemas.openxmlformats.org/drawingml/2006/main">
            <a:off x="502920" y="1828800"/>
            <a:ext cx="10728655"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6B7280"/>
                </a:solidFill>
                <a:latin typeface="Aptos"/>
                <a:ea typeface="Aptos"/>
                <a:cs typeface="Aptos"/>
              </a:rPr>
              <a:t>Tazapay, Truzo, XREX and Komgo all wait for a human signal to pay. Contour tried full automation and folded.</a:t>
            </a:r>
          </a:p>
        </p:txBody>
      </p:sp>
      <p:sp>
        <p:nvSpPr>
          <p:cNvPr id="7" name="Rectangle 6">
            <a:extLst xmlns:a="http://schemas.openxmlformats.org/drawingml/2006/main">
              <a:ext uri="{FF2B5EF4-FFF2-40B4-BE49-F238E27FC236}">
                <a16:creationId xmlns:a16="http://schemas.microsoft.com/office/drawing/2014/main" id="{C22AFF8D-9A82-4952-A41F-88CFB3C53B71}"/>
              </a:ext>
            </a:extLst>
          </p:cNvPr>
          <p:cNvSpPr>
            <a:spLocks xmlns:a="http://schemas.openxmlformats.org/drawingml/2006/main" noGrp="1"/>
          </p:cNvSpPr>
          <p:nvPr/>
        </p:nvSpPr>
        <p:spPr>
          <a:xfrm xmlns:a="http://schemas.openxmlformats.org/drawingml/2006/main">
            <a:off x="566928" y="2560320"/>
            <a:ext cx="101600" cy="101600"/>
          </a:xfrm>
          <a:prstGeom xmlns:a="http://schemas.openxmlformats.org/drawingml/2006/main" prst="rect">
            <a:avLst/>
          </a:prstGeom>
          <a:solidFill xmlns:a="http://schemas.openxmlformats.org/drawingml/2006/main">
            <a:srgbClr val="0E8C7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E6E540A0-AC75-439C-ABE6-7C5EAF512716}"/>
              </a:ext>
            </a:extLst>
          </p:cNvPr>
          <p:cNvSpPr>
            <a:spLocks xmlns:a="http://schemas.openxmlformats.org/drawingml/2006/main" noGrp="1"/>
          </p:cNvSpPr>
          <p:nvPr/>
        </p:nvSpPr>
        <p:spPr>
          <a:xfrm xmlns:a="http://schemas.openxmlformats.org/drawingml/2006/main">
            <a:off x="868680" y="2468880"/>
            <a:ext cx="192024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0B1B3A"/>
                </a:solidFill>
                <a:latin typeface="Aptos"/>
                <a:ea typeface="Aptos"/>
                <a:cs typeface="Aptos"/>
              </a:rPr>
              <a:t>Tazapay</a:t>
            </a:r>
          </a:p>
        </p:txBody>
      </p:sp>
      <p:sp>
        <p:nvSpPr>
          <p:cNvPr id="9" name="TextBox 8">
            <a:extLst xmlns:a="http://schemas.openxmlformats.org/drawingml/2006/main">
              <a:ext uri="{FF2B5EF4-FFF2-40B4-BE49-F238E27FC236}">
                <a16:creationId xmlns:a16="http://schemas.microsoft.com/office/drawing/2014/main" id="{88DC304E-3B98-4365-85C0-223BA73B9196}"/>
              </a:ext>
            </a:extLst>
          </p:cNvPr>
          <p:cNvSpPr>
            <a:spLocks xmlns:a="http://schemas.openxmlformats.org/drawingml/2006/main" noGrp="1"/>
          </p:cNvSpPr>
          <p:nvPr/>
        </p:nvSpPr>
        <p:spPr>
          <a:xfrm xmlns:a="http://schemas.openxmlformats.org/drawingml/2006/main">
            <a:off x="2880360" y="2468880"/>
            <a:ext cx="603504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6B7280"/>
                </a:solidFill>
                <a:latin typeface="Aptos"/>
                <a:ea typeface="Aptos"/>
                <a:cs typeface="Aptos"/>
              </a:rPr>
              <a:t>Releases on buyer approval  ·  0.8% - 3.8%</a:t>
            </a:r>
          </a:p>
        </p:txBody>
      </p:sp>
      <p:sp>
        <p:nvSpPr>
          <p:cNvPr id="10" name="TextBox 9">
            <a:extLst xmlns:a="http://schemas.openxmlformats.org/drawingml/2006/main">
              <a:ext uri="{FF2B5EF4-FFF2-40B4-BE49-F238E27FC236}">
                <a16:creationId xmlns:a16="http://schemas.microsoft.com/office/drawing/2014/main" id="{64E6960A-4A5B-4136-8273-BE1E9C4AE88A}"/>
              </a:ext>
            </a:extLst>
          </p:cNvPr>
          <p:cNvSpPr>
            <a:spLocks xmlns:a="http://schemas.openxmlformats.org/drawingml/2006/main" noGrp="1"/>
          </p:cNvSpPr>
          <p:nvPr/>
        </p:nvSpPr>
        <p:spPr>
          <a:xfrm xmlns:a="http://schemas.openxmlformats.org/drawingml/2006/main">
            <a:off x="9052560" y="2468880"/>
            <a:ext cx="265176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6B7280"/>
                </a:solidFill>
                <a:latin typeface="Aptos"/>
                <a:ea typeface="Aptos"/>
                <a:cs typeface="Aptos"/>
              </a:rPr>
              <a:t>Active</a:t>
            </a:r>
          </a:p>
        </p:txBody>
      </p:sp>
      <p:sp>
        <p:nvSpPr>
          <p:cNvPr id="11" name="Rectangle 10">
            <a:extLst xmlns:a="http://schemas.openxmlformats.org/drawingml/2006/main">
              <a:ext uri="{FF2B5EF4-FFF2-40B4-BE49-F238E27FC236}">
                <a16:creationId xmlns:a16="http://schemas.microsoft.com/office/drawing/2014/main" id="{5829EB2E-6553-4C49-8C07-ADBFA5C3686D}"/>
              </a:ext>
            </a:extLst>
          </p:cNvPr>
          <p:cNvSpPr>
            <a:spLocks xmlns:a="http://schemas.openxmlformats.org/drawingml/2006/main" noGrp="1"/>
          </p:cNvSpPr>
          <p:nvPr/>
        </p:nvSpPr>
        <p:spPr>
          <a:xfrm xmlns:a="http://schemas.openxmlformats.org/drawingml/2006/main">
            <a:off x="566928" y="3127248"/>
            <a:ext cx="101600" cy="101600"/>
          </a:xfrm>
          <a:prstGeom xmlns:a="http://schemas.openxmlformats.org/drawingml/2006/main" prst="rect">
            <a:avLst/>
          </a:prstGeom>
          <a:solidFill xmlns:a="http://schemas.openxmlformats.org/drawingml/2006/main">
            <a:srgbClr val="1560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569D2182-E085-4927-B297-224DDEC6B33B}"/>
              </a:ext>
            </a:extLst>
          </p:cNvPr>
          <p:cNvSpPr>
            <a:spLocks xmlns:a="http://schemas.openxmlformats.org/drawingml/2006/main" noGrp="1"/>
          </p:cNvSpPr>
          <p:nvPr/>
        </p:nvSpPr>
        <p:spPr>
          <a:xfrm xmlns:a="http://schemas.openxmlformats.org/drawingml/2006/main">
            <a:off x="868680" y="3035808"/>
            <a:ext cx="192024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0B1B3A"/>
                </a:solidFill>
                <a:latin typeface="Aptos"/>
                <a:ea typeface="Aptos"/>
                <a:cs typeface="Aptos"/>
              </a:rPr>
              <a:t>Truzo</a:t>
            </a:r>
          </a:p>
        </p:txBody>
      </p:sp>
      <p:sp>
        <p:nvSpPr>
          <p:cNvPr id="13" name="TextBox 12">
            <a:extLst xmlns:a="http://schemas.openxmlformats.org/drawingml/2006/main">
              <a:ext uri="{FF2B5EF4-FFF2-40B4-BE49-F238E27FC236}">
                <a16:creationId xmlns:a16="http://schemas.microsoft.com/office/drawing/2014/main" id="{01022B86-942C-4106-8422-A73FF0052C95}"/>
              </a:ext>
            </a:extLst>
          </p:cNvPr>
          <p:cNvSpPr>
            <a:spLocks xmlns:a="http://schemas.openxmlformats.org/drawingml/2006/main" noGrp="1"/>
          </p:cNvSpPr>
          <p:nvPr/>
        </p:nvSpPr>
        <p:spPr>
          <a:xfrm xmlns:a="http://schemas.openxmlformats.org/drawingml/2006/main">
            <a:off x="2880360" y="3035808"/>
            <a:ext cx="603504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6B7280"/>
                </a:solidFill>
                <a:latin typeface="Aptos"/>
                <a:ea typeface="Aptos"/>
                <a:cs typeface="Aptos"/>
              </a:rPr>
              <a:t>Releases on delivery confirmation  ·  0.22% - 3.1% + £25</a:t>
            </a:r>
          </a:p>
        </p:txBody>
      </p:sp>
      <p:sp>
        <p:nvSpPr>
          <p:cNvPr id="14" name="TextBox 13">
            <a:extLst xmlns:a="http://schemas.openxmlformats.org/drawingml/2006/main">
              <a:ext uri="{FF2B5EF4-FFF2-40B4-BE49-F238E27FC236}">
                <a16:creationId xmlns:a16="http://schemas.microsoft.com/office/drawing/2014/main" id="{CE5950DB-59C4-4F23-B277-56FCDC973730}"/>
              </a:ext>
            </a:extLst>
          </p:cNvPr>
          <p:cNvSpPr>
            <a:spLocks xmlns:a="http://schemas.openxmlformats.org/drawingml/2006/main" noGrp="1"/>
          </p:cNvSpPr>
          <p:nvPr/>
        </p:nvSpPr>
        <p:spPr>
          <a:xfrm xmlns:a="http://schemas.openxmlformats.org/drawingml/2006/main">
            <a:off x="9052560" y="3035808"/>
            <a:ext cx="265176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6B7280"/>
                </a:solidFill>
                <a:latin typeface="Aptos"/>
                <a:ea typeface="Aptos"/>
                <a:cs typeface="Aptos"/>
              </a:rPr>
              <a:t>Active, narrow corridor</a:t>
            </a:r>
          </a:p>
        </p:txBody>
      </p:sp>
      <p:sp>
        <p:nvSpPr>
          <p:cNvPr id="15" name="Rectangle 14">
            <a:extLst xmlns:a="http://schemas.openxmlformats.org/drawingml/2006/main">
              <a:ext uri="{FF2B5EF4-FFF2-40B4-BE49-F238E27FC236}">
                <a16:creationId xmlns:a16="http://schemas.microsoft.com/office/drawing/2014/main" id="{7362E1B0-DB54-46D1-8C26-2B99148D594A}"/>
              </a:ext>
            </a:extLst>
          </p:cNvPr>
          <p:cNvSpPr>
            <a:spLocks xmlns:a="http://schemas.openxmlformats.org/drawingml/2006/main" noGrp="1"/>
          </p:cNvSpPr>
          <p:nvPr/>
        </p:nvSpPr>
        <p:spPr>
          <a:xfrm xmlns:a="http://schemas.openxmlformats.org/drawingml/2006/main">
            <a:off x="566928" y="3694176"/>
            <a:ext cx="101600" cy="101600"/>
          </a:xfrm>
          <a:prstGeom xmlns:a="http://schemas.openxmlformats.org/drawingml/2006/main" prst="rect">
            <a:avLst/>
          </a:prstGeom>
          <a:solidFill xmlns:a="http://schemas.openxmlformats.org/drawingml/2006/main">
            <a:srgbClr val="5B5FC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C5CD2127-03A6-4BCF-9102-A20335567C1B}"/>
              </a:ext>
            </a:extLst>
          </p:cNvPr>
          <p:cNvSpPr>
            <a:spLocks xmlns:a="http://schemas.openxmlformats.org/drawingml/2006/main" noGrp="1"/>
          </p:cNvSpPr>
          <p:nvPr/>
        </p:nvSpPr>
        <p:spPr>
          <a:xfrm xmlns:a="http://schemas.openxmlformats.org/drawingml/2006/main">
            <a:off x="868680" y="3602736"/>
            <a:ext cx="192024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0B1B3A"/>
                </a:solidFill>
                <a:latin typeface="Aptos"/>
                <a:ea typeface="Aptos"/>
                <a:cs typeface="Aptos"/>
              </a:rPr>
              <a:t>XREX</a:t>
            </a:r>
          </a:p>
        </p:txBody>
      </p:sp>
      <p:sp>
        <p:nvSpPr>
          <p:cNvPr id="17" name="TextBox 16">
            <a:extLst xmlns:a="http://schemas.openxmlformats.org/drawingml/2006/main">
              <a:ext uri="{FF2B5EF4-FFF2-40B4-BE49-F238E27FC236}">
                <a16:creationId xmlns:a16="http://schemas.microsoft.com/office/drawing/2014/main" id="{F7FEEDDC-E9BB-487B-9828-D487FC5278F9}"/>
              </a:ext>
            </a:extLst>
          </p:cNvPr>
          <p:cNvSpPr>
            <a:spLocks xmlns:a="http://schemas.openxmlformats.org/drawingml/2006/main" noGrp="1"/>
          </p:cNvSpPr>
          <p:nvPr/>
        </p:nvSpPr>
        <p:spPr>
          <a:xfrm xmlns:a="http://schemas.openxmlformats.org/drawingml/2006/main">
            <a:off x="2880360" y="3602736"/>
            <a:ext cx="603504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6B7280"/>
                </a:solidFill>
                <a:latin typeface="Aptos"/>
                <a:ea typeface="Aptos"/>
                <a:cs typeface="Aptos"/>
              </a:rPr>
              <a:t>Releases on buyer approval  ·  &lt;1% + 10 USDT/escrow</a:t>
            </a:r>
          </a:p>
        </p:txBody>
      </p:sp>
      <p:sp>
        <p:nvSpPr>
          <p:cNvPr id="18" name="TextBox 17">
            <a:extLst xmlns:a="http://schemas.openxmlformats.org/drawingml/2006/main">
              <a:ext uri="{FF2B5EF4-FFF2-40B4-BE49-F238E27FC236}">
                <a16:creationId xmlns:a16="http://schemas.microsoft.com/office/drawing/2014/main" id="{F5F70464-C2B8-4A61-B591-301E0AB9F452}"/>
              </a:ext>
            </a:extLst>
          </p:cNvPr>
          <p:cNvSpPr>
            <a:spLocks xmlns:a="http://schemas.openxmlformats.org/drawingml/2006/main" noGrp="1"/>
          </p:cNvSpPr>
          <p:nvPr/>
        </p:nvSpPr>
        <p:spPr>
          <a:xfrm xmlns:a="http://schemas.openxmlformats.org/drawingml/2006/main">
            <a:off x="9052560" y="3602736"/>
            <a:ext cx="265176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6B7280"/>
                </a:solidFill>
                <a:latin typeface="Aptos"/>
                <a:ea typeface="Aptos"/>
                <a:cs typeface="Aptos"/>
              </a:rPr>
              <a:t>Active</a:t>
            </a:r>
          </a:p>
        </p:txBody>
      </p:sp>
      <p:sp>
        <p:nvSpPr>
          <p:cNvPr id="19" name="Rectangle 18">
            <a:extLst xmlns:a="http://schemas.openxmlformats.org/drawingml/2006/main">
              <a:ext uri="{FF2B5EF4-FFF2-40B4-BE49-F238E27FC236}">
                <a16:creationId xmlns:a16="http://schemas.microsoft.com/office/drawing/2014/main" id="{0A989ADD-680B-49AB-92F6-ABE0BF2A0D3C}"/>
              </a:ext>
            </a:extLst>
          </p:cNvPr>
          <p:cNvSpPr>
            <a:spLocks xmlns:a="http://schemas.openxmlformats.org/drawingml/2006/main" noGrp="1"/>
          </p:cNvSpPr>
          <p:nvPr/>
        </p:nvSpPr>
        <p:spPr>
          <a:xfrm xmlns:a="http://schemas.openxmlformats.org/drawingml/2006/main">
            <a:off x="566928" y="4261104"/>
            <a:ext cx="101600" cy="101600"/>
          </a:xfrm>
          <a:prstGeom xmlns:a="http://schemas.openxmlformats.org/drawingml/2006/main" prst="rect">
            <a:avLst/>
          </a:prstGeom>
          <a:solidFill xmlns:a="http://schemas.openxmlformats.org/drawingml/2006/main">
            <a:srgbClr val="C77D1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71633D4A-1831-448C-BF9E-E8441A99B8D2}"/>
              </a:ext>
            </a:extLst>
          </p:cNvPr>
          <p:cNvSpPr>
            <a:spLocks xmlns:a="http://schemas.openxmlformats.org/drawingml/2006/main" noGrp="1"/>
          </p:cNvSpPr>
          <p:nvPr/>
        </p:nvSpPr>
        <p:spPr>
          <a:xfrm xmlns:a="http://schemas.openxmlformats.org/drawingml/2006/main">
            <a:off x="868680" y="4169664"/>
            <a:ext cx="192024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0B1B3A"/>
                </a:solidFill>
                <a:latin typeface="Aptos"/>
                <a:ea typeface="Aptos"/>
                <a:cs typeface="Aptos"/>
              </a:rPr>
              <a:t>Komgo</a:t>
            </a:r>
          </a:p>
        </p:txBody>
      </p:sp>
      <p:sp>
        <p:nvSpPr>
          <p:cNvPr id="21" name="TextBox 20">
            <a:extLst xmlns:a="http://schemas.openxmlformats.org/drawingml/2006/main">
              <a:ext uri="{FF2B5EF4-FFF2-40B4-BE49-F238E27FC236}">
                <a16:creationId xmlns:a16="http://schemas.microsoft.com/office/drawing/2014/main" id="{E271630E-6F9D-46CB-8873-AD923442C6C1}"/>
              </a:ext>
            </a:extLst>
          </p:cNvPr>
          <p:cNvSpPr>
            <a:spLocks xmlns:a="http://schemas.openxmlformats.org/drawingml/2006/main" noGrp="1"/>
          </p:cNvSpPr>
          <p:nvPr/>
        </p:nvSpPr>
        <p:spPr>
          <a:xfrm xmlns:a="http://schemas.openxmlformats.org/drawingml/2006/main">
            <a:off x="2880360" y="4169664"/>
            <a:ext cx="603504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6B7280"/>
                </a:solidFill>
                <a:latin typeface="Aptos"/>
                <a:ea typeface="Aptos"/>
                <a:cs typeface="Aptos"/>
              </a:rPr>
              <a:t>Follows the LC process  ·  fee not disclosed</a:t>
            </a:r>
          </a:p>
        </p:txBody>
      </p:sp>
      <p:sp>
        <p:nvSpPr>
          <p:cNvPr id="22" name="TextBox 21">
            <a:extLst xmlns:a="http://schemas.openxmlformats.org/drawingml/2006/main">
              <a:ext uri="{FF2B5EF4-FFF2-40B4-BE49-F238E27FC236}">
                <a16:creationId xmlns:a16="http://schemas.microsoft.com/office/drawing/2014/main" id="{D5B3C23D-3B10-42AB-86B2-6C8E8C84F8CA}"/>
              </a:ext>
            </a:extLst>
          </p:cNvPr>
          <p:cNvSpPr>
            <a:spLocks xmlns:a="http://schemas.openxmlformats.org/drawingml/2006/main" noGrp="1"/>
          </p:cNvSpPr>
          <p:nvPr/>
        </p:nvSpPr>
        <p:spPr>
          <a:xfrm xmlns:a="http://schemas.openxmlformats.org/drawingml/2006/main">
            <a:off x="9052560" y="4169664"/>
            <a:ext cx="265176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6B7280"/>
                </a:solidFill>
                <a:latin typeface="Aptos"/>
                <a:ea typeface="Aptos"/>
                <a:cs typeface="Aptos"/>
              </a:rPr>
              <a:t>Active, banks only</a:t>
            </a:r>
          </a:p>
        </p:txBody>
      </p:sp>
      <p:sp>
        <p:nvSpPr>
          <p:cNvPr id="23" name="Rectangle 22">
            <a:extLst xmlns:a="http://schemas.openxmlformats.org/drawingml/2006/main">
              <a:ext uri="{FF2B5EF4-FFF2-40B4-BE49-F238E27FC236}">
                <a16:creationId xmlns:a16="http://schemas.microsoft.com/office/drawing/2014/main" id="{E81391DB-14CC-47E0-970A-400F9FFE84FA}"/>
              </a:ext>
            </a:extLst>
          </p:cNvPr>
          <p:cNvSpPr>
            <a:spLocks xmlns:a="http://schemas.openxmlformats.org/drawingml/2006/main" noGrp="1"/>
          </p:cNvSpPr>
          <p:nvPr/>
        </p:nvSpPr>
        <p:spPr>
          <a:xfrm xmlns:a="http://schemas.openxmlformats.org/drawingml/2006/main">
            <a:off x="566928" y="4828032"/>
            <a:ext cx="101600" cy="101600"/>
          </a:xfrm>
          <a:prstGeom xmlns:a="http://schemas.openxmlformats.org/drawingml/2006/main" prst="rect">
            <a:avLst/>
          </a:prstGeom>
          <a:solidFill xmlns:a="http://schemas.openxmlformats.org/drawingml/2006/main">
            <a:srgbClr val="6B728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199C2F37-098D-4C35-B039-960AF27E645C}"/>
              </a:ext>
            </a:extLst>
          </p:cNvPr>
          <p:cNvSpPr>
            <a:spLocks xmlns:a="http://schemas.openxmlformats.org/drawingml/2006/main" noGrp="1"/>
          </p:cNvSpPr>
          <p:nvPr/>
        </p:nvSpPr>
        <p:spPr>
          <a:xfrm xmlns:a="http://schemas.openxmlformats.org/drawingml/2006/main">
            <a:off x="868680" y="4736592"/>
            <a:ext cx="192024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0B1B3A"/>
                </a:solidFill>
                <a:latin typeface="Aptos"/>
                <a:ea typeface="Aptos"/>
                <a:cs typeface="Aptos"/>
              </a:rPr>
              <a:t>Contour</a:t>
            </a:r>
          </a:p>
        </p:txBody>
      </p:sp>
      <p:sp>
        <p:nvSpPr>
          <p:cNvPr id="25" name="TextBox 24">
            <a:extLst xmlns:a="http://schemas.openxmlformats.org/drawingml/2006/main">
              <a:ext uri="{FF2B5EF4-FFF2-40B4-BE49-F238E27FC236}">
                <a16:creationId xmlns:a16="http://schemas.microsoft.com/office/drawing/2014/main" id="{51BBCA13-5E6C-406A-A1FF-9158011E9F10}"/>
              </a:ext>
            </a:extLst>
          </p:cNvPr>
          <p:cNvSpPr>
            <a:spLocks xmlns:a="http://schemas.openxmlformats.org/drawingml/2006/main" noGrp="1"/>
          </p:cNvSpPr>
          <p:nvPr/>
        </p:nvSpPr>
        <p:spPr>
          <a:xfrm xmlns:a="http://schemas.openxmlformats.org/drawingml/2006/main">
            <a:off x="2880360" y="4736592"/>
            <a:ext cx="603504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6B7280"/>
                </a:solidFill>
                <a:latin typeface="Aptos"/>
                <a:ea typeface="Aptos"/>
                <a:cs typeface="Aptos"/>
              </a:rPr>
              <a:t>HSBC / StanChart / Citi backing, $18.3m raised</a:t>
            </a:r>
          </a:p>
        </p:txBody>
      </p:sp>
      <p:sp>
        <p:nvSpPr>
          <p:cNvPr id="26" name="TextBox 25">
            <a:extLst xmlns:a="http://schemas.openxmlformats.org/drawingml/2006/main">
              <a:ext uri="{FF2B5EF4-FFF2-40B4-BE49-F238E27FC236}">
                <a16:creationId xmlns:a16="http://schemas.microsoft.com/office/drawing/2014/main" id="{47CBE870-0613-4189-BFB4-97F20740A0A0}"/>
              </a:ext>
            </a:extLst>
          </p:cNvPr>
          <p:cNvSpPr>
            <a:spLocks xmlns:a="http://schemas.openxmlformats.org/drawingml/2006/main" noGrp="1"/>
          </p:cNvSpPr>
          <p:nvPr/>
        </p:nvSpPr>
        <p:spPr>
          <a:xfrm xmlns:a="http://schemas.openxmlformats.org/drawingml/2006/main">
            <a:off x="9052560" y="4736592"/>
            <a:ext cx="265176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0">
                <a:solidFill>
                  <a:srgbClr val="6B7280"/>
                </a:solidFill>
                <a:latin typeface="Aptos"/>
                <a:ea typeface="Aptos"/>
                <a:cs typeface="Aptos"/>
              </a:rPr>
              <a:t>Shut down Nov 2023</a:t>
            </a:r>
          </a:p>
        </p:txBody>
      </p:sp>
      <p:sp>
        <p:nvSpPr>
          <p:cNvPr id="27" name="Rectangle 26">
            <a:extLst xmlns:a="http://schemas.openxmlformats.org/drawingml/2006/main">
              <a:ext uri="{FF2B5EF4-FFF2-40B4-BE49-F238E27FC236}">
                <a16:creationId xmlns:a16="http://schemas.microsoft.com/office/drawing/2014/main" id="{5FE69A6B-6501-4D30-B1AB-E449AA44C266}"/>
              </a:ext>
            </a:extLst>
          </p:cNvPr>
          <p:cNvSpPr>
            <a:spLocks xmlns:a="http://schemas.openxmlformats.org/drawingml/2006/main" noGrp="1"/>
          </p:cNvSpPr>
          <p:nvPr/>
        </p:nvSpPr>
        <p:spPr>
          <a:xfrm xmlns:a="http://schemas.openxmlformats.org/drawingml/2006/main">
            <a:off x="566928" y="5394960"/>
            <a:ext cx="101600" cy="101600"/>
          </a:xfrm>
          <a:prstGeom xmlns:a="http://schemas.openxmlformats.org/drawingml/2006/main" prst="rect">
            <a:avLst/>
          </a:prstGeom>
          <a:solidFill xmlns:a="http://schemas.openxmlformats.org/drawingml/2006/main">
            <a:srgbClr val="196B2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DF075905-8543-498D-83CF-B74ECBFD267B}"/>
              </a:ext>
            </a:extLst>
          </p:cNvPr>
          <p:cNvSpPr>
            <a:spLocks xmlns:a="http://schemas.openxmlformats.org/drawingml/2006/main" noGrp="1"/>
          </p:cNvSpPr>
          <p:nvPr/>
        </p:nvSpPr>
        <p:spPr>
          <a:xfrm xmlns:a="http://schemas.openxmlformats.org/drawingml/2006/main">
            <a:off x="868680" y="5303520"/>
            <a:ext cx="192024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196B24"/>
                </a:solidFill>
                <a:latin typeface="Aptos"/>
                <a:ea typeface="Aptos"/>
                <a:cs typeface="Aptos"/>
              </a:rPr>
              <a:t>Blockmediary</a:t>
            </a:r>
          </a:p>
        </p:txBody>
      </p:sp>
      <p:sp>
        <p:nvSpPr>
          <p:cNvPr id="29" name="TextBox 28">
            <a:extLst xmlns:a="http://schemas.openxmlformats.org/drawingml/2006/main">
              <a:ext uri="{FF2B5EF4-FFF2-40B4-BE49-F238E27FC236}">
                <a16:creationId xmlns:a16="http://schemas.microsoft.com/office/drawing/2014/main" id="{BBF9D6AD-378E-4292-8D96-12642A5AF378}"/>
              </a:ext>
            </a:extLst>
          </p:cNvPr>
          <p:cNvSpPr>
            <a:spLocks xmlns:a="http://schemas.openxmlformats.org/drawingml/2006/main" noGrp="1"/>
          </p:cNvSpPr>
          <p:nvPr/>
        </p:nvSpPr>
        <p:spPr>
          <a:xfrm xmlns:a="http://schemas.openxmlformats.org/drawingml/2006/main">
            <a:off x="2880360" y="5303520"/>
            <a:ext cx="603504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1">
                <a:solidFill>
                  <a:srgbClr val="0B1B3A"/>
                </a:solidFill>
                <a:latin typeface="Aptos"/>
                <a:ea typeface="Aptos"/>
                <a:cs typeface="Aptos"/>
              </a:rPr>
              <a:t>Releases on document compliance  ·  0.8% / 1.5% / 3.0% tiered</a:t>
            </a:r>
          </a:p>
        </p:txBody>
      </p:sp>
      <p:sp>
        <p:nvSpPr>
          <p:cNvPr id="30" name="TextBox 29">
            <a:extLst xmlns:a="http://schemas.openxmlformats.org/drawingml/2006/main">
              <a:ext uri="{FF2B5EF4-FFF2-40B4-BE49-F238E27FC236}">
                <a16:creationId xmlns:a16="http://schemas.microsoft.com/office/drawing/2014/main" id="{87A6DF25-85B8-442A-BB64-C0BCDE5D2497}"/>
              </a:ext>
            </a:extLst>
          </p:cNvPr>
          <p:cNvSpPr>
            <a:spLocks xmlns:a="http://schemas.openxmlformats.org/drawingml/2006/main" noGrp="1"/>
          </p:cNvSpPr>
          <p:nvPr/>
        </p:nvSpPr>
        <p:spPr>
          <a:xfrm xmlns:a="http://schemas.openxmlformats.org/drawingml/2006/main">
            <a:off x="9052560" y="5303520"/>
            <a:ext cx="265176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b="1">
                <a:solidFill>
                  <a:srgbClr val="196B24"/>
                </a:solidFill>
                <a:latin typeface="Aptos"/>
                <a:ea typeface="Aptos"/>
                <a:cs typeface="Aptos"/>
              </a:rPr>
              <a:t>LIVE ON BASE</a:t>
            </a:r>
          </a:p>
        </p:txBody>
      </p:sp>
      <p:sp>
        <p:nvSpPr>
          <p:cNvPr id="31" name="TextBox 30">
            <a:extLst xmlns:a="http://schemas.openxmlformats.org/drawingml/2006/main">
              <a:ext uri="{FF2B5EF4-FFF2-40B4-BE49-F238E27FC236}">
                <a16:creationId xmlns:a16="http://schemas.microsoft.com/office/drawing/2014/main" id="{3D08C969-4D46-40E2-A668-0853AF4C6702}"/>
              </a:ext>
            </a:extLst>
          </p:cNvPr>
          <p:cNvSpPr>
            <a:spLocks xmlns:a="http://schemas.openxmlformats.org/drawingml/2006/main" noGrp="1"/>
          </p:cNvSpPr>
          <p:nvPr/>
        </p:nvSpPr>
        <p:spPr>
          <a:xfrm xmlns:a="http://schemas.openxmlformats.org/drawingml/2006/main">
            <a:off x="502920" y="5989320"/>
            <a:ext cx="10728655"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50" b="1">
                <a:solidFill>
                  <a:srgbClr val="0B1B3A"/>
                </a:solidFill>
                <a:latin typeface="Aptos"/>
                <a:ea typeface="Aptos"/>
                <a:cs typeface="Aptos"/>
              </a:rPr>
              <a:t>The most-funded LC-replacement attempt still failed structurally. The gap stayed open - we are standing in it.</a:t>
            </a:r>
          </a:p>
        </p:txBody>
      </p:sp>
      <p:sp>
        <p:nvSpPr>
          <p:cNvPr id="32" name="TextBox 31">
            <a:extLst xmlns:a="http://schemas.openxmlformats.org/drawingml/2006/main">
              <a:ext uri="{FF2B5EF4-FFF2-40B4-BE49-F238E27FC236}">
                <a16:creationId xmlns:a16="http://schemas.microsoft.com/office/drawing/2014/main" id="{16624F1D-B9E4-4876-8E78-5EA857804687}"/>
              </a:ext>
            </a:extLst>
          </p:cNvPr>
          <p:cNvSpPr>
            <a:spLocks xmlns:a="http://schemas.openxmlformats.org/drawingml/2006/main" noGrp="1"/>
          </p:cNvSpPr>
          <p:nvPr/>
        </p:nvSpPr>
        <p:spPr>
          <a:xfrm xmlns:a="http://schemas.openxmlformats.org/drawingml/2006/main">
            <a:off x="11505895" y="6400800"/>
            <a:ext cx="36576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900" b="0">
                <a:solidFill>
                  <a:srgbClr val="6B7280"/>
                </a:solidFill>
                <a:latin typeface="Aptos"/>
                <a:ea typeface="Aptos"/>
                <a:cs typeface="Aptos"/>
              </a:rPr>
              <a:t>6</a:t>
            </a:r>
          </a:p>
        </p:txBody>
      </p:sp>
    </p:spTree>
    <p:extLst>
      <p:ext uri="{BB962C8B-B14F-4D97-AF65-F5344CB8AC3E}">
        <p14:creationId xmlns:p14="http://schemas.microsoft.com/office/powerpoint/2010/main" val="3586170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2" name="Rectangle 41">
            <a:extLst xmlns:a="http://schemas.openxmlformats.org/drawingml/2006/main">
              <a:ext uri="{FF2B5EF4-FFF2-40B4-BE49-F238E27FC236}">
                <a16:creationId xmlns:a16="http://schemas.microsoft.com/office/drawing/2014/main" id="{5CFC7245-F426-4B7C-A90B-95E5DFDB98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4EF"/>
          </a:solidFill>
          <a:ln xmlns:a="http://schemas.openxmlformats.org/drawingml/2006/main" w="0">
            <a:solidFill>
              <a:srgbClr val="000000">
                <a:alpha val="0"/>
              </a:srgbClr>
            </a:solidFill>
            <a:prstDash val="solid"/>
          </a:ln>
        </p:spPr>
        <p:txBody>
          <a:bodyPr xmlns:a="http://schemas.openxmlformats.org/drawingml/2006/main"/>
          <a:lstStyle xmlns:a="http://schemas.openxmlformats.org/drawingml/2006/main"/>
          <a:p xmlns:a="http://schemas.openxmlformats.org/drawingml/2006/main">
            <a:pPr marL="0" indent="0" algn="l" defTabSz="914400">
              <a:buNone/>
            </a:pPr>
            <a:endParaRPr/>
          </a:p>
        </p:txBody>
      </p:sp>
      <p:sp>
        <p:nvSpPr>
          <p:cNvPr id="2" name="kicker-08-marker">
            <a:extLst xmlns:a="http://schemas.openxmlformats.org/drawingml/2006/main">
              <a:ext uri="{FF2B5EF4-FFF2-40B4-BE49-F238E27FC236}">
                <a16:creationId xmlns:a16="http://schemas.microsoft.com/office/drawing/2014/main" id="{32ECFFE6-CDF4-4BB5-9EE0-AF6F59704513}"/>
              </a:ext>
            </a:extLst>
          </p:cNvPr>
          <p:cNvSpPr>
            <a:spLocks xmlns:a="http://schemas.openxmlformats.org/drawingml/2006/main" noGrp="1"/>
          </p:cNvSpPr>
          <p:nvPr/>
        </p:nvSpPr>
        <p:spPr>
          <a:xfrm xmlns:a="http://schemas.openxmlformats.org/drawingml/2006/main">
            <a:off x="533400" y="438150"/>
            <a:ext cx="76200" cy="76200"/>
          </a:xfrm>
          <a:prstGeom xmlns:a="http://schemas.openxmlformats.org/drawingml/2006/main" prst="rect">
            <a:avLst/>
          </a:prstGeom>
          <a:solidFill xmlns:a="http://schemas.openxmlformats.org/drawingml/2006/main">
            <a:srgbClr val="0B1B3A"/>
          </a:solidFill>
          <a:ln xmlns:a="http://schemas.openxmlformats.org/drawingml/2006/main" w="0">
            <a:solidFill>
              <a:srgbClr val="000000">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kicker-08-label">
            <a:extLst xmlns:a="http://schemas.openxmlformats.org/drawingml/2006/main">
              <a:ext uri="{FF2B5EF4-FFF2-40B4-BE49-F238E27FC236}">
                <a16:creationId xmlns:a16="http://schemas.microsoft.com/office/drawing/2014/main" id="{2B0E90CB-A161-46E8-8901-876F0547EB95}"/>
              </a:ext>
            </a:extLst>
          </p:cNvPr>
          <p:cNvSpPr>
            <a:spLocks xmlns:a="http://schemas.openxmlformats.org/drawingml/2006/main" noGrp="1"/>
          </p:cNvSpPr>
          <p:nvPr/>
        </p:nvSpPr>
        <p:spPr>
          <a:xfrm xmlns:a="http://schemas.openxmlformats.org/drawingml/2006/main">
            <a:off x="723900" y="36195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buNone/>
              <a:defRPr sz="900" b="1">
                <a:solidFill>
                  <a:srgbClr val="6B7280"/>
                </a:solidFill>
                <a:latin typeface="Aptos"/>
                <a:ea typeface="Aptos"/>
                <a:cs typeface="Aptos"/>
              </a:defRPr>
            </a:pPr>
            <a:r>
              <a:rPr sz="900" b="1">
                <a:solidFill>
                  <a:srgbClr val="6B7280"/>
                </a:solidFill>
                <a:latin typeface="Aptos"/>
                <a:ea typeface="Aptos"/>
                <a:cs typeface="Aptos"/>
              </a:rPr>
              <a:t>BUSINESS MODEL</a:t>
            </a:r>
          </a:p>
        </p:txBody>
      </p:sp>
      <p:sp>
        <p:nvSpPr>
          <p:cNvPr id="4" name="Rectangle 3">
            <a:extLst xmlns:a="http://schemas.openxmlformats.org/drawingml/2006/main">
              <a:ext uri="{FF2B5EF4-FFF2-40B4-BE49-F238E27FC236}">
                <a16:creationId xmlns:a16="http://schemas.microsoft.com/office/drawing/2014/main" id="{04FA7FC7-C48E-4E87-A9E6-E18BAB9D8419}"/>
              </a:ext>
            </a:extLst>
          </p:cNvPr>
          <p:cNvSpPr>
            <a:spLocks xmlns:a="http://schemas.openxmlformats.org/drawingml/2006/main" noGrp="1"/>
          </p:cNvSpPr>
          <p:nvPr/>
        </p:nvSpPr>
        <p:spPr>
          <a:xfrm xmlns:a="http://schemas.openxmlformats.org/drawingml/2006/main">
            <a:off x="533400" y="685800"/>
            <a:ext cx="8191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000" b="1">
                <a:solidFill>
                  <a:srgbClr val="0B1B3A"/>
                </a:solidFill>
                <a:latin typeface="Aptos Display"/>
                <a:ea typeface="Aptos Display"/>
                <a:cs typeface="Aptos Display"/>
              </a:defRPr>
            </a:pPr>
            <a:r>
              <a:rPr sz="3000" b="1">
                <a:solidFill>
                  <a:srgbClr val="0B1B3A"/>
                </a:solidFill>
                <a:latin typeface="Aptos Display"/>
                <a:ea typeface="Aptos Display"/>
                <a:cs typeface="Aptos Display"/>
              </a:rPr>
              <a:t>Every verified trade earns revenue, while partner channels add scale.</a:t>
            </a:r>
          </a:p>
        </p:txBody>
      </p:sp>
      <p:sp>
        <p:nvSpPr>
          <p:cNvPr id="5" name="Rectangle 4">
            <a:extLst xmlns:a="http://schemas.openxmlformats.org/drawingml/2006/main">
              <a:ext uri="{FF2B5EF4-FFF2-40B4-BE49-F238E27FC236}">
                <a16:creationId xmlns:a16="http://schemas.microsoft.com/office/drawing/2014/main" id="{8F3364A7-8494-419B-B1E9-62ADEDE12A3C}"/>
              </a:ext>
            </a:extLst>
          </p:cNvPr>
          <p:cNvSpPr>
            <a:spLocks xmlns:a="http://schemas.openxmlformats.org/drawingml/2006/main" noGrp="1"/>
          </p:cNvSpPr>
          <p:nvPr/>
        </p:nvSpPr>
        <p:spPr>
          <a:xfrm xmlns:a="http://schemas.openxmlformats.org/drawingml/2006/main">
            <a:off x="571500" y="1638300"/>
            <a:ext cx="8953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B2430"/>
                </a:solidFill>
                <a:latin typeface="Aptos"/>
                <a:ea typeface="Aptos"/>
                <a:cs typeface="Aptos"/>
              </a:defRPr>
            </a:pPr>
            <a:r>
              <a:rPr sz="1500" b="0">
                <a:solidFill>
                  <a:srgbClr val="1B2430"/>
                </a:solidFill>
                <a:latin typeface="Aptos"/>
                <a:ea typeface="Aptos"/>
                <a:cs typeface="Aptos"/>
              </a:rPr>
              <a:t>Customers choose a verification tier based on document complexity. Blockmediary earns transaction and review fees without lending, FX trading or using client funds.</a:t>
            </a:r>
          </a:p>
        </p:txBody>
      </p:sp>
      <p:sp>
        <p:nvSpPr>
          <p:cNvPr id="6" name="Rectangle 5">
            <a:extLst xmlns:a="http://schemas.openxmlformats.org/drawingml/2006/main">
              <a:ext uri="{FF2B5EF4-FFF2-40B4-BE49-F238E27FC236}">
                <a16:creationId xmlns:a16="http://schemas.microsoft.com/office/drawing/2014/main" id="{E17CCC04-12C7-486A-A263-1957D9CE1398}"/>
              </a:ext>
            </a:extLst>
          </p:cNvPr>
          <p:cNvSpPr>
            <a:spLocks xmlns:a="http://schemas.openxmlformats.org/drawingml/2006/main" noGrp="1"/>
          </p:cNvSpPr>
          <p:nvPr/>
        </p:nvSpPr>
        <p:spPr>
          <a:xfrm xmlns:a="http://schemas.openxmlformats.org/drawingml/2006/main">
            <a:off x="742950" y="2609850"/>
            <a:ext cx="3048000" cy="16764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7"/>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87BFCE09-77C6-47CD-AC06-92CCEBF07563}"/>
              </a:ext>
            </a:extLst>
          </p:cNvPr>
          <p:cNvSpPr>
            <a:spLocks xmlns:a="http://schemas.openxmlformats.org/drawingml/2006/main" noGrp="1"/>
          </p:cNvSpPr>
          <p:nvPr/>
        </p:nvSpPr>
        <p:spPr>
          <a:xfrm xmlns:a="http://schemas.openxmlformats.org/drawingml/2006/main">
            <a:off x="742950" y="2609850"/>
            <a:ext cx="3048000" cy="66675"/>
          </a:xfrm>
          <a:prstGeom xmlns:a="http://schemas.openxmlformats.org/drawingml/2006/main" prst="rect">
            <a:avLst/>
          </a:prstGeom>
          <a:solidFill xmlns:a="http://schemas.openxmlformats.org/drawingml/2006/main">
            <a:srgbClr val="0E8C7F"/>
          </a:solidFill>
          <a:ln xmlns:a="http://schemas.openxmlformats.org/drawingml/2006/main" w="0">
            <a:solidFill>
              <a:srgbClr val="000000">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E930165D-54DE-482A-93CB-8DC144596CF3}"/>
              </a:ext>
            </a:extLst>
          </p:cNvPr>
          <p:cNvSpPr>
            <a:spLocks xmlns:a="http://schemas.openxmlformats.org/drawingml/2006/main" noGrp="1"/>
          </p:cNvSpPr>
          <p:nvPr/>
        </p:nvSpPr>
        <p:spPr>
          <a:xfrm xmlns:a="http://schemas.openxmlformats.org/drawingml/2006/main">
            <a:off x="952500" y="2857500"/>
            <a:ext cx="4191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0E8C7F"/>
                </a:solidFill>
                <a:latin typeface="Aptos"/>
                <a:ea typeface="Aptos"/>
                <a:cs typeface="Aptos"/>
              </a:defRPr>
            </a:pPr>
            <a:r>
              <a:rPr sz="2250" b="1">
                <a:solidFill>
                  <a:srgbClr val="0E8C7F"/>
                </a:solidFill>
                <a:latin typeface="Aptos"/>
                <a:ea typeface="Aptos"/>
                <a:cs typeface="Aptos"/>
              </a:rPr>
              <a:t>A</a:t>
            </a:r>
          </a:p>
        </p:txBody>
      </p:sp>
      <p:sp>
        <p:nvSpPr>
          <p:cNvPr id="9" name="Rectangle 8">
            <a:extLst xmlns:a="http://schemas.openxmlformats.org/drawingml/2006/main">
              <a:ext uri="{FF2B5EF4-FFF2-40B4-BE49-F238E27FC236}">
                <a16:creationId xmlns:a16="http://schemas.microsoft.com/office/drawing/2014/main" id="{7C12F6ED-A722-4B51-A8D3-7EA342EDFDB2}"/>
              </a:ext>
            </a:extLst>
          </p:cNvPr>
          <p:cNvSpPr>
            <a:spLocks xmlns:a="http://schemas.openxmlformats.org/drawingml/2006/main" noGrp="1"/>
          </p:cNvSpPr>
          <p:nvPr/>
        </p:nvSpPr>
        <p:spPr>
          <a:xfrm xmlns:a="http://schemas.openxmlformats.org/drawingml/2006/main">
            <a:off x="1466850" y="2895600"/>
            <a:ext cx="1943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0B1B3A"/>
                </a:solidFill>
                <a:latin typeface="Aptos"/>
                <a:ea typeface="Aptos"/>
                <a:cs typeface="Aptos"/>
              </a:defRPr>
            </a:pPr>
            <a:r>
              <a:rPr sz="1500" b="1">
                <a:solidFill>
                  <a:srgbClr val="0B1B3A"/>
                </a:solidFill>
                <a:latin typeface="Aptos"/>
                <a:ea typeface="Aptos"/>
                <a:cs typeface="Aptos"/>
              </a:rPr>
              <a:t>Escrow fees</a:t>
            </a:r>
          </a:p>
        </p:txBody>
      </p:sp>
      <p:sp>
        <p:nvSpPr>
          <p:cNvPr id="10" name="Rectangle 9">
            <a:extLst xmlns:a="http://schemas.openxmlformats.org/drawingml/2006/main">
              <a:ext uri="{FF2B5EF4-FFF2-40B4-BE49-F238E27FC236}">
                <a16:creationId xmlns:a16="http://schemas.microsoft.com/office/drawing/2014/main" id="{6E1BFF95-CF35-4488-8D0F-3F041872F328}"/>
              </a:ext>
            </a:extLst>
          </p:cNvPr>
          <p:cNvSpPr>
            <a:spLocks xmlns:a="http://schemas.openxmlformats.org/drawingml/2006/main" noGrp="1"/>
          </p:cNvSpPr>
          <p:nvPr/>
        </p:nvSpPr>
        <p:spPr>
          <a:xfrm xmlns:a="http://schemas.openxmlformats.org/drawingml/2006/main">
            <a:off x="971550" y="3352800"/>
            <a:ext cx="24574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B2430"/>
                </a:solidFill>
                <a:latin typeface="Aptos"/>
                <a:ea typeface="Aptos"/>
                <a:cs typeface="Aptos"/>
              </a:defRPr>
            </a:pPr>
            <a:r>
              <a:rPr sz="1050" b="0">
                <a:solidFill>
                  <a:srgbClr val="1B2430"/>
                </a:solidFill>
                <a:latin typeface="Aptos"/>
                <a:ea typeface="Aptos"/>
                <a:cs typeface="Aptos"/>
              </a:rPr>
              <a:t>0.8% / 1.5% / 3.0% by eBL, carrier API or paper workflow; minimum £150 / £250 / £500.</a:t>
            </a:r>
          </a:p>
        </p:txBody>
      </p:sp>
      <p:sp>
        <p:nvSpPr>
          <p:cNvPr id="11" name="Rectangle 10">
            <a:extLst xmlns:a="http://schemas.openxmlformats.org/drawingml/2006/main">
              <a:ext uri="{FF2B5EF4-FFF2-40B4-BE49-F238E27FC236}">
                <a16:creationId xmlns:a16="http://schemas.microsoft.com/office/drawing/2014/main" id="{609FC3AC-22EE-4360-8D92-2E6F526D28AF}"/>
              </a:ext>
            </a:extLst>
          </p:cNvPr>
          <p:cNvSpPr>
            <a:spLocks xmlns:a="http://schemas.openxmlformats.org/drawingml/2006/main" noGrp="1"/>
          </p:cNvSpPr>
          <p:nvPr/>
        </p:nvSpPr>
        <p:spPr>
          <a:xfrm xmlns:a="http://schemas.openxmlformats.org/drawingml/2006/main">
            <a:off x="971550" y="3905250"/>
            <a:ext cx="23622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0E8C7F"/>
                </a:solidFill>
                <a:latin typeface="Aptos"/>
                <a:ea typeface="Aptos"/>
                <a:cs typeface="Aptos"/>
              </a:defRPr>
            </a:pPr>
            <a:r>
              <a:rPr sz="1200" b="1">
                <a:solidFill>
                  <a:srgbClr val="0E8C7F"/>
                </a:solidFill>
                <a:latin typeface="Aptos"/>
                <a:ea typeface="Aptos"/>
                <a:cs typeface="Aptos"/>
              </a:rPr>
              <a:t>core revenue on every deal</a:t>
            </a:r>
          </a:p>
        </p:txBody>
      </p:sp>
      <p:sp>
        <p:nvSpPr>
          <p:cNvPr id="12" name="Rectangle 11">
            <a:extLst xmlns:a="http://schemas.openxmlformats.org/drawingml/2006/main">
              <a:ext uri="{FF2B5EF4-FFF2-40B4-BE49-F238E27FC236}">
                <a16:creationId xmlns:a16="http://schemas.microsoft.com/office/drawing/2014/main" id="{3103FC44-9425-4C1E-B670-FD279C8BB48B}"/>
              </a:ext>
            </a:extLst>
          </p:cNvPr>
          <p:cNvSpPr>
            <a:spLocks xmlns:a="http://schemas.openxmlformats.org/drawingml/2006/main" noGrp="1"/>
          </p:cNvSpPr>
          <p:nvPr/>
        </p:nvSpPr>
        <p:spPr>
          <a:xfrm xmlns:a="http://schemas.openxmlformats.org/drawingml/2006/main">
            <a:off x="4572000" y="2609850"/>
            <a:ext cx="3048000" cy="16764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7"/>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6104B204-F192-44E6-88A4-0020F0267FB5}"/>
              </a:ext>
            </a:extLst>
          </p:cNvPr>
          <p:cNvSpPr>
            <a:spLocks xmlns:a="http://schemas.openxmlformats.org/drawingml/2006/main" noGrp="1"/>
          </p:cNvSpPr>
          <p:nvPr/>
        </p:nvSpPr>
        <p:spPr>
          <a:xfrm xmlns:a="http://schemas.openxmlformats.org/drawingml/2006/main">
            <a:off x="4572000" y="2609850"/>
            <a:ext cx="3048000" cy="66675"/>
          </a:xfrm>
          <a:prstGeom xmlns:a="http://schemas.openxmlformats.org/drawingml/2006/main" prst="rect">
            <a:avLst/>
          </a:prstGeom>
          <a:solidFill xmlns:a="http://schemas.openxmlformats.org/drawingml/2006/main">
            <a:srgbClr val="1F6FB2"/>
          </a:solidFill>
          <a:ln xmlns:a="http://schemas.openxmlformats.org/drawingml/2006/main" w="0">
            <a:solidFill>
              <a:srgbClr val="000000">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CA3B5CF2-CA99-4E10-8F95-B9DC57AEE403}"/>
              </a:ext>
            </a:extLst>
          </p:cNvPr>
          <p:cNvSpPr>
            <a:spLocks xmlns:a="http://schemas.openxmlformats.org/drawingml/2006/main" noGrp="1"/>
          </p:cNvSpPr>
          <p:nvPr/>
        </p:nvSpPr>
        <p:spPr>
          <a:xfrm xmlns:a="http://schemas.openxmlformats.org/drawingml/2006/main">
            <a:off x="4781550" y="2857500"/>
            <a:ext cx="4191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1F6FB2"/>
                </a:solidFill>
                <a:latin typeface="Aptos"/>
                <a:ea typeface="Aptos"/>
                <a:cs typeface="Aptos"/>
              </a:defRPr>
            </a:pPr>
            <a:r>
              <a:rPr sz="2250" b="1">
                <a:solidFill>
                  <a:srgbClr val="1F6FB2"/>
                </a:solidFill>
                <a:latin typeface="Aptos"/>
                <a:ea typeface="Aptos"/>
                <a:cs typeface="Aptos"/>
              </a:rPr>
              <a:t>B</a:t>
            </a:r>
          </a:p>
        </p:txBody>
      </p:sp>
      <p:sp>
        <p:nvSpPr>
          <p:cNvPr id="15" name="Rectangle 14">
            <a:extLst xmlns:a="http://schemas.openxmlformats.org/drawingml/2006/main">
              <a:ext uri="{FF2B5EF4-FFF2-40B4-BE49-F238E27FC236}">
                <a16:creationId xmlns:a16="http://schemas.microsoft.com/office/drawing/2014/main" id="{C9DD6D00-4112-4D7F-9A00-AE17163976EA}"/>
              </a:ext>
            </a:extLst>
          </p:cNvPr>
          <p:cNvSpPr>
            <a:spLocks xmlns:a="http://schemas.openxmlformats.org/drawingml/2006/main" noGrp="1"/>
          </p:cNvSpPr>
          <p:nvPr/>
        </p:nvSpPr>
        <p:spPr>
          <a:xfrm xmlns:a="http://schemas.openxmlformats.org/drawingml/2006/main">
            <a:off x="5295900" y="2895600"/>
            <a:ext cx="1943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0B1B3A"/>
                </a:solidFill>
                <a:latin typeface="Aptos"/>
                <a:ea typeface="Aptos"/>
                <a:cs typeface="Aptos"/>
              </a:defRPr>
            </a:pPr>
            <a:r>
              <a:rPr sz="1500" b="1">
                <a:solidFill>
                  <a:srgbClr val="0B1B3A"/>
                </a:solidFill>
                <a:latin typeface="Aptos"/>
                <a:ea typeface="Aptos"/>
                <a:cs typeface="Aptos"/>
              </a:rPr>
              <a:t>Document fees</a:t>
            </a:r>
          </a:p>
        </p:txBody>
      </p:sp>
      <p:sp>
        <p:nvSpPr>
          <p:cNvPr id="16" name="Rectangle 15">
            <a:extLst xmlns:a="http://schemas.openxmlformats.org/drawingml/2006/main">
              <a:ext uri="{FF2B5EF4-FFF2-40B4-BE49-F238E27FC236}">
                <a16:creationId xmlns:a16="http://schemas.microsoft.com/office/drawing/2014/main" id="{E278E5CF-CDE6-4F12-B38C-946C3D13D755}"/>
              </a:ext>
            </a:extLst>
          </p:cNvPr>
          <p:cNvSpPr>
            <a:spLocks xmlns:a="http://schemas.openxmlformats.org/drawingml/2006/main" noGrp="1"/>
          </p:cNvSpPr>
          <p:nvPr/>
        </p:nvSpPr>
        <p:spPr>
          <a:xfrm xmlns:a="http://schemas.openxmlformats.org/drawingml/2006/main">
            <a:off x="4800600" y="3352800"/>
            <a:ext cx="24574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B2430"/>
                </a:solidFill>
                <a:latin typeface="Aptos"/>
                <a:ea typeface="Aptos"/>
                <a:cs typeface="Aptos"/>
              </a:defRPr>
            </a:pPr>
            <a:r>
              <a:rPr sz="1050" b="0">
                <a:solidFill>
                  <a:srgbClr val="1B2430"/>
                </a:solidFill>
                <a:latin typeface="Aptos"/>
                <a:ea typeface="Aptos"/>
                <a:cs typeface="Aptos"/>
              </a:rPr>
              <a:t>£25 / £90 / £300 review fee by tier; onboarding and dispute fees apply only when used.</a:t>
            </a:r>
          </a:p>
        </p:txBody>
      </p:sp>
      <p:sp>
        <p:nvSpPr>
          <p:cNvPr id="17" name="Rectangle 16">
            <a:extLst xmlns:a="http://schemas.openxmlformats.org/drawingml/2006/main">
              <a:ext uri="{FF2B5EF4-FFF2-40B4-BE49-F238E27FC236}">
                <a16:creationId xmlns:a16="http://schemas.microsoft.com/office/drawing/2014/main" id="{8C645EB8-38D7-4F2E-8E03-799A98398BCF}"/>
              </a:ext>
            </a:extLst>
          </p:cNvPr>
          <p:cNvSpPr>
            <a:spLocks xmlns:a="http://schemas.openxmlformats.org/drawingml/2006/main" noGrp="1"/>
          </p:cNvSpPr>
          <p:nvPr/>
        </p:nvSpPr>
        <p:spPr>
          <a:xfrm xmlns:a="http://schemas.openxmlformats.org/drawingml/2006/main">
            <a:off x="4800600" y="3905250"/>
            <a:ext cx="23622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1F6FB2"/>
                </a:solidFill>
                <a:latin typeface="Aptos"/>
                <a:ea typeface="Aptos"/>
                <a:cs typeface="Aptos"/>
              </a:defRPr>
            </a:pPr>
            <a:r>
              <a:rPr sz="1200" b="1">
                <a:solidFill>
                  <a:srgbClr val="1F6FB2"/>
                </a:solidFill>
                <a:latin typeface="Aptos"/>
                <a:ea typeface="Aptos"/>
                <a:cs typeface="Aptos"/>
              </a:rPr>
              <a:t>prices operational complexity</a:t>
            </a:r>
          </a:p>
        </p:txBody>
      </p:sp>
      <p:sp>
        <p:nvSpPr>
          <p:cNvPr id="18" name="Rectangle 17">
            <a:extLst xmlns:a="http://schemas.openxmlformats.org/drawingml/2006/main">
              <a:ext uri="{FF2B5EF4-FFF2-40B4-BE49-F238E27FC236}">
                <a16:creationId xmlns:a16="http://schemas.microsoft.com/office/drawing/2014/main" id="{0DCC2A0B-9ACC-469F-8279-5F8F67EB2DB7}"/>
              </a:ext>
            </a:extLst>
          </p:cNvPr>
          <p:cNvSpPr>
            <a:spLocks xmlns:a="http://schemas.openxmlformats.org/drawingml/2006/main" noGrp="1"/>
          </p:cNvSpPr>
          <p:nvPr/>
        </p:nvSpPr>
        <p:spPr>
          <a:xfrm xmlns:a="http://schemas.openxmlformats.org/drawingml/2006/main">
            <a:off x="8401050" y="2609850"/>
            <a:ext cx="3048000" cy="1676400"/>
          </a:xfrm>
          <a:prstGeom xmlns:a="http://schemas.openxmlformats.org/drawingml/2006/main" prst="rect">
            <a:avLst/>
          </a:prstGeom>
          <a:solidFill xmlns:a="http://schemas.openxmlformats.org/drawingml/2006/main">
            <a:srgbClr val="FFFFFF"/>
          </a:solidFill>
          <a:ln xmlns:a="http://schemas.openxmlformats.org/drawingml/2006/main" w="9525">
            <a:solidFill>
              <a:srgbClr val="D8D2C7"/>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Rectangle 18">
            <a:extLst xmlns:a="http://schemas.openxmlformats.org/drawingml/2006/main">
              <a:ext uri="{FF2B5EF4-FFF2-40B4-BE49-F238E27FC236}">
                <a16:creationId xmlns:a16="http://schemas.microsoft.com/office/drawing/2014/main" id="{751AD9F5-6FC2-4E64-90E7-67DFE3B7E31D}"/>
              </a:ext>
            </a:extLst>
          </p:cNvPr>
          <p:cNvSpPr>
            <a:spLocks xmlns:a="http://schemas.openxmlformats.org/drawingml/2006/main" noGrp="1"/>
          </p:cNvSpPr>
          <p:nvPr/>
        </p:nvSpPr>
        <p:spPr>
          <a:xfrm xmlns:a="http://schemas.openxmlformats.org/drawingml/2006/main">
            <a:off x="8401050" y="2609850"/>
            <a:ext cx="3048000" cy="66675"/>
          </a:xfrm>
          <a:prstGeom xmlns:a="http://schemas.openxmlformats.org/drawingml/2006/main" prst="rect">
            <a:avLst/>
          </a:prstGeom>
          <a:solidFill xmlns:a="http://schemas.openxmlformats.org/drawingml/2006/main">
            <a:srgbClr val="2C7A33"/>
          </a:solidFill>
          <a:ln xmlns:a="http://schemas.openxmlformats.org/drawingml/2006/main" w="0">
            <a:solidFill>
              <a:srgbClr val="000000">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Rectangle 19">
            <a:extLst xmlns:a="http://schemas.openxmlformats.org/drawingml/2006/main">
              <a:ext uri="{FF2B5EF4-FFF2-40B4-BE49-F238E27FC236}">
                <a16:creationId xmlns:a16="http://schemas.microsoft.com/office/drawing/2014/main" id="{F01170D6-62F7-4B12-B63B-EF6FB3DDE9B5}"/>
              </a:ext>
            </a:extLst>
          </p:cNvPr>
          <p:cNvSpPr>
            <a:spLocks xmlns:a="http://schemas.openxmlformats.org/drawingml/2006/main" noGrp="1"/>
          </p:cNvSpPr>
          <p:nvPr/>
        </p:nvSpPr>
        <p:spPr>
          <a:xfrm xmlns:a="http://schemas.openxmlformats.org/drawingml/2006/main">
            <a:off x="8610600" y="2857500"/>
            <a:ext cx="4191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2C7A33"/>
                </a:solidFill>
                <a:latin typeface="Aptos"/>
                <a:ea typeface="Aptos"/>
                <a:cs typeface="Aptos"/>
              </a:defRPr>
            </a:pPr>
            <a:r>
              <a:rPr sz="2250" b="1">
                <a:solidFill>
                  <a:srgbClr val="2C7A33"/>
                </a:solidFill>
                <a:latin typeface="Aptos"/>
                <a:ea typeface="Aptos"/>
                <a:cs typeface="Aptos"/>
              </a:rPr>
              <a:t>C</a:t>
            </a:r>
          </a:p>
        </p:txBody>
      </p:sp>
      <p:sp>
        <p:nvSpPr>
          <p:cNvPr id="21" name="Rectangle 20">
            <a:extLst xmlns:a="http://schemas.openxmlformats.org/drawingml/2006/main">
              <a:ext uri="{FF2B5EF4-FFF2-40B4-BE49-F238E27FC236}">
                <a16:creationId xmlns:a16="http://schemas.microsoft.com/office/drawing/2014/main" id="{766CD84A-FA67-425B-98DC-15B987B137F6}"/>
              </a:ext>
            </a:extLst>
          </p:cNvPr>
          <p:cNvSpPr>
            <a:spLocks xmlns:a="http://schemas.openxmlformats.org/drawingml/2006/main" noGrp="1"/>
          </p:cNvSpPr>
          <p:nvPr/>
        </p:nvSpPr>
        <p:spPr>
          <a:xfrm xmlns:a="http://schemas.openxmlformats.org/drawingml/2006/main">
            <a:off x="9124950" y="2895600"/>
            <a:ext cx="1943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0B1B3A"/>
                </a:solidFill>
                <a:latin typeface="Aptos"/>
                <a:ea typeface="Aptos"/>
                <a:cs typeface="Aptos"/>
              </a:defRPr>
            </a:pPr>
            <a:r>
              <a:rPr sz="1500" b="1">
                <a:solidFill>
                  <a:srgbClr val="0B1B3A"/>
                </a:solidFill>
                <a:latin typeface="Aptos"/>
                <a:ea typeface="Aptos"/>
                <a:cs typeface="Aptos"/>
              </a:rPr>
              <a:t>Partner / API</a:t>
            </a:r>
          </a:p>
        </p:txBody>
      </p:sp>
      <p:sp>
        <p:nvSpPr>
          <p:cNvPr id="22" name="Rectangle 21">
            <a:extLst xmlns:a="http://schemas.openxmlformats.org/drawingml/2006/main">
              <a:ext uri="{FF2B5EF4-FFF2-40B4-BE49-F238E27FC236}">
                <a16:creationId xmlns:a16="http://schemas.microsoft.com/office/drawing/2014/main" id="{8CA16E95-5115-42D3-86DC-A175C215E485}"/>
              </a:ext>
            </a:extLst>
          </p:cNvPr>
          <p:cNvSpPr>
            <a:spLocks xmlns:a="http://schemas.openxmlformats.org/drawingml/2006/main" noGrp="1"/>
          </p:cNvSpPr>
          <p:nvPr/>
        </p:nvSpPr>
        <p:spPr>
          <a:xfrm xmlns:a="http://schemas.openxmlformats.org/drawingml/2006/main">
            <a:off x="8629650" y="3352800"/>
            <a:ext cx="24574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0">
                <a:solidFill>
                  <a:srgbClr val="1B2430"/>
                </a:solidFill>
                <a:latin typeface="Aptos"/>
                <a:ea typeface="Aptos"/>
                <a:cs typeface="Aptos"/>
              </a:defRPr>
            </a:pPr>
            <a:r>
              <a:rPr sz="1050" b="0">
                <a:solidFill>
                  <a:srgbClr val="1B2430"/>
                </a:solidFill>
                <a:latin typeface="Aptos"/>
                <a:ea typeface="Aptos"/>
                <a:cs typeface="Aptos"/>
              </a:rPr>
              <a:t>Setup and committed-volume fees from platforms, wallets and logistics partners.</a:t>
            </a:r>
          </a:p>
        </p:txBody>
      </p:sp>
      <p:sp>
        <p:nvSpPr>
          <p:cNvPr id="23" name="Rectangle 22">
            <a:extLst xmlns:a="http://schemas.openxmlformats.org/drawingml/2006/main">
              <a:ext uri="{FF2B5EF4-FFF2-40B4-BE49-F238E27FC236}">
                <a16:creationId xmlns:a16="http://schemas.microsoft.com/office/drawing/2014/main" id="{BE0A658F-88C7-4947-94D6-AF2CC16302B3}"/>
              </a:ext>
            </a:extLst>
          </p:cNvPr>
          <p:cNvSpPr>
            <a:spLocks xmlns:a="http://schemas.openxmlformats.org/drawingml/2006/main" noGrp="1"/>
          </p:cNvSpPr>
          <p:nvPr/>
        </p:nvSpPr>
        <p:spPr>
          <a:xfrm xmlns:a="http://schemas.openxmlformats.org/drawingml/2006/main">
            <a:off x="8629650" y="3905250"/>
            <a:ext cx="23622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2C7A33"/>
                </a:solidFill>
                <a:latin typeface="Aptos"/>
                <a:ea typeface="Aptos"/>
                <a:cs typeface="Aptos"/>
              </a:defRPr>
            </a:pPr>
            <a:r>
              <a:rPr sz="1200" b="1">
                <a:solidFill>
                  <a:srgbClr val="2C7A33"/>
                </a:solidFill>
                <a:latin typeface="Aptos"/>
                <a:ea typeface="Aptos"/>
                <a:cs typeface="Aptos"/>
              </a:rPr>
              <a:t>scales distribution, not balance sheet</a:t>
            </a:r>
          </a:p>
        </p:txBody>
      </p:sp>
      <p:sp>
        <p:nvSpPr>
          <p:cNvPr id="24" name="Rectangle 23">
            <a:extLst xmlns:a="http://schemas.openxmlformats.org/drawingml/2006/main">
              <a:ext uri="{FF2B5EF4-FFF2-40B4-BE49-F238E27FC236}">
                <a16:creationId xmlns:a16="http://schemas.microsoft.com/office/drawing/2014/main" id="{F529439F-AA1B-479F-9713-F803AF3F0A88}"/>
              </a:ext>
            </a:extLst>
          </p:cNvPr>
          <p:cNvSpPr>
            <a:spLocks xmlns:a="http://schemas.openxmlformats.org/drawingml/2006/main" noGrp="1"/>
          </p:cNvSpPr>
          <p:nvPr/>
        </p:nvSpPr>
        <p:spPr>
          <a:xfrm xmlns:a="http://schemas.openxmlformats.org/drawingml/2006/main">
            <a:off x="914400" y="4876800"/>
            <a:ext cx="2381250"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7"/>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9387088B-50B6-4E74-B1D9-1258469B22F1}"/>
              </a:ext>
            </a:extLst>
          </p:cNvPr>
          <p:cNvSpPr>
            <a:spLocks xmlns:a="http://schemas.openxmlformats.org/drawingml/2006/main" noGrp="1"/>
          </p:cNvSpPr>
          <p:nvPr/>
        </p:nvSpPr>
        <p:spPr>
          <a:xfrm xmlns:a="http://schemas.openxmlformats.org/drawingml/2006/main">
            <a:off x="914400" y="4876800"/>
            <a:ext cx="47625" cy="1085850"/>
          </a:xfrm>
          <a:prstGeom xmlns:a="http://schemas.openxmlformats.org/drawingml/2006/main" prst="rect">
            <a:avLst/>
          </a:prstGeom>
          <a:solidFill xmlns:a="http://schemas.openxmlformats.org/drawingml/2006/main">
            <a:srgbClr val="2C7A33"/>
          </a:solidFill>
          <a:ln xmlns:a="http://schemas.openxmlformats.org/drawingml/2006/main" w="0">
            <a:solidFill>
              <a:srgbClr val="000000">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76A54834-7861-4A9E-9835-E531018790F5}"/>
              </a:ext>
            </a:extLst>
          </p:cNvPr>
          <p:cNvSpPr>
            <a:spLocks xmlns:a="http://schemas.openxmlformats.org/drawingml/2006/main" noGrp="1"/>
          </p:cNvSpPr>
          <p:nvPr/>
        </p:nvSpPr>
        <p:spPr>
          <a:xfrm xmlns:a="http://schemas.openxmlformats.org/drawingml/2006/main">
            <a:off x="1123950" y="5019675"/>
            <a:ext cx="19621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0B1B3A"/>
                </a:solidFill>
                <a:latin typeface="Aptos"/>
                <a:ea typeface="Aptos"/>
                <a:cs typeface="Aptos"/>
              </a:defRPr>
            </a:pPr>
            <a:r>
              <a:rPr sz="2250" b="1">
                <a:solidFill>
                  <a:srgbClr val="0B1B3A"/>
                </a:solidFill>
                <a:latin typeface="Aptos"/>
                <a:ea typeface="Aptos"/>
                <a:cs typeface="Aptos"/>
              </a:rPr>
              <a:t>2.0% → 1.0%</a:t>
            </a:r>
          </a:p>
        </p:txBody>
      </p:sp>
      <p:sp>
        <p:nvSpPr>
          <p:cNvPr id="27" name="Rectangle 26">
            <a:extLst xmlns:a="http://schemas.openxmlformats.org/drawingml/2006/main">
              <a:ext uri="{FF2B5EF4-FFF2-40B4-BE49-F238E27FC236}">
                <a16:creationId xmlns:a16="http://schemas.microsoft.com/office/drawing/2014/main" id="{C60E6FF2-C7F3-45AE-8595-52F357934042}"/>
              </a:ext>
            </a:extLst>
          </p:cNvPr>
          <p:cNvSpPr>
            <a:spLocks xmlns:a="http://schemas.openxmlformats.org/drawingml/2006/main" noGrp="1"/>
          </p:cNvSpPr>
          <p:nvPr/>
        </p:nvSpPr>
        <p:spPr>
          <a:xfrm xmlns:a="http://schemas.openxmlformats.org/drawingml/2006/main">
            <a:off x="1123950" y="5391150"/>
            <a:ext cx="1962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B2430"/>
                </a:solidFill>
                <a:latin typeface="Aptos"/>
                <a:ea typeface="Aptos"/>
                <a:cs typeface="Aptos"/>
              </a:defRPr>
            </a:pPr>
            <a:r>
              <a:rPr sz="1125" b="1">
                <a:solidFill>
                  <a:srgbClr val="1B2430"/>
                </a:solidFill>
                <a:latin typeface="Aptos"/>
                <a:ea typeface="Aptos"/>
                <a:cs typeface="Aptos"/>
              </a:rPr>
              <a:t>blended take rate</a:t>
            </a:r>
          </a:p>
        </p:txBody>
      </p:sp>
      <p:sp>
        <p:nvSpPr>
          <p:cNvPr id="28" name="Rectangle 27">
            <a:extLst xmlns:a="http://schemas.openxmlformats.org/drawingml/2006/main">
              <a:ext uri="{FF2B5EF4-FFF2-40B4-BE49-F238E27FC236}">
                <a16:creationId xmlns:a16="http://schemas.microsoft.com/office/drawing/2014/main" id="{8C6D793F-9A01-41BE-837F-2F3AD6EA4C5E}"/>
              </a:ext>
            </a:extLst>
          </p:cNvPr>
          <p:cNvSpPr>
            <a:spLocks xmlns:a="http://schemas.openxmlformats.org/drawingml/2006/main" noGrp="1"/>
          </p:cNvSpPr>
          <p:nvPr/>
        </p:nvSpPr>
        <p:spPr>
          <a:xfrm xmlns:a="http://schemas.openxmlformats.org/drawingml/2006/main">
            <a:off x="1123950" y="5638800"/>
            <a:ext cx="1962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6B7280"/>
                </a:solidFill>
                <a:latin typeface="Aptos"/>
                <a:ea typeface="Aptos"/>
                <a:cs typeface="Aptos"/>
              </a:defRPr>
            </a:pPr>
            <a:r>
              <a:rPr sz="900" b="0">
                <a:solidFill>
                  <a:srgbClr val="6B7280"/>
                </a:solidFill>
                <a:latin typeface="Aptos"/>
                <a:ea typeface="Aptos"/>
                <a:cs typeface="Aptos"/>
              </a:rPr>
              <a:t>falls as Tier A grows</a:t>
            </a:r>
          </a:p>
        </p:txBody>
      </p:sp>
      <p:sp>
        <p:nvSpPr>
          <p:cNvPr id="29" name="Rectangle 28">
            <a:extLst xmlns:a="http://schemas.openxmlformats.org/drawingml/2006/main">
              <a:ext uri="{FF2B5EF4-FFF2-40B4-BE49-F238E27FC236}">
                <a16:creationId xmlns:a16="http://schemas.microsoft.com/office/drawing/2014/main" id="{5BDE4ABE-D574-48E1-B0EF-7E73187AD4CE}"/>
              </a:ext>
            </a:extLst>
          </p:cNvPr>
          <p:cNvSpPr>
            <a:spLocks xmlns:a="http://schemas.openxmlformats.org/drawingml/2006/main" noGrp="1"/>
          </p:cNvSpPr>
          <p:nvPr/>
        </p:nvSpPr>
        <p:spPr>
          <a:xfrm xmlns:a="http://schemas.openxmlformats.org/drawingml/2006/main">
            <a:off x="3638550" y="4876800"/>
            <a:ext cx="2381250"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7"/>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Rectangle 29">
            <a:extLst xmlns:a="http://schemas.openxmlformats.org/drawingml/2006/main">
              <a:ext uri="{FF2B5EF4-FFF2-40B4-BE49-F238E27FC236}">
                <a16:creationId xmlns:a16="http://schemas.microsoft.com/office/drawing/2014/main" id="{EC41DA7C-ACBA-423C-9BAC-3BBA721894CE}"/>
              </a:ext>
            </a:extLst>
          </p:cNvPr>
          <p:cNvSpPr>
            <a:spLocks xmlns:a="http://schemas.openxmlformats.org/drawingml/2006/main" noGrp="1"/>
          </p:cNvSpPr>
          <p:nvPr/>
        </p:nvSpPr>
        <p:spPr>
          <a:xfrm xmlns:a="http://schemas.openxmlformats.org/drawingml/2006/main">
            <a:off x="3638550" y="4876800"/>
            <a:ext cx="47625" cy="1085850"/>
          </a:xfrm>
          <a:prstGeom xmlns:a="http://schemas.openxmlformats.org/drawingml/2006/main" prst="rect">
            <a:avLst/>
          </a:prstGeom>
          <a:solidFill xmlns:a="http://schemas.openxmlformats.org/drawingml/2006/main">
            <a:srgbClr val="C77D18"/>
          </a:solidFill>
          <a:ln xmlns:a="http://schemas.openxmlformats.org/drawingml/2006/main" w="0">
            <a:solidFill>
              <a:srgbClr val="000000">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Rectangle 30">
            <a:extLst xmlns:a="http://schemas.openxmlformats.org/drawingml/2006/main">
              <a:ext uri="{FF2B5EF4-FFF2-40B4-BE49-F238E27FC236}">
                <a16:creationId xmlns:a16="http://schemas.microsoft.com/office/drawing/2014/main" id="{9A9A16C0-7D2B-47C4-A305-179DAB429F55}"/>
              </a:ext>
            </a:extLst>
          </p:cNvPr>
          <p:cNvSpPr>
            <a:spLocks xmlns:a="http://schemas.openxmlformats.org/drawingml/2006/main" noGrp="1"/>
          </p:cNvSpPr>
          <p:nvPr/>
        </p:nvSpPr>
        <p:spPr>
          <a:xfrm xmlns:a="http://schemas.openxmlformats.org/drawingml/2006/main">
            <a:off x="3848100" y="5019675"/>
            <a:ext cx="19621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0B1B3A"/>
                </a:solidFill>
                <a:latin typeface="Aptos"/>
                <a:ea typeface="Aptos"/>
                <a:cs typeface="Aptos"/>
              </a:defRPr>
            </a:pPr>
            <a:r>
              <a:rPr sz="2250" b="1">
                <a:solidFill>
                  <a:srgbClr val="0B1B3A"/>
                </a:solidFill>
                <a:latin typeface="Aptos"/>
                <a:ea typeface="Aptos"/>
                <a:cs typeface="Aptos"/>
              </a:rPr>
              <a:t>17%–26%</a:t>
            </a:r>
          </a:p>
        </p:txBody>
      </p:sp>
      <p:sp>
        <p:nvSpPr>
          <p:cNvPr id="32" name="Rectangle 31">
            <a:extLst xmlns:a="http://schemas.openxmlformats.org/drawingml/2006/main">
              <a:ext uri="{FF2B5EF4-FFF2-40B4-BE49-F238E27FC236}">
                <a16:creationId xmlns:a16="http://schemas.microsoft.com/office/drawing/2014/main" id="{11515AFD-455A-4E64-8D85-AD10FD0EA2A1}"/>
              </a:ext>
            </a:extLst>
          </p:cNvPr>
          <p:cNvSpPr>
            <a:spLocks xmlns:a="http://schemas.openxmlformats.org/drawingml/2006/main" noGrp="1"/>
          </p:cNvSpPr>
          <p:nvPr/>
        </p:nvSpPr>
        <p:spPr>
          <a:xfrm xmlns:a="http://schemas.openxmlformats.org/drawingml/2006/main">
            <a:off x="3848100" y="5391150"/>
            <a:ext cx="1962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B2430"/>
                </a:solidFill>
                <a:latin typeface="Aptos"/>
                <a:ea typeface="Aptos"/>
                <a:cs typeface="Aptos"/>
              </a:defRPr>
            </a:pPr>
            <a:r>
              <a:rPr sz="1125" b="1">
                <a:solidFill>
                  <a:srgbClr val="1B2430"/>
                </a:solidFill>
                <a:latin typeface="Aptos"/>
                <a:ea typeface="Aptos"/>
                <a:cs typeface="Aptos"/>
              </a:rPr>
              <a:t>ancillary revenue</a:t>
            </a:r>
          </a:p>
        </p:txBody>
      </p:sp>
      <p:sp>
        <p:nvSpPr>
          <p:cNvPr id="33" name="Rectangle 32">
            <a:extLst xmlns:a="http://schemas.openxmlformats.org/drawingml/2006/main">
              <a:ext uri="{FF2B5EF4-FFF2-40B4-BE49-F238E27FC236}">
                <a16:creationId xmlns:a16="http://schemas.microsoft.com/office/drawing/2014/main" id="{21075592-4F8D-42ED-8FC5-6B2DA5DB5F30}"/>
              </a:ext>
            </a:extLst>
          </p:cNvPr>
          <p:cNvSpPr>
            <a:spLocks xmlns:a="http://schemas.openxmlformats.org/drawingml/2006/main" noGrp="1"/>
          </p:cNvSpPr>
          <p:nvPr/>
        </p:nvSpPr>
        <p:spPr>
          <a:xfrm xmlns:a="http://schemas.openxmlformats.org/drawingml/2006/main">
            <a:off x="3848100" y="5638800"/>
            <a:ext cx="1962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6B7280"/>
                </a:solidFill>
                <a:latin typeface="Aptos"/>
                <a:ea typeface="Aptos"/>
                <a:cs typeface="Aptos"/>
              </a:defRPr>
            </a:pPr>
            <a:r>
              <a:rPr sz="900" b="0">
                <a:solidFill>
                  <a:srgbClr val="6B7280"/>
                </a:solidFill>
                <a:latin typeface="Aptos"/>
                <a:ea typeface="Aptos"/>
                <a:cs typeface="Aptos"/>
              </a:rPr>
              <a:t>modelled share</a:t>
            </a:r>
          </a:p>
        </p:txBody>
      </p:sp>
      <p:sp>
        <p:nvSpPr>
          <p:cNvPr id="34" name="Rectangle 33">
            <a:extLst xmlns:a="http://schemas.openxmlformats.org/drawingml/2006/main">
              <a:ext uri="{FF2B5EF4-FFF2-40B4-BE49-F238E27FC236}">
                <a16:creationId xmlns:a16="http://schemas.microsoft.com/office/drawing/2014/main" id="{3DC75684-954F-42A1-B907-A321D2B887E1}"/>
              </a:ext>
            </a:extLst>
          </p:cNvPr>
          <p:cNvSpPr>
            <a:spLocks xmlns:a="http://schemas.openxmlformats.org/drawingml/2006/main" noGrp="1"/>
          </p:cNvSpPr>
          <p:nvPr/>
        </p:nvSpPr>
        <p:spPr>
          <a:xfrm xmlns:a="http://schemas.openxmlformats.org/drawingml/2006/main">
            <a:off x="6362700" y="4876800"/>
            <a:ext cx="2381250"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8D2C7"/>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Rectangle 34">
            <a:extLst xmlns:a="http://schemas.openxmlformats.org/drawingml/2006/main">
              <a:ext uri="{FF2B5EF4-FFF2-40B4-BE49-F238E27FC236}">
                <a16:creationId xmlns:a16="http://schemas.microsoft.com/office/drawing/2014/main" id="{EF689177-35DC-4A56-8449-AFB8E88044F3}"/>
              </a:ext>
            </a:extLst>
          </p:cNvPr>
          <p:cNvSpPr>
            <a:spLocks xmlns:a="http://schemas.openxmlformats.org/drawingml/2006/main" noGrp="1"/>
          </p:cNvSpPr>
          <p:nvPr/>
        </p:nvSpPr>
        <p:spPr>
          <a:xfrm xmlns:a="http://schemas.openxmlformats.org/drawingml/2006/main">
            <a:off x="6362700" y="4876800"/>
            <a:ext cx="47625" cy="1085850"/>
          </a:xfrm>
          <a:prstGeom xmlns:a="http://schemas.openxmlformats.org/drawingml/2006/main" prst="rect">
            <a:avLst/>
          </a:prstGeom>
          <a:solidFill xmlns:a="http://schemas.openxmlformats.org/drawingml/2006/main">
            <a:srgbClr val="5A4FBF"/>
          </a:solidFill>
          <a:ln xmlns:a="http://schemas.openxmlformats.org/drawingml/2006/main" w="0">
            <a:solidFill>
              <a:srgbClr val="000000">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Rectangle 35">
            <a:extLst xmlns:a="http://schemas.openxmlformats.org/drawingml/2006/main">
              <a:ext uri="{FF2B5EF4-FFF2-40B4-BE49-F238E27FC236}">
                <a16:creationId xmlns:a16="http://schemas.microsoft.com/office/drawing/2014/main" id="{1A9A9E4E-7710-4B71-80EB-561B360FCE45}"/>
              </a:ext>
            </a:extLst>
          </p:cNvPr>
          <p:cNvSpPr>
            <a:spLocks xmlns:a="http://schemas.openxmlformats.org/drawingml/2006/main" noGrp="1"/>
          </p:cNvSpPr>
          <p:nvPr/>
        </p:nvSpPr>
        <p:spPr>
          <a:xfrm xmlns:a="http://schemas.openxmlformats.org/drawingml/2006/main">
            <a:off x="6572250" y="5019675"/>
            <a:ext cx="19621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250" b="1">
                <a:solidFill>
                  <a:srgbClr val="0B1B3A"/>
                </a:solidFill>
                <a:latin typeface="Aptos"/>
                <a:ea typeface="Aptos"/>
                <a:cs typeface="Aptos"/>
              </a:defRPr>
            </a:pPr>
            <a:r>
              <a:rPr sz="2250" b="1">
                <a:solidFill>
                  <a:srgbClr val="0B1B3A"/>
                </a:solidFill>
                <a:latin typeface="Aptos"/>
                <a:ea typeface="Aptos"/>
                <a:cs typeface="Aptos"/>
              </a:rPr>
              <a:t>71%–79%</a:t>
            </a:r>
          </a:p>
        </p:txBody>
      </p:sp>
      <p:sp>
        <p:nvSpPr>
          <p:cNvPr id="37" name="Rectangle 36">
            <a:extLst xmlns:a="http://schemas.openxmlformats.org/drawingml/2006/main">
              <a:ext uri="{FF2B5EF4-FFF2-40B4-BE49-F238E27FC236}">
                <a16:creationId xmlns:a16="http://schemas.microsoft.com/office/drawing/2014/main" id="{D42F5600-65C1-4652-9F40-9883DE0BC48D}"/>
              </a:ext>
            </a:extLst>
          </p:cNvPr>
          <p:cNvSpPr>
            <a:spLocks xmlns:a="http://schemas.openxmlformats.org/drawingml/2006/main" noGrp="1"/>
          </p:cNvSpPr>
          <p:nvPr/>
        </p:nvSpPr>
        <p:spPr>
          <a:xfrm xmlns:a="http://schemas.openxmlformats.org/drawingml/2006/main">
            <a:off x="6572250" y="5391150"/>
            <a:ext cx="1962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B2430"/>
                </a:solidFill>
                <a:latin typeface="Aptos"/>
                <a:ea typeface="Aptos"/>
                <a:cs typeface="Aptos"/>
              </a:defRPr>
            </a:pPr>
            <a:r>
              <a:rPr sz="1125" b="1">
                <a:solidFill>
                  <a:srgbClr val="1B2430"/>
                </a:solidFill>
                <a:latin typeface="Aptos"/>
                <a:ea typeface="Aptos"/>
                <a:cs typeface="Aptos"/>
              </a:rPr>
              <a:t>gross margin</a:t>
            </a:r>
          </a:p>
        </p:txBody>
      </p:sp>
      <p:sp>
        <p:nvSpPr>
          <p:cNvPr id="38" name="Rectangle 37">
            <a:extLst xmlns:a="http://schemas.openxmlformats.org/drawingml/2006/main">
              <a:ext uri="{FF2B5EF4-FFF2-40B4-BE49-F238E27FC236}">
                <a16:creationId xmlns:a16="http://schemas.microsoft.com/office/drawing/2014/main" id="{ECED317A-558B-4998-9194-61A59EAB520A}"/>
              </a:ext>
            </a:extLst>
          </p:cNvPr>
          <p:cNvSpPr>
            <a:spLocks xmlns:a="http://schemas.openxmlformats.org/drawingml/2006/main" noGrp="1"/>
          </p:cNvSpPr>
          <p:nvPr/>
        </p:nvSpPr>
        <p:spPr>
          <a:xfrm xmlns:a="http://schemas.openxmlformats.org/drawingml/2006/main">
            <a:off x="6572250" y="5638800"/>
            <a:ext cx="19621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00" b="0">
                <a:solidFill>
                  <a:srgbClr val="6B7280"/>
                </a:solidFill>
                <a:latin typeface="Aptos"/>
                <a:ea typeface="Aptos"/>
                <a:cs typeface="Aptos"/>
              </a:defRPr>
            </a:pPr>
            <a:r>
              <a:rPr sz="900" b="0">
                <a:solidFill>
                  <a:srgbClr val="6B7280"/>
                </a:solidFill>
                <a:latin typeface="Aptos"/>
                <a:ea typeface="Aptos"/>
                <a:cs typeface="Aptos"/>
              </a:rPr>
              <a:t>base-case range</a:t>
            </a:r>
          </a:p>
        </p:txBody>
      </p:sp>
      <p:sp>
        <p:nvSpPr>
          <p:cNvPr id="39" name="Rectangle 38">
            <a:extLst xmlns:a="http://schemas.openxmlformats.org/drawingml/2006/main">
              <a:ext uri="{FF2B5EF4-FFF2-40B4-BE49-F238E27FC236}">
                <a16:creationId xmlns:a16="http://schemas.microsoft.com/office/drawing/2014/main" id="{EA9FE867-CA34-4B10-89F8-78674E57F654}"/>
              </a:ext>
            </a:extLst>
          </p:cNvPr>
          <p:cNvSpPr>
            <a:spLocks xmlns:a="http://schemas.openxmlformats.org/drawingml/2006/main" noGrp="1"/>
          </p:cNvSpPr>
          <p:nvPr/>
        </p:nvSpPr>
        <p:spPr>
          <a:xfrm xmlns:a="http://schemas.openxmlformats.org/drawingml/2006/main">
            <a:off x="8991600" y="4876800"/>
            <a:ext cx="2095500" cy="1085850"/>
          </a:xfrm>
          <a:prstGeom xmlns:a="http://schemas.openxmlformats.org/drawingml/2006/main" prst="rect">
            <a:avLst/>
          </a:prstGeom>
          <a:solidFill xmlns:a="http://schemas.openxmlformats.org/drawingml/2006/main">
            <a:srgbClr val="EEF6F4"/>
          </a:solidFill>
          <a:ln xmlns:a="http://schemas.openxmlformats.org/drawingml/2006/main" w="9525">
            <a:solidFill>
              <a:srgbClr val="0E8C7F"/>
            </a:solidFill>
            <a:prstDash val="solid"/>
          </a:ln>
        </p:spPr>
        <p:txBody>
          <a:bodyPr xmlns:a="http://schemas.openxmlformats.org/drawingml/2006/main"/>
          <a:lstStyle xmlns:a="http://schemas.openxmlformats.org/drawingml/2006/main"/>
          <a:p xmlns:a="http://schemas.openxmlformats.org/drawingml/2006/main">
            <a:endParaRPr/>
          </a:p>
        </p:txBody>
      </p:sp>
      <p:sp>
        <p:nvSpPr>
          <p:cNvPr id="40" name="Rectangle 39">
            <a:extLst xmlns:a="http://schemas.openxmlformats.org/drawingml/2006/main">
              <a:ext uri="{FF2B5EF4-FFF2-40B4-BE49-F238E27FC236}">
                <a16:creationId xmlns:a16="http://schemas.microsoft.com/office/drawing/2014/main" id="{2B6257C5-79CD-4162-8D48-9FB910FF96BD}"/>
              </a:ext>
            </a:extLst>
          </p:cNvPr>
          <p:cNvSpPr>
            <a:spLocks xmlns:a="http://schemas.openxmlformats.org/drawingml/2006/main" noGrp="1"/>
          </p:cNvSpPr>
          <p:nvPr/>
        </p:nvSpPr>
        <p:spPr>
          <a:xfrm xmlns:a="http://schemas.openxmlformats.org/drawingml/2006/main">
            <a:off x="9163050" y="5029200"/>
            <a:ext cx="1695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050" b="1">
                <a:solidFill>
                  <a:srgbClr val="0E8C7F"/>
                </a:solidFill>
                <a:latin typeface="Aptos"/>
                <a:ea typeface="Aptos"/>
                <a:cs typeface="Aptos"/>
              </a:defRPr>
            </a:pPr>
            <a:r>
              <a:rPr sz="1050" b="1">
                <a:solidFill>
                  <a:srgbClr val="0E8C7F"/>
                </a:solidFill>
                <a:latin typeface="Aptos"/>
                <a:ea typeface="Aptos"/>
                <a:cs typeface="Aptos"/>
              </a:rPr>
              <a:t>Year 3 base case</a:t>
            </a:r>
          </a:p>
        </p:txBody>
      </p:sp>
      <p:sp>
        <p:nvSpPr>
          <p:cNvPr id="41" name="Rectangle 40">
            <a:extLst xmlns:a="http://schemas.openxmlformats.org/drawingml/2006/main">
              <a:ext uri="{FF2B5EF4-FFF2-40B4-BE49-F238E27FC236}">
                <a16:creationId xmlns:a16="http://schemas.microsoft.com/office/drawing/2014/main" id="{5122A123-768E-4D45-B6A9-8DAEE716AC70}"/>
              </a:ext>
            </a:extLst>
          </p:cNvPr>
          <p:cNvSpPr>
            <a:spLocks xmlns:a="http://schemas.openxmlformats.org/drawingml/2006/main" noGrp="1"/>
          </p:cNvSpPr>
          <p:nvPr/>
        </p:nvSpPr>
        <p:spPr>
          <a:xfrm xmlns:a="http://schemas.openxmlformats.org/drawingml/2006/main">
            <a:off x="9163050" y="5276850"/>
            <a:ext cx="16573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38" b="1">
                <a:solidFill>
                  <a:srgbClr val="0B1B3A"/>
                </a:solidFill>
                <a:latin typeface="Aptos"/>
                <a:ea typeface="Aptos"/>
                <a:cs typeface="Aptos"/>
              </a:defRPr>
            </a:pPr>
            <a:r>
              <a:rPr sz="938" b="1">
                <a:solidFill>
                  <a:srgbClr val="0B1B3A"/>
                </a:solidFill>
                <a:latin typeface="Aptos"/>
                <a:ea typeface="Aptos"/>
                <a:cs typeface="Aptos"/>
              </a:rPr>
              <a:t>2,000 deals | £76m GMV</a:t>
            </a:r>
          </a:p>
          <a:p xmlns:a="http://schemas.openxmlformats.org/drawingml/2006/main">
            <a:pPr algn="l">
              <a:buNone/>
              <a:defRPr sz="938" b="1">
                <a:solidFill>
                  <a:srgbClr val="0B1B3A"/>
                </a:solidFill>
                <a:latin typeface="Aptos"/>
                <a:ea typeface="Aptos"/>
                <a:cs typeface="Aptos"/>
              </a:defRPr>
            </a:pPr>
            <a:r>
              <a:rPr sz="938" b="1">
                <a:solidFill>
                  <a:srgbClr val="0B1B3A"/>
                </a:solidFill>
                <a:latin typeface="Aptos"/>
                <a:ea typeface="Aptos"/>
                <a:cs typeface="Aptos"/>
              </a:rPr>
              <a:t>£1.37m revenue | 77% margin</a:t>
            </a:r>
          </a:p>
        </p:txBody>
      </p:sp>
      <p:sp>
        <p:nvSpPr>
          <p:cNvPr id="43" name="Rectangle 42">
            <a:extLst xmlns:a="http://schemas.openxmlformats.org/drawingml/2006/main">
              <a:ext uri="{FF2B5EF4-FFF2-40B4-BE49-F238E27FC236}">
                <a16:creationId xmlns:a16="http://schemas.microsoft.com/office/drawing/2014/main" id="{CDAE3A3D-8539-47DC-BA99-C2C5F42F0640}"/>
              </a:ext>
            </a:extLst>
          </p:cNvPr>
          <p:cNvSpPr>
            <a:spLocks xmlns:a="http://schemas.openxmlformats.org/drawingml/2006/main" noGrp="1"/>
          </p:cNvSpPr>
          <p:nvPr/>
        </p:nvSpPr>
        <p:spPr>
          <a:xfrm xmlns:a="http://schemas.openxmlformats.org/drawingml/2006/main">
            <a:off x="11106150" y="6438900"/>
            <a:ext cx="552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900" b="1">
                <a:solidFill>
                  <a:srgbClr val="6B7280"/>
                </a:solidFill>
                <a:latin typeface="Aptos"/>
                <a:ea typeface="Aptos"/>
                <a:cs typeface="Aptos"/>
              </a:defRPr>
            </a:pPr>
            <a:r>
              <a:rPr sz="900" b="1">
                <a:solidFill>
                  <a:srgbClr val="6B7280"/>
                </a:solidFill>
                <a:latin typeface="Aptos"/>
                <a:ea typeface="Aptos"/>
                <a:cs typeface="Aptos"/>
              </a:rPr>
              <a:t>7</a:t>
            </a:r>
            <a:endParaRPr sz="900" b="1">
              <a:solidFill>
                <a:srgbClr val="6B7280"/>
              </a:solidFill>
              <a:latin typeface="Aptos"/>
              <a:ea typeface="Aptos"/>
              <a:cs typeface="Aptos"/>
            </a:endParaRPr>
          </a:p>
        </p:txBody>
      </p:sp>
    </p:spTree>
    <p:extLst>
      <p:ext uri="{BB962C8B-B14F-4D97-AF65-F5344CB8AC3E}">
        <p14:creationId xmlns:p14="http://schemas.microsoft.com/office/powerpoint/2010/main" val="144074479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2D1B4AA-6B75-4713-9E9D-F80453C1591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4E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0D947770-B8D2-4226-A803-C88B69ECCD0C}"/>
              </a:ext>
            </a:extLst>
          </p:cNvPr>
          <p:cNvSpPr>
            <a:spLocks xmlns:a="http://schemas.openxmlformats.org/drawingml/2006/main" noGrp="1"/>
          </p:cNvSpPr>
          <p:nvPr/>
        </p:nvSpPr>
        <p:spPr>
          <a:xfrm xmlns:a="http://schemas.openxmlformats.org/drawingml/2006/main">
            <a:off x="502920" y="429768"/>
            <a:ext cx="88900" cy="88900"/>
          </a:xfrm>
          <a:prstGeom xmlns:a="http://schemas.openxmlformats.org/drawingml/2006/main" prst="rect">
            <a:avLst/>
          </a:prstGeom>
          <a:solidFill xmlns:a="http://schemas.openxmlformats.org/drawingml/2006/main">
            <a:srgbClr val="0B1B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00C67F87-6769-42B1-86A7-8F19B7A6ACC7}"/>
              </a:ext>
            </a:extLst>
          </p:cNvPr>
          <p:cNvSpPr>
            <a:spLocks xmlns:a="http://schemas.openxmlformats.org/drawingml/2006/main" noGrp="1"/>
          </p:cNvSpPr>
          <p:nvPr/>
        </p:nvSpPr>
        <p:spPr>
          <a:xfrm xmlns:a="http://schemas.openxmlformats.org/drawingml/2006/main">
            <a:off x="685800" y="301752"/>
            <a:ext cx="8229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spc="280">
                <a:solidFill>
                  <a:srgbClr val="0B1B3A"/>
                </a:solidFill>
                <a:latin typeface="Aptos"/>
                <a:ea typeface="Aptos"/>
                <a:cs typeface="Aptos"/>
              </a:rPr>
              <a:t>STAGE &amp; PATH</a:t>
            </a:r>
          </a:p>
        </p:txBody>
      </p:sp>
      <p:sp>
        <p:nvSpPr>
          <p:cNvPr id="5" name="TextBox 4">
            <a:extLst xmlns:a="http://schemas.openxmlformats.org/drawingml/2006/main">
              <a:ext uri="{FF2B5EF4-FFF2-40B4-BE49-F238E27FC236}">
                <a16:creationId xmlns:a16="http://schemas.microsoft.com/office/drawing/2014/main" id="{D7B93936-EDF0-4692-9D44-2C75F8B09699}"/>
              </a:ext>
            </a:extLst>
          </p:cNvPr>
          <p:cNvSpPr>
            <a:spLocks xmlns:a="http://schemas.openxmlformats.org/drawingml/2006/main" noGrp="1"/>
          </p:cNvSpPr>
          <p:nvPr/>
        </p:nvSpPr>
        <p:spPr>
          <a:xfrm xmlns:a="http://schemas.openxmlformats.org/drawingml/2006/main">
            <a:off x="502920" y="685800"/>
            <a:ext cx="10728655" cy="1051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2000"/>
              </a:lnSpc>
              <a:buNone/>
            </a:pPr>
            <a:r>
              <a:rPr sz="3000" b="1">
                <a:solidFill>
                  <a:srgbClr val="0B1B3A"/>
                </a:solidFill>
                <a:latin typeface="Aptos Display"/>
                <a:ea typeface="Aptos Display"/>
                <a:cs typeface="Aptos Display"/>
              </a:rPr>
              <a:t>Working rail today. Paid pilot M12. Full VARA licence target M18.</a:t>
            </a:r>
          </a:p>
        </p:txBody>
      </p:sp>
      <p:sp>
        <p:nvSpPr>
          <p:cNvPr id="6" name="TextBox 5">
            <a:extLst xmlns:a="http://schemas.openxmlformats.org/drawingml/2006/main">
              <a:ext uri="{FF2B5EF4-FFF2-40B4-BE49-F238E27FC236}">
                <a16:creationId xmlns:a16="http://schemas.microsoft.com/office/drawing/2014/main" id="{239BACC2-EB79-4520-835A-504E7CD0607A}"/>
              </a:ext>
            </a:extLst>
          </p:cNvPr>
          <p:cNvSpPr>
            <a:spLocks xmlns:a="http://schemas.openxmlformats.org/drawingml/2006/main" noGrp="1"/>
          </p:cNvSpPr>
          <p:nvPr/>
        </p:nvSpPr>
        <p:spPr>
          <a:xfrm xmlns:a="http://schemas.openxmlformats.org/drawingml/2006/main">
            <a:off x="502920" y="1828800"/>
            <a:ext cx="10728655"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6B7280"/>
                </a:solidFill>
                <a:latin typeface="Aptos"/>
                <a:ea typeface="Aptos"/>
                <a:cs typeface="Aptos"/>
              </a:rPr>
              <a:t>Where we are against the plan — and the base case it funds.</a:t>
            </a:r>
          </a:p>
        </p:txBody>
      </p:sp>
      <p:sp>
        <p:nvSpPr>
          <p:cNvPr id="7" name="TextBox 6">
            <a:extLst xmlns:a="http://schemas.openxmlformats.org/drawingml/2006/main">
              <a:ext uri="{FF2B5EF4-FFF2-40B4-BE49-F238E27FC236}">
                <a16:creationId xmlns:a16="http://schemas.microsoft.com/office/drawing/2014/main" id="{6CEE6AD8-7CFA-464C-B881-3DDBF406F8F2}"/>
              </a:ext>
            </a:extLst>
          </p:cNvPr>
          <p:cNvSpPr>
            <a:spLocks xmlns:a="http://schemas.openxmlformats.org/drawingml/2006/main" noGrp="1"/>
          </p:cNvSpPr>
          <p:nvPr/>
        </p:nvSpPr>
        <p:spPr>
          <a:xfrm xmlns:a="http://schemas.openxmlformats.org/drawingml/2006/main">
            <a:off x="502920" y="2423160"/>
            <a:ext cx="13716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1">
                <a:solidFill>
                  <a:srgbClr val="196B24"/>
                </a:solidFill>
                <a:latin typeface="Aptos"/>
                <a:ea typeface="Aptos"/>
                <a:cs typeface="Aptos"/>
              </a:rPr>
              <a:t>TODAY</a:t>
            </a:r>
          </a:p>
        </p:txBody>
      </p:sp>
      <p:sp>
        <p:nvSpPr>
          <p:cNvPr id="8" name="TextBox 7">
            <a:extLst xmlns:a="http://schemas.openxmlformats.org/drawingml/2006/main">
              <a:ext uri="{FF2B5EF4-FFF2-40B4-BE49-F238E27FC236}">
                <a16:creationId xmlns:a16="http://schemas.microsoft.com/office/drawing/2014/main" id="{5E3D2D99-853C-4A75-A518-63F68225DBF9}"/>
              </a:ext>
            </a:extLst>
          </p:cNvPr>
          <p:cNvSpPr>
            <a:spLocks xmlns:a="http://schemas.openxmlformats.org/drawingml/2006/main" noGrp="1"/>
          </p:cNvSpPr>
          <p:nvPr/>
        </p:nvSpPr>
        <p:spPr>
          <a:xfrm xmlns:a="http://schemas.openxmlformats.org/drawingml/2006/main">
            <a:off x="2011680" y="2423160"/>
            <a:ext cx="77724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50" b="1">
                <a:solidFill>
                  <a:srgbClr val="0B1B3A"/>
                </a:solidFill>
                <a:latin typeface="Aptos"/>
                <a:ea typeface="Aptos"/>
                <a:cs typeface="Aptos"/>
              </a:rPr>
              <a:t>Working prototype - real settlement executed on Base Mainnet</a:t>
            </a:r>
          </a:p>
        </p:txBody>
      </p:sp>
      <p:sp>
        <p:nvSpPr>
          <p:cNvPr id="9" name="TextBox 8">
            <a:extLst xmlns:a="http://schemas.openxmlformats.org/drawingml/2006/main">
              <a:ext uri="{FF2B5EF4-FFF2-40B4-BE49-F238E27FC236}">
                <a16:creationId xmlns:a16="http://schemas.microsoft.com/office/drawing/2014/main" id="{ABB01ADF-3145-448C-A658-A0CB4576537D}"/>
              </a:ext>
            </a:extLst>
          </p:cNvPr>
          <p:cNvSpPr>
            <a:spLocks xmlns:a="http://schemas.openxmlformats.org/drawingml/2006/main" noGrp="1"/>
          </p:cNvSpPr>
          <p:nvPr/>
        </p:nvSpPr>
        <p:spPr>
          <a:xfrm xmlns:a="http://schemas.openxmlformats.org/drawingml/2006/main">
            <a:off x="502920" y="3026664"/>
            <a:ext cx="13716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1">
                <a:solidFill>
                  <a:srgbClr val="C77D18"/>
                </a:solidFill>
                <a:latin typeface="Aptos"/>
                <a:ea typeface="Aptos"/>
                <a:cs typeface="Aptos"/>
              </a:rPr>
              <a:t>M12</a:t>
            </a:r>
          </a:p>
        </p:txBody>
      </p:sp>
      <p:sp>
        <p:nvSpPr>
          <p:cNvPr id="10" name="TextBox 9">
            <a:extLst xmlns:a="http://schemas.openxmlformats.org/drawingml/2006/main">
              <a:ext uri="{FF2B5EF4-FFF2-40B4-BE49-F238E27FC236}">
                <a16:creationId xmlns:a16="http://schemas.microsoft.com/office/drawing/2014/main" id="{F9F16195-E4D8-44D2-9844-8689F3339BF9}"/>
              </a:ext>
            </a:extLst>
          </p:cNvPr>
          <p:cNvSpPr>
            <a:spLocks xmlns:a="http://schemas.openxmlformats.org/drawingml/2006/main" noGrp="1"/>
          </p:cNvSpPr>
          <p:nvPr/>
        </p:nvSpPr>
        <p:spPr>
          <a:xfrm xmlns:a="http://schemas.openxmlformats.org/drawingml/2006/main">
            <a:off x="2011680" y="3026664"/>
            <a:ext cx="77724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50" b="0">
                <a:solidFill>
                  <a:srgbClr val="6B7280"/>
                </a:solidFill>
                <a:latin typeface="Aptos"/>
                <a:ea typeface="Aptos"/>
                <a:cs typeface="Aptos"/>
              </a:rPr>
              <a:t>Paid partner-led pilot in DIFC - first receipts M13</a:t>
            </a:r>
          </a:p>
        </p:txBody>
      </p:sp>
      <p:sp>
        <p:nvSpPr>
          <p:cNvPr id="11" name="TextBox 10">
            <a:extLst xmlns:a="http://schemas.openxmlformats.org/drawingml/2006/main">
              <a:ext uri="{FF2B5EF4-FFF2-40B4-BE49-F238E27FC236}">
                <a16:creationId xmlns:a16="http://schemas.microsoft.com/office/drawing/2014/main" id="{717FE039-8A18-42D8-A19C-A7EA92D439C3}"/>
              </a:ext>
            </a:extLst>
          </p:cNvPr>
          <p:cNvSpPr>
            <a:spLocks xmlns:a="http://schemas.openxmlformats.org/drawingml/2006/main" noGrp="1"/>
          </p:cNvSpPr>
          <p:nvPr/>
        </p:nvSpPr>
        <p:spPr>
          <a:xfrm xmlns:a="http://schemas.openxmlformats.org/drawingml/2006/main">
            <a:off x="502920" y="3630168"/>
            <a:ext cx="13716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1">
                <a:solidFill>
                  <a:srgbClr val="156082"/>
                </a:solidFill>
                <a:latin typeface="Aptos"/>
                <a:ea typeface="Aptos"/>
                <a:cs typeface="Aptos"/>
              </a:rPr>
              <a:t>M18</a:t>
            </a:r>
          </a:p>
        </p:txBody>
      </p:sp>
      <p:sp>
        <p:nvSpPr>
          <p:cNvPr id="12" name="TextBox 11">
            <a:extLst xmlns:a="http://schemas.openxmlformats.org/drawingml/2006/main">
              <a:ext uri="{FF2B5EF4-FFF2-40B4-BE49-F238E27FC236}">
                <a16:creationId xmlns:a16="http://schemas.microsoft.com/office/drawing/2014/main" id="{49AC771B-1F28-4184-83B0-7475EC149FC8}"/>
              </a:ext>
            </a:extLst>
          </p:cNvPr>
          <p:cNvSpPr>
            <a:spLocks xmlns:a="http://schemas.openxmlformats.org/drawingml/2006/main" noGrp="1"/>
          </p:cNvSpPr>
          <p:nvPr/>
        </p:nvSpPr>
        <p:spPr>
          <a:xfrm xmlns:a="http://schemas.openxmlformats.org/drawingml/2006/main">
            <a:off x="2011680" y="3630168"/>
            <a:ext cx="77724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50" b="0">
                <a:solidFill>
                  <a:srgbClr val="6B7280"/>
                </a:solidFill>
                <a:latin typeface="Aptos"/>
                <a:ea typeface="Aptos"/>
                <a:cs typeface="Aptos"/>
              </a:rPr>
              <a:t>Full VARA licence target</a:t>
            </a:r>
          </a:p>
        </p:txBody>
      </p:sp>
      <p:sp>
        <p:nvSpPr>
          <p:cNvPr id="13" name="TextBox 12">
            <a:extLst xmlns:a="http://schemas.openxmlformats.org/drawingml/2006/main">
              <a:ext uri="{FF2B5EF4-FFF2-40B4-BE49-F238E27FC236}">
                <a16:creationId xmlns:a16="http://schemas.microsoft.com/office/drawing/2014/main" id="{85CDD83B-3521-45A4-BC5C-C0CE2B0FC05C}"/>
              </a:ext>
            </a:extLst>
          </p:cNvPr>
          <p:cNvSpPr>
            <a:spLocks xmlns:a="http://schemas.openxmlformats.org/drawingml/2006/main" noGrp="1"/>
          </p:cNvSpPr>
          <p:nvPr/>
        </p:nvSpPr>
        <p:spPr>
          <a:xfrm xmlns:a="http://schemas.openxmlformats.org/drawingml/2006/main">
            <a:off x="502920" y="4233672"/>
            <a:ext cx="13716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1">
                <a:solidFill>
                  <a:srgbClr val="0B1B3A"/>
                </a:solidFill>
                <a:latin typeface="Aptos"/>
                <a:ea typeface="Aptos"/>
                <a:cs typeface="Aptos"/>
              </a:rPr>
              <a:t>Y4 M8</a:t>
            </a:r>
          </a:p>
        </p:txBody>
      </p:sp>
      <p:sp>
        <p:nvSpPr>
          <p:cNvPr id="14" name="TextBox 13">
            <a:extLst xmlns:a="http://schemas.openxmlformats.org/drawingml/2006/main">
              <a:ext uri="{FF2B5EF4-FFF2-40B4-BE49-F238E27FC236}">
                <a16:creationId xmlns:a16="http://schemas.microsoft.com/office/drawing/2014/main" id="{163946C2-5424-4EF2-B7A7-9EB456B4BD42}"/>
              </a:ext>
            </a:extLst>
          </p:cNvPr>
          <p:cNvSpPr>
            <a:spLocks xmlns:a="http://schemas.openxmlformats.org/drawingml/2006/main" noGrp="1"/>
          </p:cNvSpPr>
          <p:nvPr/>
        </p:nvSpPr>
        <p:spPr>
          <a:xfrm xmlns:a="http://schemas.openxmlformats.org/drawingml/2006/main">
            <a:off x="2011680" y="4233672"/>
            <a:ext cx="77724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50" b="0">
                <a:solidFill>
                  <a:srgbClr val="6B7280"/>
                </a:solidFill>
                <a:latin typeface="Aptos"/>
                <a:ea typeface="Aptos"/>
                <a:cs typeface="Aptos"/>
              </a:rPr>
              <a:t>Monthly cash-flow break-even (base case)</a:t>
            </a:r>
          </a:p>
        </p:txBody>
      </p:sp>
      <p:sp>
        <p:nvSpPr>
          <p:cNvPr id="15" name="Rectangle 14">
            <a:extLst xmlns:a="http://schemas.openxmlformats.org/drawingml/2006/main">
              <a:ext uri="{FF2B5EF4-FFF2-40B4-BE49-F238E27FC236}">
                <a16:creationId xmlns:a16="http://schemas.microsoft.com/office/drawing/2014/main" id="{B1589F21-4125-490F-9E82-9691543AE62D}"/>
              </a:ext>
            </a:extLst>
          </p:cNvPr>
          <p:cNvSpPr>
            <a:spLocks xmlns:a="http://schemas.openxmlformats.org/drawingml/2006/main" noGrp="1"/>
          </p:cNvSpPr>
          <p:nvPr/>
        </p:nvSpPr>
        <p:spPr>
          <a:xfrm xmlns:a="http://schemas.openxmlformats.org/drawingml/2006/main">
            <a:off x="502920" y="4892040"/>
            <a:ext cx="10728655"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E3DED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B69E6E22-69BF-456E-88DB-CA83F2545D0D}"/>
              </a:ext>
            </a:extLst>
          </p:cNvPr>
          <p:cNvSpPr>
            <a:spLocks xmlns:a="http://schemas.openxmlformats.org/drawingml/2006/main" noGrp="1"/>
          </p:cNvSpPr>
          <p:nvPr/>
        </p:nvSpPr>
        <p:spPr>
          <a:xfrm xmlns:a="http://schemas.openxmlformats.org/drawingml/2006/main">
            <a:off x="731520" y="5029200"/>
            <a:ext cx="10362895"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25000"/>
              </a:lnSpc>
              <a:buNone/>
            </a:pPr>
            <a:r>
              <a:rPr sz="1200" b="1">
                <a:solidFill>
                  <a:srgbClr val="0B1B3A"/>
                </a:solidFill>
                <a:latin typeface="Aptos"/>
                <a:ea typeface="Aptos"/>
                <a:cs typeface="Aptos"/>
              </a:rPr>
              <a:t>Base case revenue engine</a:t>
            </a:r>
            <a:r>
              <a:rPr sz="1200" b="1">
                <a:solidFill>
                  <a:srgbClr val="0B1B3A"/>
                </a:solidFill>
                <a:latin typeface="Aptos"/>
                <a:ea typeface="Aptos"/>
                <a:cs typeface="Aptos"/>
              </a:rPr>
              <a:t>   </a:t>
            </a:r>
            <a:r>
              <a:rPr sz="1300" b="1">
                <a:solidFill>
                  <a:srgbClr val="0E8C7F"/>
                </a:solidFill>
                <a:latin typeface="Aptos"/>
                <a:ea typeface="Aptos"/>
                <a:cs typeface="Aptos"/>
              </a:rPr>
              <a:t>2,000 deals × £38k avg = £76m trade value processed  →  £1.37m Y3 revenue at 77% gross margin</a:t>
            </a:r>
          </a:p>
          <a:p xmlns:a="http://schemas.openxmlformats.org/drawingml/2006/main">
            <a:pPr algn="l">
              <a:lnSpc>
                <a:spcPct val="125000"/>
              </a:lnSpc>
              <a:buNone/>
            </a:pPr>
            <a:r>
              <a:rPr sz="1000" b="0">
                <a:solidFill>
                  <a:srgbClr val="6B7280"/>
                </a:solidFill>
                <a:latin typeface="Aptos"/>
                <a:ea typeface="Aptos"/>
                <a:cs typeface="Aptos"/>
              </a:rPr>
              <a:t>Illustrative forecast, not current trading. Tiered escrow take rate plus ancillary fees; client funds excluded from operating cash.</a:t>
            </a:r>
          </a:p>
        </p:txBody>
      </p:sp>
      <p:sp>
        <p:nvSpPr>
          <p:cNvPr id="17" name="TextBox 16">
            <a:extLst xmlns:a="http://schemas.openxmlformats.org/drawingml/2006/main">
              <a:ext uri="{FF2B5EF4-FFF2-40B4-BE49-F238E27FC236}">
                <a16:creationId xmlns:a16="http://schemas.microsoft.com/office/drawing/2014/main" id="{D0A8C684-EC40-4FB4-BCD6-865BE9FD3BE1}"/>
              </a:ext>
            </a:extLst>
          </p:cNvPr>
          <p:cNvSpPr>
            <a:spLocks xmlns:a="http://schemas.openxmlformats.org/drawingml/2006/main" noGrp="1"/>
          </p:cNvSpPr>
          <p:nvPr/>
        </p:nvSpPr>
        <p:spPr>
          <a:xfrm xmlns:a="http://schemas.openxmlformats.org/drawingml/2006/main">
            <a:off x="11505895" y="6400800"/>
            <a:ext cx="36576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900" b="0">
                <a:solidFill>
                  <a:srgbClr val="6B7280"/>
                </a:solidFill>
                <a:latin typeface="Aptos"/>
                <a:ea typeface="Aptos"/>
                <a:cs typeface="Aptos"/>
              </a:rPr>
              <a:t>8</a:t>
            </a:r>
          </a:p>
        </p:txBody>
      </p:sp>
    </p:spTree>
    <p:extLst>
      <p:ext uri="{BB962C8B-B14F-4D97-AF65-F5344CB8AC3E}">
        <p14:creationId xmlns:p14="http://schemas.microsoft.com/office/powerpoint/2010/main" val="84822975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C293227-1501-4A07-9D7B-FD16EABD57A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4E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452BCA70-CA0B-4801-B537-88CFDBD4652E}"/>
              </a:ext>
            </a:extLst>
          </p:cNvPr>
          <p:cNvSpPr>
            <a:spLocks xmlns:a="http://schemas.openxmlformats.org/drawingml/2006/main" noGrp="1"/>
          </p:cNvSpPr>
          <p:nvPr/>
        </p:nvSpPr>
        <p:spPr>
          <a:xfrm xmlns:a="http://schemas.openxmlformats.org/drawingml/2006/main">
            <a:off x="502920" y="429768"/>
            <a:ext cx="88900" cy="88900"/>
          </a:xfrm>
          <a:prstGeom xmlns:a="http://schemas.openxmlformats.org/drawingml/2006/main" prst="rect">
            <a:avLst/>
          </a:prstGeom>
          <a:solidFill xmlns:a="http://schemas.openxmlformats.org/drawingml/2006/main">
            <a:srgbClr val="0B1B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D3750B17-85E3-4404-AB3C-718B79DB402F}"/>
              </a:ext>
            </a:extLst>
          </p:cNvPr>
          <p:cNvSpPr>
            <a:spLocks xmlns:a="http://schemas.openxmlformats.org/drawingml/2006/main" noGrp="1"/>
          </p:cNvSpPr>
          <p:nvPr/>
        </p:nvSpPr>
        <p:spPr>
          <a:xfrm xmlns:a="http://schemas.openxmlformats.org/drawingml/2006/main">
            <a:off x="685800" y="301752"/>
            <a:ext cx="8229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spc="280">
                <a:solidFill>
                  <a:srgbClr val="0B1B3A"/>
                </a:solidFill>
                <a:latin typeface="Aptos"/>
                <a:ea typeface="Aptos"/>
                <a:cs typeface="Aptos"/>
              </a:rPr>
              <a:t>THE ASK</a:t>
            </a:r>
          </a:p>
        </p:txBody>
      </p:sp>
      <p:sp>
        <p:nvSpPr>
          <p:cNvPr id="5" name="TextBox 4">
            <a:extLst xmlns:a="http://schemas.openxmlformats.org/drawingml/2006/main">
              <a:ext uri="{FF2B5EF4-FFF2-40B4-BE49-F238E27FC236}">
                <a16:creationId xmlns:a16="http://schemas.microsoft.com/office/drawing/2014/main" id="{96A0954C-E5CF-4533-92B3-2469EB6798B2}"/>
              </a:ext>
            </a:extLst>
          </p:cNvPr>
          <p:cNvSpPr>
            <a:spLocks xmlns:a="http://schemas.openxmlformats.org/drawingml/2006/main" noGrp="1"/>
          </p:cNvSpPr>
          <p:nvPr/>
        </p:nvSpPr>
        <p:spPr>
          <a:xfrm xmlns:a="http://schemas.openxmlformats.org/drawingml/2006/main">
            <a:off x="502920" y="685800"/>
            <a:ext cx="10728655" cy="1051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2000"/>
              </a:lnSpc>
              <a:buNone/>
            </a:pPr>
            <a:r>
              <a:rPr sz="3000" b="1">
                <a:solidFill>
                  <a:srgbClr val="0B1B3A"/>
                </a:solidFill>
                <a:latin typeface="Aptos Display"/>
                <a:ea typeface="Aptos Display"/>
                <a:cs typeface="Aptos Display"/>
              </a:rPr>
              <a:t>Seeking £3.06m in staged operating capital for UAE launch.</a:t>
            </a:r>
          </a:p>
        </p:txBody>
      </p:sp>
      <p:sp>
        <p:nvSpPr>
          <p:cNvPr id="6" name="TextBox 5">
            <a:extLst xmlns:a="http://schemas.openxmlformats.org/drawingml/2006/main">
              <a:ext uri="{FF2B5EF4-FFF2-40B4-BE49-F238E27FC236}">
                <a16:creationId xmlns:a16="http://schemas.microsoft.com/office/drawing/2014/main" id="{5610BEB5-ABA2-491B-BC55-69AB06B70851}"/>
              </a:ext>
            </a:extLst>
          </p:cNvPr>
          <p:cNvSpPr>
            <a:spLocks xmlns:a="http://schemas.openxmlformats.org/drawingml/2006/main" noGrp="1"/>
          </p:cNvSpPr>
          <p:nvPr/>
        </p:nvSpPr>
        <p:spPr>
          <a:xfrm xmlns:a="http://schemas.openxmlformats.org/drawingml/2006/main">
            <a:off x="502920" y="1828800"/>
            <a:ext cx="10728655"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6B7280"/>
                </a:solidFill>
                <a:latin typeface="Aptos"/>
                <a:ea typeface="Aptos"/>
                <a:cs typeface="Aptos"/>
              </a:rPr>
              <a:t>The base case funds the people and permissions required to reach monthly cash-flow break-even.</a:t>
            </a:r>
          </a:p>
        </p:txBody>
      </p:sp>
      <p:sp>
        <p:nvSpPr>
          <p:cNvPr id="7" name="TextBox 6">
            <a:extLst xmlns:a="http://schemas.openxmlformats.org/drawingml/2006/main">
              <a:ext uri="{FF2B5EF4-FFF2-40B4-BE49-F238E27FC236}">
                <a16:creationId xmlns:a16="http://schemas.microsoft.com/office/drawing/2014/main" id="{EBEE77CC-2C4E-4BB8-951D-7EEB92EBD5F8}"/>
              </a:ext>
            </a:extLst>
          </p:cNvPr>
          <p:cNvSpPr>
            <a:spLocks xmlns:a="http://schemas.openxmlformats.org/drawingml/2006/main" noGrp="1"/>
          </p:cNvSpPr>
          <p:nvPr/>
        </p:nvSpPr>
        <p:spPr>
          <a:xfrm xmlns:a="http://schemas.openxmlformats.org/drawingml/2006/main">
            <a:off x="502920" y="2468880"/>
            <a:ext cx="310896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50" b="0">
                <a:solidFill>
                  <a:srgbClr val="0B1B3A"/>
                </a:solidFill>
                <a:latin typeface="Aptos"/>
                <a:ea typeface="Aptos"/>
                <a:cs typeface="Aptos"/>
              </a:rPr>
              <a:t>Compliance, legal &amp; licensing</a:t>
            </a:r>
          </a:p>
        </p:txBody>
      </p:sp>
      <p:sp>
        <p:nvSpPr>
          <p:cNvPr id="8" name="Rectangle 7">
            <a:extLst xmlns:a="http://schemas.openxmlformats.org/drawingml/2006/main">
              <a:ext uri="{FF2B5EF4-FFF2-40B4-BE49-F238E27FC236}">
                <a16:creationId xmlns:a16="http://schemas.microsoft.com/office/drawing/2014/main" id="{A59EBC2A-0879-4C64-AA91-B57B1121938E}"/>
              </a:ext>
            </a:extLst>
          </p:cNvPr>
          <p:cNvSpPr>
            <a:spLocks xmlns:a="http://schemas.openxmlformats.org/drawingml/2006/main" noGrp="1"/>
          </p:cNvSpPr>
          <p:nvPr/>
        </p:nvSpPr>
        <p:spPr>
          <a:xfrm xmlns:a="http://schemas.openxmlformats.org/drawingml/2006/main">
            <a:off x="3749039" y="2523744"/>
            <a:ext cx="5669280" cy="237744"/>
          </a:xfrm>
          <a:prstGeom xmlns:a="http://schemas.openxmlformats.org/drawingml/2006/main" prst="rect">
            <a:avLst/>
          </a:prstGeom>
          <a:solidFill xmlns:a="http://schemas.openxmlformats.org/drawingml/2006/main">
            <a:srgbClr val="5B5FC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AE5A08F4-86BF-49C8-AFFC-45BFBBDD0C08}"/>
              </a:ext>
            </a:extLst>
          </p:cNvPr>
          <p:cNvSpPr>
            <a:spLocks xmlns:a="http://schemas.openxmlformats.org/drawingml/2006/main" noGrp="1"/>
          </p:cNvSpPr>
          <p:nvPr/>
        </p:nvSpPr>
        <p:spPr>
          <a:xfrm xmlns:a="http://schemas.openxmlformats.org/drawingml/2006/main">
            <a:off x="9692640" y="2468880"/>
            <a:ext cx="2011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50" b="1">
                <a:solidFill>
                  <a:srgbClr val="0B1B3A"/>
                </a:solidFill>
                <a:latin typeface="Aptos"/>
                <a:ea typeface="Aptos"/>
                <a:cs typeface="Aptos"/>
              </a:rPr>
              <a:t>34.8%  £1.07m</a:t>
            </a:r>
          </a:p>
        </p:txBody>
      </p:sp>
      <p:sp>
        <p:nvSpPr>
          <p:cNvPr id="10" name="TextBox 9">
            <a:extLst xmlns:a="http://schemas.openxmlformats.org/drawingml/2006/main">
              <a:ext uri="{FF2B5EF4-FFF2-40B4-BE49-F238E27FC236}">
                <a16:creationId xmlns:a16="http://schemas.microsoft.com/office/drawing/2014/main" id="{332AD3D6-F04A-452E-9A46-A7480D9CB4F8}"/>
              </a:ext>
            </a:extLst>
          </p:cNvPr>
          <p:cNvSpPr>
            <a:spLocks xmlns:a="http://schemas.openxmlformats.org/drawingml/2006/main" noGrp="1"/>
          </p:cNvSpPr>
          <p:nvPr/>
        </p:nvSpPr>
        <p:spPr>
          <a:xfrm xmlns:a="http://schemas.openxmlformats.org/drawingml/2006/main">
            <a:off x="502920" y="3017520"/>
            <a:ext cx="310896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50" b="0">
                <a:solidFill>
                  <a:srgbClr val="0B1B3A"/>
                </a:solidFill>
                <a:latin typeface="Aptos"/>
                <a:ea typeface="Aptos"/>
                <a:cs typeface="Aptos"/>
              </a:rPr>
              <a:t>Team, operations &amp; G&amp;A</a:t>
            </a:r>
          </a:p>
        </p:txBody>
      </p:sp>
      <p:sp>
        <p:nvSpPr>
          <p:cNvPr id="11" name="Rectangle 10">
            <a:extLst xmlns:a="http://schemas.openxmlformats.org/drawingml/2006/main">
              <a:ext uri="{FF2B5EF4-FFF2-40B4-BE49-F238E27FC236}">
                <a16:creationId xmlns:a16="http://schemas.microsoft.com/office/drawing/2014/main" id="{183F0F72-F833-4F8E-BB66-A984EE2F5C0C}"/>
              </a:ext>
            </a:extLst>
          </p:cNvPr>
          <p:cNvSpPr>
            <a:spLocks xmlns:a="http://schemas.openxmlformats.org/drawingml/2006/main" noGrp="1"/>
          </p:cNvSpPr>
          <p:nvPr/>
        </p:nvSpPr>
        <p:spPr>
          <a:xfrm xmlns:a="http://schemas.openxmlformats.org/drawingml/2006/main">
            <a:off x="3749039" y="3072384"/>
            <a:ext cx="5652988" cy="237744"/>
          </a:xfrm>
          <a:prstGeom xmlns:a="http://schemas.openxmlformats.org/drawingml/2006/main" prst="rect">
            <a:avLst/>
          </a:prstGeom>
          <a:solidFill xmlns:a="http://schemas.openxmlformats.org/drawingml/2006/main">
            <a:srgbClr val="15608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CDDDE7C4-C59A-4079-8A3B-A3EB1D744771}"/>
              </a:ext>
            </a:extLst>
          </p:cNvPr>
          <p:cNvSpPr>
            <a:spLocks xmlns:a="http://schemas.openxmlformats.org/drawingml/2006/main" noGrp="1"/>
          </p:cNvSpPr>
          <p:nvPr/>
        </p:nvSpPr>
        <p:spPr>
          <a:xfrm xmlns:a="http://schemas.openxmlformats.org/drawingml/2006/main">
            <a:off x="9692640" y="3017520"/>
            <a:ext cx="2011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50" b="1">
                <a:solidFill>
                  <a:srgbClr val="0B1B3A"/>
                </a:solidFill>
                <a:latin typeface="Aptos"/>
                <a:ea typeface="Aptos"/>
                <a:cs typeface="Aptos"/>
              </a:rPr>
              <a:t>34.7%  £1.06m</a:t>
            </a:r>
          </a:p>
        </p:txBody>
      </p:sp>
      <p:sp>
        <p:nvSpPr>
          <p:cNvPr id="13" name="TextBox 12">
            <a:extLst xmlns:a="http://schemas.openxmlformats.org/drawingml/2006/main">
              <a:ext uri="{FF2B5EF4-FFF2-40B4-BE49-F238E27FC236}">
                <a16:creationId xmlns:a16="http://schemas.microsoft.com/office/drawing/2014/main" id="{EB9BFA7D-C2F9-4036-9339-F83EA7012B07}"/>
              </a:ext>
            </a:extLst>
          </p:cNvPr>
          <p:cNvSpPr>
            <a:spLocks xmlns:a="http://schemas.openxmlformats.org/drawingml/2006/main" noGrp="1"/>
          </p:cNvSpPr>
          <p:nvPr/>
        </p:nvSpPr>
        <p:spPr>
          <a:xfrm xmlns:a="http://schemas.openxmlformats.org/drawingml/2006/main">
            <a:off x="502920" y="3566160"/>
            <a:ext cx="310896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50" b="0">
                <a:solidFill>
                  <a:srgbClr val="0B1B3A"/>
                </a:solidFill>
                <a:latin typeface="Aptos"/>
                <a:ea typeface="Aptos"/>
                <a:cs typeface="Aptos"/>
              </a:rPr>
              <a:t>Engineering &amp; product delivery</a:t>
            </a:r>
          </a:p>
        </p:txBody>
      </p:sp>
      <p:sp>
        <p:nvSpPr>
          <p:cNvPr id="14" name="Rectangle 13">
            <a:extLst xmlns:a="http://schemas.openxmlformats.org/drawingml/2006/main">
              <a:ext uri="{FF2B5EF4-FFF2-40B4-BE49-F238E27FC236}">
                <a16:creationId xmlns:a16="http://schemas.microsoft.com/office/drawing/2014/main" id="{3CB6D0E9-D57F-45F5-BED2-78C6FABF2AC0}"/>
              </a:ext>
            </a:extLst>
          </p:cNvPr>
          <p:cNvSpPr>
            <a:spLocks xmlns:a="http://schemas.openxmlformats.org/drawingml/2006/main" noGrp="1"/>
          </p:cNvSpPr>
          <p:nvPr/>
        </p:nvSpPr>
        <p:spPr>
          <a:xfrm xmlns:a="http://schemas.openxmlformats.org/drawingml/2006/main">
            <a:off x="3749039" y="3621024"/>
            <a:ext cx="3030132" cy="237744"/>
          </a:xfrm>
          <a:prstGeom xmlns:a="http://schemas.openxmlformats.org/drawingml/2006/main" prst="rect">
            <a:avLst/>
          </a:prstGeom>
          <a:solidFill xmlns:a="http://schemas.openxmlformats.org/drawingml/2006/main">
            <a:srgbClr val="0E8C7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E4986FAC-49DE-4BEA-A0C3-B2BC8E575C01}"/>
              </a:ext>
            </a:extLst>
          </p:cNvPr>
          <p:cNvSpPr>
            <a:spLocks xmlns:a="http://schemas.openxmlformats.org/drawingml/2006/main" noGrp="1"/>
          </p:cNvSpPr>
          <p:nvPr/>
        </p:nvSpPr>
        <p:spPr>
          <a:xfrm xmlns:a="http://schemas.openxmlformats.org/drawingml/2006/main">
            <a:off x="9692640" y="3566160"/>
            <a:ext cx="2011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50" b="1">
                <a:solidFill>
                  <a:srgbClr val="0B1B3A"/>
                </a:solidFill>
                <a:latin typeface="Aptos"/>
                <a:ea typeface="Aptos"/>
                <a:cs typeface="Aptos"/>
              </a:rPr>
              <a:t>18.6%  £571k</a:t>
            </a:r>
          </a:p>
        </p:txBody>
      </p:sp>
      <p:sp>
        <p:nvSpPr>
          <p:cNvPr id="16" name="TextBox 15">
            <a:extLst xmlns:a="http://schemas.openxmlformats.org/drawingml/2006/main">
              <a:ext uri="{FF2B5EF4-FFF2-40B4-BE49-F238E27FC236}">
                <a16:creationId xmlns:a16="http://schemas.microsoft.com/office/drawing/2014/main" id="{673317BD-C343-4C6B-A77F-9AD070DBA5E4}"/>
              </a:ext>
            </a:extLst>
          </p:cNvPr>
          <p:cNvSpPr>
            <a:spLocks xmlns:a="http://schemas.openxmlformats.org/drawingml/2006/main" noGrp="1"/>
          </p:cNvSpPr>
          <p:nvPr/>
        </p:nvSpPr>
        <p:spPr>
          <a:xfrm xmlns:a="http://schemas.openxmlformats.org/drawingml/2006/main">
            <a:off x="502920" y="4114800"/>
            <a:ext cx="310896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50" b="0">
                <a:solidFill>
                  <a:srgbClr val="0B1B3A"/>
                </a:solidFill>
                <a:latin typeface="Aptos"/>
                <a:ea typeface="Aptos"/>
                <a:cs typeface="Aptos"/>
              </a:rPr>
              <a:t>Operating reserve &amp; contingency</a:t>
            </a:r>
          </a:p>
        </p:txBody>
      </p:sp>
      <p:sp>
        <p:nvSpPr>
          <p:cNvPr id="17" name="Rectangle 16">
            <a:extLst xmlns:a="http://schemas.openxmlformats.org/drawingml/2006/main">
              <a:ext uri="{FF2B5EF4-FFF2-40B4-BE49-F238E27FC236}">
                <a16:creationId xmlns:a16="http://schemas.microsoft.com/office/drawing/2014/main" id="{AFFD8E8F-1968-4D8A-AAFA-956A27EBF1ED}"/>
              </a:ext>
            </a:extLst>
          </p:cNvPr>
          <p:cNvSpPr>
            <a:spLocks xmlns:a="http://schemas.openxmlformats.org/drawingml/2006/main" noGrp="1"/>
          </p:cNvSpPr>
          <p:nvPr/>
        </p:nvSpPr>
        <p:spPr>
          <a:xfrm xmlns:a="http://schemas.openxmlformats.org/drawingml/2006/main">
            <a:off x="3749039" y="4169664"/>
            <a:ext cx="1026335" cy="237744"/>
          </a:xfrm>
          <a:prstGeom xmlns:a="http://schemas.openxmlformats.org/drawingml/2006/main" prst="rect">
            <a:avLst/>
          </a:prstGeom>
          <a:solidFill xmlns:a="http://schemas.openxmlformats.org/drawingml/2006/main">
            <a:srgbClr val="196B2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56100C40-7DD7-4565-9DD3-FAC56C8630E0}"/>
              </a:ext>
            </a:extLst>
          </p:cNvPr>
          <p:cNvSpPr>
            <a:spLocks xmlns:a="http://schemas.openxmlformats.org/drawingml/2006/main" noGrp="1"/>
          </p:cNvSpPr>
          <p:nvPr/>
        </p:nvSpPr>
        <p:spPr>
          <a:xfrm xmlns:a="http://schemas.openxmlformats.org/drawingml/2006/main">
            <a:off x="9692640" y="4114800"/>
            <a:ext cx="2011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50" b="1">
                <a:solidFill>
                  <a:srgbClr val="0B1B3A"/>
                </a:solidFill>
                <a:latin typeface="Aptos"/>
                <a:ea typeface="Aptos"/>
                <a:cs typeface="Aptos"/>
              </a:rPr>
              <a:t>6.3%  £192k</a:t>
            </a:r>
          </a:p>
        </p:txBody>
      </p:sp>
      <p:sp>
        <p:nvSpPr>
          <p:cNvPr id="19" name="TextBox 18">
            <a:extLst xmlns:a="http://schemas.openxmlformats.org/drawingml/2006/main">
              <a:ext uri="{FF2B5EF4-FFF2-40B4-BE49-F238E27FC236}">
                <a16:creationId xmlns:a16="http://schemas.microsoft.com/office/drawing/2014/main" id="{15F96E90-A50E-4C89-9D62-DE4DDEC549DB}"/>
              </a:ext>
            </a:extLst>
          </p:cNvPr>
          <p:cNvSpPr>
            <a:spLocks xmlns:a="http://schemas.openxmlformats.org/drawingml/2006/main" noGrp="1"/>
          </p:cNvSpPr>
          <p:nvPr/>
        </p:nvSpPr>
        <p:spPr>
          <a:xfrm xmlns:a="http://schemas.openxmlformats.org/drawingml/2006/main">
            <a:off x="502920" y="4663440"/>
            <a:ext cx="310896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50" b="0">
                <a:solidFill>
                  <a:srgbClr val="0B1B3A"/>
                </a:solidFill>
                <a:latin typeface="Aptos"/>
                <a:ea typeface="Aptos"/>
                <a:cs typeface="Aptos"/>
              </a:rPr>
              <a:t>Partner-led GTM &amp; acquisition</a:t>
            </a:r>
          </a:p>
        </p:txBody>
      </p:sp>
      <p:sp>
        <p:nvSpPr>
          <p:cNvPr id="20" name="Rectangle 19">
            <a:extLst xmlns:a="http://schemas.openxmlformats.org/drawingml/2006/main">
              <a:ext uri="{FF2B5EF4-FFF2-40B4-BE49-F238E27FC236}">
                <a16:creationId xmlns:a16="http://schemas.microsoft.com/office/drawing/2014/main" id="{87B0F8BE-4AB0-4495-B780-467512E269FE}"/>
              </a:ext>
            </a:extLst>
          </p:cNvPr>
          <p:cNvSpPr>
            <a:spLocks xmlns:a="http://schemas.openxmlformats.org/drawingml/2006/main" noGrp="1"/>
          </p:cNvSpPr>
          <p:nvPr/>
        </p:nvSpPr>
        <p:spPr>
          <a:xfrm xmlns:a="http://schemas.openxmlformats.org/drawingml/2006/main">
            <a:off x="3749039" y="4718304"/>
            <a:ext cx="912297" cy="237744"/>
          </a:xfrm>
          <a:prstGeom xmlns:a="http://schemas.openxmlformats.org/drawingml/2006/main" prst="rect">
            <a:avLst/>
          </a:prstGeom>
          <a:solidFill xmlns:a="http://schemas.openxmlformats.org/drawingml/2006/main">
            <a:srgbClr val="C77D1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BD0EAF73-D606-4474-A60C-452801EFE814}"/>
              </a:ext>
            </a:extLst>
          </p:cNvPr>
          <p:cNvSpPr>
            <a:spLocks xmlns:a="http://schemas.openxmlformats.org/drawingml/2006/main" noGrp="1"/>
          </p:cNvSpPr>
          <p:nvPr/>
        </p:nvSpPr>
        <p:spPr>
          <a:xfrm xmlns:a="http://schemas.openxmlformats.org/drawingml/2006/main">
            <a:off x="9692640" y="4663440"/>
            <a:ext cx="201168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50" b="1">
                <a:solidFill>
                  <a:srgbClr val="0B1B3A"/>
                </a:solidFill>
                <a:latin typeface="Aptos"/>
                <a:ea typeface="Aptos"/>
                <a:cs typeface="Aptos"/>
              </a:rPr>
              <a:t>5.6%  £171k</a:t>
            </a:r>
          </a:p>
        </p:txBody>
      </p:sp>
      <p:sp>
        <p:nvSpPr>
          <p:cNvPr id="22" name="Rectangle 21">
            <a:extLst xmlns:a="http://schemas.openxmlformats.org/drawingml/2006/main">
              <a:ext uri="{FF2B5EF4-FFF2-40B4-BE49-F238E27FC236}">
                <a16:creationId xmlns:a16="http://schemas.microsoft.com/office/drawing/2014/main" id="{46D81BB1-FBC7-4ED1-8CBB-AF8FDBC5270D}"/>
              </a:ext>
            </a:extLst>
          </p:cNvPr>
          <p:cNvSpPr>
            <a:spLocks xmlns:a="http://schemas.openxmlformats.org/drawingml/2006/main" noGrp="1"/>
          </p:cNvSpPr>
          <p:nvPr/>
        </p:nvSpPr>
        <p:spPr>
          <a:xfrm xmlns:a="http://schemas.openxmlformats.org/drawingml/2006/main">
            <a:off x="502920" y="5349240"/>
            <a:ext cx="10728655" cy="685800"/>
          </a:xfrm>
          <a:prstGeom xmlns:a="http://schemas.openxmlformats.org/drawingml/2006/main" prst="rect">
            <a:avLst/>
          </a:prstGeom>
          <a:solidFill xmlns:a="http://schemas.openxmlformats.org/drawingml/2006/main">
            <a:srgbClr val="0B1B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0536D393-9567-4DA4-B822-06AB8A3B40A4}"/>
              </a:ext>
            </a:extLst>
          </p:cNvPr>
          <p:cNvSpPr>
            <a:spLocks xmlns:a="http://schemas.openxmlformats.org/drawingml/2006/main" noGrp="1"/>
          </p:cNvSpPr>
          <p:nvPr/>
        </p:nvSpPr>
        <p:spPr>
          <a:xfrm xmlns:a="http://schemas.openxmlformats.org/drawingml/2006/main">
            <a:off x="777240" y="5486400"/>
            <a:ext cx="7498079"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9EE8DA"/>
                </a:solidFill>
                <a:latin typeface="Aptos"/>
                <a:ea typeface="Aptos"/>
                <a:cs typeface="Aptos"/>
              </a:rPr>
              <a:t>£319k future restricted VARA capital — separate from the operating ask; not runway</a:t>
            </a:r>
          </a:p>
        </p:txBody>
      </p:sp>
      <p:sp>
        <p:nvSpPr>
          <p:cNvPr id="24" name="TextBox 23">
            <a:extLst xmlns:a="http://schemas.openxmlformats.org/drawingml/2006/main">
              <a:ext uri="{FF2B5EF4-FFF2-40B4-BE49-F238E27FC236}">
                <a16:creationId xmlns:a16="http://schemas.microsoft.com/office/drawing/2014/main" id="{BBB68719-D91E-45B6-B97A-90B41CB0CF15}"/>
              </a:ext>
            </a:extLst>
          </p:cNvPr>
          <p:cNvSpPr>
            <a:spLocks xmlns:a="http://schemas.openxmlformats.org/drawingml/2006/main" noGrp="1"/>
          </p:cNvSpPr>
          <p:nvPr/>
        </p:nvSpPr>
        <p:spPr>
          <a:xfrm xmlns:a="http://schemas.openxmlformats.org/drawingml/2006/main">
            <a:off x="8001000" y="5458968"/>
            <a:ext cx="29718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500" b="1">
                <a:solidFill>
                  <a:srgbClr val="FFFFFF"/>
                </a:solidFill>
                <a:latin typeface="Aptos"/>
                <a:ea typeface="Aptos"/>
                <a:cs typeface="Aptos"/>
              </a:rPr>
              <a:t>£3.063m operating ask</a:t>
            </a:r>
          </a:p>
        </p:txBody>
      </p:sp>
      <p:sp>
        <p:nvSpPr>
          <p:cNvPr id="25" name="TextBox 24">
            <a:extLst xmlns:a="http://schemas.openxmlformats.org/drawingml/2006/main">
              <a:ext uri="{FF2B5EF4-FFF2-40B4-BE49-F238E27FC236}">
                <a16:creationId xmlns:a16="http://schemas.microsoft.com/office/drawing/2014/main" id="{D6966970-4B3A-4074-9FA3-93A0A44EB07E}"/>
              </a:ext>
            </a:extLst>
          </p:cNvPr>
          <p:cNvSpPr>
            <a:spLocks xmlns:a="http://schemas.openxmlformats.org/drawingml/2006/main" noGrp="1"/>
          </p:cNvSpPr>
          <p:nvPr/>
        </p:nvSpPr>
        <p:spPr>
          <a:xfrm xmlns:a="http://schemas.openxmlformats.org/drawingml/2006/main">
            <a:off x="11505895" y="6400800"/>
            <a:ext cx="36576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900" b="0">
                <a:solidFill>
                  <a:srgbClr val="6B7280"/>
                </a:solidFill>
                <a:latin typeface="Aptos"/>
                <a:ea typeface="Aptos"/>
                <a:cs typeface="Aptos"/>
              </a:rPr>
              <a:t>9</a:t>
            </a:r>
          </a:p>
        </p:txBody>
      </p:sp>
    </p:spTree>
    <p:extLst>
      <p:ext uri="{BB962C8B-B14F-4D97-AF65-F5344CB8AC3E}">
        <p14:creationId xmlns:p14="http://schemas.microsoft.com/office/powerpoint/2010/main" val="183307769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61B38B9-E47E-4A08-ACD1-99A42790A508}"/>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1B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450DF1E7-4328-4C2F-B8F5-C338C2484E1F}"/>
              </a:ext>
            </a:extLst>
          </p:cNvPr>
          <p:cNvSpPr>
            <a:spLocks xmlns:a="http://schemas.openxmlformats.org/drawingml/2006/main" noGrp="1"/>
          </p:cNvSpPr>
          <p:nvPr/>
        </p:nvSpPr>
        <p:spPr>
          <a:xfrm xmlns:a="http://schemas.openxmlformats.org/drawingml/2006/main">
            <a:off x="822960" y="1371600"/>
            <a:ext cx="502920" cy="31750"/>
          </a:xfrm>
          <a:prstGeom xmlns:a="http://schemas.openxmlformats.org/drawingml/2006/main" prst="rect">
            <a:avLst/>
          </a:prstGeom>
          <a:solidFill xmlns:a="http://schemas.openxmlformats.org/drawingml/2006/main">
            <a:srgbClr val="C77D1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2D333649-A9D1-4F12-95E0-79D9F1D508C7}"/>
              </a:ext>
            </a:extLst>
          </p:cNvPr>
          <p:cNvSpPr>
            <a:spLocks xmlns:a="http://schemas.openxmlformats.org/drawingml/2006/main" noGrp="1"/>
          </p:cNvSpPr>
          <p:nvPr/>
        </p:nvSpPr>
        <p:spPr>
          <a:xfrm xmlns:a="http://schemas.openxmlformats.org/drawingml/2006/main">
            <a:off x="822960" y="1508760"/>
            <a:ext cx="10545775"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spc="300">
                <a:solidFill>
                  <a:srgbClr val="C77D18"/>
                </a:solidFill>
                <a:latin typeface="Aptos"/>
                <a:ea typeface="Aptos"/>
                <a:cs typeface="Aptos"/>
              </a:rPr>
              <a:t>TEAM TRANSAKT</a:t>
            </a:r>
          </a:p>
        </p:txBody>
      </p:sp>
      <p:sp>
        <p:nvSpPr>
          <p:cNvPr id="5" name="TextBox 4">
            <a:extLst xmlns:a="http://schemas.openxmlformats.org/drawingml/2006/main">
              <a:ext uri="{FF2B5EF4-FFF2-40B4-BE49-F238E27FC236}">
                <a16:creationId xmlns:a16="http://schemas.microsoft.com/office/drawing/2014/main" id="{7108F849-C92E-4B9D-BC55-9E72888FC38D}"/>
              </a:ext>
            </a:extLst>
          </p:cNvPr>
          <p:cNvSpPr>
            <a:spLocks xmlns:a="http://schemas.openxmlformats.org/drawingml/2006/main" noGrp="1"/>
          </p:cNvSpPr>
          <p:nvPr/>
        </p:nvSpPr>
        <p:spPr>
          <a:xfrm xmlns:a="http://schemas.openxmlformats.org/drawingml/2006/main">
            <a:off x="822960" y="1965960"/>
            <a:ext cx="10545775" cy="1463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05000"/>
              </a:lnSpc>
              <a:buNone/>
            </a:pPr>
            <a:r>
              <a:rPr sz="4000" b="1">
                <a:solidFill>
                  <a:srgbClr val="FFFFFF"/>
                </a:solidFill>
                <a:latin typeface="Aptos Display"/>
                <a:ea typeface="Aptos Display"/>
                <a:cs typeface="Aptos Display"/>
              </a:rPr>
              <a:t>The trust layer for global trade -</a:t>
            </a:r>
          </a:p>
          <a:p xmlns:a="http://schemas.openxmlformats.org/drawingml/2006/main">
            <a:pPr algn="l">
              <a:lnSpc>
                <a:spcPct val="105000"/>
              </a:lnSpc>
              <a:buNone/>
            </a:pPr>
            <a:r>
              <a:rPr sz="4000" b="1">
                <a:solidFill>
                  <a:srgbClr val="C77D18"/>
                </a:solidFill>
                <a:latin typeface="Aptos Display"/>
                <a:ea typeface="Aptos Display"/>
                <a:cs typeface="Aptos Display"/>
              </a:rPr>
              <a:t>already settling.</a:t>
            </a:r>
          </a:p>
        </p:txBody>
      </p:sp>
      <p:sp>
        <p:nvSpPr>
          <p:cNvPr id="6" name="TextBox 5">
            <a:extLst xmlns:a="http://schemas.openxmlformats.org/drawingml/2006/main">
              <a:ext uri="{FF2B5EF4-FFF2-40B4-BE49-F238E27FC236}">
                <a16:creationId xmlns:a16="http://schemas.microsoft.com/office/drawing/2014/main" id="{6C9B2D92-EDDC-4314-976D-CBC802C63A27}"/>
              </a:ext>
            </a:extLst>
          </p:cNvPr>
          <p:cNvSpPr>
            <a:spLocks xmlns:a="http://schemas.openxmlformats.org/drawingml/2006/main" noGrp="1"/>
          </p:cNvSpPr>
          <p:nvPr/>
        </p:nvSpPr>
        <p:spPr>
          <a:xfrm xmlns:a="http://schemas.openxmlformats.org/drawingml/2006/main">
            <a:off x="822960" y="4206240"/>
            <a:ext cx="2926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spc="200">
                <a:solidFill>
                  <a:srgbClr val="9CA6B8"/>
                </a:solidFill>
                <a:latin typeface="Aptos"/>
                <a:ea typeface="Aptos"/>
                <a:cs typeface="Aptos"/>
              </a:rPr>
              <a:t>LIVE PROTOTYPE</a:t>
            </a:r>
          </a:p>
        </p:txBody>
      </p:sp>
      <p:sp>
        <p:nvSpPr>
          <p:cNvPr id="7" name="TextBox 6">
            <a:extLst xmlns:a="http://schemas.openxmlformats.org/drawingml/2006/main">
              <a:ext uri="{FF2B5EF4-FFF2-40B4-BE49-F238E27FC236}">
                <a16:creationId xmlns:a16="http://schemas.microsoft.com/office/drawing/2014/main" id="{9186D22B-E851-4B7A-B410-979D34A1DC24}"/>
              </a:ext>
            </a:extLst>
          </p:cNvPr>
          <p:cNvSpPr>
            <a:spLocks xmlns:a="http://schemas.openxmlformats.org/drawingml/2006/main" noGrp="1"/>
          </p:cNvSpPr>
          <p:nvPr/>
        </p:nvSpPr>
        <p:spPr>
          <a:xfrm xmlns:a="http://schemas.openxmlformats.org/drawingml/2006/main">
            <a:off x="3840480" y="4206240"/>
            <a:ext cx="73152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0">
                <a:solidFill>
                  <a:srgbClr val="FFFFFF"/>
                </a:solidFill>
                <a:latin typeface="Consolas"/>
                <a:ea typeface="Consolas"/>
                <a:cs typeface="Consolas"/>
              </a:rPr>
              <a:t>block-med-nine.vercel.app</a:t>
            </a:r>
          </a:p>
        </p:txBody>
      </p:sp>
      <p:sp>
        <p:nvSpPr>
          <p:cNvPr id="8" name="TextBox 7">
            <a:extLst xmlns:a="http://schemas.openxmlformats.org/drawingml/2006/main">
              <a:ext uri="{FF2B5EF4-FFF2-40B4-BE49-F238E27FC236}">
                <a16:creationId xmlns:a16="http://schemas.microsoft.com/office/drawing/2014/main" id="{89E29EBF-75CA-44DC-8CDE-B937BACB0950}"/>
              </a:ext>
            </a:extLst>
          </p:cNvPr>
          <p:cNvSpPr>
            <a:spLocks xmlns:a="http://schemas.openxmlformats.org/drawingml/2006/main" noGrp="1"/>
          </p:cNvSpPr>
          <p:nvPr/>
        </p:nvSpPr>
        <p:spPr>
          <a:xfrm xmlns:a="http://schemas.openxmlformats.org/drawingml/2006/main">
            <a:off x="822960" y="4681728"/>
            <a:ext cx="2926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spc="200">
                <a:solidFill>
                  <a:srgbClr val="9CA6B8"/>
                </a:solidFill>
                <a:latin typeface="Aptos"/>
                <a:ea typeface="Aptos"/>
                <a:cs typeface="Aptos"/>
              </a:rPr>
              <a:t>SOURCE &amp; DOCUMENTS</a:t>
            </a:r>
          </a:p>
        </p:txBody>
      </p:sp>
      <p:sp>
        <p:nvSpPr>
          <p:cNvPr id="9" name="TextBox 8">
            <a:extLst xmlns:a="http://schemas.openxmlformats.org/drawingml/2006/main">
              <a:ext uri="{FF2B5EF4-FFF2-40B4-BE49-F238E27FC236}">
                <a16:creationId xmlns:a16="http://schemas.microsoft.com/office/drawing/2014/main" id="{554C9216-BEEC-413F-980D-2EB012180ABB}"/>
              </a:ext>
            </a:extLst>
          </p:cNvPr>
          <p:cNvSpPr>
            <a:spLocks xmlns:a="http://schemas.openxmlformats.org/drawingml/2006/main" noGrp="1"/>
          </p:cNvSpPr>
          <p:nvPr/>
        </p:nvSpPr>
        <p:spPr>
          <a:xfrm xmlns:a="http://schemas.openxmlformats.org/drawingml/2006/main">
            <a:off x="3840480" y="4681728"/>
            <a:ext cx="73152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0">
                <a:solidFill>
                  <a:srgbClr val="FFFFFF"/>
                </a:solidFill>
                <a:latin typeface="Consolas"/>
                <a:ea typeface="Consolas"/>
                <a:cs typeface="Consolas"/>
              </a:rPr>
              <a:t>github.com/nchengg/BlockMed</a:t>
            </a:r>
          </a:p>
        </p:txBody>
      </p:sp>
      <p:sp>
        <p:nvSpPr>
          <p:cNvPr id="10" name="TextBox 9">
            <a:extLst xmlns:a="http://schemas.openxmlformats.org/drawingml/2006/main">
              <a:ext uri="{FF2B5EF4-FFF2-40B4-BE49-F238E27FC236}">
                <a16:creationId xmlns:a16="http://schemas.microsoft.com/office/drawing/2014/main" id="{0DC5B9F2-21E8-41B5-9DEA-544A725260CA}"/>
              </a:ext>
            </a:extLst>
          </p:cNvPr>
          <p:cNvSpPr>
            <a:spLocks xmlns:a="http://schemas.openxmlformats.org/drawingml/2006/main" noGrp="1"/>
          </p:cNvSpPr>
          <p:nvPr/>
        </p:nvSpPr>
        <p:spPr>
          <a:xfrm xmlns:a="http://schemas.openxmlformats.org/drawingml/2006/main">
            <a:off x="822960" y="5157216"/>
            <a:ext cx="2926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spc="200">
                <a:solidFill>
                  <a:srgbClr val="9CA6B8"/>
                </a:solidFill>
                <a:latin typeface="Aptos"/>
                <a:ea typeface="Aptos"/>
                <a:cs typeface="Aptos"/>
              </a:rPr>
              <a:t>THE SETTLEMENT</a:t>
            </a:r>
          </a:p>
        </p:txBody>
      </p:sp>
      <p:sp>
        <p:nvSpPr>
          <p:cNvPr id="11" name="TextBox 10">
            <a:extLst xmlns:a="http://schemas.openxmlformats.org/drawingml/2006/main">
              <a:ext uri="{FF2B5EF4-FFF2-40B4-BE49-F238E27FC236}">
                <a16:creationId xmlns:a16="http://schemas.microsoft.com/office/drawing/2014/main" id="{77E249A4-80D1-459B-ACF7-16FEF81FDA2A}"/>
              </a:ext>
            </a:extLst>
          </p:cNvPr>
          <p:cNvSpPr>
            <a:spLocks xmlns:a="http://schemas.openxmlformats.org/drawingml/2006/main" noGrp="1"/>
          </p:cNvSpPr>
          <p:nvPr/>
        </p:nvSpPr>
        <p:spPr>
          <a:xfrm xmlns:a="http://schemas.openxmlformats.org/drawingml/2006/main">
            <a:off x="3840480" y="5157216"/>
            <a:ext cx="73152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0">
                <a:solidFill>
                  <a:srgbClr val="FFFFFF"/>
                </a:solidFill>
                <a:latin typeface="Consolas"/>
                <a:ea typeface="Consolas"/>
                <a:cs typeface="Consolas"/>
              </a:rPr>
              <a:t>basescan.org/tx/0xd3507c6e...412a4d8d</a:t>
            </a:r>
          </a:p>
        </p:txBody>
      </p:sp>
    </p:spTree>
    <p:extLst>
      <p:ext uri="{BB962C8B-B14F-4D97-AF65-F5344CB8AC3E}">
        <p14:creationId xmlns:p14="http://schemas.microsoft.com/office/powerpoint/2010/main" val="55267097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2026-08-13T20:17:37.5500000Z</dcterms:created>
  <dcterms:modified xsi:type="dcterms:W3CDTF">2026-08-13T20:17:37.5500000Z</dcterms:modified>
</coreProperties>
</file>