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[0:00-0:15]</a:t>
            </a:r>
          </a:p>
          <a:p>
            <a:r>
              <a:t>This is Blockmediary, from Team Transakt: a programmable documentary escrow for SME cross-border trade. In the next five minutes we'll show you the product working for real - settling an actual trade, with real money, on a public blockchain.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[0:15-0:50]</a:t>
            </a:r>
          </a:p>
          <a:p>
            <a:r>
              <a:t>When two businesses on different continents don't trust each other, the classic answer is a documentary Letter of Credit: a bank pays when shipping documents prove the goods moved. It works - but the paperwork behind a ten-thousand-dollar shipment costs a bank the same as behind a five-million-dollar one, so banks simply don't serve small traders. That's a two-and-a-half trillion dollar financing gap. Today an SME's real options are paying cash in advance and hoping - or walking away from the deal.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[0:50-1:25]</a:t>
            </a:r>
          </a:p>
          <a:p>
            <a:r>
              <a:t>Blockmediary takes the documentary credit process and rebuilds it as code. The buyer locks the exact payment in a smart-contract escrow - non-custodial, so we never hold the money. The seller ships and uploads the standard trade documents. Then a deterministic rules engine grades that pack: sixty-one checks against the agreed terms, grounded in UCP 600 - the same rulebook bank document examiners use. If the documents prove performance, the escrow releases. If they don't, it doesn't. Let us show you - and this is not a mock-up.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[1:25-3:25 - VOICEOVER FOR THE DEMO FOOTAGE]</a:t>
            </a:r>
          </a:p>
          <a:p>
            <a:r>
              <a:t>This is the live product. Two companies have agreed a trade - the terms are on screen: goods, amount, shipping deadline, ports.</a:t>
            </a:r>
          </a:p>
          <a:p>
            <a:r>
              <a:t>The buyer funds the deal from their own wallet. Watch the state change: the USDC is now locked in the escrow contract on Base - you can see the transaction hash the moment it lands.</a:t>
            </a:r>
          </a:p>
          <a:p>
            <a:r>
              <a:t>Now the seller's side: they submit the document pack - commercial invoice, packing list, bill of lading, certificate of origin, and the customs declarations for the corridor.</a:t>
            </a:r>
          </a:p>
          <a:p>
            <a:r>
              <a:t>The rules engine grades the pack instantly. Every check is listed - what passed, what it was checked against. A discrepant document fails loudly and names itself; a compliant pack opens the release.</a:t>
            </a:r>
          </a:p>
          <a:p>
            <a:r>
              <a:t>And here is the moment that matters: the verdict is recorded on-chain, and the escrow releases the funds to the seller. Every stage of this deal - agreement, funding, verdict, release - now links to its own transaction on BaseScan. This is an audit trail a regulator, or an investor, can check without trusting us.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[3:25-3:50]</a:t>
            </a:r>
          </a:p>
          <a:p>
            <a:r>
              <a:t>Everything you just watched settled for real. The deal ended in state Released: the seller was paid because the documents proved performance - not because anyone pressed an approve button. Agreement, funding, verdict and release each carry their own transaction hash, and that release transaction is on screen. Pause the video, type it into BaseScan, and check us. The brief said a hosted prototype wasn't expected - we went further: the rail already settles real value.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[3:50-4:15]</a:t>
            </a:r>
          </a:p>
          <a:p>
            <a:r>
              <a:t>Why hasn't someone done this? The funded players all stop one step short: Tazapay and XREX escrow the money but still release on buyer approval - the trust problem survives. Komgo serves banks, not SMEs. Contour raised eighteen million dollars from the biggest trade banks in the world and still shut down. Releasing on document compliance, priced for SMEs, is the seat left open - and unlike everyone on this slide, our version of it is already live and settling on a public chain.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[4:15-4:40]</a:t>
            </a:r>
          </a:p>
          <a:p>
            <a:r>
              <a:t>So where are we, honestly? Today: a working prototype that has settled real value - ahead of where a hackathon build needs to be. The plan from here is deliberately conservative: a paid, partner-led pilot in the DIFC at month twelve, first receipts the month after, and a full VARA licence targeted at month eighteen. The base case reaches one-point-three-seven million pounds of Year-3 revenue on two thousand deals - and monthly break-even in year four.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[4:40-4:52]</a:t>
            </a:r>
          </a:p>
          <a:p>
            <a:r>
              <a:t>The ask is three-point-one million pounds of operating funding, staged. Seventy percent goes to people and permission - the compliance, licensing and team that turn a working rail into a regulated business - because the hard engineering risk is already retired: you watched it settle.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[4:52-5:00]</a:t>
            </a:r>
          </a:p>
          <a:p>
            <a:r>
              <a:t>Blockmediary. The trust layer for global trade - already settling. Try the prototype, read the code, verify the transaction.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417320"/>
            <a:ext cx="502920" cy="31750"/>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54480"/>
            <a:ext cx="10545775" cy="365760"/>
          </a:xfrm>
          <a:prstGeom prst="rect">
            <a:avLst/>
          </a:prstGeom>
          <a:noFill/>
        </p:spPr>
        <p:txBody>
          <a:bodyPr wrap="square">
            <a:spAutoFit/>
          </a:bodyPr>
          <a:lstStyle/>
          <a:p>
            <a:pPr algn="l"/>
            <a:r>
              <a:rPr sz="1300" b="1" spc="300">
                <a:solidFill>
                  <a:srgbClr val="C77D18"/>
                </a:solidFill>
                <a:latin typeface="Aptos"/>
              </a:rPr>
              <a:t>TEAM TRANSAKT — BEEM063 FINTECH HACKATHON</a:t>
            </a:r>
          </a:p>
        </p:txBody>
      </p:sp>
      <p:sp>
        <p:nvSpPr>
          <p:cNvPr id="5" name="TextBox 4"/>
          <p:cNvSpPr txBox="1"/>
          <p:nvPr/>
        </p:nvSpPr>
        <p:spPr>
          <a:xfrm>
            <a:off x="822960" y="2057400"/>
            <a:ext cx="10545775" cy="1371600"/>
          </a:xfrm>
          <a:prstGeom prst="rect">
            <a:avLst/>
          </a:prstGeom>
          <a:noFill/>
        </p:spPr>
        <p:txBody>
          <a:bodyPr wrap="square">
            <a:spAutoFit/>
          </a:bodyPr>
          <a:lstStyle/>
          <a:p>
            <a:pPr algn="l"/>
            <a:r>
              <a:rPr sz="6600" b="1">
                <a:solidFill>
                  <a:srgbClr val="FFFFFF"/>
                </a:solidFill>
                <a:latin typeface="Aptos Display"/>
              </a:rPr>
              <a:t>Blockmediary</a:t>
            </a:r>
          </a:p>
        </p:txBody>
      </p:sp>
      <p:sp>
        <p:nvSpPr>
          <p:cNvPr id="6" name="TextBox 5"/>
          <p:cNvSpPr txBox="1"/>
          <p:nvPr/>
        </p:nvSpPr>
        <p:spPr>
          <a:xfrm>
            <a:off x="822960" y="3246120"/>
            <a:ext cx="9997135" cy="822960"/>
          </a:xfrm>
          <a:prstGeom prst="rect">
            <a:avLst/>
          </a:prstGeom>
          <a:noFill/>
        </p:spPr>
        <p:txBody>
          <a:bodyPr wrap="square">
            <a:spAutoFit/>
          </a:bodyPr>
          <a:lstStyle/>
          <a:p>
            <a:pPr algn="l"/>
            <a:r>
              <a:rPr sz="2200" b="0">
                <a:solidFill>
                  <a:srgbClr val="F5E2C5"/>
                </a:solidFill>
                <a:latin typeface="Aptos"/>
              </a:rPr>
              <a:t>Programmable documentary escrow for SME cross-border trade.</a:t>
            </a:r>
          </a:p>
        </p:txBody>
      </p:sp>
      <p:sp>
        <p:nvSpPr>
          <p:cNvPr id="7" name="TextBox 6"/>
          <p:cNvSpPr txBox="1"/>
          <p:nvPr/>
        </p:nvSpPr>
        <p:spPr>
          <a:xfrm>
            <a:off x="822960" y="3886200"/>
            <a:ext cx="9997135" cy="548640"/>
          </a:xfrm>
          <a:prstGeom prst="rect">
            <a:avLst/>
          </a:prstGeom>
          <a:noFill/>
        </p:spPr>
        <p:txBody>
          <a:bodyPr wrap="square">
            <a:spAutoFit/>
          </a:bodyPr>
          <a:lstStyle/>
          <a:p>
            <a:pPr algn="l"/>
            <a:r>
              <a:rPr sz="1500" b="0">
                <a:solidFill>
                  <a:srgbClr val="9CA6B8"/>
                </a:solidFill>
                <a:latin typeface="Aptos"/>
              </a:rPr>
              <a:t>Build the trust layer for global trade.</a:t>
            </a:r>
          </a:p>
        </p:txBody>
      </p:sp>
      <p:sp>
        <p:nvSpPr>
          <p:cNvPr id="8" name="TextBox 7"/>
          <p:cNvSpPr txBox="1"/>
          <p:nvPr/>
        </p:nvSpPr>
        <p:spPr>
          <a:xfrm>
            <a:off x="822960" y="5943600"/>
            <a:ext cx="5029200" cy="457200"/>
          </a:xfrm>
          <a:prstGeom prst="rect">
            <a:avLst/>
          </a:prstGeom>
          <a:noFill/>
        </p:spPr>
        <p:txBody>
          <a:bodyPr wrap="square">
            <a:spAutoFit/>
          </a:bodyPr>
          <a:lstStyle/>
          <a:p>
            <a:pPr algn="l"/>
            <a:r>
              <a:rPr sz="1200" b="0">
                <a:solidFill>
                  <a:srgbClr val="9CA6B8"/>
                </a:solidFill>
                <a:latin typeface="Aptos"/>
              </a:rPr>
              <a:t>University of Exeter  ·  MSc FinTech  ·  August 2026</a:t>
            </a:r>
          </a:p>
        </p:txBody>
      </p:sp>
      <p:sp>
        <p:nvSpPr>
          <p:cNvPr id="9" name="TextBox 8"/>
          <p:cNvSpPr txBox="1"/>
          <p:nvPr/>
        </p:nvSpPr>
        <p:spPr>
          <a:xfrm>
            <a:off x="7253935" y="5943600"/>
            <a:ext cx="4114800" cy="457200"/>
          </a:xfrm>
          <a:prstGeom prst="rect">
            <a:avLst/>
          </a:prstGeom>
          <a:noFill/>
        </p:spPr>
        <p:txBody>
          <a:bodyPr wrap="square">
            <a:spAutoFit/>
          </a:bodyPr>
          <a:lstStyle/>
          <a:p>
            <a:pPr algn="r"/>
            <a:r>
              <a:rPr sz="1200" b="1">
                <a:solidFill>
                  <a:srgbClr val="C77D18"/>
                </a:solidFill>
                <a:latin typeface="Aptos"/>
              </a:rPr>
              <a:t>Live on Base  ·  settled in USDC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9768"/>
            <a:ext cx="88900" cy="889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01752"/>
            <a:ext cx="8229600" cy="365760"/>
          </a:xfrm>
          <a:prstGeom prst="rect">
            <a:avLst/>
          </a:prstGeom>
          <a:noFill/>
        </p:spPr>
        <p:txBody>
          <a:bodyPr wrap="square">
            <a:spAutoFit/>
          </a:bodyPr>
          <a:lstStyle/>
          <a:p>
            <a:pPr algn="l"/>
            <a:r>
              <a:rPr sz="1100" b="1" spc="280">
                <a:solidFill>
                  <a:srgbClr val="0B1B3A"/>
                </a:solidFill>
                <a:latin typeface="Aptos"/>
              </a:rPr>
              <a:t>PROBLEM</a:t>
            </a:r>
          </a:p>
        </p:txBody>
      </p:sp>
      <p:sp>
        <p:nvSpPr>
          <p:cNvPr id="5" name="TextBox 4"/>
          <p:cNvSpPr txBox="1"/>
          <p:nvPr/>
        </p:nvSpPr>
        <p:spPr>
          <a:xfrm>
            <a:off x="502920" y="685800"/>
            <a:ext cx="10728655" cy="1051560"/>
          </a:xfrm>
          <a:prstGeom prst="rect">
            <a:avLst/>
          </a:prstGeom>
          <a:noFill/>
        </p:spPr>
        <p:txBody>
          <a:bodyPr wrap="square">
            <a:spAutoFit/>
          </a:bodyPr>
          <a:lstStyle/>
          <a:p>
            <a:pPr algn="l">
              <a:lnSpc>
                <a:spcPct val="102000"/>
              </a:lnSpc>
            </a:pPr>
            <a:r>
              <a:rPr sz="3000" b="1">
                <a:solidFill>
                  <a:srgbClr val="0B1B3A"/>
                </a:solidFill>
                <a:latin typeface="Aptos Display"/>
              </a:rPr>
              <a:t>SMEs are priced out of the instrument that made global trade work.</a:t>
            </a:r>
          </a:p>
        </p:txBody>
      </p:sp>
      <p:sp>
        <p:nvSpPr>
          <p:cNvPr id="6" name="TextBox 5"/>
          <p:cNvSpPr txBox="1"/>
          <p:nvPr/>
        </p:nvSpPr>
        <p:spPr>
          <a:xfrm>
            <a:off x="502920" y="1645920"/>
            <a:ext cx="10728655" cy="457200"/>
          </a:xfrm>
          <a:prstGeom prst="rect">
            <a:avLst/>
          </a:prstGeom>
          <a:noFill/>
        </p:spPr>
        <p:txBody>
          <a:bodyPr wrap="square">
            <a:spAutoFit/>
          </a:bodyPr>
          <a:lstStyle/>
          <a:p>
            <a:pPr algn="l"/>
            <a:r>
              <a:rPr sz="1400" b="0">
                <a:solidFill>
                  <a:srgbClr val="6B7280"/>
                </a:solidFill>
                <a:latin typeface="Aptos"/>
              </a:rPr>
              <a:t>Documentary credit solved trust in trade. But the same KYB, sanctions, document examination and capital work sits behind a $10K shipment and a $5M shipment - so banks choose the economics.</a:t>
            </a:r>
          </a:p>
        </p:txBody>
      </p:sp>
      <p:sp>
        <p:nvSpPr>
          <p:cNvPr id="7" name="Rectangle 6"/>
          <p:cNvSpPr/>
          <p:nvPr/>
        </p:nvSpPr>
        <p:spPr>
          <a:xfrm>
            <a:off x="502920" y="2743200"/>
            <a:ext cx="3566160" cy="137160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743200"/>
            <a:ext cx="44450" cy="1371600"/>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871216"/>
            <a:ext cx="3246120" cy="1143000"/>
          </a:xfrm>
          <a:prstGeom prst="rect">
            <a:avLst/>
          </a:prstGeom>
          <a:noFill/>
        </p:spPr>
        <p:txBody>
          <a:bodyPr wrap="square">
            <a:spAutoFit/>
          </a:bodyPr>
          <a:lstStyle/>
          <a:p>
            <a:pPr algn="l"/>
            <a:r>
              <a:rPr sz="2100" b="1">
                <a:solidFill>
                  <a:srgbClr val="0B1B3A"/>
                </a:solidFill>
                <a:latin typeface="Aptos"/>
              </a:rPr>
              <a:t>$2.5T</a:t>
            </a:r>
          </a:p>
          <a:p>
            <a:pPr algn="l"/>
            <a:r>
              <a:rPr sz="1150" b="1">
                <a:solidFill>
                  <a:srgbClr val="0B1B3A"/>
                </a:solidFill>
                <a:latin typeface="Aptos"/>
              </a:rPr>
              <a:t>global SME trade finance gap</a:t>
            </a:r>
          </a:p>
          <a:p>
            <a:pPr algn="l"/>
            <a:r>
              <a:rPr sz="950" b="0">
                <a:solidFill>
                  <a:srgbClr val="6B7280"/>
                </a:solidFill>
                <a:latin typeface="Aptos"/>
              </a:rPr>
              <a:t>unmet demand for trade credit</a:t>
            </a:r>
          </a:p>
        </p:txBody>
      </p:sp>
      <p:sp>
        <p:nvSpPr>
          <p:cNvPr id="10" name="Rectangle 9"/>
          <p:cNvSpPr/>
          <p:nvPr/>
        </p:nvSpPr>
        <p:spPr>
          <a:xfrm>
            <a:off x="4297680" y="2743200"/>
            <a:ext cx="3566160" cy="137160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2743200"/>
            <a:ext cx="44450" cy="1371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2871216"/>
            <a:ext cx="3246120" cy="1143000"/>
          </a:xfrm>
          <a:prstGeom prst="rect">
            <a:avLst/>
          </a:prstGeom>
          <a:noFill/>
        </p:spPr>
        <p:txBody>
          <a:bodyPr wrap="square">
            <a:spAutoFit/>
          </a:bodyPr>
          <a:lstStyle/>
          <a:p>
            <a:pPr algn="l"/>
            <a:r>
              <a:rPr sz="2100" b="1">
                <a:solidFill>
                  <a:srgbClr val="0B1B3A"/>
                </a:solidFill>
                <a:latin typeface="Aptos"/>
              </a:rPr>
              <a:t>1-3% + weeks</a:t>
            </a:r>
          </a:p>
          <a:p>
            <a:pPr algn="l"/>
            <a:r>
              <a:rPr sz="1150" b="1">
                <a:solidFill>
                  <a:srgbClr val="0B1B3A"/>
                </a:solidFill>
                <a:latin typeface="Aptos"/>
              </a:rPr>
              <a:t>the cost of a Letter of Credit</a:t>
            </a:r>
          </a:p>
          <a:p>
            <a:pPr algn="l"/>
            <a:r>
              <a:rPr sz="950" b="0">
                <a:solidFill>
                  <a:srgbClr val="6B7280"/>
                </a:solidFill>
                <a:latin typeface="Aptos"/>
              </a:rPr>
              <a:t>when a bank will issue one at all</a:t>
            </a:r>
          </a:p>
        </p:txBody>
      </p:sp>
      <p:sp>
        <p:nvSpPr>
          <p:cNvPr id="13" name="Rectangle 12"/>
          <p:cNvSpPr/>
          <p:nvPr/>
        </p:nvSpPr>
        <p:spPr>
          <a:xfrm>
            <a:off x="8092440" y="2743200"/>
            <a:ext cx="3566160" cy="137160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2743200"/>
            <a:ext cx="44450" cy="1371600"/>
          </a:xfrm>
          <a:prstGeom prst="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2" y="2871216"/>
            <a:ext cx="3246120" cy="1143000"/>
          </a:xfrm>
          <a:prstGeom prst="rect">
            <a:avLst/>
          </a:prstGeom>
          <a:noFill/>
        </p:spPr>
        <p:txBody>
          <a:bodyPr wrap="square">
            <a:spAutoFit/>
          </a:bodyPr>
          <a:lstStyle/>
          <a:p>
            <a:pPr algn="l"/>
            <a:r>
              <a:rPr sz="2100" b="1">
                <a:solidFill>
                  <a:srgbClr val="0B1B3A"/>
                </a:solidFill>
                <a:latin typeface="Aptos"/>
              </a:rPr>
              <a:t>Cash in advance</a:t>
            </a:r>
          </a:p>
          <a:p>
            <a:pPr algn="l"/>
            <a:r>
              <a:rPr sz="1150" b="1">
                <a:solidFill>
                  <a:srgbClr val="0B1B3A"/>
                </a:solidFill>
                <a:latin typeface="Aptos"/>
              </a:rPr>
              <a:t>the SME default today</a:t>
            </a:r>
          </a:p>
          <a:p>
            <a:pPr algn="l"/>
            <a:r>
              <a:rPr sz="950" b="0">
                <a:solidFill>
                  <a:srgbClr val="6B7280"/>
                </a:solidFill>
                <a:latin typeface="Aptos"/>
              </a:rPr>
              <a:t>full buyer risk, or the deal dies</a:t>
            </a:r>
          </a:p>
        </p:txBody>
      </p:sp>
      <p:sp>
        <p:nvSpPr>
          <p:cNvPr id="16" name="TextBox 15"/>
          <p:cNvSpPr txBox="1"/>
          <p:nvPr/>
        </p:nvSpPr>
        <p:spPr>
          <a:xfrm>
            <a:off x="502920" y="4663440"/>
            <a:ext cx="10728655" cy="548640"/>
          </a:xfrm>
          <a:prstGeom prst="rect">
            <a:avLst/>
          </a:prstGeom>
          <a:noFill/>
        </p:spPr>
        <p:txBody>
          <a:bodyPr wrap="square">
            <a:spAutoFit/>
          </a:bodyPr>
          <a:lstStyle/>
          <a:p>
            <a:pPr algn="l"/>
            <a:r>
              <a:rPr sz="1400" b="1">
                <a:solidFill>
                  <a:srgbClr val="0B1B3A"/>
                </a:solidFill>
                <a:latin typeface="Aptos"/>
              </a:rPr>
              <a:t>Result: low-value cross-border trade runs on informal trust, prepayment - or never happens at all.</a:t>
            </a:r>
          </a:p>
        </p:txBody>
      </p:sp>
      <p:sp>
        <p:nvSpPr>
          <p:cNvPr id="17" name="TextBox 16"/>
          <p:cNvSpPr txBox="1"/>
          <p:nvPr/>
        </p:nvSpPr>
        <p:spPr>
          <a:xfrm>
            <a:off x="11505895" y="6400800"/>
            <a:ext cx="365760" cy="274320"/>
          </a:xfrm>
          <a:prstGeom prst="rect">
            <a:avLst/>
          </a:prstGeom>
          <a:noFill/>
        </p:spPr>
        <p:txBody>
          <a:bodyPr wrap="square">
            <a:spAutoFit/>
          </a:bodyPr>
          <a:lstStyle/>
          <a:p>
            <a:pPr algn="r"/>
            <a:r>
              <a:rPr sz="900" b="0">
                <a:solidFill>
                  <a:srgbClr val="6B7280"/>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9768"/>
            <a:ext cx="88900" cy="889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01752"/>
            <a:ext cx="8229600" cy="365760"/>
          </a:xfrm>
          <a:prstGeom prst="rect">
            <a:avLst/>
          </a:prstGeom>
          <a:noFill/>
        </p:spPr>
        <p:txBody>
          <a:bodyPr wrap="square">
            <a:spAutoFit/>
          </a:bodyPr>
          <a:lstStyle/>
          <a:p>
            <a:pPr algn="l"/>
            <a:r>
              <a:rPr sz="1100" b="1" spc="280">
                <a:solidFill>
                  <a:srgbClr val="0B1B3A"/>
                </a:solidFill>
                <a:latin typeface="Aptos"/>
              </a:rPr>
              <a:t>SOLUTION</a:t>
            </a:r>
          </a:p>
        </p:txBody>
      </p:sp>
      <p:sp>
        <p:nvSpPr>
          <p:cNvPr id="5" name="TextBox 4"/>
          <p:cNvSpPr txBox="1"/>
          <p:nvPr/>
        </p:nvSpPr>
        <p:spPr>
          <a:xfrm>
            <a:off x="502920" y="685800"/>
            <a:ext cx="10728655" cy="1051560"/>
          </a:xfrm>
          <a:prstGeom prst="rect">
            <a:avLst/>
          </a:prstGeom>
          <a:noFill/>
        </p:spPr>
        <p:txBody>
          <a:bodyPr wrap="square">
            <a:spAutoFit/>
          </a:bodyPr>
          <a:lstStyle/>
          <a:p>
            <a:pPr algn="l">
              <a:lnSpc>
                <a:spcPct val="102000"/>
              </a:lnSpc>
            </a:pPr>
            <a:r>
              <a:rPr sz="3000" b="1">
                <a:solidFill>
                  <a:srgbClr val="0B1B3A"/>
                </a:solidFill>
                <a:latin typeface="Aptos Display"/>
              </a:rPr>
              <a:t>The Letter of Credit, rebuilt as a programmable escrow.</a:t>
            </a:r>
          </a:p>
        </p:txBody>
      </p:sp>
      <p:sp>
        <p:nvSpPr>
          <p:cNvPr id="6" name="TextBox 5"/>
          <p:cNvSpPr txBox="1"/>
          <p:nvPr/>
        </p:nvSpPr>
        <p:spPr>
          <a:xfrm>
            <a:off x="502920" y="1828800"/>
            <a:ext cx="10728655" cy="457200"/>
          </a:xfrm>
          <a:prstGeom prst="rect">
            <a:avLst/>
          </a:prstGeom>
          <a:noFill/>
        </p:spPr>
        <p:txBody>
          <a:bodyPr wrap="square">
            <a:spAutoFit/>
          </a:bodyPr>
          <a:lstStyle/>
          <a:p>
            <a:pPr algn="l"/>
            <a:r>
              <a:rPr sz="1400" b="0">
                <a:solidFill>
                  <a:srgbClr val="6B7280"/>
                </a:solidFill>
                <a:latin typeface="Aptos"/>
              </a:rPr>
              <a:t>Funds sit in a non-custodial smart contract. Documents are graded by a deterministic rules engine. Money moves on proof, not on promises.</a:t>
            </a:r>
          </a:p>
        </p:txBody>
      </p:sp>
      <p:sp>
        <p:nvSpPr>
          <p:cNvPr id="7" name="Rectangle 6"/>
          <p:cNvSpPr/>
          <p:nvPr/>
        </p:nvSpPr>
        <p:spPr>
          <a:xfrm>
            <a:off x="502920" y="2468880"/>
            <a:ext cx="3566160" cy="237744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468880"/>
            <a:ext cx="3566160" cy="44450"/>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633472"/>
            <a:ext cx="3200400" cy="2011680"/>
          </a:xfrm>
          <a:prstGeom prst="rect">
            <a:avLst/>
          </a:prstGeom>
          <a:noFill/>
        </p:spPr>
        <p:txBody>
          <a:bodyPr wrap="square">
            <a:spAutoFit/>
          </a:bodyPr>
          <a:lstStyle/>
          <a:p>
            <a:pPr algn="l">
              <a:lnSpc>
                <a:spcPct val="110000"/>
              </a:lnSpc>
            </a:pPr>
            <a:r>
              <a:rPr sz="1500" b="1">
                <a:solidFill>
                  <a:srgbClr val="C77D18"/>
                </a:solidFill>
                <a:latin typeface="Aptos"/>
              </a:rPr>
              <a:t>01  </a:t>
            </a:r>
            <a:r>
              <a:rPr sz="1450" b="1">
                <a:solidFill>
                  <a:srgbClr val="0B1B3A"/>
                </a:solidFill>
                <a:latin typeface="Aptos"/>
              </a:rPr>
              <a:t>Buyer locks USDC</a:t>
            </a:r>
          </a:p>
          <a:p>
            <a:pPr algn="l">
              <a:lnSpc>
                <a:spcPct val="110000"/>
              </a:lnSpc>
            </a:pPr>
            <a:r>
              <a:rPr sz="400" b="0">
                <a:solidFill>
                  <a:srgbClr val="0B1B3A"/>
                </a:solidFill>
                <a:latin typeface="Aptos"/>
              </a:rPr>
              <a:t/>
            </a:r>
          </a:p>
          <a:p>
            <a:pPr algn="l">
              <a:lnSpc>
                <a:spcPct val="110000"/>
              </a:lnSpc>
            </a:pPr>
            <a:r>
              <a:rPr sz="1100" b="0">
                <a:solidFill>
                  <a:srgbClr val="6B7280"/>
                </a:solidFill>
                <a:latin typeface="Aptos"/>
              </a:rPr>
              <a:t>The exact amount, held by the contract - not by us. Nobody can spend it; it can only release to the seller or refund to the buyer.</a:t>
            </a:r>
          </a:p>
        </p:txBody>
      </p:sp>
      <p:sp>
        <p:nvSpPr>
          <p:cNvPr id="10" name="Rectangle 9"/>
          <p:cNvSpPr/>
          <p:nvPr/>
        </p:nvSpPr>
        <p:spPr>
          <a:xfrm>
            <a:off x="4297680" y="2468880"/>
            <a:ext cx="3566160" cy="237744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2468880"/>
            <a:ext cx="3566160" cy="4445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2633472"/>
            <a:ext cx="3200400" cy="2011680"/>
          </a:xfrm>
          <a:prstGeom prst="rect">
            <a:avLst/>
          </a:prstGeom>
          <a:noFill/>
        </p:spPr>
        <p:txBody>
          <a:bodyPr wrap="square">
            <a:spAutoFit/>
          </a:bodyPr>
          <a:lstStyle/>
          <a:p>
            <a:pPr algn="l">
              <a:lnSpc>
                <a:spcPct val="110000"/>
              </a:lnSpc>
            </a:pPr>
            <a:r>
              <a:rPr sz="1500" b="1">
                <a:solidFill>
                  <a:srgbClr val="156082"/>
                </a:solidFill>
                <a:latin typeface="Aptos"/>
              </a:rPr>
              <a:t>02  </a:t>
            </a:r>
            <a:r>
              <a:rPr sz="1450" b="1">
                <a:solidFill>
                  <a:srgbClr val="0B1B3A"/>
                </a:solidFill>
                <a:latin typeface="Aptos"/>
              </a:rPr>
              <a:t>Seller ships &amp; uploads</a:t>
            </a:r>
          </a:p>
          <a:p>
            <a:pPr algn="l">
              <a:lnSpc>
                <a:spcPct val="110000"/>
              </a:lnSpc>
            </a:pPr>
            <a:r>
              <a:rPr sz="400" b="0">
                <a:solidFill>
                  <a:srgbClr val="0B1B3A"/>
                </a:solidFill>
                <a:latin typeface="Aptos"/>
              </a:rPr>
              <a:t/>
            </a:r>
          </a:p>
          <a:p>
            <a:pPr algn="l">
              <a:lnSpc>
                <a:spcPct val="110000"/>
              </a:lnSpc>
            </a:pPr>
            <a:r>
              <a:rPr sz="1100" b="0">
                <a:solidFill>
                  <a:srgbClr val="6B7280"/>
                </a:solidFill>
                <a:latin typeface="Aptos"/>
              </a:rPr>
              <a:t>The trade document pack: invoice, packing list, bill of lading, certificate of origin, customs declarations.</a:t>
            </a:r>
          </a:p>
        </p:txBody>
      </p:sp>
      <p:sp>
        <p:nvSpPr>
          <p:cNvPr id="13" name="Rectangle 12"/>
          <p:cNvSpPr/>
          <p:nvPr/>
        </p:nvSpPr>
        <p:spPr>
          <a:xfrm>
            <a:off x="8092440" y="2468880"/>
            <a:ext cx="3566160" cy="237744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2468880"/>
            <a:ext cx="3566160" cy="44450"/>
          </a:xfrm>
          <a:prstGeom prst="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75320" y="2633472"/>
            <a:ext cx="3200400" cy="2011680"/>
          </a:xfrm>
          <a:prstGeom prst="rect">
            <a:avLst/>
          </a:prstGeom>
          <a:noFill/>
        </p:spPr>
        <p:txBody>
          <a:bodyPr wrap="square">
            <a:spAutoFit/>
          </a:bodyPr>
          <a:lstStyle/>
          <a:p>
            <a:pPr algn="l">
              <a:lnSpc>
                <a:spcPct val="110000"/>
              </a:lnSpc>
            </a:pPr>
            <a:r>
              <a:rPr sz="1500" b="1">
                <a:solidFill>
                  <a:srgbClr val="0E8C7F"/>
                </a:solidFill>
                <a:latin typeface="Aptos"/>
              </a:rPr>
              <a:t>03  </a:t>
            </a:r>
            <a:r>
              <a:rPr sz="1450" b="1">
                <a:solidFill>
                  <a:srgbClr val="0B1B3A"/>
                </a:solidFill>
                <a:latin typeface="Aptos"/>
              </a:rPr>
              <a:t>Engine grades, escrow pays</a:t>
            </a:r>
          </a:p>
          <a:p>
            <a:pPr algn="l">
              <a:lnSpc>
                <a:spcPct val="110000"/>
              </a:lnSpc>
            </a:pPr>
            <a:r>
              <a:rPr sz="400" b="0">
                <a:solidFill>
                  <a:srgbClr val="0B1B3A"/>
                </a:solidFill>
                <a:latin typeface="Aptos"/>
              </a:rPr>
              <a:t/>
            </a:r>
          </a:p>
          <a:p>
            <a:pPr algn="l">
              <a:lnSpc>
                <a:spcPct val="110000"/>
              </a:lnSpc>
            </a:pPr>
            <a:r>
              <a:rPr sz="1100" b="0">
                <a:solidFill>
                  <a:srgbClr val="6B7280"/>
                </a:solidFill>
                <a:latin typeface="Aptos"/>
              </a:rPr>
              <a:t>61 deterministic checks against the agreed terms - grounded in UCP 600, the same rulebook banks use. Compliant pack, funds release.</a:t>
            </a:r>
          </a:p>
        </p:txBody>
      </p:sp>
      <p:sp>
        <p:nvSpPr>
          <p:cNvPr id="16" name="TextBox 15"/>
          <p:cNvSpPr txBox="1"/>
          <p:nvPr/>
        </p:nvSpPr>
        <p:spPr>
          <a:xfrm>
            <a:off x="502920" y="5029200"/>
            <a:ext cx="10728655" cy="548640"/>
          </a:xfrm>
          <a:prstGeom prst="rect">
            <a:avLst/>
          </a:prstGeom>
          <a:noFill/>
        </p:spPr>
        <p:txBody>
          <a:bodyPr wrap="square">
            <a:spAutoFit/>
          </a:bodyPr>
          <a:lstStyle/>
          <a:p>
            <a:pPr algn="l"/>
            <a:r>
              <a:rPr sz="1400" b="1">
                <a:solidFill>
                  <a:srgbClr val="0B1B3A"/>
                </a:solidFill>
                <a:latin typeface="Aptos"/>
              </a:rPr>
              <a:t>Release on document proof - not on buyer approval. No bank, no discretion, no 90-day wait.</a:t>
            </a:r>
          </a:p>
        </p:txBody>
      </p:sp>
      <p:sp>
        <p:nvSpPr>
          <p:cNvPr id="17" name="TextBox 16"/>
          <p:cNvSpPr txBox="1"/>
          <p:nvPr/>
        </p:nvSpPr>
        <p:spPr>
          <a:xfrm>
            <a:off x="11505895" y="6400800"/>
            <a:ext cx="365760" cy="274320"/>
          </a:xfrm>
          <a:prstGeom prst="rect">
            <a:avLst/>
          </a:prstGeom>
          <a:noFill/>
        </p:spPr>
        <p:txBody>
          <a:bodyPr wrap="square">
            <a:spAutoFit/>
          </a:bodyPr>
          <a:lstStyle/>
          <a:p>
            <a:pPr algn="r"/>
            <a:r>
              <a:rPr sz="900" b="0">
                <a:solidFill>
                  <a:srgbClr val="6B7280"/>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103120"/>
            <a:ext cx="10545775" cy="914400"/>
          </a:xfrm>
          <a:prstGeom prst="rect">
            <a:avLst/>
          </a:prstGeom>
          <a:noFill/>
        </p:spPr>
        <p:txBody>
          <a:bodyPr wrap="square">
            <a:spAutoFit/>
          </a:bodyPr>
          <a:lstStyle/>
          <a:p>
            <a:pPr algn="l"/>
            <a:r>
              <a:rPr sz="5400" b="1">
                <a:solidFill>
                  <a:srgbClr val="FFFFFF"/>
                </a:solidFill>
                <a:latin typeface="Aptos Display"/>
              </a:rPr>
              <a:t>LIVE DEMO</a:t>
            </a:r>
          </a:p>
        </p:txBody>
      </p:sp>
      <p:sp>
        <p:nvSpPr>
          <p:cNvPr id="4" name="TextBox 3"/>
          <p:cNvSpPr txBox="1"/>
          <p:nvPr/>
        </p:nvSpPr>
        <p:spPr>
          <a:xfrm>
            <a:off x="822960" y="3200400"/>
            <a:ext cx="10545775" cy="548640"/>
          </a:xfrm>
          <a:prstGeom prst="rect">
            <a:avLst/>
          </a:prstGeom>
          <a:noFill/>
        </p:spPr>
        <p:txBody>
          <a:bodyPr wrap="square">
            <a:spAutoFit/>
          </a:bodyPr>
          <a:lstStyle/>
          <a:p>
            <a:pPr algn="l"/>
            <a:r>
              <a:rPr sz="1800" b="1">
                <a:solidFill>
                  <a:srgbClr val="C77D18"/>
                </a:solidFill>
                <a:latin typeface="Aptos"/>
              </a:rPr>
              <a:t>Recorded on Base Mainnet - real USDC, no simulation.</a:t>
            </a:r>
          </a:p>
        </p:txBody>
      </p:sp>
      <p:sp>
        <p:nvSpPr>
          <p:cNvPr id="5" name="TextBox 4"/>
          <p:cNvSpPr txBox="1"/>
          <p:nvPr/>
        </p:nvSpPr>
        <p:spPr>
          <a:xfrm>
            <a:off x="822960" y="5120640"/>
            <a:ext cx="10545775" cy="822960"/>
          </a:xfrm>
          <a:prstGeom prst="rect">
            <a:avLst/>
          </a:prstGeom>
          <a:noFill/>
        </p:spPr>
        <p:txBody>
          <a:bodyPr wrap="square">
            <a:spAutoFit/>
          </a:bodyPr>
          <a:lstStyle/>
          <a:p>
            <a:pPr algn="l"/>
            <a:r>
              <a:rPr sz="1400" b="0" spc="200">
                <a:solidFill>
                  <a:srgbClr val="9CA6B8"/>
                </a:solidFill>
                <a:latin typeface="Aptos"/>
              </a:rPr>
              <a:t>[ DROP DEMO RECORDING HERE - approx. 2:00 ]</a:t>
            </a:r>
          </a:p>
          <a:p>
            <a:pPr algn="l"/>
            <a:r>
              <a:rPr sz="1100" b="0">
                <a:solidFill>
                  <a:srgbClr val="9CA6B8"/>
                </a:solidFill>
                <a:latin typeface="Aptos"/>
              </a:rPr>
              <a:t>Suggested cut: dashboard -&gt; agreed deal -&gt; buyer funds from own wallet -&gt; seller submits documents -&gt; verdict -&gt; release -&gt; BaseScan.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9768"/>
            <a:ext cx="88900" cy="889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01752"/>
            <a:ext cx="8229600" cy="365760"/>
          </a:xfrm>
          <a:prstGeom prst="rect">
            <a:avLst/>
          </a:prstGeom>
          <a:noFill/>
        </p:spPr>
        <p:txBody>
          <a:bodyPr wrap="square">
            <a:spAutoFit/>
          </a:bodyPr>
          <a:lstStyle/>
          <a:p>
            <a:pPr algn="l"/>
            <a:r>
              <a:rPr sz="1100" b="1" spc="280">
                <a:solidFill>
                  <a:srgbClr val="0B1B3A"/>
                </a:solidFill>
                <a:latin typeface="Aptos"/>
              </a:rPr>
              <a:t>PROOF</a:t>
            </a:r>
          </a:p>
        </p:txBody>
      </p:sp>
      <p:sp>
        <p:nvSpPr>
          <p:cNvPr id="5" name="TextBox 4"/>
          <p:cNvSpPr txBox="1"/>
          <p:nvPr/>
        </p:nvSpPr>
        <p:spPr>
          <a:xfrm>
            <a:off x="502920" y="685800"/>
            <a:ext cx="10728655" cy="1051560"/>
          </a:xfrm>
          <a:prstGeom prst="rect">
            <a:avLst/>
          </a:prstGeom>
          <a:noFill/>
        </p:spPr>
        <p:txBody>
          <a:bodyPr wrap="square">
            <a:spAutoFit/>
          </a:bodyPr>
          <a:lstStyle/>
          <a:p>
            <a:pPr algn="l">
              <a:lnSpc>
                <a:spcPct val="102000"/>
              </a:lnSpc>
            </a:pPr>
            <a:r>
              <a:rPr sz="3000" b="1">
                <a:solidFill>
                  <a:srgbClr val="0B1B3A"/>
                </a:solidFill>
                <a:latin typeface="Aptos Display"/>
              </a:rPr>
              <a:t>That was real money, on a public chain.</a:t>
            </a:r>
          </a:p>
        </p:txBody>
      </p:sp>
      <p:sp>
        <p:nvSpPr>
          <p:cNvPr id="6" name="TextBox 5"/>
          <p:cNvSpPr txBox="1"/>
          <p:nvPr/>
        </p:nvSpPr>
        <p:spPr>
          <a:xfrm>
            <a:off x="502920" y="1554480"/>
            <a:ext cx="10728655" cy="457200"/>
          </a:xfrm>
          <a:prstGeom prst="rect">
            <a:avLst/>
          </a:prstGeom>
          <a:noFill/>
        </p:spPr>
        <p:txBody>
          <a:bodyPr wrap="square">
            <a:spAutoFit/>
          </a:bodyPr>
          <a:lstStyle/>
          <a:p>
            <a:pPr algn="l"/>
            <a:r>
              <a:rPr sz="1400" b="0">
                <a:solidFill>
                  <a:srgbClr val="6B7280"/>
                </a:solidFill>
                <a:latin typeface="Aptos"/>
              </a:rPr>
              <a:t>Not a testnet run and not a simulation: an end-to-end documentary settlement executed on Base Mainnet, August 2026.</a:t>
            </a:r>
          </a:p>
        </p:txBody>
      </p:sp>
      <p:sp>
        <p:nvSpPr>
          <p:cNvPr id="7" name="Rectangle 6"/>
          <p:cNvSpPr/>
          <p:nvPr/>
        </p:nvSpPr>
        <p:spPr>
          <a:xfrm>
            <a:off x="502920" y="2377440"/>
            <a:ext cx="3566160" cy="137160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377440"/>
            <a:ext cx="44450" cy="13716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2505456"/>
            <a:ext cx="3246120" cy="1143000"/>
          </a:xfrm>
          <a:prstGeom prst="rect">
            <a:avLst/>
          </a:prstGeom>
          <a:noFill/>
        </p:spPr>
        <p:txBody>
          <a:bodyPr wrap="square">
            <a:spAutoFit/>
          </a:bodyPr>
          <a:lstStyle/>
          <a:p>
            <a:pPr algn="l"/>
            <a:r>
              <a:rPr sz="2100" b="1">
                <a:solidFill>
                  <a:srgbClr val="0B1B3A"/>
                </a:solidFill>
                <a:latin typeface="Aptos"/>
              </a:rPr>
              <a:t>Released</a:t>
            </a:r>
          </a:p>
          <a:p>
            <a:pPr algn="l"/>
            <a:r>
              <a:rPr sz="1150" b="1">
                <a:solidFill>
                  <a:srgbClr val="0B1B3A"/>
                </a:solidFill>
                <a:latin typeface="Aptos"/>
              </a:rPr>
              <a:t>final state of the deal</a:t>
            </a:r>
          </a:p>
          <a:p>
            <a:pPr algn="l"/>
            <a:r>
              <a:rPr sz="950" b="0">
                <a:solidFill>
                  <a:srgbClr val="6B7280"/>
                </a:solidFill>
                <a:latin typeface="Aptos"/>
              </a:rPr>
              <a:t>funds paid to the seller on document proof</a:t>
            </a:r>
          </a:p>
        </p:txBody>
      </p:sp>
      <p:sp>
        <p:nvSpPr>
          <p:cNvPr id="10" name="Rectangle 9"/>
          <p:cNvSpPr/>
          <p:nvPr/>
        </p:nvSpPr>
        <p:spPr>
          <a:xfrm>
            <a:off x="4297680" y="2377440"/>
            <a:ext cx="3566160" cy="137160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2377440"/>
            <a:ext cx="44450" cy="1371600"/>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62272" y="2505456"/>
            <a:ext cx="3246120" cy="1143000"/>
          </a:xfrm>
          <a:prstGeom prst="rect">
            <a:avLst/>
          </a:prstGeom>
          <a:noFill/>
        </p:spPr>
        <p:txBody>
          <a:bodyPr wrap="square">
            <a:spAutoFit/>
          </a:bodyPr>
          <a:lstStyle/>
          <a:p>
            <a:pPr algn="l"/>
            <a:r>
              <a:rPr sz="2100" b="1">
                <a:solidFill>
                  <a:srgbClr val="0B1B3A"/>
                </a:solidFill>
                <a:latin typeface="Aptos"/>
              </a:rPr>
              <a:t>4 transactions</a:t>
            </a:r>
          </a:p>
          <a:p>
            <a:pPr algn="l"/>
            <a:r>
              <a:rPr sz="1150" b="1">
                <a:solidFill>
                  <a:srgbClr val="0B1B3A"/>
                </a:solidFill>
                <a:latin typeface="Aptos"/>
              </a:rPr>
              <a:t>agreement, funding, verdict, release</a:t>
            </a:r>
          </a:p>
          <a:p>
            <a:pPr algn="l"/>
            <a:r>
              <a:rPr sz="950" b="0">
                <a:solidFill>
                  <a:srgbClr val="6B7280"/>
                </a:solidFill>
                <a:latin typeface="Aptos"/>
              </a:rPr>
              <a:t>every stage carries its own hash</a:t>
            </a:r>
          </a:p>
        </p:txBody>
      </p:sp>
      <p:sp>
        <p:nvSpPr>
          <p:cNvPr id="13" name="Rectangle 12"/>
          <p:cNvSpPr/>
          <p:nvPr/>
        </p:nvSpPr>
        <p:spPr>
          <a:xfrm>
            <a:off x="8092440" y="2377440"/>
            <a:ext cx="3566160" cy="137160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2377440"/>
            <a:ext cx="44450" cy="1371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7032" y="2505456"/>
            <a:ext cx="3246120" cy="1143000"/>
          </a:xfrm>
          <a:prstGeom prst="rect">
            <a:avLst/>
          </a:prstGeom>
          <a:noFill/>
        </p:spPr>
        <p:txBody>
          <a:bodyPr wrap="square">
            <a:spAutoFit/>
          </a:bodyPr>
          <a:lstStyle/>
          <a:p>
            <a:pPr algn="l"/>
            <a:r>
              <a:rPr sz="2100" b="1">
                <a:solidFill>
                  <a:srgbClr val="0B1B3A"/>
                </a:solidFill>
                <a:latin typeface="Aptos"/>
              </a:rPr>
              <a:t>Non-custodial</a:t>
            </a:r>
          </a:p>
          <a:p>
            <a:pPr algn="l"/>
            <a:r>
              <a:rPr sz="1150" b="1">
                <a:solidFill>
                  <a:srgbClr val="0B1B3A"/>
                </a:solidFill>
                <a:latin typeface="Aptos"/>
              </a:rPr>
              <a:t>the contract held the funds</a:t>
            </a:r>
          </a:p>
          <a:p>
            <a:pPr algn="l"/>
            <a:r>
              <a:rPr sz="950" b="0">
                <a:solidFill>
                  <a:srgbClr val="6B7280"/>
                </a:solidFill>
                <a:latin typeface="Aptos"/>
              </a:rPr>
              <a:t>at no point could the company spend them</a:t>
            </a:r>
          </a:p>
        </p:txBody>
      </p:sp>
      <p:sp>
        <p:nvSpPr>
          <p:cNvPr id="16" name="TextBox 15"/>
          <p:cNvSpPr txBox="1"/>
          <p:nvPr/>
        </p:nvSpPr>
        <p:spPr>
          <a:xfrm>
            <a:off x="502920" y="4206240"/>
            <a:ext cx="10728655" cy="457200"/>
          </a:xfrm>
          <a:prstGeom prst="rect">
            <a:avLst/>
          </a:prstGeom>
          <a:noFill/>
        </p:spPr>
        <p:txBody>
          <a:bodyPr wrap="square">
            <a:spAutoFit/>
          </a:bodyPr>
          <a:lstStyle/>
          <a:p>
            <a:pPr algn="l"/>
            <a:r>
              <a:rPr sz="1200" b="0">
                <a:solidFill>
                  <a:srgbClr val="6B7280"/>
                </a:solidFill>
                <a:latin typeface="Aptos"/>
              </a:rPr>
              <a:t>Verify the release yourself:</a:t>
            </a:r>
          </a:p>
        </p:txBody>
      </p:sp>
      <p:sp>
        <p:nvSpPr>
          <p:cNvPr id="17" name="TextBox 16"/>
          <p:cNvSpPr txBox="1"/>
          <p:nvPr/>
        </p:nvSpPr>
        <p:spPr>
          <a:xfrm>
            <a:off x="502920" y="4572000"/>
            <a:ext cx="10728655" cy="731520"/>
          </a:xfrm>
          <a:prstGeom prst="rect">
            <a:avLst/>
          </a:prstGeom>
          <a:noFill/>
        </p:spPr>
        <p:txBody>
          <a:bodyPr wrap="square">
            <a:spAutoFit/>
          </a:bodyPr>
          <a:lstStyle/>
          <a:p>
            <a:pPr algn="l"/>
            <a:r>
              <a:rPr sz="1300" b="1">
                <a:solidFill>
                  <a:srgbClr val="156082"/>
                </a:solidFill>
                <a:latin typeface="Consolas"/>
              </a:rPr>
              <a:t>basescan.org/tx/0xd3507c6e863e43e5f4f1f0467d51349391c1d65e166b00837d27d427412a4d8d</a:t>
            </a:r>
          </a:p>
        </p:txBody>
      </p:sp>
      <p:sp>
        <p:nvSpPr>
          <p:cNvPr id="18" name="TextBox 17"/>
          <p:cNvSpPr txBox="1"/>
          <p:nvPr/>
        </p:nvSpPr>
        <p:spPr>
          <a:xfrm>
            <a:off x="11505895" y="6400800"/>
            <a:ext cx="365760" cy="274320"/>
          </a:xfrm>
          <a:prstGeom prst="rect">
            <a:avLst/>
          </a:prstGeom>
          <a:noFill/>
        </p:spPr>
        <p:txBody>
          <a:bodyPr wrap="square">
            <a:spAutoFit/>
          </a:bodyPr>
          <a:lstStyle/>
          <a:p>
            <a:pPr algn="r"/>
            <a:r>
              <a:rPr sz="900" b="0">
                <a:solidFill>
                  <a:srgbClr val="6B7280"/>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9768"/>
            <a:ext cx="88900" cy="889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01752"/>
            <a:ext cx="8229600" cy="365760"/>
          </a:xfrm>
          <a:prstGeom prst="rect">
            <a:avLst/>
          </a:prstGeom>
          <a:noFill/>
        </p:spPr>
        <p:txBody>
          <a:bodyPr wrap="square">
            <a:spAutoFit/>
          </a:bodyPr>
          <a:lstStyle/>
          <a:p>
            <a:pPr algn="l"/>
            <a:r>
              <a:rPr sz="1100" b="1" spc="280">
                <a:solidFill>
                  <a:srgbClr val="0B1B3A"/>
                </a:solidFill>
                <a:latin typeface="Aptos"/>
              </a:rPr>
              <a:t>COMPETITION</a:t>
            </a:r>
          </a:p>
        </p:txBody>
      </p:sp>
      <p:sp>
        <p:nvSpPr>
          <p:cNvPr id="5" name="TextBox 4"/>
          <p:cNvSpPr txBox="1"/>
          <p:nvPr/>
        </p:nvSpPr>
        <p:spPr>
          <a:xfrm>
            <a:off x="502920" y="685800"/>
            <a:ext cx="10728655" cy="1051560"/>
          </a:xfrm>
          <a:prstGeom prst="rect">
            <a:avLst/>
          </a:prstGeom>
          <a:noFill/>
        </p:spPr>
        <p:txBody>
          <a:bodyPr wrap="square">
            <a:spAutoFit/>
          </a:bodyPr>
          <a:lstStyle/>
          <a:p>
            <a:pPr algn="l">
              <a:lnSpc>
                <a:spcPct val="102000"/>
              </a:lnSpc>
            </a:pPr>
            <a:r>
              <a:rPr sz="3000" b="1">
                <a:solidFill>
                  <a:srgbClr val="0B1B3A"/>
                </a:solidFill>
                <a:latin typeface="Aptos Display"/>
              </a:rPr>
              <a:t>Every funded competitor releases on buyer approval, not document proof.</a:t>
            </a:r>
          </a:p>
        </p:txBody>
      </p:sp>
      <p:sp>
        <p:nvSpPr>
          <p:cNvPr id="6" name="TextBox 5"/>
          <p:cNvSpPr txBox="1"/>
          <p:nvPr/>
        </p:nvSpPr>
        <p:spPr>
          <a:xfrm>
            <a:off x="502920" y="1828800"/>
            <a:ext cx="10728655" cy="457200"/>
          </a:xfrm>
          <a:prstGeom prst="rect">
            <a:avLst/>
          </a:prstGeom>
          <a:noFill/>
        </p:spPr>
        <p:txBody>
          <a:bodyPr wrap="square">
            <a:spAutoFit/>
          </a:bodyPr>
          <a:lstStyle/>
          <a:p>
            <a:pPr algn="l"/>
            <a:r>
              <a:rPr sz="1400" b="0">
                <a:solidFill>
                  <a:srgbClr val="6B7280"/>
                </a:solidFill>
                <a:latin typeface="Aptos"/>
              </a:rPr>
              <a:t>Tazapay, Truzo, XREX and Komgo all wait for a human signal to pay. Contour tried full automation and folded.</a:t>
            </a:r>
          </a:p>
        </p:txBody>
      </p:sp>
      <p:sp>
        <p:nvSpPr>
          <p:cNvPr id="7" name="Rectangle 6"/>
          <p:cNvSpPr/>
          <p:nvPr/>
        </p:nvSpPr>
        <p:spPr>
          <a:xfrm>
            <a:off x="566928" y="2560320"/>
            <a:ext cx="101600" cy="101600"/>
          </a:xfrm>
          <a:prstGeom prst="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468880"/>
            <a:ext cx="1920240" cy="457200"/>
          </a:xfrm>
          <a:prstGeom prst="rect">
            <a:avLst/>
          </a:prstGeom>
          <a:noFill/>
        </p:spPr>
        <p:txBody>
          <a:bodyPr wrap="square">
            <a:spAutoFit/>
          </a:bodyPr>
          <a:lstStyle/>
          <a:p>
            <a:pPr algn="l"/>
            <a:r>
              <a:rPr sz="1300" b="1">
                <a:solidFill>
                  <a:srgbClr val="0B1B3A"/>
                </a:solidFill>
                <a:latin typeface="Aptos"/>
              </a:rPr>
              <a:t>Tazapay</a:t>
            </a:r>
          </a:p>
        </p:txBody>
      </p:sp>
      <p:sp>
        <p:nvSpPr>
          <p:cNvPr id="9" name="TextBox 8"/>
          <p:cNvSpPr txBox="1"/>
          <p:nvPr/>
        </p:nvSpPr>
        <p:spPr>
          <a:xfrm>
            <a:off x="2880360" y="2468880"/>
            <a:ext cx="6035040" cy="457200"/>
          </a:xfrm>
          <a:prstGeom prst="rect">
            <a:avLst/>
          </a:prstGeom>
          <a:noFill/>
        </p:spPr>
        <p:txBody>
          <a:bodyPr wrap="square">
            <a:spAutoFit/>
          </a:bodyPr>
          <a:lstStyle/>
          <a:p>
            <a:pPr algn="l"/>
            <a:r>
              <a:rPr sz="1200" b="0">
                <a:solidFill>
                  <a:srgbClr val="6B7280"/>
                </a:solidFill>
                <a:latin typeface="Aptos"/>
              </a:rPr>
              <a:t>Releases on buyer approval  ·  0.8% - 3.8%</a:t>
            </a:r>
          </a:p>
        </p:txBody>
      </p:sp>
      <p:sp>
        <p:nvSpPr>
          <p:cNvPr id="10" name="TextBox 9"/>
          <p:cNvSpPr txBox="1"/>
          <p:nvPr/>
        </p:nvSpPr>
        <p:spPr>
          <a:xfrm>
            <a:off x="9052560" y="2468880"/>
            <a:ext cx="2651760" cy="457200"/>
          </a:xfrm>
          <a:prstGeom prst="rect">
            <a:avLst/>
          </a:prstGeom>
          <a:noFill/>
        </p:spPr>
        <p:txBody>
          <a:bodyPr wrap="square">
            <a:spAutoFit/>
          </a:bodyPr>
          <a:lstStyle/>
          <a:p>
            <a:pPr algn="r"/>
            <a:r>
              <a:rPr sz="1100" b="0">
                <a:solidFill>
                  <a:srgbClr val="6B7280"/>
                </a:solidFill>
                <a:latin typeface="Aptos"/>
              </a:rPr>
              <a:t>Active</a:t>
            </a:r>
          </a:p>
        </p:txBody>
      </p:sp>
      <p:sp>
        <p:nvSpPr>
          <p:cNvPr id="11" name="Rectangle 10"/>
          <p:cNvSpPr/>
          <p:nvPr/>
        </p:nvSpPr>
        <p:spPr>
          <a:xfrm>
            <a:off x="566928" y="3127248"/>
            <a:ext cx="101600" cy="101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035808"/>
            <a:ext cx="1920240" cy="457200"/>
          </a:xfrm>
          <a:prstGeom prst="rect">
            <a:avLst/>
          </a:prstGeom>
          <a:noFill/>
        </p:spPr>
        <p:txBody>
          <a:bodyPr wrap="square">
            <a:spAutoFit/>
          </a:bodyPr>
          <a:lstStyle/>
          <a:p>
            <a:pPr algn="l"/>
            <a:r>
              <a:rPr sz="1300" b="1">
                <a:solidFill>
                  <a:srgbClr val="0B1B3A"/>
                </a:solidFill>
                <a:latin typeface="Aptos"/>
              </a:rPr>
              <a:t>Truzo</a:t>
            </a:r>
          </a:p>
        </p:txBody>
      </p:sp>
      <p:sp>
        <p:nvSpPr>
          <p:cNvPr id="13" name="TextBox 12"/>
          <p:cNvSpPr txBox="1"/>
          <p:nvPr/>
        </p:nvSpPr>
        <p:spPr>
          <a:xfrm>
            <a:off x="2880360" y="3035808"/>
            <a:ext cx="6035040" cy="457200"/>
          </a:xfrm>
          <a:prstGeom prst="rect">
            <a:avLst/>
          </a:prstGeom>
          <a:noFill/>
        </p:spPr>
        <p:txBody>
          <a:bodyPr wrap="square">
            <a:spAutoFit/>
          </a:bodyPr>
          <a:lstStyle/>
          <a:p>
            <a:pPr algn="l"/>
            <a:r>
              <a:rPr sz="1200" b="0">
                <a:solidFill>
                  <a:srgbClr val="6B7280"/>
                </a:solidFill>
                <a:latin typeface="Aptos"/>
              </a:rPr>
              <a:t>Releases on delivery confirmation  ·  0.22% - 3.1% + £25</a:t>
            </a:r>
          </a:p>
        </p:txBody>
      </p:sp>
      <p:sp>
        <p:nvSpPr>
          <p:cNvPr id="14" name="TextBox 13"/>
          <p:cNvSpPr txBox="1"/>
          <p:nvPr/>
        </p:nvSpPr>
        <p:spPr>
          <a:xfrm>
            <a:off x="9052560" y="3035808"/>
            <a:ext cx="2651760" cy="457200"/>
          </a:xfrm>
          <a:prstGeom prst="rect">
            <a:avLst/>
          </a:prstGeom>
          <a:noFill/>
        </p:spPr>
        <p:txBody>
          <a:bodyPr wrap="square">
            <a:spAutoFit/>
          </a:bodyPr>
          <a:lstStyle/>
          <a:p>
            <a:pPr algn="r"/>
            <a:r>
              <a:rPr sz="1100" b="0">
                <a:solidFill>
                  <a:srgbClr val="6B7280"/>
                </a:solidFill>
                <a:latin typeface="Aptos"/>
              </a:rPr>
              <a:t>Active, narrow corridor</a:t>
            </a:r>
          </a:p>
        </p:txBody>
      </p:sp>
      <p:sp>
        <p:nvSpPr>
          <p:cNvPr id="15" name="Rectangle 14"/>
          <p:cNvSpPr/>
          <p:nvPr/>
        </p:nvSpPr>
        <p:spPr>
          <a:xfrm>
            <a:off x="566928" y="3694176"/>
            <a:ext cx="101600" cy="101600"/>
          </a:xfrm>
          <a:prstGeom prst="rect">
            <a:avLst/>
          </a:prstGeom>
          <a:solidFill>
            <a:srgbClr val="5B5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602736"/>
            <a:ext cx="1920240" cy="457200"/>
          </a:xfrm>
          <a:prstGeom prst="rect">
            <a:avLst/>
          </a:prstGeom>
          <a:noFill/>
        </p:spPr>
        <p:txBody>
          <a:bodyPr wrap="square">
            <a:spAutoFit/>
          </a:bodyPr>
          <a:lstStyle/>
          <a:p>
            <a:pPr algn="l"/>
            <a:r>
              <a:rPr sz="1300" b="1">
                <a:solidFill>
                  <a:srgbClr val="0B1B3A"/>
                </a:solidFill>
                <a:latin typeface="Aptos"/>
              </a:rPr>
              <a:t>XREX</a:t>
            </a:r>
          </a:p>
        </p:txBody>
      </p:sp>
      <p:sp>
        <p:nvSpPr>
          <p:cNvPr id="17" name="TextBox 16"/>
          <p:cNvSpPr txBox="1"/>
          <p:nvPr/>
        </p:nvSpPr>
        <p:spPr>
          <a:xfrm>
            <a:off x="2880360" y="3602736"/>
            <a:ext cx="6035040" cy="457200"/>
          </a:xfrm>
          <a:prstGeom prst="rect">
            <a:avLst/>
          </a:prstGeom>
          <a:noFill/>
        </p:spPr>
        <p:txBody>
          <a:bodyPr wrap="square">
            <a:spAutoFit/>
          </a:bodyPr>
          <a:lstStyle/>
          <a:p>
            <a:pPr algn="l"/>
            <a:r>
              <a:rPr sz="1200" b="0">
                <a:solidFill>
                  <a:srgbClr val="6B7280"/>
                </a:solidFill>
                <a:latin typeface="Aptos"/>
              </a:rPr>
              <a:t>Releases on buyer approval  ·  &lt;1% + 10 USDT/escrow</a:t>
            </a:r>
          </a:p>
        </p:txBody>
      </p:sp>
      <p:sp>
        <p:nvSpPr>
          <p:cNvPr id="18" name="TextBox 17"/>
          <p:cNvSpPr txBox="1"/>
          <p:nvPr/>
        </p:nvSpPr>
        <p:spPr>
          <a:xfrm>
            <a:off x="9052560" y="3602736"/>
            <a:ext cx="2651760" cy="457200"/>
          </a:xfrm>
          <a:prstGeom prst="rect">
            <a:avLst/>
          </a:prstGeom>
          <a:noFill/>
        </p:spPr>
        <p:txBody>
          <a:bodyPr wrap="square">
            <a:spAutoFit/>
          </a:bodyPr>
          <a:lstStyle/>
          <a:p>
            <a:pPr algn="r"/>
            <a:r>
              <a:rPr sz="1100" b="0">
                <a:solidFill>
                  <a:srgbClr val="6B7280"/>
                </a:solidFill>
                <a:latin typeface="Aptos"/>
              </a:rPr>
              <a:t>Active</a:t>
            </a:r>
          </a:p>
        </p:txBody>
      </p:sp>
      <p:sp>
        <p:nvSpPr>
          <p:cNvPr id="19" name="Rectangle 18"/>
          <p:cNvSpPr/>
          <p:nvPr/>
        </p:nvSpPr>
        <p:spPr>
          <a:xfrm>
            <a:off x="566928" y="4261104"/>
            <a:ext cx="101600" cy="101600"/>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169664"/>
            <a:ext cx="1920240" cy="457200"/>
          </a:xfrm>
          <a:prstGeom prst="rect">
            <a:avLst/>
          </a:prstGeom>
          <a:noFill/>
        </p:spPr>
        <p:txBody>
          <a:bodyPr wrap="square">
            <a:spAutoFit/>
          </a:bodyPr>
          <a:lstStyle/>
          <a:p>
            <a:pPr algn="l"/>
            <a:r>
              <a:rPr sz="1300" b="1">
                <a:solidFill>
                  <a:srgbClr val="0B1B3A"/>
                </a:solidFill>
                <a:latin typeface="Aptos"/>
              </a:rPr>
              <a:t>Komgo</a:t>
            </a:r>
          </a:p>
        </p:txBody>
      </p:sp>
      <p:sp>
        <p:nvSpPr>
          <p:cNvPr id="21" name="TextBox 20"/>
          <p:cNvSpPr txBox="1"/>
          <p:nvPr/>
        </p:nvSpPr>
        <p:spPr>
          <a:xfrm>
            <a:off x="2880360" y="4169664"/>
            <a:ext cx="6035040" cy="457200"/>
          </a:xfrm>
          <a:prstGeom prst="rect">
            <a:avLst/>
          </a:prstGeom>
          <a:noFill/>
        </p:spPr>
        <p:txBody>
          <a:bodyPr wrap="square">
            <a:spAutoFit/>
          </a:bodyPr>
          <a:lstStyle/>
          <a:p>
            <a:pPr algn="l"/>
            <a:r>
              <a:rPr sz="1200" b="0">
                <a:solidFill>
                  <a:srgbClr val="6B7280"/>
                </a:solidFill>
                <a:latin typeface="Aptos"/>
              </a:rPr>
              <a:t>Follows the LC process  ·  fee not disclosed</a:t>
            </a:r>
          </a:p>
        </p:txBody>
      </p:sp>
      <p:sp>
        <p:nvSpPr>
          <p:cNvPr id="22" name="TextBox 21"/>
          <p:cNvSpPr txBox="1"/>
          <p:nvPr/>
        </p:nvSpPr>
        <p:spPr>
          <a:xfrm>
            <a:off x="9052560" y="4169664"/>
            <a:ext cx="2651760" cy="457200"/>
          </a:xfrm>
          <a:prstGeom prst="rect">
            <a:avLst/>
          </a:prstGeom>
          <a:noFill/>
        </p:spPr>
        <p:txBody>
          <a:bodyPr wrap="square">
            <a:spAutoFit/>
          </a:bodyPr>
          <a:lstStyle/>
          <a:p>
            <a:pPr algn="r"/>
            <a:r>
              <a:rPr sz="1100" b="0">
                <a:solidFill>
                  <a:srgbClr val="6B7280"/>
                </a:solidFill>
                <a:latin typeface="Aptos"/>
              </a:rPr>
              <a:t>Active, banks only</a:t>
            </a:r>
          </a:p>
        </p:txBody>
      </p:sp>
      <p:sp>
        <p:nvSpPr>
          <p:cNvPr id="23" name="Rectangle 22"/>
          <p:cNvSpPr/>
          <p:nvPr/>
        </p:nvSpPr>
        <p:spPr>
          <a:xfrm>
            <a:off x="566928" y="4828032"/>
            <a:ext cx="101600" cy="101600"/>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4736592"/>
            <a:ext cx="1920240" cy="457200"/>
          </a:xfrm>
          <a:prstGeom prst="rect">
            <a:avLst/>
          </a:prstGeom>
          <a:noFill/>
        </p:spPr>
        <p:txBody>
          <a:bodyPr wrap="square">
            <a:spAutoFit/>
          </a:bodyPr>
          <a:lstStyle/>
          <a:p>
            <a:pPr algn="l"/>
            <a:r>
              <a:rPr sz="1300" b="1">
                <a:solidFill>
                  <a:srgbClr val="0B1B3A"/>
                </a:solidFill>
                <a:latin typeface="Aptos"/>
              </a:rPr>
              <a:t>Contour</a:t>
            </a:r>
          </a:p>
        </p:txBody>
      </p:sp>
      <p:sp>
        <p:nvSpPr>
          <p:cNvPr id="25" name="TextBox 24"/>
          <p:cNvSpPr txBox="1"/>
          <p:nvPr/>
        </p:nvSpPr>
        <p:spPr>
          <a:xfrm>
            <a:off x="2880360" y="4736592"/>
            <a:ext cx="6035040" cy="457200"/>
          </a:xfrm>
          <a:prstGeom prst="rect">
            <a:avLst/>
          </a:prstGeom>
          <a:noFill/>
        </p:spPr>
        <p:txBody>
          <a:bodyPr wrap="square">
            <a:spAutoFit/>
          </a:bodyPr>
          <a:lstStyle/>
          <a:p>
            <a:pPr algn="l"/>
            <a:r>
              <a:rPr sz="1200" b="0">
                <a:solidFill>
                  <a:srgbClr val="6B7280"/>
                </a:solidFill>
                <a:latin typeface="Aptos"/>
              </a:rPr>
              <a:t>HSBC / StanChart / Citi backing, $18.3m raised</a:t>
            </a:r>
          </a:p>
        </p:txBody>
      </p:sp>
      <p:sp>
        <p:nvSpPr>
          <p:cNvPr id="26" name="TextBox 25"/>
          <p:cNvSpPr txBox="1"/>
          <p:nvPr/>
        </p:nvSpPr>
        <p:spPr>
          <a:xfrm>
            <a:off x="9052560" y="4736592"/>
            <a:ext cx="2651760" cy="457200"/>
          </a:xfrm>
          <a:prstGeom prst="rect">
            <a:avLst/>
          </a:prstGeom>
          <a:noFill/>
        </p:spPr>
        <p:txBody>
          <a:bodyPr wrap="square">
            <a:spAutoFit/>
          </a:bodyPr>
          <a:lstStyle/>
          <a:p>
            <a:pPr algn="r"/>
            <a:r>
              <a:rPr sz="1100" b="0">
                <a:solidFill>
                  <a:srgbClr val="6B7280"/>
                </a:solidFill>
                <a:latin typeface="Aptos"/>
              </a:rPr>
              <a:t>Shut down Nov 2023</a:t>
            </a:r>
          </a:p>
        </p:txBody>
      </p:sp>
      <p:sp>
        <p:nvSpPr>
          <p:cNvPr id="27" name="Rectangle 26"/>
          <p:cNvSpPr/>
          <p:nvPr/>
        </p:nvSpPr>
        <p:spPr>
          <a:xfrm>
            <a:off x="566928" y="5394960"/>
            <a:ext cx="101600" cy="1016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68680" y="5303520"/>
            <a:ext cx="1920240" cy="457200"/>
          </a:xfrm>
          <a:prstGeom prst="rect">
            <a:avLst/>
          </a:prstGeom>
          <a:noFill/>
        </p:spPr>
        <p:txBody>
          <a:bodyPr wrap="square">
            <a:spAutoFit/>
          </a:bodyPr>
          <a:lstStyle/>
          <a:p>
            <a:pPr algn="l"/>
            <a:r>
              <a:rPr sz="1300" b="1">
                <a:solidFill>
                  <a:srgbClr val="196B24"/>
                </a:solidFill>
                <a:latin typeface="Aptos"/>
              </a:rPr>
              <a:t>Blockmediary</a:t>
            </a:r>
          </a:p>
        </p:txBody>
      </p:sp>
      <p:sp>
        <p:nvSpPr>
          <p:cNvPr id="29" name="TextBox 28"/>
          <p:cNvSpPr txBox="1"/>
          <p:nvPr/>
        </p:nvSpPr>
        <p:spPr>
          <a:xfrm>
            <a:off x="2880360" y="5303520"/>
            <a:ext cx="6035040" cy="457200"/>
          </a:xfrm>
          <a:prstGeom prst="rect">
            <a:avLst/>
          </a:prstGeom>
          <a:noFill/>
        </p:spPr>
        <p:txBody>
          <a:bodyPr wrap="square">
            <a:spAutoFit/>
          </a:bodyPr>
          <a:lstStyle/>
          <a:p>
            <a:pPr algn="l"/>
            <a:r>
              <a:rPr sz="1200" b="1">
                <a:solidFill>
                  <a:srgbClr val="0B1B3A"/>
                </a:solidFill>
                <a:latin typeface="Aptos"/>
              </a:rPr>
              <a:t>Releases on document compliance  ·  0.8% / 1.5% / 3.0% tiered</a:t>
            </a:r>
          </a:p>
        </p:txBody>
      </p:sp>
      <p:sp>
        <p:nvSpPr>
          <p:cNvPr id="30" name="TextBox 29"/>
          <p:cNvSpPr txBox="1"/>
          <p:nvPr/>
        </p:nvSpPr>
        <p:spPr>
          <a:xfrm>
            <a:off x="9052560" y="5303520"/>
            <a:ext cx="2651760" cy="457200"/>
          </a:xfrm>
          <a:prstGeom prst="rect">
            <a:avLst/>
          </a:prstGeom>
          <a:noFill/>
        </p:spPr>
        <p:txBody>
          <a:bodyPr wrap="square">
            <a:spAutoFit/>
          </a:bodyPr>
          <a:lstStyle/>
          <a:p>
            <a:pPr algn="r"/>
            <a:r>
              <a:rPr sz="1100" b="1">
                <a:solidFill>
                  <a:srgbClr val="196B24"/>
                </a:solidFill>
                <a:latin typeface="Aptos"/>
              </a:rPr>
              <a:t>LIVE ON BASE</a:t>
            </a:r>
          </a:p>
        </p:txBody>
      </p:sp>
      <p:sp>
        <p:nvSpPr>
          <p:cNvPr id="31" name="TextBox 30"/>
          <p:cNvSpPr txBox="1"/>
          <p:nvPr/>
        </p:nvSpPr>
        <p:spPr>
          <a:xfrm>
            <a:off x="502920" y="5989320"/>
            <a:ext cx="10728655" cy="457200"/>
          </a:xfrm>
          <a:prstGeom prst="rect">
            <a:avLst/>
          </a:prstGeom>
          <a:noFill/>
        </p:spPr>
        <p:txBody>
          <a:bodyPr wrap="square">
            <a:spAutoFit/>
          </a:bodyPr>
          <a:lstStyle/>
          <a:p>
            <a:pPr algn="l"/>
            <a:r>
              <a:rPr sz="1250" b="1">
                <a:solidFill>
                  <a:srgbClr val="0B1B3A"/>
                </a:solidFill>
                <a:latin typeface="Aptos"/>
              </a:rPr>
              <a:t>The most-funded LC-replacement attempt still failed structurally. The gap stayed open - we are standing in it.</a:t>
            </a:r>
          </a:p>
        </p:txBody>
      </p:sp>
      <p:sp>
        <p:nvSpPr>
          <p:cNvPr id="32" name="TextBox 31"/>
          <p:cNvSpPr txBox="1"/>
          <p:nvPr/>
        </p:nvSpPr>
        <p:spPr>
          <a:xfrm>
            <a:off x="11505895" y="6400800"/>
            <a:ext cx="365760" cy="274320"/>
          </a:xfrm>
          <a:prstGeom prst="rect">
            <a:avLst/>
          </a:prstGeom>
          <a:noFill/>
        </p:spPr>
        <p:txBody>
          <a:bodyPr wrap="square">
            <a:spAutoFit/>
          </a:bodyPr>
          <a:lstStyle/>
          <a:p>
            <a:pPr algn="r"/>
            <a:r>
              <a:rPr sz="900" b="0">
                <a:solidFill>
                  <a:srgbClr val="6B7280"/>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9768"/>
            <a:ext cx="88900" cy="889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01752"/>
            <a:ext cx="8229600" cy="365760"/>
          </a:xfrm>
          <a:prstGeom prst="rect">
            <a:avLst/>
          </a:prstGeom>
          <a:noFill/>
        </p:spPr>
        <p:txBody>
          <a:bodyPr wrap="square">
            <a:spAutoFit/>
          </a:bodyPr>
          <a:lstStyle/>
          <a:p>
            <a:pPr algn="l"/>
            <a:r>
              <a:rPr sz="1100" b="1" spc="280">
                <a:solidFill>
                  <a:srgbClr val="0B1B3A"/>
                </a:solidFill>
                <a:latin typeface="Aptos"/>
              </a:rPr>
              <a:t>STAGE &amp; PATH</a:t>
            </a:r>
          </a:p>
        </p:txBody>
      </p:sp>
      <p:sp>
        <p:nvSpPr>
          <p:cNvPr id="5" name="TextBox 4"/>
          <p:cNvSpPr txBox="1"/>
          <p:nvPr/>
        </p:nvSpPr>
        <p:spPr>
          <a:xfrm>
            <a:off x="502920" y="685800"/>
            <a:ext cx="10728655" cy="1051560"/>
          </a:xfrm>
          <a:prstGeom prst="rect">
            <a:avLst/>
          </a:prstGeom>
          <a:noFill/>
        </p:spPr>
        <p:txBody>
          <a:bodyPr wrap="square">
            <a:spAutoFit/>
          </a:bodyPr>
          <a:lstStyle/>
          <a:p>
            <a:pPr algn="l">
              <a:lnSpc>
                <a:spcPct val="102000"/>
              </a:lnSpc>
            </a:pPr>
            <a:r>
              <a:rPr sz="3000" b="1">
                <a:solidFill>
                  <a:srgbClr val="0B1B3A"/>
                </a:solidFill>
                <a:latin typeface="Aptos Display"/>
              </a:rPr>
              <a:t>Working rail today. Paid pilot at month 12. Licensed at month 18.</a:t>
            </a:r>
          </a:p>
        </p:txBody>
      </p:sp>
      <p:sp>
        <p:nvSpPr>
          <p:cNvPr id="6" name="TextBox 5"/>
          <p:cNvSpPr txBox="1"/>
          <p:nvPr/>
        </p:nvSpPr>
        <p:spPr>
          <a:xfrm>
            <a:off x="502920" y="1828800"/>
            <a:ext cx="10728655" cy="457200"/>
          </a:xfrm>
          <a:prstGeom prst="rect">
            <a:avLst/>
          </a:prstGeom>
          <a:noFill/>
        </p:spPr>
        <p:txBody>
          <a:bodyPr wrap="square">
            <a:spAutoFit/>
          </a:bodyPr>
          <a:lstStyle/>
          <a:p>
            <a:pPr algn="l"/>
            <a:r>
              <a:rPr sz="1400" b="0">
                <a:solidFill>
                  <a:srgbClr val="6B7280"/>
                </a:solidFill>
                <a:latin typeface="Aptos"/>
              </a:rPr>
              <a:t>Where we are against the plan - and the conservative base case it funds.</a:t>
            </a:r>
          </a:p>
        </p:txBody>
      </p:sp>
      <p:sp>
        <p:nvSpPr>
          <p:cNvPr id="7" name="TextBox 6"/>
          <p:cNvSpPr txBox="1"/>
          <p:nvPr/>
        </p:nvSpPr>
        <p:spPr>
          <a:xfrm>
            <a:off x="502920" y="2423160"/>
            <a:ext cx="1371600" cy="457200"/>
          </a:xfrm>
          <a:prstGeom prst="rect">
            <a:avLst/>
          </a:prstGeom>
          <a:noFill/>
        </p:spPr>
        <p:txBody>
          <a:bodyPr wrap="square">
            <a:spAutoFit/>
          </a:bodyPr>
          <a:lstStyle/>
          <a:p>
            <a:pPr algn="l"/>
            <a:r>
              <a:rPr sz="1400" b="1">
                <a:solidFill>
                  <a:srgbClr val="196B24"/>
                </a:solidFill>
                <a:latin typeface="Aptos"/>
              </a:rPr>
              <a:t>TODAY</a:t>
            </a:r>
          </a:p>
        </p:txBody>
      </p:sp>
      <p:sp>
        <p:nvSpPr>
          <p:cNvPr id="8" name="TextBox 7"/>
          <p:cNvSpPr txBox="1"/>
          <p:nvPr/>
        </p:nvSpPr>
        <p:spPr>
          <a:xfrm>
            <a:off x="2011680" y="2423160"/>
            <a:ext cx="7772400" cy="457200"/>
          </a:xfrm>
          <a:prstGeom prst="rect">
            <a:avLst/>
          </a:prstGeom>
          <a:noFill/>
        </p:spPr>
        <p:txBody>
          <a:bodyPr wrap="square">
            <a:spAutoFit/>
          </a:bodyPr>
          <a:lstStyle/>
          <a:p>
            <a:pPr algn="l"/>
            <a:r>
              <a:rPr sz="1250" b="1">
                <a:solidFill>
                  <a:srgbClr val="0B1B3A"/>
                </a:solidFill>
                <a:latin typeface="Aptos"/>
              </a:rPr>
              <a:t>Working prototype - real settlement executed on Base Mainnet</a:t>
            </a:r>
          </a:p>
        </p:txBody>
      </p:sp>
      <p:sp>
        <p:nvSpPr>
          <p:cNvPr id="9" name="TextBox 8"/>
          <p:cNvSpPr txBox="1"/>
          <p:nvPr/>
        </p:nvSpPr>
        <p:spPr>
          <a:xfrm>
            <a:off x="502920" y="3026664"/>
            <a:ext cx="1371600" cy="457200"/>
          </a:xfrm>
          <a:prstGeom prst="rect">
            <a:avLst/>
          </a:prstGeom>
          <a:noFill/>
        </p:spPr>
        <p:txBody>
          <a:bodyPr wrap="square">
            <a:spAutoFit/>
          </a:bodyPr>
          <a:lstStyle/>
          <a:p>
            <a:pPr algn="l"/>
            <a:r>
              <a:rPr sz="1400" b="1">
                <a:solidFill>
                  <a:srgbClr val="C77D18"/>
                </a:solidFill>
                <a:latin typeface="Aptos"/>
              </a:rPr>
              <a:t>M12</a:t>
            </a:r>
          </a:p>
        </p:txBody>
      </p:sp>
      <p:sp>
        <p:nvSpPr>
          <p:cNvPr id="10" name="TextBox 9"/>
          <p:cNvSpPr txBox="1"/>
          <p:nvPr/>
        </p:nvSpPr>
        <p:spPr>
          <a:xfrm>
            <a:off x="2011680" y="3026664"/>
            <a:ext cx="7772400" cy="457200"/>
          </a:xfrm>
          <a:prstGeom prst="rect">
            <a:avLst/>
          </a:prstGeom>
          <a:noFill/>
        </p:spPr>
        <p:txBody>
          <a:bodyPr wrap="square">
            <a:spAutoFit/>
          </a:bodyPr>
          <a:lstStyle/>
          <a:p>
            <a:pPr algn="l"/>
            <a:r>
              <a:rPr sz="1250" b="0">
                <a:solidFill>
                  <a:srgbClr val="6B7280"/>
                </a:solidFill>
                <a:latin typeface="Aptos"/>
              </a:rPr>
              <a:t>Paid partner-led pilot in DIFC - first receipts M13</a:t>
            </a:r>
          </a:p>
        </p:txBody>
      </p:sp>
      <p:sp>
        <p:nvSpPr>
          <p:cNvPr id="11" name="TextBox 10"/>
          <p:cNvSpPr txBox="1"/>
          <p:nvPr/>
        </p:nvSpPr>
        <p:spPr>
          <a:xfrm>
            <a:off x="502920" y="3630168"/>
            <a:ext cx="1371600" cy="457200"/>
          </a:xfrm>
          <a:prstGeom prst="rect">
            <a:avLst/>
          </a:prstGeom>
          <a:noFill/>
        </p:spPr>
        <p:txBody>
          <a:bodyPr wrap="square">
            <a:spAutoFit/>
          </a:bodyPr>
          <a:lstStyle/>
          <a:p>
            <a:pPr algn="l"/>
            <a:r>
              <a:rPr sz="1400" b="1">
                <a:solidFill>
                  <a:srgbClr val="156082"/>
                </a:solidFill>
                <a:latin typeface="Aptos"/>
              </a:rPr>
              <a:t>M18</a:t>
            </a:r>
          </a:p>
        </p:txBody>
      </p:sp>
      <p:sp>
        <p:nvSpPr>
          <p:cNvPr id="12" name="TextBox 11"/>
          <p:cNvSpPr txBox="1"/>
          <p:nvPr/>
        </p:nvSpPr>
        <p:spPr>
          <a:xfrm>
            <a:off x="2011680" y="3630168"/>
            <a:ext cx="7772400" cy="457200"/>
          </a:xfrm>
          <a:prstGeom prst="rect">
            <a:avLst/>
          </a:prstGeom>
          <a:noFill/>
        </p:spPr>
        <p:txBody>
          <a:bodyPr wrap="square">
            <a:spAutoFit/>
          </a:bodyPr>
          <a:lstStyle/>
          <a:p>
            <a:pPr algn="l"/>
            <a:r>
              <a:rPr sz="1250" b="0">
                <a:solidFill>
                  <a:srgbClr val="6B7280"/>
                </a:solidFill>
                <a:latin typeface="Aptos"/>
              </a:rPr>
              <a:t>Full VARA licence target</a:t>
            </a:r>
          </a:p>
        </p:txBody>
      </p:sp>
      <p:sp>
        <p:nvSpPr>
          <p:cNvPr id="13" name="TextBox 12"/>
          <p:cNvSpPr txBox="1"/>
          <p:nvPr/>
        </p:nvSpPr>
        <p:spPr>
          <a:xfrm>
            <a:off x="502920" y="4233672"/>
            <a:ext cx="1371600" cy="457200"/>
          </a:xfrm>
          <a:prstGeom prst="rect">
            <a:avLst/>
          </a:prstGeom>
          <a:noFill/>
        </p:spPr>
        <p:txBody>
          <a:bodyPr wrap="square">
            <a:spAutoFit/>
          </a:bodyPr>
          <a:lstStyle/>
          <a:p>
            <a:pPr algn="l"/>
            <a:r>
              <a:rPr sz="1400" b="1">
                <a:solidFill>
                  <a:srgbClr val="0B1B3A"/>
                </a:solidFill>
                <a:latin typeface="Aptos"/>
              </a:rPr>
              <a:t>Y4 M8</a:t>
            </a:r>
          </a:p>
        </p:txBody>
      </p:sp>
      <p:sp>
        <p:nvSpPr>
          <p:cNvPr id="14" name="TextBox 13"/>
          <p:cNvSpPr txBox="1"/>
          <p:nvPr/>
        </p:nvSpPr>
        <p:spPr>
          <a:xfrm>
            <a:off x="2011680" y="4233672"/>
            <a:ext cx="7772400" cy="457200"/>
          </a:xfrm>
          <a:prstGeom prst="rect">
            <a:avLst/>
          </a:prstGeom>
          <a:noFill/>
        </p:spPr>
        <p:txBody>
          <a:bodyPr wrap="square">
            <a:spAutoFit/>
          </a:bodyPr>
          <a:lstStyle/>
          <a:p>
            <a:pPr algn="l"/>
            <a:r>
              <a:rPr sz="1250" b="0">
                <a:solidFill>
                  <a:srgbClr val="6B7280"/>
                </a:solidFill>
                <a:latin typeface="Aptos"/>
              </a:rPr>
              <a:t>Monthly cash-flow break-even (base case)</a:t>
            </a:r>
          </a:p>
        </p:txBody>
      </p:sp>
      <p:sp>
        <p:nvSpPr>
          <p:cNvPr id="15" name="Rectangle 14"/>
          <p:cNvSpPr/>
          <p:nvPr/>
        </p:nvSpPr>
        <p:spPr>
          <a:xfrm>
            <a:off x="502920" y="4892040"/>
            <a:ext cx="10728655" cy="1143000"/>
          </a:xfrm>
          <a:prstGeom prst="rect">
            <a:avLst/>
          </a:prstGeom>
          <a:solidFill>
            <a:srgbClr val="FFFFFF"/>
          </a:solidFill>
          <a:ln w="9525">
            <a:solidFill>
              <a:srgbClr val="E3DE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5029200"/>
            <a:ext cx="10362895" cy="914400"/>
          </a:xfrm>
          <a:prstGeom prst="rect">
            <a:avLst/>
          </a:prstGeom>
          <a:noFill/>
        </p:spPr>
        <p:txBody>
          <a:bodyPr wrap="square">
            <a:spAutoFit/>
          </a:bodyPr>
          <a:lstStyle/>
          <a:p>
            <a:pPr algn="l">
              <a:lnSpc>
                <a:spcPct val="125000"/>
              </a:lnSpc>
            </a:pPr>
            <a:r>
              <a:rPr sz="1200" b="1">
                <a:solidFill>
                  <a:srgbClr val="0B1B3A"/>
                </a:solidFill>
                <a:latin typeface="Aptos"/>
              </a:rPr>
              <a:t>Base-case revenue engine   </a:t>
            </a:r>
            <a:r>
              <a:rPr sz="1300" b="1">
                <a:solidFill>
                  <a:srgbClr val="0E8C7F"/>
                </a:solidFill>
                <a:latin typeface="Aptos"/>
              </a:rPr>
              <a:t>2,000 deals × £38k avg = £76m trade value processed  →  £1.37m Y3 revenue at 77% gross margin</a:t>
            </a:r>
          </a:p>
          <a:p>
            <a:pPr algn="l">
              <a:lnSpc>
                <a:spcPct val="125000"/>
              </a:lnSpc>
            </a:pPr>
            <a:r>
              <a:rPr sz="1000" b="0">
                <a:solidFill>
                  <a:srgbClr val="6B7280"/>
                </a:solidFill>
                <a:latin typeface="Aptos"/>
              </a:rPr>
              <a:t>Illustrative forecast, not current trading. Tiered escrow take rate plus ancillary fees; client funds excluded from operating cash.</a:t>
            </a:r>
          </a:p>
        </p:txBody>
      </p:sp>
      <p:sp>
        <p:nvSpPr>
          <p:cNvPr id="17" name="TextBox 16"/>
          <p:cNvSpPr txBox="1"/>
          <p:nvPr/>
        </p:nvSpPr>
        <p:spPr>
          <a:xfrm>
            <a:off x="11505895" y="6400800"/>
            <a:ext cx="365760" cy="274320"/>
          </a:xfrm>
          <a:prstGeom prst="rect">
            <a:avLst/>
          </a:prstGeom>
          <a:noFill/>
        </p:spPr>
        <p:txBody>
          <a:bodyPr wrap="square">
            <a:spAutoFit/>
          </a:bodyPr>
          <a:lstStyle/>
          <a:p>
            <a:pPr algn="r"/>
            <a:r>
              <a:rPr sz="900" b="0">
                <a:solidFill>
                  <a:srgbClr val="6B7280"/>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4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29768"/>
            <a:ext cx="88900" cy="889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301752"/>
            <a:ext cx="8229600" cy="365760"/>
          </a:xfrm>
          <a:prstGeom prst="rect">
            <a:avLst/>
          </a:prstGeom>
          <a:noFill/>
        </p:spPr>
        <p:txBody>
          <a:bodyPr wrap="square">
            <a:spAutoFit/>
          </a:bodyPr>
          <a:lstStyle/>
          <a:p>
            <a:pPr algn="l"/>
            <a:r>
              <a:rPr sz="1100" b="1" spc="280">
                <a:solidFill>
                  <a:srgbClr val="0B1B3A"/>
                </a:solidFill>
                <a:latin typeface="Aptos"/>
              </a:rPr>
              <a:t>THE ASK</a:t>
            </a:r>
          </a:p>
        </p:txBody>
      </p:sp>
      <p:sp>
        <p:nvSpPr>
          <p:cNvPr id="5" name="TextBox 4"/>
          <p:cNvSpPr txBox="1"/>
          <p:nvPr/>
        </p:nvSpPr>
        <p:spPr>
          <a:xfrm>
            <a:off x="502920" y="685800"/>
            <a:ext cx="10728655" cy="1051560"/>
          </a:xfrm>
          <a:prstGeom prst="rect">
            <a:avLst/>
          </a:prstGeom>
          <a:noFill/>
        </p:spPr>
        <p:txBody>
          <a:bodyPr wrap="square">
            <a:spAutoFit/>
          </a:bodyPr>
          <a:lstStyle/>
          <a:p>
            <a:pPr algn="l">
              <a:lnSpc>
                <a:spcPct val="102000"/>
              </a:lnSpc>
            </a:pPr>
            <a:r>
              <a:rPr sz="3000" b="1">
                <a:solidFill>
                  <a:srgbClr val="0B1B3A"/>
                </a:solidFill>
                <a:latin typeface="Aptos Display"/>
              </a:rPr>
              <a:t>£3.06m of operating funding takes us to base-case break-even.</a:t>
            </a:r>
          </a:p>
        </p:txBody>
      </p:sp>
      <p:sp>
        <p:nvSpPr>
          <p:cNvPr id="6" name="TextBox 5"/>
          <p:cNvSpPr txBox="1"/>
          <p:nvPr/>
        </p:nvSpPr>
        <p:spPr>
          <a:xfrm>
            <a:off x="502920" y="1828800"/>
            <a:ext cx="10728655" cy="457200"/>
          </a:xfrm>
          <a:prstGeom prst="rect">
            <a:avLst/>
          </a:prstGeom>
          <a:noFill/>
        </p:spPr>
        <p:txBody>
          <a:bodyPr wrap="square">
            <a:spAutoFit/>
          </a:bodyPr>
          <a:lstStyle/>
          <a:p>
            <a:pPr algn="l"/>
            <a:r>
              <a:rPr sz="1400" b="0">
                <a:solidFill>
                  <a:srgbClr val="6B7280"/>
                </a:solidFill>
                <a:latin typeface="Aptos"/>
              </a:rPr>
              <a:t>Weighted to the two things that turn a working rail into a licensed business: people and permission.</a:t>
            </a:r>
          </a:p>
        </p:txBody>
      </p:sp>
      <p:sp>
        <p:nvSpPr>
          <p:cNvPr id="7" name="TextBox 6"/>
          <p:cNvSpPr txBox="1"/>
          <p:nvPr/>
        </p:nvSpPr>
        <p:spPr>
          <a:xfrm>
            <a:off x="502920" y="2468880"/>
            <a:ext cx="3108960" cy="457200"/>
          </a:xfrm>
          <a:prstGeom prst="rect">
            <a:avLst/>
          </a:prstGeom>
          <a:noFill/>
        </p:spPr>
        <p:txBody>
          <a:bodyPr wrap="square">
            <a:spAutoFit/>
          </a:bodyPr>
          <a:lstStyle/>
          <a:p>
            <a:pPr algn="l"/>
            <a:r>
              <a:rPr sz="1150" b="0">
                <a:solidFill>
                  <a:srgbClr val="0B1B3A"/>
                </a:solidFill>
                <a:latin typeface="Aptos"/>
              </a:rPr>
              <a:t>Compliance, legal &amp; licensing</a:t>
            </a:r>
          </a:p>
        </p:txBody>
      </p:sp>
      <p:sp>
        <p:nvSpPr>
          <p:cNvPr id="8" name="Rectangle 7"/>
          <p:cNvSpPr/>
          <p:nvPr/>
        </p:nvSpPr>
        <p:spPr>
          <a:xfrm>
            <a:off x="3749039" y="2523744"/>
            <a:ext cx="5669280" cy="237744"/>
          </a:xfrm>
          <a:prstGeom prst="rect">
            <a:avLst/>
          </a:prstGeom>
          <a:solidFill>
            <a:srgbClr val="5B5F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0" y="2468880"/>
            <a:ext cx="2011680" cy="457200"/>
          </a:xfrm>
          <a:prstGeom prst="rect">
            <a:avLst/>
          </a:prstGeom>
          <a:noFill/>
        </p:spPr>
        <p:txBody>
          <a:bodyPr wrap="square">
            <a:spAutoFit/>
          </a:bodyPr>
          <a:lstStyle/>
          <a:p>
            <a:pPr algn="r"/>
            <a:r>
              <a:rPr sz="1150" b="1">
                <a:solidFill>
                  <a:srgbClr val="0B1B3A"/>
                </a:solidFill>
                <a:latin typeface="Aptos"/>
              </a:rPr>
              <a:t>34.8%  £1.07m</a:t>
            </a:r>
          </a:p>
        </p:txBody>
      </p:sp>
      <p:sp>
        <p:nvSpPr>
          <p:cNvPr id="10" name="TextBox 9"/>
          <p:cNvSpPr txBox="1"/>
          <p:nvPr/>
        </p:nvSpPr>
        <p:spPr>
          <a:xfrm>
            <a:off x="502920" y="3017520"/>
            <a:ext cx="3108960" cy="457200"/>
          </a:xfrm>
          <a:prstGeom prst="rect">
            <a:avLst/>
          </a:prstGeom>
          <a:noFill/>
        </p:spPr>
        <p:txBody>
          <a:bodyPr wrap="square">
            <a:spAutoFit/>
          </a:bodyPr>
          <a:lstStyle/>
          <a:p>
            <a:pPr algn="l"/>
            <a:r>
              <a:rPr sz="1150" b="0">
                <a:solidFill>
                  <a:srgbClr val="0B1B3A"/>
                </a:solidFill>
                <a:latin typeface="Aptos"/>
              </a:rPr>
              <a:t>Team, operations &amp; G&amp;A</a:t>
            </a:r>
          </a:p>
        </p:txBody>
      </p:sp>
      <p:sp>
        <p:nvSpPr>
          <p:cNvPr id="11" name="Rectangle 10"/>
          <p:cNvSpPr/>
          <p:nvPr/>
        </p:nvSpPr>
        <p:spPr>
          <a:xfrm>
            <a:off x="3749039" y="3072384"/>
            <a:ext cx="5652988" cy="23774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0" y="3017520"/>
            <a:ext cx="2011680" cy="457200"/>
          </a:xfrm>
          <a:prstGeom prst="rect">
            <a:avLst/>
          </a:prstGeom>
          <a:noFill/>
        </p:spPr>
        <p:txBody>
          <a:bodyPr wrap="square">
            <a:spAutoFit/>
          </a:bodyPr>
          <a:lstStyle/>
          <a:p>
            <a:pPr algn="r"/>
            <a:r>
              <a:rPr sz="1150" b="1">
                <a:solidFill>
                  <a:srgbClr val="0B1B3A"/>
                </a:solidFill>
                <a:latin typeface="Aptos"/>
              </a:rPr>
              <a:t>34.7%  £1.06m</a:t>
            </a:r>
          </a:p>
        </p:txBody>
      </p:sp>
      <p:sp>
        <p:nvSpPr>
          <p:cNvPr id="13" name="TextBox 12"/>
          <p:cNvSpPr txBox="1"/>
          <p:nvPr/>
        </p:nvSpPr>
        <p:spPr>
          <a:xfrm>
            <a:off x="502920" y="3566160"/>
            <a:ext cx="3108960" cy="457200"/>
          </a:xfrm>
          <a:prstGeom prst="rect">
            <a:avLst/>
          </a:prstGeom>
          <a:noFill/>
        </p:spPr>
        <p:txBody>
          <a:bodyPr wrap="square">
            <a:spAutoFit/>
          </a:bodyPr>
          <a:lstStyle/>
          <a:p>
            <a:pPr algn="l"/>
            <a:r>
              <a:rPr sz="1150" b="0">
                <a:solidFill>
                  <a:srgbClr val="0B1B3A"/>
                </a:solidFill>
                <a:latin typeface="Aptos"/>
              </a:rPr>
              <a:t>Engineering &amp; product delivery</a:t>
            </a:r>
          </a:p>
        </p:txBody>
      </p:sp>
      <p:sp>
        <p:nvSpPr>
          <p:cNvPr id="14" name="Rectangle 13"/>
          <p:cNvSpPr/>
          <p:nvPr/>
        </p:nvSpPr>
        <p:spPr>
          <a:xfrm>
            <a:off x="3749039" y="3621024"/>
            <a:ext cx="3030132" cy="237744"/>
          </a:xfrm>
          <a:prstGeom prst="rect">
            <a:avLst/>
          </a:prstGeom>
          <a:solidFill>
            <a:srgbClr val="0E8C7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92640" y="3566160"/>
            <a:ext cx="2011680" cy="457200"/>
          </a:xfrm>
          <a:prstGeom prst="rect">
            <a:avLst/>
          </a:prstGeom>
          <a:noFill/>
        </p:spPr>
        <p:txBody>
          <a:bodyPr wrap="square">
            <a:spAutoFit/>
          </a:bodyPr>
          <a:lstStyle/>
          <a:p>
            <a:pPr algn="r"/>
            <a:r>
              <a:rPr sz="1150" b="1">
                <a:solidFill>
                  <a:srgbClr val="0B1B3A"/>
                </a:solidFill>
                <a:latin typeface="Aptos"/>
              </a:rPr>
              <a:t>18.6%  £571k</a:t>
            </a:r>
          </a:p>
        </p:txBody>
      </p:sp>
      <p:sp>
        <p:nvSpPr>
          <p:cNvPr id="16" name="TextBox 15"/>
          <p:cNvSpPr txBox="1"/>
          <p:nvPr/>
        </p:nvSpPr>
        <p:spPr>
          <a:xfrm>
            <a:off x="502920" y="4114800"/>
            <a:ext cx="3108960" cy="457200"/>
          </a:xfrm>
          <a:prstGeom prst="rect">
            <a:avLst/>
          </a:prstGeom>
          <a:noFill/>
        </p:spPr>
        <p:txBody>
          <a:bodyPr wrap="square">
            <a:spAutoFit/>
          </a:bodyPr>
          <a:lstStyle/>
          <a:p>
            <a:pPr algn="l"/>
            <a:r>
              <a:rPr sz="1150" b="0">
                <a:solidFill>
                  <a:srgbClr val="0B1B3A"/>
                </a:solidFill>
                <a:latin typeface="Aptos"/>
              </a:rPr>
              <a:t>Operating reserve &amp; contingency</a:t>
            </a:r>
          </a:p>
        </p:txBody>
      </p:sp>
      <p:sp>
        <p:nvSpPr>
          <p:cNvPr id="17" name="Rectangle 16"/>
          <p:cNvSpPr/>
          <p:nvPr/>
        </p:nvSpPr>
        <p:spPr>
          <a:xfrm>
            <a:off x="3749039" y="4169664"/>
            <a:ext cx="1026335" cy="237744"/>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692640" y="4114800"/>
            <a:ext cx="2011680" cy="457200"/>
          </a:xfrm>
          <a:prstGeom prst="rect">
            <a:avLst/>
          </a:prstGeom>
          <a:noFill/>
        </p:spPr>
        <p:txBody>
          <a:bodyPr wrap="square">
            <a:spAutoFit/>
          </a:bodyPr>
          <a:lstStyle/>
          <a:p>
            <a:pPr algn="r"/>
            <a:r>
              <a:rPr sz="1150" b="1">
                <a:solidFill>
                  <a:srgbClr val="0B1B3A"/>
                </a:solidFill>
                <a:latin typeface="Aptos"/>
              </a:rPr>
              <a:t>6.3%  £192k</a:t>
            </a:r>
          </a:p>
        </p:txBody>
      </p:sp>
      <p:sp>
        <p:nvSpPr>
          <p:cNvPr id="19" name="TextBox 18"/>
          <p:cNvSpPr txBox="1"/>
          <p:nvPr/>
        </p:nvSpPr>
        <p:spPr>
          <a:xfrm>
            <a:off x="502920" y="4663440"/>
            <a:ext cx="3108960" cy="457200"/>
          </a:xfrm>
          <a:prstGeom prst="rect">
            <a:avLst/>
          </a:prstGeom>
          <a:noFill/>
        </p:spPr>
        <p:txBody>
          <a:bodyPr wrap="square">
            <a:spAutoFit/>
          </a:bodyPr>
          <a:lstStyle/>
          <a:p>
            <a:pPr algn="l"/>
            <a:r>
              <a:rPr sz="1150" b="0">
                <a:solidFill>
                  <a:srgbClr val="0B1B3A"/>
                </a:solidFill>
                <a:latin typeface="Aptos"/>
              </a:rPr>
              <a:t>Partner-led GTM &amp; acquisition</a:t>
            </a:r>
          </a:p>
        </p:txBody>
      </p:sp>
      <p:sp>
        <p:nvSpPr>
          <p:cNvPr id="20" name="Rectangle 19"/>
          <p:cNvSpPr/>
          <p:nvPr/>
        </p:nvSpPr>
        <p:spPr>
          <a:xfrm>
            <a:off x="3749039" y="4718304"/>
            <a:ext cx="912297" cy="237744"/>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92640" y="4663440"/>
            <a:ext cx="2011680" cy="457200"/>
          </a:xfrm>
          <a:prstGeom prst="rect">
            <a:avLst/>
          </a:prstGeom>
          <a:noFill/>
        </p:spPr>
        <p:txBody>
          <a:bodyPr wrap="square">
            <a:spAutoFit/>
          </a:bodyPr>
          <a:lstStyle/>
          <a:p>
            <a:pPr algn="r"/>
            <a:r>
              <a:rPr sz="1150" b="1">
                <a:solidFill>
                  <a:srgbClr val="0B1B3A"/>
                </a:solidFill>
                <a:latin typeface="Aptos"/>
              </a:rPr>
              <a:t>5.6%  £171k</a:t>
            </a:r>
          </a:p>
        </p:txBody>
      </p:sp>
      <p:sp>
        <p:nvSpPr>
          <p:cNvPr id="22" name="Rectangle 21"/>
          <p:cNvSpPr/>
          <p:nvPr/>
        </p:nvSpPr>
        <p:spPr>
          <a:xfrm>
            <a:off x="502920" y="5349240"/>
            <a:ext cx="10728655" cy="6858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486400"/>
            <a:ext cx="7498079" cy="457200"/>
          </a:xfrm>
          <a:prstGeom prst="rect">
            <a:avLst/>
          </a:prstGeom>
          <a:noFill/>
        </p:spPr>
        <p:txBody>
          <a:bodyPr wrap="square">
            <a:spAutoFit/>
          </a:bodyPr>
          <a:lstStyle/>
          <a:p>
            <a:pPr algn="l"/>
            <a:r>
              <a:rPr sz="1200" b="0">
                <a:solidFill>
                  <a:srgbClr val="9EE8DA"/>
                </a:solidFill>
                <a:latin typeface="Aptos"/>
              </a:rPr>
              <a:t>£3.063m operating funding  +  £319k future restricted VARA capital</a:t>
            </a:r>
          </a:p>
        </p:txBody>
      </p:sp>
      <p:sp>
        <p:nvSpPr>
          <p:cNvPr id="24" name="TextBox 23"/>
          <p:cNvSpPr txBox="1"/>
          <p:nvPr/>
        </p:nvSpPr>
        <p:spPr>
          <a:xfrm>
            <a:off x="8001000" y="5458968"/>
            <a:ext cx="2971800" cy="457200"/>
          </a:xfrm>
          <a:prstGeom prst="rect">
            <a:avLst/>
          </a:prstGeom>
          <a:noFill/>
        </p:spPr>
        <p:txBody>
          <a:bodyPr wrap="square">
            <a:spAutoFit/>
          </a:bodyPr>
          <a:lstStyle/>
          <a:p>
            <a:pPr algn="r"/>
            <a:r>
              <a:rPr sz="1500" b="1">
                <a:solidFill>
                  <a:srgbClr val="FFFFFF"/>
                </a:solidFill>
                <a:latin typeface="Aptos"/>
              </a:rPr>
              <a:t>£3.382m staged total</a:t>
            </a:r>
          </a:p>
        </p:txBody>
      </p:sp>
      <p:sp>
        <p:nvSpPr>
          <p:cNvPr id="25" name="TextBox 24"/>
          <p:cNvSpPr txBox="1"/>
          <p:nvPr/>
        </p:nvSpPr>
        <p:spPr>
          <a:xfrm>
            <a:off x="11505895" y="6400800"/>
            <a:ext cx="365760" cy="274320"/>
          </a:xfrm>
          <a:prstGeom prst="rect">
            <a:avLst/>
          </a:prstGeom>
          <a:noFill/>
        </p:spPr>
        <p:txBody>
          <a:bodyPr wrap="square">
            <a:spAutoFit/>
          </a:bodyPr>
          <a:lstStyle/>
          <a:p>
            <a:pPr algn="r"/>
            <a:r>
              <a:rPr sz="900" b="0">
                <a:solidFill>
                  <a:srgbClr val="6B7280"/>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22960" y="1371600"/>
            <a:ext cx="502920" cy="31750"/>
          </a:xfrm>
          <a:prstGeom prst="rect">
            <a:avLst/>
          </a:prstGeom>
          <a:solidFill>
            <a:srgbClr val="C77D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508760"/>
            <a:ext cx="10545775" cy="365760"/>
          </a:xfrm>
          <a:prstGeom prst="rect">
            <a:avLst/>
          </a:prstGeom>
          <a:noFill/>
        </p:spPr>
        <p:txBody>
          <a:bodyPr wrap="square">
            <a:spAutoFit/>
          </a:bodyPr>
          <a:lstStyle/>
          <a:p>
            <a:pPr algn="l"/>
            <a:r>
              <a:rPr sz="1300" b="1" spc="300">
                <a:solidFill>
                  <a:srgbClr val="C77D18"/>
                </a:solidFill>
                <a:latin typeface="Aptos"/>
              </a:rPr>
              <a:t>TEAM TRANSAKT</a:t>
            </a:r>
          </a:p>
        </p:txBody>
      </p:sp>
      <p:sp>
        <p:nvSpPr>
          <p:cNvPr id="5" name="TextBox 4"/>
          <p:cNvSpPr txBox="1"/>
          <p:nvPr/>
        </p:nvSpPr>
        <p:spPr>
          <a:xfrm>
            <a:off x="822960" y="1965960"/>
            <a:ext cx="10545775" cy="1463040"/>
          </a:xfrm>
          <a:prstGeom prst="rect">
            <a:avLst/>
          </a:prstGeom>
          <a:noFill/>
        </p:spPr>
        <p:txBody>
          <a:bodyPr wrap="square">
            <a:spAutoFit/>
          </a:bodyPr>
          <a:lstStyle/>
          <a:p>
            <a:pPr algn="l">
              <a:lnSpc>
                <a:spcPct val="105000"/>
              </a:lnSpc>
            </a:pPr>
            <a:r>
              <a:rPr sz="4000" b="1">
                <a:solidFill>
                  <a:srgbClr val="FFFFFF"/>
                </a:solidFill>
                <a:latin typeface="Aptos Display"/>
              </a:rPr>
              <a:t>The trust layer for global trade -</a:t>
            </a:r>
          </a:p>
          <a:p>
            <a:pPr algn="l">
              <a:lnSpc>
                <a:spcPct val="105000"/>
              </a:lnSpc>
            </a:pPr>
            <a:r>
              <a:rPr sz="4000" b="1">
                <a:solidFill>
                  <a:srgbClr val="C77D18"/>
                </a:solidFill>
                <a:latin typeface="Aptos Display"/>
              </a:rPr>
              <a:t>already settling.</a:t>
            </a:r>
          </a:p>
        </p:txBody>
      </p:sp>
      <p:sp>
        <p:nvSpPr>
          <p:cNvPr id="6" name="TextBox 5"/>
          <p:cNvSpPr txBox="1"/>
          <p:nvPr/>
        </p:nvSpPr>
        <p:spPr>
          <a:xfrm>
            <a:off x="822960" y="4206240"/>
            <a:ext cx="2926080" cy="365760"/>
          </a:xfrm>
          <a:prstGeom prst="rect">
            <a:avLst/>
          </a:prstGeom>
          <a:noFill/>
        </p:spPr>
        <p:txBody>
          <a:bodyPr wrap="square">
            <a:spAutoFit/>
          </a:bodyPr>
          <a:lstStyle/>
          <a:p>
            <a:pPr algn="l"/>
            <a:r>
              <a:rPr sz="1100" b="1" spc="200">
                <a:solidFill>
                  <a:srgbClr val="9CA6B8"/>
                </a:solidFill>
                <a:latin typeface="Aptos"/>
              </a:rPr>
              <a:t>LIVE PROTOTYPE</a:t>
            </a:r>
          </a:p>
        </p:txBody>
      </p:sp>
      <p:sp>
        <p:nvSpPr>
          <p:cNvPr id="7" name="TextBox 6"/>
          <p:cNvSpPr txBox="1"/>
          <p:nvPr/>
        </p:nvSpPr>
        <p:spPr>
          <a:xfrm>
            <a:off x="3840480" y="4206240"/>
            <a:ext cx="7315200" cy="365760"/>
          </a:xfrm>
          <a:prstGeom prst="rect">
            <a:avLst/>
          </a:prstGeom>
          <a:noFill/>
        </p:spPr>
        <p:txBody>
          <a:bodyPr wrap="square">
            <a:spAutoFit/>
          </a:bodyPr>
          <a:lstStyle/>
          <a:p>
            <a:pPr algn="l"/>
            <a:r>
              <a:rPr sz="1300" b="0">
                <a:solidFill>
                  <a:srgbClr val="FFFFFF"/>
                </a:solidFill>
                <a:latin typeface="Consolas"/>
              </a:rPr>
              <a:t>block-med-nine.vercel.app</a:t>
            </a:r>
          </a:p>
        </p:txBody>
      </p:sp>
      <p:sp>
        <p:nvSpPr>
          <p:cNvPr id="8" name="TextBox 7"/>
          <p:cNvSpPr txBox="1"/>
          <p:nvPr/>
        </p:nvSpPr>
        <p:spPr>
          <a:xfrm>
            <a:off x="822960" y="4681728"/>
            <a:ext cx="2926080" cy="365760"/>
          </a:xfrm>
          <a:prstGeom prst="rect">
            <a:avLst/>
          </a:prstGeom>
          <a:noFill/>
        </p:spPr>
        <p:txBody>
          <a:bodyPr wrap="square">
            <a:spAutoFit/>
          </a:bodyPr>
          <a:lstStyle/>
          <a:p>
            <a:pPr algn="l"/>
            <a:r>
              <a:rPr sz="1100" b="1" spc="200">
                <a:solidFill>
                  <a:srgbClr val="9CA6B8"/>
                </a:solidFill>
                <a:latin typeface="Aptos"/>
              </a:rPr>
              <a:t>SOURCE &amp; DOCUMENTS</a:t>
            </a:r>
          </a:p>
        </p:txBody>
      </p:sp>
      <p:sp>
        <p:nvSpPr>
          <p:cNvPr id="9" name="TextBox 8"/>
          <p:cNvSpPr txBox="1"/>
          <p:nvPr/>
        </p:nvSpPr>
        <p:spPr>
          <a:xfrm>
            <a:off x="3840480" y="4681728"/>
            <a:ext cx="7315200" cy="365760"/>
          </a:xfrm>
          <a:prstGeom prst="rect">
            <a:avLst/>
          </a:prstGeom>
          <a:noFill/>
        </p:spPr>
        <p:txBody>
          <a:bodyPr wrap="square">
            <a:spAutoFit/>
          </a:bodyPr>
          <a:lstStyle/>
          <a:p>
            <a:pPr algn="l"/>
            <a:r>
              <a:rPr sz="1300" b="0">
                <a:solidFill>
                  <a:srgbClr val="FFFFFF"/>
                </a:solidFill>
                <a:latin typeface="Consolas"/>
              </a:rPr>
              <a:t>github.com/nchengg/BlockMed</a:t>
            </a:r>
          </a:p>
        </p:txBody>
      </p:sp>
      <p:sp>
        <p:nvSpPr>
          <p:cNvPr id="10" name="TextBox 9"/>
          <p:cNvSpPr txBox="1"/>
          <p:nvPr/>
        </p:nvSpPr>
        <p:spPr>
          <a:xfrm>
            <a:off x="822960" y="5157216"/>
            <a:ext cx="2926080" cy="365760"/>
          </a:xfrm>
          <a:prstGeom prst="rect">
            <a:avLst/>
          </a:prstGeom>
          <a:noFill/>
        </p:spPr>
        <p:txBody>
          <a:bodyPr wrap="square">
            <a:spAutoFit/>
          </a:bodyPr>
          <a:lstStyle/>
          <a:p>
            <a:pPr algn="l"/>
            <a:r>
              <a:rPr sz="1100" b="1" spc="200">
                <a:solidFill>
                  <a:srgbClr val="9CA6B8"/>
                </a:solidFill>
                <a:latin typeface="Aptos"/>
              </a:rPr>
              <a:t>THE SETTLEMENT</a:t>
            </a:r>
          </a:p>
        </p:txBody>
      </p:sp>
      <p:sp>
        <p:nvSpPr>
          <p:cNvPr id="11" name="TextBox 10"/>
          <p:cNvSpPr txBox="1"/>
          <p:nvPr/>
        </p:nvSpPr>
        <p:spPr>
          <a:xfrm>
            <a:off x="3840480" y="5157216"/>
            <a:ext cx="7315200" cy="365760"/>
          </a:xfrm>
          <a:prstGeom prst="rect">
            <a:avLst/>
          </a:prstGeom>
          <a:noFill/>
        </p:spPr>
        <p:txBody>
          <a:bodyPr wrap="square">
            <a:spAutoFit/>
          </a:bodyPr>
          <a:lstStyle/>
          <a:p>
            <a:pPr algn="l"/>
            <a:r>
              <a:rPr sz="1300" b="0">
                <a:solidFill>
                  <a:srgbClr val="FFFFFF"/>
                </a:solidFill>
                <a:latin typeface="Consolas"/>
              </a:rPr>
              <a:t>basescan.org/tx/0xd3507c6e...412a4d8d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