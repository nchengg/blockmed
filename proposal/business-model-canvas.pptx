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77D18"/>
                </a:solidFill>
                <a:latin typeface="Aptos"/>
              </a:rPr>
              <a:t>PRODUCT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B1B3A"/>
                </a:solidFill>
                <a:latin typeface="Aptos"/>
              </a:rPr>
              <a:t>Three trust tiers. Narrow on-chain, smart off-chain.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7406640" cy="96012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7406640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54480"/>
            <a:ext cx="71871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1" i="0">
                <a:solidFill>
                  <a:srgbClr val="1F6FB2"/>
                </a:solidFill>
                <a:latin typeface="Aptos"/>
              </a:rPr>
              <a:t>CLIENT TIER  ·  Buyer · Seller · Reviewer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900" b="0" i="0">
                <a:solidFill>
                  <a:srgbClr val="1B2430"/>
                </a:solidFill>
                <a:latin typeface="Aptos"/>
              </a:rPr>
              <a:t>Every read and write goes through one authenticated API. Wallets sign deposit and release straight to the chain.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97480"/>
            <a:ext cx="7406640" cy="132588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97480"/>
            <a:ext cx="7406640" cy="3810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788920"/>
            <a:ext cx="7187184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1" i="0">
                <a:solidFill>
                  <a:srgbClr val="0E8C7F"/>
                </a:solidFill>
                <a:latin typeface="Aptos"/>
              </a:rPr>
              <a:t>OFF-CHAIN ORCHESTRATION + VERIFICATION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900" b="0" i="0">
                <a:solidFill>
                  <a:srgbClr val="1B2430"/>
                </a:solidFill>
                <a:latin typeface="Aptos"/>
              </a:rPr>
              <a:t>deal-intake · KYC/sanctions · document-checker + rules engine · dispute · settlement. AI reads, deterministic code computes the money, a human signs off. The append-only audit ledger is the regulator-facing source of truth.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343400"/>
            <a:ext cx="7406640" cy="96012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343400"/>
            <a:ext cx="7406640" cy="381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434840"/>
            <a:ext cx="718718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1" i="0">
                <a:solidFill>
                  <a:srgbClr val="0B1B3A"/>
                </a:solidFill>
                <a:latin typeface="Aptos"/>
              </a:rPr>
              <a:t>ON-CHAIN TIER  ·  narrow Escrow contract  ·  Base Sepolia (EVM L2)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900" b="0" i="0">
                <a:solidFill>
                  <a:srgbClr val="1B2430"/>
                </a:solidFill>
                <a:latin typeface="Aptos"/>
              </a:rPr>
              <a:t>Holds USDC · enforces the state machine · emits events. It never sees a trade document.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188720" y="4059936"/>
            <a:ext cx="274320" cy="246888"/>
          </a:xfrm>
          <a:prstGeom prst="downArrow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4105656"/>
            <a:ext cx="6263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C77D18"/>
                </a:solidFill>
                <a:latin typeface="Aptos"/>
              </a:rPr>
              <a:t>releaser key — the ONE bridge: off-chain verdict → recordVerdict on-chain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170432"/>
            <a:ext cx="3520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B1B3A"/>
                </a:solidFill>
                <a:latin typeface="Aptos"/>
              </a:rPr>
              <a:t>DESIGN DECISIONS — WHY THE BUILD HOLDS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463040"/>
            <a:ext cx="3520440" cy="96012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463040"/>
            <a:ext cx="25400" cy="96012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63624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B3A"/>
                </a:solidFill>
                <a:latin typeface="Aptos"/>
              </a:rPr>
              <a:t>Narrow contract  </a:t>
            </a:r>
            <a:r>
              <a:rPr sz="800" b="1" i="0">
                <a:solidFill>
                  <a:srgbClr val="C77D18"/>
                </a:solidFill>
                <a:latin typeface="Aptos"/>
              </a:rPr>
              <a:t>AP-1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773936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1B2430"/>
                </a:solidFill>
                <a:latin typeface="Aptos"/>
              </a:rPr>
              <a:t>On-chain code holds funds and state only — no document logic, no money math. Small attack surface, chain-portable.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532888"/>
            <a:ext cx="3520440" cy="96012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532888"/>
            <a:ext cx="25400" cy="96012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633472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B3A"/>
                </a:solidFill>
                <a:latin typeface="Aptos"/>
              </a:rPr>
              <a:t>Permissionless release  </a:t>
            </a:r>
            <a:r>
              <a:rPr sz="800" b="1" i="0">
                <a:solidFill>
                  <a:srgbClr val="C77D18"/>
                </a:solidFill>
                <a:latin typeface="Aptos"/>
              </a:rPr>
              <a:t>AP-7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43784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1B2430"/>
                </a:solidFill>
                <a:latin typeface="Aptos"/>
              </a:rPr>
              <a:t>Release isn't gated on our key — a cleared seller can always be paid. Liveness without trusting the operator.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602736"/>
            <a:ext cx="3520440" cy="96012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602736"/>
            <a:ext cx="25400" cy="96012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703320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B3A"/>
                </a:solidFill>
                <a:latin typeface="Aptos"/>
              </a:rPr>
              <a:t>Audit around every action  </a:t>
            </a:r>
            <a:r>
              <a:rPr sz="800" b="1" i="0">
                <a:solidFill>
                  <a:srgbClr val="C77D18"/>
                </a:solidFill>
                <a:latin typeface="Aptos"/>
              </a:rPr>
              <a:t>AP-4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913632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1B2430"/>
                </a:solidFill>
                <a:latin typeface="Aptos"/>
              </a:rPr>
              <a:t>Intent logged before the transaction, reconciliation after. The ledger — not the chain — is the source of truth.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4672583"/>
            <a:ext cx="3520440" cy="96012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4672583"/>
            <a:ext cx="25400" cy="96012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773168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B1B3A"/>
                </a:solidFill>
                <a:latin typeface="Aptos"/>
              </a:rPr>
              <a:t>Money in code, human above the line  </a:t>
            </a:r>
            <a:r>
              <a:rPr sz="800" b="1" i="0">
                <a:solidFill>
                  <a:srgbClr val="C77D18"/>
                </a:solidFill>
                <a:latin typeface="Aptos"/>
              </a:rPr>
              <a:t>AP-5 /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83479"/>
            <a:ext cx="3291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1B2430"/>
                </a:solidFill>
                <a:latin typeface="Aptos"/>
              </a:rPr>
              <a:t>All arithmetic is deterministic code; anything outside the autonomy thresholds escalates to a human sign-off.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742432"/>
            <a:ext cx="7406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0B1B3A"/>
                </a:solidFill>
                <a:latin typeface="Aptos"/>
              </a:rPr>
              <a:t>Narrow on-chain, smart off-chain, audited around every action — documentary-grade trust without the issuing bank.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77D18"/>
                </a:solidFill>
                <a:latin typeface="Aptos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7132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B1B3A"/>
                </a:solidFill>
                <a:latin typeface="Aptos"/>
              </a:rPr>
              <a:t>The wedge is narrow. The trade behind it is not.</a:t>
            </a:r>
          </a:p>
        </p:txBody>
      </p:sp>
      <p:sp>
        <p:nvSpPr>
          <p:cNvPr id="5" name="Oval 4"/>
          <p:cNvSpPr/>
          <p:nvPr/>
        </p:nvSpPr>
        <p:spPr>
          <a:xfrm>
            <a:off x="1851660" y="1513332"/>
            <a:ext cx="3703320" cy="3703320"/>
          </a:xfrm>
          <a:prstGeom prst="ellipse">
            <a:avLst/>
          </a:prstGeom>
          <a:noFill/>
          <a:ln w="31750">
            <a:solidFill>
              <a:srgbClr val="0B1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8879" y="2130552"/>
            <a:ext cx="2468880" cy="2468880"/>
          </a:xfrm>
          <a:prstGeom prst="ellipse">
            <a:avLst/>
          </a:prstGeom>
          <a:noFill/>
          <a:ln w="317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63239" y="2724912"/>
            <a:ext cx="1280160" cy="1280160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79" y="1627632"/>
            <a:ext cx="33832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B1B3A"/>
                </a:solidFill>
                <a:latin typeface="Aptos"/>
              </a:rPr>
              <a:t>$1.03T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ptos"/>
              </a:rPr>
              <a:t>UAE non-oil foreign trade,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2249424"/>
            <a:ext cx="29260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F6FB2"/>
                </a:solidFill>
                <a:latin typeface="Aptos"/>
              </a:rPr>
              <a:t>~$65B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ptos"/>
              </a:rPr>
              <a:t>UAE–India CEPA non-oil corridor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7" y="3108960"/>
            <a:ext cx="1243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~$110M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ptos"/>
              </a:rPr>
              <a:t>processed, Y1–Y3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64208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B1B3A"/>
                </a:solidFill>
                <a:latin typeface="Aptos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6FB2"/>
                </a:solidFill>
                <a:latin typeface="Aptos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45536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E8C7F"/>
                </a:solidFill>
                <a:latin typeface="Aptos"/>
              </a:rPr>
              <a:t>SOM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267712"/>
            <a:ext cx="4983480" cy="219456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2267712"/>
            <a:ext cx="4983480" cy="3810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424" y="2432304"/>
            <a:ext cx="46908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77D18"/>
                </a:solidFill>
                <a:latin typeface="Aptos"/>
              </a:rPr>
              <a:t>BEACHHEAD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77D18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2770632"/>
            <a:ext cx="4343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1B2430"/>
                </a:solidFill>
                <a:latin typeface="Aptos"/>
              </a:rPr>
              <a:t>UAE importers of Indian textiles, garments and consumer goods.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34015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77D18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896" y="3428999"/>
            <a:ext cx="4343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1B2430"/>
                </a:solidFill>
                <a:latin typeface="Aptos"/>
              </a:rPr>
              <a:t>$10K–$50K shipments — the LC dead zone: too small for a bank to issue against, too large to pay on trust.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4059935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77D18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8896" y="4087368"/>
            <a:ext cx="4343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1B2430"/>
                </a:solidFill>
                <a:latin typeface="Aptos"/>
              </a:rPr>
              <a:t>Repeat trade pattern creates a retention surface.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04688"/>
            <a:ext cx="6355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0B1B3A"/>
                </a:solidFill>
                <a:latin typeface="Aptos"/>
              </a:rPr>
              <a:t>Where the gap bites hardest, and where the regulators are most ready.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70448"/>
            <a:ext cx="6355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Aptos"/>
              </a:rPr>
              <a:t>Trade value we settle against — not a financing gap we fund.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6B7280"/>
                </a:solidFill>
                <a:latin typeface="Aptos"/>
              </a:rPr>
              <a:t>Sources: UAE Ministry of Foreign Trade (2026); India–UAE CEPA bilateral trade (2026); Blockmediary financial model, 13 Aug 2026. SOM converted at a stated 1.30 USD/GBP.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1089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B1B3A"/>
                </a:solidFill>
                <a:latin typeface="Aptos"/>
              </a:rPr>
              <a:t>Business Model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402336"/>
            <a:ext cx="64282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B7280"/>
                </a:solidFill>
                <a:latin typeface="Aptos"/>
              </a:rPr>
              <a:t>Transakt — Blockmediary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40312" cy="12700"/>
          </a:xfrm>
          <a:prstGeom prst="rect">
            <a:avLst/>
          </a:prstGeom>
          <a:solidFill>
            <a:srgbClr val="D8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843784" cy="265176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2843784" cy="381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42416"/>
            <a:ext cx="2624328" cy="24140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B1B3A"/>
                </a:solidFill>
                <a:latin typeface="Aptos"/>
              </a:rPr>
              <a:t>The Business Opportunity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 i="1">
                <a:solidFill>
                  <a:srgbClr val="6B7280"/>
                </a:solidFill>
                <a:latin typeface="Aptos"/>
              </a:rPr>
              <a:t>Where is the gap in the market, and how do you intend to fill it?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0B1B3A"/>
                </a:solidFill>
                <a:latin typeface="Aptos"/>
              </a:rPr>
              <a:t>The Problem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1" i="0">
                <a:solidFill>
                  <a:srgbClr val="1B2430"/>
                </a:solidFill>
                <a:latin typeface="Aptos"/>
              </a:rPr>
              <a:t>Same fixed compliance cost on a $10K trade as a $5M trade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SME ticket sizes uneconomic for banks at scale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$2.5T global trade finance gap (ADB, 2025); 41% of SME applications rejected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Rejected SMEs fall back on trust, prepayment, or drop the trade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0B1B3A"/>
                </a:solidFill>
                <a:latin typeface="Aptos"/>
              </a:rPr>
              <a:t>Our Solution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UCP 600-inspired documentary release, stablecoin settlement, no issuing bank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Buyer escrow → seller documents → release on compliant presentation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Four verification layers plus an invoked escalation route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Blockmediary addresses the documentary trust and payment-assurance gap, not working-capital finance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9544" y="914400"/>
            <a:ext cx="2843784" cy="265176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9544" y="914400"/>
            <a:ext cx="2843784" cy="38100"/>
          </a:xfrm>
          <a:prstGeom prst="rect">
            <a:avLst/>
          </a:prstGeom>
          <a:solidFill>
            <a:srgbClr val="5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42416"/>
            <a:ext cx="2624328" cy="24140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B1B3A"/>
                </a:solidFill>
                <a:latin typeface="Aptos"/>
              </a:rPr>
              <a:t>Business Description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 i="1">
                <a:solidFill>
                  <a:srgbClr val="6B7280"/>
                </a:solidFill>
                <a:latin typeface="Aptos"/>
              </a:rPr>
              <a:t>Brief outline of your business model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1" i="0">
                <a:solidFill>
                  <a:srgbClr val="1B2430"/>
                </a:solidFill>
                <a:latin typeface="Aptos"/>
              </a:rPr>
              <a:t>Documentary escrow operator: verification, release rules, settlement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Smart-contract escrow holds stablecoins against documentary release rules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UCP 600-inspired Article 14 release logic — a Trade Escrow Agreement, not an LC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Settlement on stablecoin rails (USDC), not bank correspondent networks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Not a bank: no deposits, no lending, no token issuance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Not DeFi: centralised trust and compliance layer by design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Pilot planned through a suitably DFSA-authorised partner, subject to confirmed permissions and executed agreements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First paid deal targeted Month 12; full VARA licence Month 18 — the gate for UAE-wide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914400"/>
            <a:ext cx="2843784" cy="265176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914400"/>
            <a:ext cx="2843784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042416"/>
            <a:ext cx="2624328" cy="24140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B1B3A"/>
                </a:solidFill>
                <a:latin typeface="Aptos"/>
              </a:rPr>
              <a:t>Target Market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1F6FB2"/>
                </a:solidFill>
                <a:latin typeface="Aptos"/>
              </a:rPr>
              <a:t>Sector &amp; geography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1" i="0">
                <a:solidFill>
                  <a:srgbClr val="1B2430"/>
                </a:solidFill>
                <a:latin typeface="Aptos"/>
              </a:rPr>
              <a:t>SME importers/exporters; UAE launch market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Corridor: UAE–India (CEPA); more added per pilot envelope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Sectors: manufacturing, consumer goods, electronics, textiles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Ticket: the $10K–$50K “LC dead zone”; average deal £31K → £48K by Y5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1F6FB2"/>
                </a:solidFill>
                <a:latin typeface="Aptos"/>
              </a:rPr>
              <a:t>Strategic goals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Payment without LC cost or bank issuance delay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Counterparty access without bank gatekeeping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Verified trade reputation that travels across deals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1F6FB2"/>
                </a:solidFill>
                <a:latin typeface="Aptos"/>
              </a:rPr>
              <a:t>Pain points &amp; risks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LC pricing and access barrier at SME tickets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Pre-shipment payment-trust gap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Document fraud and discrepancy risk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Corridor FX and regulatory friction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9992" y="914400"/>
            <a:ext cx="2843784" cy="265176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79992" y="914400"/>
            <a:ext cx="2843784" cy="38100"/>
          </a:xfrm>
          <a:prstGeom prst="rect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1042416"/>
            <a:ext cx="2624328" cy="24140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B1B3A"/>
                </a:solidFill>
                <a:latin typeface="Aptos"/>
              </a:rPr>
              <a:t>USPs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 i="1">
                <a:solidFill>
                  <a:srgbClr val="6B7280"/>
                </a:solidFill>
                <a:latin typeface="Aptos"/>
              </a:rPr>
              <a:t>How does your product/service compare? What makes you unique?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1" i="0">
                <a:solidFill>
                  <a:srgbClr val="1B2430"/>
                </a:solidFill>
                <a:latin typeface="Aptos"/>
              </a:rPr>
              <a:t>UCP 600-inspired documentary release on stablecoin rails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Four-layer verification: screening → extraction → source corroboration → contracted examiner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Customer-selected verification tiers — speed traded against cost of trust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Two-track UAE route: DIFC partner pilot, then own VARA licence for scale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Modelled to undercut traditional LC fees on Tier A and selected Tier B transactions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Compliance-first by design: not a bank, not DeFi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2843784" cy="265176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2843784" cy="38100"/>
          </a:xfrm>
          <a:prstGeom prst="rect">
            <a:avLst/>
          </a:prstGeom>
          <a:solidFill>
            <a:srgbClr val="2C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785615"/>
            <a:ext cx="2624328" cy="24140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B1B3A"/>
                </a:solidFill>
                <a:latin typeface="Aptos"/>
              </a:rPr>
              <a:t>Revenue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2C7A33"/>
                </a:solidFill>
                <a:latin typeface="Aptos"/>
              </a:rPr>
              <a:t>Streams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1" i="0">
                <a:solidFill>
                  <a:srgbClr val="1B2430"/>
                </a:solidFill>
                <a:latin typeface="Aptos"/>
              </a:rPr>
              <a:t>A. Tiered escrow fee: 0.8% / 1.5% / 3.0% by verification tier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B. Dispute, expedited and onboarding fees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C. Partner/API setup and committed-volume fees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2C7A33"/>
                </a:solidFill>
                <a:latin typeface="Aptos"/>
              </a:rPr>
              <a:t>Projected revenue — base case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Year 3: £1.37m revenue on 2,000 deals and £76m GMV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Blended take rate falls 2.0% → 1.0% as Tier A grows 15% → 70%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Gross margin 71–79%; ancillary fees 25% of Y3 revenue, 17% by Y5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Monthly cash-flow break-even in Year 4, Month 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9544" y="3657600"/>
            <a:ext cx="2843784" cy="265176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9544" y="3657600"/>
            <a:ext cx="2843784" cy="38100"/>
          </a:xfrm>
          <a:prstGeom prst="rect">
            <a:avLst/>
          </a:prstGeom>
          <a:solidFill>
            <a:srgbClr val="C77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3785615"/>
            <a:ext cx="2624328" cy="24140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B1B3A"/>
                </a:solidFill>
                <a:latin typeface="Aptos"/>
              </a:rPr>
              <a:t>Costs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C77D18"/>
                </a:solidFill>
                <a:latin typeface="Aptos"/>
              </a:rPr>
              <a:t>Funding requirement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1" i="0">
                <a:solidFill>
                  <a:srgbClr val="1B2430"/>
                </a:solidFill>
                <a:latin typeface="Aptos"/>
              </a:rPr>
              <a:t>£3.06m operating funding to break-even; £319k VARA capital separate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C77D18"/>
                </a:solidFill>
                <a:latin typeface="Aptos"/>
              </a:rPr>
              <a:t>Fixed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Payroll — 8 FTE at launch to 24 by Year 5; dominant cost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Compliance, MLRO, VARA supervision and operational resilience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Engineering, cloud, monitoring and security tooling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Insurance (PI, cyber, D&amp;O) and legal retainer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C77D18"/>
                </a:solidFill>
                <a:latin typeface="Aptos"/>
              </a:rPr>
              <a:t>Variable (per deal)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eBL/carrier API lookup, or paper collection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Contracted documentary examiner time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KYB/KYC screening per new counterparty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On-chain gas and settlement cost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Dispute handling and enhanced review above £50K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657600"/>
            <a:ext cx="2843784" cy="265176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657600"/>
            <a:ext cx="2843784" cy="381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785615"/>
            <a:ext cx="2624328" cy="24140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B1B3A"/>
                </a:solidFill>
                <a:latin typeface="Aptos"/>
              </a:rPr>
              <a:t>Channels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 i="1">
                <a:solidFill>
                  <a:srgbClr val="6B7280"/>
                </a:solidFill>
                <a:latin typeface="Aptos"/>
              </a:rPr>
              <a:t>How will you promote your product or service?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1F6FB2"/>
                </a:solidFill>
                <a:latin typeface="Aptos"/>
              </a:rPr>
              <a:t>Direct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1" i="0">
                <a:solidFill>
                  <a:srgbClr val="1B2430"/>
                </a:solidFill>
                <a:latin typeface="Aptos"/>
              </a:rPr>
              <a:t>Dubai and Sharjah chambers of commerce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Freight forwarder referrals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DIFC FinTech Hive; Gulfood, GITEX, Dubai FinTech Summit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100"/>
              </a:spcAft>
            </a:pPr>
            <a:r>
              <a:rPr sz="800" b="1" i="0">
                <a:solidFill>
                  <a:srgbClr val="1F6FB2"/>
                </a:solidFill>
                <a:latin typeface="Aptos"/>
              </a:rPr>
              <a:t>Indirect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Regulated-partner distribution — the base case's primary scale route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Fintech wallet integrations (white-label verification API)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Logistics platform API partnerships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79992" y="3657600"/>
            <a:ext cx="2843784" cy="2651760"/>
          </a:xfrm>
          <a:prstGeom prst="rect">
            <a:avLst/>
          </a:prstGeom>
          <a:solidFill>
            <a:srgbClr val="F7F4EF"/>
          </a:solidFill>
          <a:ln w="9525">
            <a:solidFill>
              <a:srgbClr val="EA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79992" y="3657600"/>
            <a:ext cx="2843784" cy="38100"/>
          </a:xfrm>
          <a:prstGeom prst="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19" y="3785615"/>
            <a:ext cx="2624328" cy="24140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B1B3A"/>
                </a:solidFill>
                <a:latin typeface="Aptos"/>
              </a:rPr>
              <a:t>Competition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700" b="0" i="1">
                <a:solidFill>
                  <a:srgbClr val="6B7280"/>
                </a:solidFill>
                <a:latin typeface="Aptos"/>
              </a:rPr>
              <a:t>Who are your competitors and what are their USPs?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Bank-issued LCs — trust and networks; 1–3% commission before the fee stack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Tazapay — escrow-as-a-service; manual review, custodial fiat rails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Truzo — narrow UK–South Africa corridor; escrow wallet, no document layer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XREX — licensed custodial escrow; releases on agreement, not documents</a:t>
            </a:r>
          </a:p>
          <a:p>
            <a:pPr marL="91440" indent="-91440"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r>
              <a:rPr sz="800" b="0" i="0">
                <a:solidFill>
                  <a:srgbClr val="6B7280"/>
                </a:solidFill>
                <a:latin typeface="Aptos"/>
              </a:rPr>
              <a:t>•  </a:t>
            </a:r>
            <a:r>
              <a:rPr sz="800" b="0" i="0">
                <a:solidFill>
                  <a:srgbClr val="1B2430"/>
                </a:solidFill>
                <a:latin typeface="Aptos"/>
              </a:rPr>
              <a:t>Komgo / Contour — bank-consortium LC digitisation; Contour shut in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345936"/>
            <a:ext cx="11640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600" b="0" i="1">
                <a:solidFill>
                  <a:srgbClr val="6B7280"/>
                </a:solidFill>
                <a:latin typeface="Aptos"/>
              </a:rPr>
              <a:t>Sources: ADB (2025); ICC UCP 600 (2007); VARA Rulebook (2026); Blockmediary financial model and legal &amp; compliance risk register, 13 Aug 2026. UCP 600-inspired release logic; not a letter of credit. Pilot planned through a suitably DFSA-authorised partner, subject to confirmed permissions and executed agreements. Blockmediary provides documentary escrow and payment assurance, not working-capital finance. Figures are base case. GMV is trade value processed, not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