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c742e9df64dd0" /><Relationship Type="http://schemas.openxmlformats.org/officeDocument/2006/relationships/extended-properties" Target="/docProps/app.xml" Id="R63e42dcf730e4e29" /><Relationship Type="http://schemas.openxmlformats.org/officeDocument/2006/relationships/officeDocument" Target="/ppt/presentation.xml" Id="R4cc4d6b4e1fb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e37e1ac444a0e"/>
  </p:sldMasterIdLst>
  <p:notesMasterIdLst>
    <p:notesMasterId xmlns:r="http://schemas.openxmlformats.org/officeDocument/2006/relationships" r:id="Rb0bcad5b87954ee2"/>
  </p:notesMasterIdLst>
  <p:sldIdLst>
    <p:sldId xmlns:r="http://schemas.openxmlformats.org/officeDocument/2006/relationships" id="256" r:id="R83c59cfad7264bba"/>
    <p:sldId xmlns:r="http://schemas.openxmlformats.org/officeDocument/2006/relationships" id="257" r:id="R7b61da6575ee4d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003085c60d4255" /><Relationship Type="http://schemas.openxmlformats.org/officeDocument/2006/relationships/slideMaster" Target="/ppt/slideMasters/slideMaster1.xml" Id="Rac9e37e1ac444a0e" /><Relationship Type="http://schemas.openxmlformats.org/officeDocument/2006/relationships/notesMaster" Target="/ppt/notesMasters/notesMaster1.xml" Id="Rb0bcad5b87954ee2" /><Relationship Type="http://schemas.openxmlformats.org/officeDocument/2006/relationships/presProps" Target="/ppt/presProps.xml" Id="R11d234c3f93140f5" /><Relationship Type="http://schemas.openxmlformats.org/officeDocument/2006/relationships/viewProps" Target="/ppt/viewProps.xml" Id="R5e0e6856d299466e" /><Relationship Type="http://schemas.openxmlformats.org/officeDocument/2006/relationships/tableStyles" Target="/ppt/tableStyles.xml" Id="R7eec8982098b4fe1" /><Relationship Type="http://schemas.openxmlformats.org/officeDocument/2006/relationships/slide" Target="/ppt/slides/slide1.xml" Id="R83c59cfad7264bba" /><Relationship Type="http://schemas.openxmlformats.org/officeDocument/2006/relationships/slide" Target="/ppt/slides/slide2.xml" Id="R7b61da6575ee4d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30fcbe2ac04f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b8ceed4df4179" /><Relationship Type="http://schemas.openxmlformats.org/officeDocument/2006/relationships/notesMaster" Target="/ppt/notesMasters/notesMaster1.xml" Id="Rededd22462a6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6053769fc540ef" /><Relationship Type="http://schemas.openxmlformats.org/officeDocument/2006/relationships/notesMaster" Target="/ppt/notesMasters/notesMaster1.xml" Id="R57904e4ceff9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is an illustrative forecast, not current trading performance. The base case starts with a paid partner-led pilot in Month 12, receipts in Month 13 and a full VARA licence target in Month 18. Year 3 assumes 333 active customers completing approximately six deals each: 2,000 deals at a £38,015 average trade value produce £76.031m of trade value processed. Tiered escrow and ancillary fees produce £1.371m revenue at 77.1% gross margin. Low/base/high Year 3 revenue is £1.037m/£1.371m/£1.912m, with monthly cash-flow break-even beyond Month 60 / Year 4 Month 8 / Year 4 Month 4. Scale depends on partner-led distribution and remains unvalidated. Buyer escrow balances are assumed to be held for 14 days on average and contribute no operating cash. This is a preliminary presentation model rather than an audited, loan or investment-grade forecast.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financial-projections/Blockmediary_Financial_Model_Submission_Ready_2026-08-13.xlsx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The £3,063,210 figure is the cumulative operating funding requirement to the modeled base-case monthly break-even point, including the £191,516 three-month operating reserve; it is not presented as an immediate one-tranche fundraising ask. The five allocation percentages sum to this operating amount. A separate £319,095 of future restricted VARA capital cannot be spent on runway, producing a £3,382,305 full staged capital requirement. The operating plan includes £345,958 of Year 1 startup and staged regulatory one-offs, £67,000 annual partner-pilot cost and £102,110 annual VARA supervision. The restricted-capital figure remains a planning placeholder pending confirmation of final activity scope, entity structure, legal advice and regulator guidance. Buyer escrow balances are safeguarded client assets, not company revenue, runway or funding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financial-projections/Blockmediary_Financial_Model_Submission_Ready_2026-08-13.xlsx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12fb0631047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133eb0636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10B0CEA-0D99-4F27-A153-DE38AA428D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4A3AEE-F7A6-493E-A1FE-DBE4CD7545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DF742F-E04A-4991-8636-2D48CF566A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a9639d56c7418a" /><Relationship Type="http://schemas.openxmlformats.org/officeDocument/2006/relationships/slideLayout" Target="/ppt/slideLayouts/slideLayout1.xml" Id="R2cf758c975a44ada" /><Relationship Type="http://schemas.openxmlformats.org/officeDocument/2006/relationships/slideLayout" Target="/ppt/slideLayouts/slideLayout2.xml" Id="R9657cf20973d4b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f758c975a44ada"/>
    <p:sldLayoutId xmlns:r="http://schemas.openxmlformats.org/officeDocument/2006/relationships" id="2147483650" r:id="R9657cf20973d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f3605edf446a7" /><Relationship Type="http://schemas.openxmlformats.org/officeDocument/2006/relationships/notesSlide" Target="/ppt/notesSlides/notesSlide1.xml" Id="R06b7dcb40c554c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de9e29798421a" /><Relationship Type="http://schemas.openxmlformats.org/officeDocument/2006/relationships/notesSlide" Target="/ppt/notesSlides/notesSlide2.xml" Id="Rddbe4f6264eb4c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C4837CB6-6E06-48CD-BFA6-D1F0952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 defTabSz="914400">
              <a:buNone/>
            </a:pPr>
            <a:endParaRPr/>
          </a:p>
        </p:txBody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41C138C-5F33-44BE-9202-2EC74B53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9678FDA4-D756-49DA-8686-A2480D12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FINANCIAL PATH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7698C5A-5AC1-4F16-B719-CAE7D16F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Base case projects £1.37m Year 3 revenue and monthly cash-flow break-even in Y4 M8.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0738B7-5D3F-48A5-8E8A-70167E7B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Illustrative forecast—not current trading: paid partner-led pilot M12; first receipts M13; full VARA licence target M18.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C0896C8-E2D1-436F-9C37-D91D557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113DC9-AFC4-4984-8B7B-EF02790D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D81102-E896-4017-B810-62AB0C07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Month 12</a:t>
            </a:r>
            <a:endParaRPr sz="2250" b="1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E34A5FF-016D-47EF-90A6-3FC081C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paid partner-led pilot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7E1DD05-7F2A-47B6-9799-3651FE2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receipts M13; licence target M18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9064EF7-7562-432B-9542-DEE2F21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C618428-F10D-41AB-A616-9C8D712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20328B8-EA0A-4C97-A041-3D3060F3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£76m</a:t>
            </a:r>
            <a:endParaRPr sz="2250" b="1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285A877-C983-43FD-BEBF-1DB550D1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trade value processed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1A649CE-9E85-45AE-8238-15C085A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GMV—not company revenue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0CA0DC0-43C5-4B19-9CDA-D729966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DDEA11F-96DB-4FA7-8CC8-1A76D1A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31DDD7D-A9D0-4533-954E-A6759A8B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£1.37m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EE95D9F-CECF-4553-B1E6-0D2C27D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annual revenue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5C591F-6634-48B1-85AB-39B506B6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77% gross margin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9F97402-411D-4712-A716-89A1CF72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189E399-6663-4A5C-8ECD-6C13455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DE22802-0306-42EE-926A-7BB776B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574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Y4 M8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9640183-CEF1-44FE-B28B-D0C472AE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monthly cash-flow break-even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3ED7773-2ED2-469E-BD0A-239D4F9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low &gt;M60; high Y4 M4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3314116-0FF7-4086-8237-75AE327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51244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AB488C4-099C-457E-BFD5-01C0CCA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Base-case revenue engine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C1EB0F0-4FA9-470F-B030-3BE3F9D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61EA15E-DBAE-469C-8817-7E80824C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deals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5D0CD14-B46E-4946-BBA3-675888B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2,000</a:t>
            </a:r>
            <a:endParaRPr sz="900" b="1">
              <a:solidFill>
                <a:srgbClr val="0E8C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B915DBD-F087-45F8-AD26-A30B191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101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0B7BC36-CA77-4D27-A761-7FB810A3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00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average trade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F49C337-0BF6-4692-B8DF-66439527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05375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£38k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5469347-2347-4311-8B95-1D5AF85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01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 w="9525">
            <a:solidFill>
              <a:srgbClr val="0E8C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56CEFFE-6CC4-4A21-ACB3-638C7C9A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00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44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trade value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28EFE54-57ED-451A-8BAB-2F1565B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05375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£76m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51E3DF9-7E76-4BA0-B641-9C8285A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4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844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Tiered escrow take rate + ancillary fees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324EB80-AF0E-4065-A7A6-60938C1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72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1AEAC009-49DD-4817-9B33-BCA31DA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8577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×</a:t>
            </a:r>
            <a:endParaRPr sz="900" b="1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5BF1A42-AA5A-47A9-855E-94171A56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72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94015E4C-69F2-4712-844B-D00D022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577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=</a:t>
            </a:r>
            <a:endParaRPr sz="900" b="1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FF71A96-F9B3-4BE2-A46B-A12E8150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72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9DFE55B4-FD0A-4466-8D59-E943F38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44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844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→ £1.37m revenue · 77% gross margin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9C0E21F1-10F1-4A3B-AB49-2DD7194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010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AF4A9A09-95E8-4A0B-80FA-3C61CE4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Commercial guardrails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98CE4508-53A4-4576-AAE0-80566056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62500"/>
            <a:ext cx="428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333 customers × ~6 annual deals via partners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Y3 revenue: £1.04m / £1.37m / £1.91m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Break-even: &gt;M60 / Y4 M8 / Y4 M4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• Client funds excluded from operating cash</a:t>
            </a:r>
            <a:endParaRPr sz="1125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21981F6-EEE9-4E84-A577-4C54199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  <a:endParaRPr sz="900" b="1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972841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7EAB8-4912-4467-B97F-5798514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 defTabSz="914400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A8FDC2-6FFE-4CF5-8398-E96B35D8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" y="437997"/>
            <a:ext cx="75895" cy="75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9E967C-BB61-4158-BBF0-AC9DB193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" y="36210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spc="140">
                <a:solidFill>
                  <a:srgbClr val="6B7280"/>
                </a:solidFill>
                <a:latin typeface="Aptos"/>
                <a:ea typeface="Aptos"/>
                <a:cs typeface="Aptos"/>
              </a:rPr>
              <a:t>USE OF FUNDS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B34755-BCBD-4638-B2E5-96D99DCD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" y="722376"/>
            <a:ext cx="107899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£3.06m is the operating funding requirement to base-case break-even.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6C1D02-CB87-49D6-B81A-7CB01302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302" y="6439204"/>
            <a:ext cx="552297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  <a:endParaRPr sz="900" b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DB3C0F-8C0E-449C-AF1D-DBFFDA29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1481328"/>
            <a:ext cx="1060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Allocation of the £3.063m cumulative operating funding requirement—including a three-month reserve.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91F8FE-5A4B-46C3-8B96-D1765407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2523744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Engineering &amp; product delivery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578373-A1CC-47BA-9F28-98508E01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42032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7CF2966-DF61-4ED4-BE57-E0CB18E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42032"/>
            <a:ext cx="322835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7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DA4396-A1AC-4ACB-AF89-7D2ACA5F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583012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18.6%  £571k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82990A6-A8F8-4E35-AD22-CF7D84B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3090672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Team, operations &amp; G&amp;A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480D0E-5A28-4423-89DA-3D402B3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108960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943D390-D90C-46B2-9DC9-2978A567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108960"/>
            <a:ext cx="6008095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83D1D8C-F082-4E56-8B67-2246715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149940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34.7%  £1.06m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1BF214-14E4-452C-827D-0D7A685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365760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Compliance, legal &amp; licensing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611C455-B776-4B5E-938B-0613B83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32FB19-55F8-4ECB-8F2D-C5759BB9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75888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FB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C8B7CA-CA5F-408F-AE77-F96FEBB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716868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34.8%  £1.07m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1FA5098-D919-473A-9910-692FD7F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422452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Partner-led GTM &amp; acquisition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9C94E7E-26A6-4C29-B0EB-4203240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42816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2A14FAF-17F5-419D-BE62-68950BF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42816"/>
            <a:ext cx="965007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7EA769A-AAA3-453C-92B0-81ED70C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83796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5.6%  £171k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E9E201-6144-4473-B6A1-58E3AE9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4791456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0B1B3A"/>
                </a:solidFill>
                <a:latin typeface="Aptos"/>
                <a:ea typeface="Aptos"/>
                <a:cs typeface="Aptos"/>
              </a:rPr>
              <a:t>Operating reserve &amp; contingency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4B63154-7358-47A2-969F-B410A3B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809744"/>
            <a:ext cx="6035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700D366-1D54-4558-8D1D-D456511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809744"/>
            <a:ext cx="1082827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89DD94B-C52C-41C8-8D02-4E1D404B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50724"/>
            <a:ext cx="128016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6.3%  £192k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DC9B79E-5AC6-4564-A5A6-BF3AE77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" y="5394960"/>
            <a:ext cx="1070762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6B59AB6-C399-470E-81B4-42EF1D4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054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EAE5"/>
                </a:solidFill>
                <a:latin typeface="Aptos"/>
                <a:ea typeface="Aptos"/>
                <a:cs typeface="Aptos"/>
              </a:rPr>
              <a:t>£3.063m operating funding  +  £319k future restricted VARA capital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9374E8F-69D1-434C-9B55-A8ECB491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00688"/>
            <a:ext cx="32099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£3.382m staged total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BDA3AB6-6943-4B6B-9FC2-633BF37B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1" y="61055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M12 paid pilot  •  M18 licence target  •  Y4 M8 base-case break-even</a:t>
            </a:r>
          </a:p>
          <a:p xmlns:a="http://schemas.openxmlformats.org/drawingml/2006/main">
            <a:pPr algn="l">
              <a:buNone/>
              <a:defRPr sz="1013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Restricted capital is a scope-dependent placeholder; client funds are safeguarded, not runway.</a:t>
            </a:r>
          </a:p>
        </p:txBody>
      </p:sp>
    </p:spTree>
    <p:extLst>
      <p:ext uri="{BB962C8B-B14F-4D97-AF65-F5344CB8AC3E}">
        <p14:creationId xmlns:p14="http://schemas.microsoft.com/office/powerpoint/2010/main" val="581601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2026-08-13T01:01:50.2150000Z</dcterms:created>
  <dcterms:modified xsi:type="dcterms:W3CDTF">2026-08-13T01:01:50.2150000Z</dcterms:modified>
</coreProperties>
</file>